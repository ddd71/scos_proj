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  <p:sldMasterId id="2147483657" r:id="rId5"/>
    <p:sldMasterId id="2147483660" r:id="rId6"/>
    <p:sldMasterId id="2147483663" r:id="rId7"/>
    <p:sldMasterId id="2147483666" r:id="rId8"/>
    <p:sldMasterId id="2147483669" r:id="rId9"/>
    <p:sldMasterId id="2147483672" r:id="rId10"/>
    <p:sldMasterId id="2147483675" r:id="rId11"/>
    <p:sldMasterId id="2147483678" r:id="rId12"/>
    <p:sldMasterId id="2147483681" r:id="rId13"/>
    <p:sldMasterId id="2147483684" r:id="rId14"/>
    <p:sldMasterId id="2147483687" r:id="rId15"/>
    <p:sldMasterId id="2147483690" r:id="rId16"/>
    <p:sldMasterId id="2147483693" r:id="rId17"/>
    <p:sldMasterId id="2147483696" r:id="rId18"/>
    <p:sldMasterId id="2147483699" r:id="rId19"/>
    <p:sldMasterId id="2147483702" r:id="rId20"/>
    <p:sldMasterId id="2147483705" r:id="rId21"/>
    <p:sldMasterId id="2147483708" r:id="rId22"/>
    <p:sldMasterId id="2147483711" r:id="rId23"/>
    <p:sldMasterId id="2147483721" r:id="rId24"/>
    <p:sldMasterId id="2147483724" r:id="rId25"/>
    <p:sldMasterId id="2147483727" r:id="rId26"/>
    <p:sldMasterId id="2147483730" r:id="rId27"/>
    <p:sldMasterId id="2147483733" r:id="rId28"/>
    <p:sldMasterId id="2147483736" r:id="rId29"/>
  </p:sldMasterIdLst>
  <p:notesMasterIdLst>
    <p:notesMasterId r:id="rId31"/>
  </p:notesMasterIdLst>
  <p:sldIdLst>
    <p:sldId id="265" r:id="rId30"/>
    <p:sldId id="257" r:id="rId32"/>
    <p:sldId id="266" r:id="rId33"/>
    <p:sldId id="259" r:id="rId34"/>
    <p:sldId id="267" r:id="rId35"/>
    <p:sldId id="261" r:id="rId36"/>
    <p:sldId id="262" r:id="rId37"/>
    <p:sldId id="263" r:id="rId3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39" Type="http://schemas.openxmlformats.org/officeDocument/2006/relationships/presProps" Target="presProps.xml"/><Relationship Id="rId38" Type="http://schemas.openxmlformats.org/officeDocument/2006/relationships/slide" Target="slides/slide8.xml"/><Relationship Id="rId37" Type="http://schemas.openxmlformats.org/officeDocument/2006/relationships/slide" Target="slides/slide7.xml"/><Relationship Id="rId36" Type="http://schemas.openxmlformats.org/officeDocument/2006/relationships/slide" Target="slides/slide6.xml"/><Relationship Id="rId35" Type="http://schemas.openxmlformats.org/officeDocument/2006/relationships/slide" Target="slides/slide5.xml"/><Relationship Id="rId34" Type="http://schemas.openxmlformats.org/officeDocument/2006/relationships/slide" Target="slides/slide4.xml"/><Relationship Id="rId33" Type="http://schemas.openxmlformats.org/officeDocument/2006/relationships/slide" Target="slides/slide3.xml"/><Relationship Id="rId32" Type="http://schemas.openxmlformats.org/officeDocument/2006/relationships/slide" Target="slides/slide2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能碳精细化管理平台业务价值汇报.pptx（结构参考）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SCOS业务总图20260821_v0.1.vsdx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能碳精细化管理平台业务价值汇报.pptx（结构参考）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SCOS业务总图20260821_v0.1.vsdx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驾驶舱模块/驾驶舱模块技术方案.md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库存优化模块/库存优化模块技术方案.md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关键业务流程/库存优化模块关键业务流程_业务蓝图版.md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SCOS业务总图20260821_v0.1.vsdx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驾驶舱模块/驾驶舱模块技术方案.md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采购优化模块/采购优化模块技术方案.md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关键业务流程/采购优化模块关键业务流程_业务蓝图版.md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SCOS业务总图20260821_v0.1.vsdx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- 0-raw-原始会议资料/20260824-成本核算调研.md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驾驶舱模块/驾驶舱模块技术方案.md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关键业务流程/驾驶舱模块关键业务流程_业务蓝图版.md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能碳精细化管理平台业务价值汇报.pptx（结构参考）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SCOS业务总图20260821_v0.1.vsdx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库存优化模块/库存优化模块技术方案.md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采购优化模块/采购优化模块技术方案.md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t>- 驾驶舱模块/驾驶舱模块技术方案.md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1" y="1512888"/>
            <a:ext cx="7913565" cy="2387600"/>
          </a:xfrm>
        </p:spPr>
        <p:txBody>
          <a:bodyPr anchor="b">
            <a:normAutofit/>
          </a:bodyPr>
          <a:lstStyle>
            <a:lvl1pPr algn="l">
              <a:buNone/>
              <a:defRPr sz="5400">
                <a:solidFill>
                  <a:schemeClr val="tx1"/>
                </a:solidFill>
              </a:defRPr>
            </a:lvl1pPr>
          </a:lstStyle>
          <a:p>
            <a:r>
              <a:t>Click to edit Master title style 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60401" y="3992563"/>
            <a:ext cx="7913565" cy="93186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0" hasCustomPrompt="1"/>
          </p:nvPr>
        </p:nvSpPr>
        <p:spPr>
          <a:xfrm>
            <a:off x="7867649" y="6109859"/>
            <a:ext cx="3651251" cy="180659"/>
          </a:xfrm>
        </p:spPr>
        <p:txBody>
          <a:bodyPr vert="horz" wrap="none" lIns="91440" tIns="45720" rIns="91440" bIns="45720" anchor="ctr">
            <a:noAutofit/>
          </a:bodyPr>
          <a:lstStyle>
            <a:lvl1pPr marL="0" indent="0" algn="r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228600" lvl="0" indent="-228600" algn="r">
              <a:spcBef>
                <a:spcPct val="0"/>
              </a:spcBef>
              <a:buNone/>
            </a:pPr>
            <a:r>
              <a:t>Speaker name and title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1" hasCustomPrompt="1"/>
          </p:nvPr>
        </p:nvSpPr>
        <p:spPr>
          <a:xfrm>
            <a:off x="673100" y="6109859"/>
            <a:ext cx="3651251" cy="180659"/>
          </a:xfrm>
        </p:spPr>
        <p:txBody>
          <a:bodyPr vert="horz" wrap="none" lIns="91440" tIns="45720" rIns="91440" bIns="45720" anchor="ctr">
            <a:noAutofit/>
          </a:bodyPr>
          <a:lstStyle>
            <a:lvl1pPr marL="0" indent="0" algn="l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indent="0">
              <a:buNone/>
            </a:pPr>
            <a:r>
              <a:t>OfficePLUS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/>
      <p:sp>
        <p:nvSpPr>
          <p:cNvPr id="9" name="椭圆 8"/>
          <p:cNvSpPr>
            <a:spLocks noGrp="1"/>
          </p:cNvSpPr>
          <p:nvPr/>
        </p:nvSpPr>
        <p:spPr>
          <a:xfrm>
            <a:off x="-734169" y="5676332"/>
            <a:ext cx="2363334" cy="2363334"/>
          </a:xfrm>
          <a:prstGeom prst="ellipse">
            <a:avLst/>
          </a:prstGeom>
          <a:noFill/>
          <a:ln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弧形 9"/>
          <p:cNvSpPr>
            <a:spLocks noGrp="1"/>
          </p:cNvSpPr>
          <p:nvPr/>
        </p:nvSpPr>
        <p:spPr>
          <a:xfrm>
            <a:off x="-1897579" y="4512922"/>
            <a:ext cx="4690154" cy="4690154"/>
          </a:xfrm>
          <a:prstGeom prst="arc">
            <a:avLst>
              <a:gd name="adj1" fmla="val 12847544"/>
              <a:gd name="adj2" fmla="val 16719650"/>
            </a:avLst>
          </a:prstGeom>
          <a:noFill/>
          <a:ln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弧形 5"/>
          <p:cNvSpPr>
            <a:spLocks noGrp="1"/>
          </p:cNvSpPr>
          <p:nvPr/>
        </p:nvSpPr>
        <p:spPr>
          <a:xfrm rot="1366892">
            <a:off x="-2998951" y="3411550"/>
            <a:ext cx="6892898" cy="6892898"/>
          </a:xfrm>
          <a:prstGeom prst="arc">
            <a:avLst>
              <a:gd name="adj1" fmla="val 11885142"/>
              <a:gd name="adj2" fmla="val 18112891"/>
            </a:avLst>
          </a:prstGeom>
          <a:noFill/>
          <a:ln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  <p:sp>
        <p:nvSpPr>
          <p:cNvPr id="7" name="弧形 6"/>
          <p:cNvSpPr>
            <a:spLocks noGrp="1"/>
          </p:cNvSpPr>
          <p:nvPr/>
        </p:nvSpPr>
        <p:spPr>
          <a:xfrm rot="12480051">
            <a:off x="-4411160" y="1999341"/>
            <a:ext cx="9717317" cy="9717317"/>
          </a:xfrm>
          <a:prstGeom prst="arc">
            <a:avLst>
              <a:gd name="adj1" fmla="val 885225"/>
              <a:gd name="adj2" fmla="val 7131830"/>
            </a:avLst>
          </a:prstGeom>
          <a:noFill/>
          <a:ln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弧形 7"/>
          <p:cNvSpPr>
            <a:spLocks noGrp="1"/>
          </p:cNvSpPr>
          <p:nvPr/>
        </p:nvSpPr>
        <p:spPr>
          <a:xfrm rot="515952">
            <a:off x="-5935416" y="475085"/>
            <a:ext cx="12765829" cy="12765829"/>
          </a:xfrm>
          <a:prstGeom prst="arc">
            <a:avLst>
              <a:gd name="adj1" fmla="val 12663326"/>
              <a:gd name="adj2" fmla="val 18984605"/>
            </a:avLst>
          </a:prstGeom>
          <a:noFill/>
          <a:ln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11010332" y="-762568"/>
            <a:ext cx="2363334" cy="2363334"/>
          </a:xfrm>
          <a:prstGeom prst="ellipse">
            <a:avLst/>
          </a:prstGeom>
          <a:noFill/>
          <a:ln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弧形 18"/>
          <p:cNvSpPr>
            <a:spLocks noGrp="1"/>
          </p:cNvSpPr>
          <p:nvPr/>
        </p:nvSpPr>
        <p:spPr>
          <a:xfrm>
            <a:off x="9846922" y="-1925978"/>
            <a:ext cx="4690154" cy="4690154"/>
          </a:xfrm>
          <a:prstGeom prst="arc">
            <a:avLst>
              <a:gd name="adj1" fmla="val 8681123"/>
              <a:gd name="adj2" fmla="val 9359850"/>
            </a:avLst>
          </a:prstGeom>
          <a:noFill/>
          <a:ln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弧形 19"/>
          <p:cNvSpPr>
            <a:spLocks noGrp="1"/>
          </p:cNvSpPr>
          <p:nvPr/>
        </p:nvSpPr>
        <p:spPr>
          <a:xfrm rot="12480051">
            <a:off x="9846922" y="-1925978"/>
            <a:ext cx="4690154" cy="4690154"/>
          </a:xfrm>
          <a:prstGeom prst="arc">
            <a:avLst>
              <a:gd name="adj1" fmla="val 11969093"/>
              <a:gd name="adj2" fmla="val 16719650"/>
            </a:avLst>
          </a:prstGeom>
          <a:noFill/>
          <a:ln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弧形 20"/>
          <p:cNvSpPr>
            <a:spLocks noGrp="1"/>
          </p:cNvSpPr>
          <p:nvPr/>
        </p:nvSpPr>
        <p:spPr>
          <a:xfrm rot="12480051">
            <a:off x="8745550" y="-3027350"/>
            <a:ext cx="6892898" cy="6892898"/>
          </a:xfrm>
          <a:prstGeom prst="arc">
            <a:avLst>
              <a:gd name="adj1" fmla="val 11997002"/>
              <a:gd name="adj2" fmla="val 18351143"/>
            </a:avLst>
          </a:prstGeom>
          <a:noFill/>
          <a:ln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  <p:sp>
        <p:nvSpPr>
          <p:cNvPr id="16" name="弧形 15"/>
          <p:cNvSpPr>
            <a:spLocks noGrp="1"/>
          </p:cNvSpPr>
          <p:nvPr/>
        </p:nvSpPr>
        <p:spPr>
          <a:xfrm rot="12480051">
            <a:off x="7333341" y="-4439559"/>
            <a:ext cx="9717317" cy="9717317"/>
          </a:xfrm>
          <a:prstGeom prst="arc">
            <a:avLst>
              <a:gd name="adj1" fmla="val 11968596"/>
              <a:gd name="adj2" fmla="val 18131595"/>
            </a:avLst>
          </a:prstGeom>
          <a:noFill/>
          <a:ln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7448" y="3015885"/>
            <a:ext cx="5677105" cy="693823"/>
          </a:xfr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257448" y="3736693"/>
            <a:ext cx="5677105" cy="965763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0" hasCustomPrompt="1"/>
          </p:nvPr>
        </p:nvSpPr>
        <p:spPr>
          <a:xfrm>
            <a:off x="271003" y="367812"/>
            <a:ext cx="1043876" cy="830164"/>
          </a:xfrm>
        </p:spPr>
        <p:txBody>
          <a:bodyPr wrap="none">
            <a:spAutoFit/>
          </a:bodyPr>
          <a:lstStyle>
            <a:lvl1pPr indent="0" algn="ctr">
              <a:lnSpc>
                <a:spcPct val="120000"/>
              </a:lnSpc>
              <a:buFontTx/>
              <a:buNone/>
              <a:defRPr sz="4400" b="1">
                <a:solidFill>
                  <a:schemeClr val="tx1"/>
                </a:solidFill>
              </a:defRPr>
            </a:lvl1pPr>
            <a:lvl2pPr indent="0">
              <a:lnSpc>
                <a:spcPct val="120000"/>
              </a:lnSpc>
              <a:buFontTx/>
              <a:buNone/>
              <a:defRPr/>
            </a:lvl2pPr>
            <a:lvl3pPr indent="0">
              <a:lnSpc>
                <a:spcPct val="120000"/>
              </a:lnSpc>
              <a:buFontTx/>
              <a:buNone/>
              <a:defRPr/>
            </a:lvl3pPr>
            <a:lvl4pPr indent="0">
              <a:lnSpc>
                <a:spcPct val="120000"/>
              </a:lnSpc>
              <a:buFontTx/>
              <a:buNone/>
              <a:defRPr/>
            </a:lvl4pPr>
            <a:lvl5pPr indent="0">
              <a:lnSpc>
                <a:spcPct val="120000"/>
              </a:lnSpc>
              <a:buFontTx/>
              <a:buNone/>
              <a:defRPr/>
            </a:lvl5pPr>
          </a:lstStyle>
          <a:p>
            <a:pPr lvl="0">
              <a:buNone/>
            </a:pPr>
            <a:r>
              <a:t>01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6" name="日期占位符 5"/>
          <p:cNvSpPr>
            <a:spLocks noGrp="1"/>
          </p:cNvSpPr>
          <p:nvPr>
            <p:ph type="dt" idx="10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页脚占位符 6"/>
          <p:cNvSpPr>
            <a:spLocks noGrp="1"/>
          </p:cNvSpPr>
          <p:nvPr>
            <p:ph type="ftr" idx="11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/>
          <a:lstStyle/>
          <a:p>
            <a:r>
              <a:t>请在插入菜单</a:t>
            </a:r>
            <a:r>
              <a:t>—</a:t>
            </a:r>
            <a:r>
              <a:t>页眉和页脚中修改此文本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idx="12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spTree>
      <p:nvGrpSpPr>
        <p:cNvPr id="1" name=""/>
        <p:cNvGrpSpPr/>
        <p:nvPr/>
      </p:nvGrpSpPr>
      <p:grpSpPr/>
      <p:sp>
        <p:nvSpPr>
          <p:cNvPr id="11" name="任意多边形: 形状 10"/>
          <p:cNvSpPr>
            <a:spLocks noGrp="1"/>
          </p:cNvSpPr>
          <p:nvPr/>
        </p:nvSpPr>
        <p:spPr>
          <a:xfrm>
            <a:off x="12191318" y="0"/>
            <a:ext cx="684" cy="13546"/>
          </a:xfrm>
          <a:custGeom>
            <a:avLst/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ahLst/>
            <a:cxnLst/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4015">
            <a:noFill/>
            <a:prstDash val="solid"/>
          </a:ln>
        </p:spPr>
        <p:txBody>
          <a:bodyPr wrap="square" anchor="ctr">
            <a:noAutofit/>
          </a:bodyPr>
          <a:lstStyle/>
          <a:p>
            <a:endParaRPr sz="1800">
              <a:solidFill>
                <a:schemeClr val="tx1"/>
              </a:solidFill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1" hasCustomPrompt="1"/>
          </p:nvPr>
        </p:nvSpPr>
        <p:spPr>
          <a:xfrm>
            <a:off x="6769100" y="5255017"/>
            <a:ext cx="4843552" cy="258532"/>
          </a:xfrm>
        </p:spPr>
        <p:txBody>
          <a:bodyPr vert="horz" wrap="square" lIns="91440" tIns="45720" rIns="91440" bIns="45720" anchor="ctr">
            <a:spAutoFit/>
          </a:bodyPr>
          <a:lstStyle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>
            <a:pPr marL="0" indent="0">
              <a:buNone/>
            </a:pPr>
            <a:r>
              <a:t>Signature</a:t>
            </a:r>
          </a:p>
        </p:txBody>
      </p:sp>
      <p:sp>
        <p:nvSpPr>
          <p:cNvPr id="27" name="文本占位符 26"/>
          <p:cNvSpPr>
            <a:spLocks noGrp="1"/>
          </p:cNvSpPr>
          <p:nvPr>
            <p:ph type="body" idx="12" hasCustomPrompt="1"/>
          </p:nvPr>
        </p:nvSpPr>
        <p:spPr>
          <a:xfrm>
            <a:off x="6769100" y="5513549"/>
            <a:ext cx="4843552" cy="258532"/>
          </a:xfrm>
        </p:spPr>
        <p:txBody>
          <a:bodyPr vert="horz" wrap="square" lIns="91440" tIns="45720" rIns="91440" bIns="45720" anchor="ctr">
            <a:spAutoFit/>
          </a:bodyPr>
          <a:lstStyle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Date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769100" y="3247008"/>
            <a:ext cx="4843552" cy="1137671"/>
          </a:xfrm>
        </p:spPr>
        <p:txBody>
          <a:bodyPr anchor="b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400" b="1"/>
            </a:lvl1pPr>
          </a:lstStyle>
          <a:p>
            <a:pPr lvl="0">
              <a:buNone/>
            </a:pPr>
            <a:r>
              <a:t>Thank you</a:t>
            </a: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 flipH="1">
            <a:off x="-18207422" y="2065340"/>
            <a:ext cx="2363334" cy="2363334"/>
          </a:xfrm>
          <a:prstGeom prst="ellipse">
            <a:avLst/>
          </a:prstGeom>
          <a:noFill/>
          <a:ln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弧形 12"/>
          <p:cNvSpPr>
            <a:spLocks noGrp="1"/>
          </p:cNvSpPr>
          <p:nvPr/>
        </p:nvSpPr>
        <p:spPr>
          <a:xfrm flipH="1">
            <a:off x="-17044012" y="901930"/>
            <a:ext cx="4690154" cy="4690154"/>
          </a:xfrm>
          <a:prstGeom prst="arc">
            <a:avLst>
              <a:gd name="adj1" fmla="val 8681123"/>
              <a:gd name="adj2" fmla="val 14615283"/>
            </a:avLst>
          </a:prstGeom>
          <a:noFill/>
          <a:ln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弧形 13"/>
          <p:cNvSpPr>
            <a:spLocks noGrp="1"/>
          </p:cNvSpPr>
          <p:nvPr/>
        </p:nvSpPr>
        <p:spPr>
          <a:xfrm rot="12480051" flipH="1">
            <a:off x="-17044012" y="901930"/>
            <a:ext cx="4690154" cy="4690154"/>
          </a:xfrm>
          <a:prstGeom prst="arc">
            <a:avLst>
              <a:gd name="adj1" fmla="val 5884870"/>
              <a:gd name="adj2" fmla="val 16719650"/>
            </a:avLst>
          </a:prstGeom>
          <a:noFill/>
          <a:ln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弧形 14"/>
          <p:cNvSpPr>
            <a:spLocks noGrp="1"/>
          </p:cNvSpPr>
          <p:nvPr/>
        </p:nvSpPr>
        <p:spPr>
          <a:xfrm rot="12480051" flipH="1">
            <a:off x="-15942640" y="-199442"/>
            <a:ext cx="6892898" cy="6892898"/>
          </a:xfrm>
          <a:prstGeom prst="arc">
            <a:avLst>
              <a:gd name="adj1" fmla="val 11003651"/>
              <a:gd name="adj2" fmla="val 20655375"/>
            </a:avLst>
          </a:prstGeom>
          <a:noFill/>
          <a:ln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  <p:sp>
        <p:nvSpPr>
          <p:cNvPr id="8" name="弧形 7"/>
          <p:cNvSpPr>
            <a:spLocks noGrp="1"/>
          </p:cNvSpPr>
          <p:nvPr/>
        </p:nvSpPr>
        <p:spPr>
          <a:xfrm rot="1366892" flipH="1">
            <a:off x="-15942640" y="-199442"/>
            <a:ext cx="6892898" cy="6892898"/>
          </a:xfrm>
          <a:prstGeom prst="arc">
            <a:avLst>
              <a:gd name="adj1" fmla="val 17964632"/>
              <a:gd name="adj2" fmla="val 20655375"/>
            </a:avLst>
          </a:prstGeom>
          <a:noFill/>
          <a:ln w="635000">
            <a:gradFill>
              <a:gsLst>
                <a:gs pos="0">
                  <a:schemeClr val="accent6"/>
                </a:gs>
                <a:gs pos="100000">
                  <a:schemeClr val="accent6">
                    <a:alpha val="5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弧形 8"/>
          <p:cNvSpPr>
            <a:spLocks noGrp="1"/>
          </p:cNvSpPr>
          <p:nvPr/>
        </p:nvSpPr>
        <p:spPr>
          <a:xfrm rot="12480051" flipH="1">
            <a:off x="-14530431" y="-1611651"/>
            <a:ext cx="9717317" cy="9717317"/>
          </a:xfrm>
          <a:prstGeom prst="arc">
            <a:avLst>
              <a:gd name="adj1" fmla="val 11003651"/>
              <a:gd name="adj2" fmla="val 17440526"/>
            </a:avLst>
          </a:prstGeom>
          <a:noFill/>
          <a:ln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  <p:sp>
        <p:nvSpPr>
          <p:cNvPr id="10" name="弧形 9"/>
          <p:cNvSpPr>
            <a:spLocks noGrp="1"/>
          </p:cNvSpPr>
          <p:nvPr/>
        </p:nvSpPr>
        <p:spPr>
          <a:xfrm rot="515952" flipH="1">
            <a:off x="-13006175" y="-3135907"/>
            <a:ext cx="12765829" cy="12765829"/>
          </a:xfrm>
          <a:prstGeom prst="arc">
            <a:avLst>
              <a:gd name="adj1" fmla="val 2152946"/>
              <a:gd name="adj2" fmla="val 6967338"/>
            </a:avLst>
          </a:prstGeom>
          <a:noFill/>
          <a:ln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请在插入菜单</a:t>
            </a:r>
            <a:r>
              <a:t>—</a:t>
            </a:r>
            <a:r>
              <a:t>页眉和页脚中修改此文本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节标题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7" name="圆: 空心 1"/>
          <p:cNvSpPr>
            <a:spLocks noGrp="1"/>
          </p:cNvSpPr>
          <p:nvPr/>
        </p:nvSpPr>
        <p:spPr>
          <a:xfrm>
            <a:off x="533502" y="282709"/>
            <a:ext cx="643788" cy="644390"/>
          </a:xfrm>
          <a:prstGeom prst="donut">
            <a:avLst>
              <a:gd name="adj" fmla="val 21916"/>
            </a:avLst>
          </a:prstGeom>
          <a:gradFill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rgbClr val="0569E5">
              <a:shade val="50000"/>
            </a:srgbClr>
          </a:lnRef>
          <a:fillRef idx="1">
            <a:srgbClr val="0569E5"/>
          </a:fillRef>
          <a:effectRef idx="0">
            <a:srgbClr val="0569E5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" name="1"/>
          <p:cNvPicPr>
            <a:picLocks noChangeAspect="1"/>
          </p:cNvPicPr>
          <p:nvPr/>
        </p:nvPicPr>
        <p:blipFill>
          <a:blip r:embed="rId2">
            <a:duotone>
              <a:srgbClr val="0569E5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7877989" flipV="1">
            <a:off x="335083" y="147553"/>
            <a:ext cx="654683" cy="57829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theme" Target="../theme/theme1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theme" Target="../theme/theme2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theme" Target="../theme/theme21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0.xml"/><Relationship Id="rId7" Type="http://schemas.openxmlformats.org/officeDocument/2006/relationships/slideLayout" Target="../slideLayouts/slideLayout49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0" Type="http://schemas.openxmlformats.org/officeDocument/2006/relationships/theme" Target="../theme/theme22.xml"/><Relationship Id="rId1" Type="http://schemas.openxmlformats.org/officeDocument/2006/relationships/slideLayout" Target="../slideLayouts/slideLayout43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theme" Target="../theme/theme2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theme" Target="../theme/theme24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theme" Target="../theme/theme25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theme" Target="../theme/theme2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theme" Target="../theme/theme27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theme" Target="../theme/theme28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idx="2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11" name="页脚占位符 10"/>
          <p:cNvSpPr>
            <a:spLocks noGrp="1"/>
          </p:cNvSpPr>
          <p:nvPr>
            <p:ph type="ftr" idx="3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请在插入菜单</a:t>
            </a:r>
            <a:r>
              <a:t>—</a:t>
            </a:r>
            <a:r>
              <a:t>页眉和页脚中修改此文本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idx="4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722" r:id="rId1"/>
    <p:sldLayoutId id="2147483723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0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47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ctr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/>
          <p:cNvSpPr>
            <a:spLocks noGrp="1"/>
          </p:cNvSpPr>
          <p:nvPr/>
        </p:nvSpPr>
        <p:spPr>
          <a:xfrm>
            <a:off x="1257300" y="4381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SCOS平台整体定位—建设方案</a:t>
            </a:r>
            <a:endParaRPr sz="2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1049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以计划协同为主线，把分散数据转化为可执行方案，把局部优化升级为供应链全局经营优化。</a:t>
            </a:r>
            <a:endParaRPr sz="150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65735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业务与数据基础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1933575"/>
            <a:ext cx="1952625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095750" y="16573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SCOS智能决策中枢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095750" y="1933575"/>
            <a:ext cx="2381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715250" y="16573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经营价值输出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715250" y="1933575"/>
            <a:ext cx="2000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66750" y="2114550"/>
            <a:ext cx="252412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33425" y="2124075"/>
            <a:ext cx="2390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CRM / 销售与出货计划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66750" y="2609850"/>
            <a:ext cx="252412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33425" y="2619375"/>
            <a:ext cx="2390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MES / 生产执行与报工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66750" y="3105150"/>
            <a:ext cx="252412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23D4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33425" y="3114675"/>
            <a:ext cx="2390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SAP / 采购、成本与订单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66750" y="3600450"/>
            <a:ext cx="252412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23D4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33425" y="3609975"/>
            <a:ext cx="2390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WMS / 库存、批次与到货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66750" y="4095750"/>
            <a:ext cx="252412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33425" y="4105275"/>
            <a:ext cx="2390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行情、供应商与设备约束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右箭头 23"/>
          <p:cNvSpPr>
            <a:spLocks noGrp="1"/>
          </p:cNvSpPr>
          <p:nvPr/>
        </p:nvSpPr>
        <p:spPr>
          <a:xfrm>
            <a:off x="3238500" y="2209800"/>
            <a:ext cx="685800" cy="15240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5" name="右箭头 24"/>
          <p:cNvSpPr>
            <a:spLocks noGrp="1"/>
          </p:cNvSpPr>
          <p:nvPr/>
        </p:nvSpPr>
        <p:spPr>
          <a:xfrm>
            <a:off x="3238500" y="2705100"/>
            <a:ext cx="685800" cy="15240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6" name="右箭头 25"/>
          <p:cNvSpPr>
            <a:spLocks noGrp="1"/>
          </p:cNvSpPr>
          <p:nvPr/>
        </p:nvSpPr>
        <p:spPr>
          <a:xfrm>
            <a:off x="3238500" y="3200400"/>
            <a:ext cx="685800" cy="15240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7" name="右箭头 26"/>
          <p:cNvSpPr>
            <a:spLocks noGrp="1"/>
          </p:cNvSpPr>
          <p:nvPr/>
        </p:nvSpPr>
        <p:spPr>
          <a:xfrm>
            <a:off x="3238500" y="3695700"/>
            <a:ext cx="685800" cy="15240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8" name="右箭头 27"/>
          <p:cNvSpPr>
            <a:spLocks noGrp="1"/>
          </p:cNvSpPr>
          <p:nvPr/>
        </p:nvSpPr>
        <p:spPr>
          <a:xfrm>
            <a:off x="3238500" y="4191000"/>
            <a:ext cx="685800" cy="15240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4171950" y="2247900"/>
            <a:ext cx="2333625" cy="2333625"/>
          </a:xfrm>
          <a:prstGeom prst="ellipse">
            <a:avLst/>
          </a:prstGeom>
          <a:solidFill>
            <a:srgbClr val="072D3D"/>
          </a:solidFill>
          <a:ln w="28575">
            <a:solidFill>
              <a:srgbClr val="23D4F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476750" y="267652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7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SCOS</a:t>
            </a:r>
            <a:endParaRPr sz="270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438650" y="31337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供应链协同优化平台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457700" y="3562350"/>
            <a:ext cx="1762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模型编排 · 计划协同</a:t>
            </a:r>
            <a:endParaRPr sz="112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预警闭环 · 情景推演</a:t>
            </a:r>
            <a:endParaRPr sz="112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右箭头 32"/>
          <p:cNvSpPr>
            <a:spLocks noGrp="1"/>
          </p:cNvSpPr>
          <p:nvPr/>
        </p:nvSpPr>
        <p:spPr>
          <a:xfrm>
            <a:off x="6667500" y="3095625"/>
            <a:ext cx="819150" cy="266700"/>
          </a:xfrm>
          <a:prstGeom prst="right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7715250" y="2038350"/>
            <a:ext cx="3429000" cy="876300"/>
          </a:xfrm>
          <a:prstGeom prst="roundRect">
            <a:avLst>
              <a:gd name="adj" fmla="val 869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0" y="2105025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可执行方案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839075" y="240030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把需求、库存、排程、采购与成本联成一套计划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715250" y="3105150"/>
            <a:ext cx="3429000" cy="876300"/>
          </a:xfrm>
          <a:prstGeom prst="roundRect">
            <a:avLst>
              <a:gd name="adj" fmla="val 8696"/>
            </a:avLst>
          </a:prstGeom>
          <a:solidFill>
            <a:srgbClr val="091820"/>
          </a:solidFill>
          <a:ln w="19050">
            <a:solidFill>
              <a:srgbClr val="53D38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810500" y="3171825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全局经营优化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839075" y="346710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平衡交付、库存、产能、供应风险与综合成本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715250" y="4171950"/>
            <a:ext cx="3429000" cy="876300"/>
          </a:xfrm>
          <a:prstGeom prst="roundRect">
            <a:avLst>
              <a:gd name="adj" fmla="val 869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810500" y="4238625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持续进化能力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839075" y="453390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执行反馈校准参数，沉淀规则、模型与决策知识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2114550" y="5543550"/>
            <a:ext cx="7953375" cy="590550"/>
          </a:xfrm>
          <a:prstGeom prst="roundRect">
            <a:avLst>
              <a:gd name="adj" fmla="val 12903"/>
            </a:avLst>
          </a:prstGeom>
          <a:solidFill>
            <a:srgbClr val="0B222D"/>
          </a:solidFill>
          <a:ln w="14288">
            <a:solidFill>
              <a:srgbClr val="FFB348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257425" y="5600700"/>
            <a:ext cx="766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B34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平台价值主张</a:t>
            </a:r>
            <a:endParaRPr sz="1350" b="1">
              <a:solidFill>
                <a:srgbClr val="FFB3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257425" y="5886450"/>
            <a:ext cx="7667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从“看见问题”走向“提前预判、协同优化、闭环执行”，形成太仓糖厂供应链数字化决策底座。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58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ctr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/>
          <p:cNvSpPr>
            <a:spLocks noGrp="1"/>
          </p:cNvSpPr>
          <p:nvPr/>
        </p:nvSpPr>
        <p:spPr>
          <a:xfrm>
            <a:off x="1257300" y="4381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SCOS总体架构与业务闭环—建设方案</a:t>
            </a:r>
            <a:endParaRPr sz="2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1049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统一数据底座承载真实业务状态，模型服务形成优化方案，协同工作台推动确认与执行，驾驶舱贯穿监测、决策和复盘。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16097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数据源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885950"/>
            <a:ext cx="1428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524125" y="16097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平台核心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24125" y="1885950"/>
            <a:ext cx="2000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72625" y="160972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业务协同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72625" y="1885950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571500" y="209550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8175" y="2105025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CRM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571500" y="26479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38175" y="2657475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MES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71500" y="320040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23D4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38175" y="3209925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SAP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71500" y="37528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23D4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38175" y="3762375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WMS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571500" y="430530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38175" y="4314825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行情/设备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右箭头 23"/>
          <p:cNvSpPr>
            <a:spLocks noGrp="1"/>
          </p:cNvSpPr>
          <p:nvPr/>
        </p:nvSpPr>
        <p:spPr>
          <a:xfrm>
            <a:off x="2095500" y="3124200"/>
            <a:ext cx="36195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2571750" y="2000250"/>
            <a:ext cx="6572250" cy="685800"/>
          </a:xfrm>
          <a:prstGeom prst="roundRect">
            <a:avLst>
              <a:gd name="adj" fmla="val 11111"/>
            </a:avLst>
          </a:prstGeom>
          <a:solidFill>
            <a:srgbClr val="0B222D"/>
          </a:solidFill>
          <a:ln w="14288">
            <a:solidFill>
              <a:srgbClr val="00AEE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714625" y="205740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统一数据与模型输入输出沙盒</a:t>
            </a:r>
            <a:endParaRPr sz="1350" b="1">
              <a:solidFill>
                <a:srgbClr val="00AE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714625" y="2343150"/>
            <a:ext cx="628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主数据、订单、计划、库存、批次、采购、成本、设备与版本快照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2571750" y="2905125"/>
            <a:ext cx="6572250" cy="1257300"/>
          </a:xfrm>
          <a:prstGeom prst="roundRect">
            <a:avLst>
              <a:gd name="adj" fmla="val 6061"/>
            </a:avLst>
          </a:prstGeom>
          <a:solidFill>
            <a:srgbClr val="0B222D"/>
          </a:solidFill>
          <a:ln w="14288">
            <a:solidFill>
              <a:srgbClr val="23D4F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714625" y="2962275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供应链优化模型服务</a:t>
            </a:r>
            <a:endParaRPr sz="1350" b="1">
              <a:solidFill>
                <a:srgbClr val="23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2762250" y="34290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828925" y="3438525"/>
            <a:ext cx="933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库存优化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3962400" y="34290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23D4F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029075" y="3438525"/>
            <a:ext cx="933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精益排程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5162550" y="34290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229225" y="3438525"/>
            <a:ext cx="933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采购优化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362700" y="34290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B34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429375" y="3438525"/>
            <a:ext cx="933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成本分摊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7562850" y="3429000"/>
            <a:ext cx="10668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629525" y="3438525"/>
            <a:ext cx="933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情景编排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2571750" y="4400550"/>
            <a:ext cx="6572250" cy="809625"/>
          </a:xfrm>
          <a:prstGeom prst="roundRect">
            <a:avLst>
              <a:gd name="adj" fmla="val 9412"/>
            </a:avLst>
          </a:prstGeom>
          <a:solidFill>
            <a:srgbClr val="0B222D"/>
          </a:solidFill>
          <a:ln w="14288">
            <a:solidFill>
              <a:srgbClr val="53D38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2714625" y="445770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计划协同与执行闭环</a:t>
            </a:r>
            <a:endParaRPr sz="1350" b="1">
              <a:solidFill>
                <a:srgbClr val="53D3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714625" y="4743450"/>
            <a:ext cx="6286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方案生成 → 业务确认 → 审批发布 → 源系统执行 → 结果回传 → 参数校准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9601200" y="2057400"/>
            <a:ext cx="16954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B348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667875" y="2066925"/>
            <a:ext cx="1562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计划工作台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9601200" y="2647950"/>
            <a:ext cx="16954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667875" y="2657475"/>
            <a:ext cx="1562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驾驶舱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9601200" y="3238500"/>
            <a:ext cx="16954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B348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667875" y="3248025"/>
            <a:ext cx="1562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预警工单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9601200" y="3829050"/>
            <a:ext cx="16954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B348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667875" y="3838575"/>
            <a:ext cx="1562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沙盘推演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9601200" y="4419600"/>
            <a:ext cx="16954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B348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667875" y="4429125"/>
            <a:ext cx="1562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权限审计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右箭头 52"/>
          <p:cNvSpPr>
            <a:spLocks noGrp="1"/>
          </p:cNvSpPr>
          <p:nvPr/>
        </p:nvSpPr>
        <p:spPr>
          <a:xfrm>
            <a:off x="9191625" y="3124200"/>
            <a:ext cx="34290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54" name="左箭头 53"/>
          <p:cNvSpPr>
            <a:spLocks noGrp="1"/>
          </p:cNvSpPr>
          <p:nvPr/>
        </p:nvSpPr>
        <p:spPr>
          <a:xfrm>
            <a:off x="2533650" y="5524500"/>
            <a:ext cx="7048500" cy="32385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3600450" y="549592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执行反馈、KPI偏差与异常事件驱动下一轮计划优化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2381250" y="5981700"/>
            <a:ext cx="762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闭环目标：让计划有依据、方案可解释、执行有跟踪、异常可处置、效果可复盘。</a:t>
            </a:r>
            <a:endParaRPr sz="135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5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ctr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/>
          <p:cNvSpPr>
            <a:spLocks noGrp="1"/>
          </p:cNvSpPr>
          <p:nvPr/>
        </p:nvSpPr>
        <p:spPr>
          <a:xfrm>
            <a:off x="1257300" y="4381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库存优化—数据流与决策闭环</a:t>
            </a:r>
            <a:endParaRPr sz="2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066800"/>
            <a:ext cx="10810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把需求变化、库存状态与生产补充能力统一到逐日库存轨迹中，在保障交付的同时控制资金占用和库容风险。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18573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000375" y="1581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00375" y="1857375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619875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19875" y="18573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239250" y="1581150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239250" y="1857375"/>
            <a:ext cx="1857375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619125" y="2019300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2028825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销售/出货计划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19125" y="2524125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2533650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可用库存与罐位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19125" y="3028950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3038475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已排程计划入库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19125" y="3533775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3543300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服务水平与提前期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667500" y="201930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734175" y="2028825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安全库存 / s / S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667500" y="252412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734175" y="2533650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补货日期与数量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667500" y="302895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734175" y="3038475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预计库存水位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6667500" y="353377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734175" y="3543300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缺货/容量风险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9286875" y="201930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353550" y="2028825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计划员确认发布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9286875" y="252412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353550" y="253365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生产排程承接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9286875" y="302895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353550" y="3038475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生产入库执行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9286875" y="353377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353550" y="354330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驾驶舱预警跟踪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右箭头 39"/>
          <p:cNvSpPr>
            <a:spLocks noGrp="1"/>
          </p:cNvSpPr>
          <p:nvPr/>
        </p:nvSpPr>
        <p:spPr>
          <a:xfrm>
            <a:off x="2667000" y="2962275"/>
            <a:ext cx="45720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1" name="右箭头 40"/>
          <p:cNvSpPr>
            <a:spLocks noGrp="1"/>
          </p:cNvSpPr>
          <p:nvPr/>
        </p:nvSpPr>
        <p:spPr>
          <a:xfrm>
            <a:off x="6048375" y="2962275"/>
            <a:ext cx="457200" cy="209550"/>
          </a:xfrm>
          <a:prstGeom prst="right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42" name="右箭头 41"/>
          <p:cNvSpPr>
            <a:spLocks noGrp="1"/>
          </p:cNvSpPr>
          <p:nvPr/>
        </p:nvSpPr>
        <p:spPr>
          <a:xfrm>
            <a:off x="8810625" y="2962275"/>
            <a:ext cx="36195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3" name="椭圆 42"/>
          <p:cNvSpPr>
            <a:spLocks noGrp="1"/>
          </p:cNvSpPr>
          <p:nvPr/>
        </p:nvSpPr>
        <p:spPr>
          <a:xfrm>
            <a:off x="3352800" y="2171700"/>
            <a:ext cx="2286000" cy="2286000"/>
          </a:xfrm>
          <a:prstGeom prst="ellipse">
            <a:avLst/>
          </a:prstGeom>
          <a:solidFill>
            <a:srgbClr val="082833"/>
          </a:solidFill>
          <a:ln w="28575">
            <a:solidFill>
              <a:srgbClr val="00AEEF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3638550" y="25527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动态库存策略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3571875" y="3067050"/>
            <a:ext cx="18573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(R,s,S) 参数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逐日库存推演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共享库容与罐位兼容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7天锁定与异常重算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下箭头 45"/>
          <p:cNvSpPr>
            <a:spLocks noGrp="1"/>
          </p:cNvSpPr>
          <p:nvPr/>
        </p:nvSpPr>
        <p:spPr>
          <a:xfrm>
            <a:off x="10287000" y="4095750"/>
            <a:ext cx="323850" cy="523875"/>
          </a:xfrm>
          <a:prstGeom prst="down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47" name="左箭头 46"/>
          <p:cNvSpPr>
            <a:spLocks noGrp="1"/>
          </p:cNvSpPr>
          <p:nvPr/>
        </p:nvSpPr>
        <p:spPr>
          <a:xfrm>
            <a:off x="2381250" y="4762500"/>
            <a:ext cx="8096250" cy="30480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</p:sp>
      <p:sp>
        <p:nvSpPr>
          <p:cNvPr id="48" name="上箭头 47"/>
          <p:cNvSpPr>
            <a:spLocks noGrp="1"/>
          </p:cNvSpPr>
          <p:nvPr/>
        </p:nvSpPr>
        <p:spPr>
          <a:xfrm>
            <a:off x="1143000" y="4095750"/>
            <a:ext cx="323850" cy="523875"/>
          </a:xfrm>
          <a:prstGeom prst="up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3143250" y="4724400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实际出货 / 实际入库 / 偏差与预警 / 参数效果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1571625" y="5381625"/>
            <a:ext cx="9048750" cy="666750"/>
          </a:xfrm>
          <a:prstGeom prst="roundRect">
            <a:avLst>
              <a:gd name="adj" fmla="val 11429"/>
            </a:avLst>
          </a:prstGeom>
          <a:solidFill>
            <a:srgbClr val="0B222D"/>
          </a:solidFill>
          <a:ln w="14288">
            <a:solidFill>
              <a:srgbClr val="00AEE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714500" y="543877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以服务水平牵引库存结构优化</a:t>
            </a:r>
            <a:endParaRPr sz="1350" b="1">
              <a:solidFill>
                <a:srgbClr val="00AE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714500" y="572452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降低缺货与呆滞风险，提升库存周转和订单保障能力，让库存从静态经验值变为动态经营参数。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50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ctr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/>
          <p:cNvSpPr>
            <a:spLocks noGrp="1"/>
          </p:cNvSpPr>
          <p:nvPr/>
        </p:nvSpPr>
        <p:spPr>
          <a:xfrm>
            <a:off x="1257300" y="4381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精益排程—约束汇聚与执行协同</a:t>
            </a:r>
            <a:endParaRPr sz="2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0668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把交付优先级、库存补货、产能设备与原辅包到货约束汇聚到统一排程，形成上下游一致的时间承诺。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1619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多约束汇聚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1895475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66750" y="2047875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21145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订单交付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0575" y="240982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优先级/交期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2209800" y="2238375"/>
            <a:ext cx="619125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66750" y="2828925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91820"/>
          </a:solidFill>
          <a:ln w="19050">
            <a:solidFill>
              <a:srgbClr val="23D4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28956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库存补货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90575" y="319087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数量/期望入库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2209800" y="3019425"/>
            <a:ext cx="619125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666750" y="3609975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91820"/>
          </a:solidFill>
          <a:ln w="19050">
            <a:solidFill>
              <a:srgbClr val="FFB34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2000" y="367665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产能设备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0575" y="397192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能力/检修窗口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2209800" y="3800475"/>
            <a:ext cx="619125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666750" y="4391025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91820"/>
          </a:solidFill>
          <a:ln w="19050">
            <a:solidFill>
              <a:srgbClr val="53D38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44577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原辅包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0575" y="475297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可用量/到货期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右箭头 24"/>
          <p:cNvSpPr>
            <a:spLocks noGrp="1"/>
          </p:cNvSpPr>
          <p:nvPr/>
        </p:nvSpPr>
        <p:spPr>
          <a:xfrm>
            <a:off x="2209800" y="4581525"/>
            <a:ext cx="619125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6" name="六边形 25"/>
          <p:cNvSpPr>
            <a:spLocks noGrp="1"/>
          </p:cNvSpPr>
          <p:nvPr/>
        </p:nvSpPr>
        <p:spPr>
          <a:xfrm>
            <a:off x="3048000" y="2333625"/>
            <a:ext cx="2381250" cy="2381250"/>
          </a:xfrm>
          <a:prstGeom prst="hexagon">
            <a:avLst/>
          </a:prstGeom>
          <a:solidFill>
            <a:srgbClr val="082B39"/>
          </a:solidFill>
          <a:ln w="28575">
            <a:solidFill>
              <a:srgbClr val="23D4F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381375" y="27813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约束排程引擎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429000" y="3286125"/>
            <a:ext cx="1619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需求合并与优先级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产能负荷平衡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瓶颈/冲突识别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计划版本与锁定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右箭头 28"/>
          <p:cNvSpPr>
            <a:spLocks noGrp="1"/>
          </p:cNvSpPr>
          <p:nvPr/>
        </p:nvSpPr>
        <p:spPr>
          <a:xfrm>
            <a:off x="5619750" y="3352800"/>
            <a:ext cx="523875" cy="228600"/>
          </a:xfrm>
          <a:prstGeom prst="rightArrow">
            <a:avLst/>
          </a:prstGeom>
          <a:solidFill>
            <a:srgbClr val="23D4FF"/>
          </a:solidFill>
          <a:ln w="0">
            <a:solidFill>
              <a:srgbClr val="23D4F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381750" y="16192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计划执行泳道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381750" y="1895475"/>
            <a:ext cx="209550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6381750" y="2047875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09232E"/>
          </a:solidFill>
          <a:ln w="14288">
            <a:solidFill>
              <a:srgbClr val="00AEE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534150" y="212407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计划协同</a:t>
            </a:r>
            <a:endParaRPr sz="1275" b="1">
              <a:solidFill>
                <a:srgbClr val="00AE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620000" y="2124075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生产综合计划 → 日生产需求表 → 确认发布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6381750" y="2790825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09232E"/>
          </a:solidFill>
          <a:ln w="14288">
            <a:solidFill>
              <a:srgbClr val="23D4F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534150" y="286702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MES执行</a:t>
            </a:r>
            <a:endParaRPr sz="1275" b="1">
              <a:solidFill>
                <a:srgbClr val="23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620000" y="2867025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生产订单 → 进度报工 → 完工入库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381750" y="3533775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09232E"/>
          </a:solidFill>
          <a:ln w="14288">
            <a:solidFill>
              <a:srgbClr val="53D38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534150" y="360997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物料协同</a:t>
            </a:r>
            <a:endParaRPr sz="1275" b="1">
              <a:solidFill>
                <a:srgbClr val="53D3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620000" y="3609975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原辅包需求计划 → 采购到货约束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6381750" y="4276725"/>
            <a:ext cx="4857750" cy="590550"/>
          </a:xfrm>
          <a:prstGeom prst="roundRect">
            <a:avLst>
              <a:gd name="adj" fmla="val 12903"/>
            </a:avLst>
          </a:prstGeom>
          <a:solidFill>
            <a:srgbClr val="09232E"/>
          </a:solidFill>
          <a:ln w="14288">
            <a:solidFill>
              <a:srgbClr val="FFB348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534150" y="4352925"/>
            <a:ext cx="95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异常调整</a:t>
            </a:r>
            <a:endParaRPr sz="1275" b="1">
              <a:solidFill>
                <a:srgbClr val="FFB3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620000" y="4352925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插单/停机/缺料 → 冲突评估 → 重排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左箭头 43"/>
          <p:cNvSpPr>
            <a:spLocks noGrp="1"/>
          </p:cNvSpPr>
          <p:nvPr/>
        </p:nvSpPr>
        <p:spPr>
          <a:xfrm>
            <a:off x="3429000" y="5381625"/>
            <a:ext cx="7334250" cy="28575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4762500" y="53435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实际产量 / 完工时间 / 设备状态 / 物料消耗 / 订单变化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2428875" y="5857875"/>
            <a:ext cx="7524750" cy="495300"/>
          </a:xfrm>
          <a:prstGeom prst="roundRect">
            <a:avLst>
              <a:gd name="adj" fmla="val 15385"/>
            </a:avLst>
          </a:prstGeom>
          <a:solidFill>
            <a:srgbClr val="0B222D"/>
          </a:solidFill>
          <a:ln w="14288">
            <a:solidFill>
              <a:srgbClr val="23D4F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571750" y="5915025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协同价值</a:t>
            </a:r>
            <a:endParaRPr sz="1350" b="1">
              <a:solidFill>
                <a:srgbClr val="23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571750" y="6200775"/>
            <a:ext cx="723900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提前暴露产能、物料和交期冲突，提升计划可执行性，减少临时协调与被动救火。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>
            <a:endParaRPr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5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ctr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/>
          <p:cNvSpPr>
            <a:spLocks noGrp="1"/>
          </p:cNvSpPr>
          <p:nvPr/>
        </p:nvSpPr>
        <p:spPr>
          <a:xfrm>
            <a:off x="1257300" y="4381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采购优化—数据流与执行闭环</a:t>
            </a:r>
            <a:endParaRPr sz="2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066800"/>
            <a:ext cx="10810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以上游已发布原材料需求为唯一需求口径，在满足供应、质量和到货约束的前提下优化供应商组合与综合采购成本。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18573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000375" y="1581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00375" y="1857375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619875" y="1581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19875" y="18573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239250" y="1581150"/>
            <a:ext cx="1857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239250" y="1857375"/>
            <a:ext cx="1857375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619125" y="2019300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2028825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原材料需求计划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19125" y="2524125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2533650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有效采购订单覆盖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19125" y="3028950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3038475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报价/合同价/运费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19125" y="3533775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3543300"/>
            <a:ext cx="1847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产能/账期/包装回收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667500" y="201930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734175" y="2028825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月度采购总量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667500" y="252412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734175" y="2533650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供应商分配方案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667500" y="302895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734175" y="3038475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建议到货日期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6667500" y="3533775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734175" y="3543300"/>
            <a:ext cx="1914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锁价/合同建议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9286875" y="201930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353550" y="2028825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业务确认与审批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9286875" y="252412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353550" y="253365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E采 / SAP下单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9286875" y="302895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353550" y="3038475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供应商发货到厂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9286875" y="353377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17556C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353550" y="3543300"/>
            <a:ext cx="19621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质检与订单更新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右箭头 39"/>
          <p:cNvSpPr>
            <a:spLocks noGrp="1"/>
          </p:cNvSpPr>
          <p:nvPr/>
        </p:nvSpPr>
        <p:spPr>
          <a:xfrm>
            <a:off x="2667000" y="2962275"/>
            <a:ext cx="45720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1" name="右箭头 40"/>
          <p:cNvSpPr>
            <a:spLocks noGrp="1"/>
          </p:cNvSpPr>
          <p:nvPr/>
        </p:nvSpPr>
        <p:spPr>
          <a:xfrm>
            <a:off x="6048375" y="2962275"/>
            <a:ext cx="457200" cy="209550"/>
          </a:xfrm>
          <a:prstGeom prst="rightArrow">
            <a:avLst/>
          </a:prstGeom>
          <a:solidFill>
            <a:srgbClr val="53D38A"/>
          </a:solidFill>
          <a:ln w="0">
            <a:solidFill>
              <a:srgbClr val="53D38A"/>
            </a:solidFill>
            <a:prstDash val="solid"/>
          </a:ln>
        </p:spPr>
      </p:sp>
      <p:sp>
        <p:nvSpPr>
          <p:cNvPr id="42" name="右箭头 41"/>
          <p:cNvSpPr>
            <a:spLocks noGrp="1"/>
          </p:cNvSpPr>
          <p:nvPr/>
        </p:nvSpPr>
        <p:spPr>
          <a:xfrm>
            <a:off x="8810625" y="2962275"/>
            <a:ext cx="361950" cy="2095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3" name="椭圆 42"/>
          <p:cNvSpPr>
            <a:spLocks noGrp="1"/>
          </p:cNvSpPr>
          <p:nvPr/>
        </p:nvSpPr>
        <p:spPr>
          <a:xfrm>
            <a:off x="3352800" y="2171700"/>
            <a:ext cx="2286000" cy="2286000"/>
          </a:xfrm>
          <a:prstGeom prst="ellipse">
            <a:avLst/>
          </a:prstGeom>
          <a:solidFill>
            <a:srgbClr val="082833"/>
          </a:solidFill>
          <a:ln w="28575">
            <a:solidFill>
              <a:srgbClr val="53D38A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3638550" y="25527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采购组合优化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3571875" y="3067050"/>
            <a:ext cx="18573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分期待采购需求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供应商准入与评分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综合成本最优化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到货可行性校验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下箭头 45"/>
          <p:cNvSpPr>
            <a:spLocks noGrp="1"/>
          </p:cNvSpPr>
          <p:nvPr/>
        </p:nvSpPr>
        <p:spPr>
          <a:xfrm>
            <a:off x="10287000" y="4095750"/>
            <a:ext cx="323850" cy="523875"/>
          </a:xfrm>
          <a:prstGeom prst="downArrow">
            <a:avLst/>
          </a:prstGeom>
          <a:solidFill>
            <a:srgbClr val="53D38A"/>
          </a:solidFill>
          <a:ln w="0">
            <a:solidFill>
              <a:srgbClr val="53D38A"/>
            </a:solidFill>
            <a:prstDash val="solid"/>
          </a:ln>
        </p:spPr>
      </p:sp>
      <p:sp>
        <p:nvSpPr>
          <p:cNvPr id="47" name="左箭头 46"/>
          <p:cNvSpPr>
            <a:spLocks noGrp="1"/>
          </p:cNvSpPr>
          <p:nvPr/>
        </p:nvSpPr>
        <p:spPr>
          <a:xfrm>
            <a:off x="2381250" y="4762500"/>
            <a:ext cx="8096250" cy="30480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</p:sp>
      <p:sp>
        <p:nvSpPr>
          <p:cNvPr id="48" name="上箭头 47"/>
          <p:cNvSpPr>
            <a:spLocks noGrp="1"/>
          </p:cNvSpPr>
          <p:nvPr/>
        </p:nvSpPr>
        <p:spPr>
          <a:xfrm>
            <a:off x="1143000" y="4095750"/>
            <a:ext cx="323850" cy="523875"/>
          </a:xfrm>
          <a:prstGeom prst="up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3143250" y="4724400"/>
            <a:ext cx="657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实际价格 / 到货数量与日期 / 质量 / 供应商履约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1571625" y="5381625"/>
            <a:ext cx="9048750" cy="666750"/>
          </a:xfrm>
          <a:prstGeom prst="roundRect">
            <a:avLst>
              <a:gd name="adj" fmla="val 11429"/>
            </a:avLst>
          </a:prstGeom>
          <a:solidFill>
            <a:srgbClr val="0B222D"/>
          </a:solidFill>
          <a:ln w="14288">
            <a:solidFill>
              <a:srgbClr val="53D38A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714500" y="543877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从单价采购升级为总成本与供应安全协同优化</a:t>
            </a:r>
            <a:endParaRPr sz="1350" b="1">
              <a:solidFill>
                <a:srgbClr val="53D3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714500" y="5724525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减少重复采购和缺口风险，提升多供应商组合决策效率，并为供应中断提供可解释的备选方案。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47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ctr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/>
          <p:cNvSpPr>
            <a:spLocks noGrp="1"/>
          </p:cNvSpPr>
          <p:nvPr/>
        </p:nvSpPr>
        <p:spPr>
          <a:xfrm>
            <a:off x="1257300" y="4381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成本分摊—批次价值链与多维利润分析</a:t>
            </a:r>
            <a:endParaRPr sz="2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0668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成本沿实物流和批次链逐级归集、分摊与传递，最终穿透到销售订单、客户和产品经营结果。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" y="1619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成本形成链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1895475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19125" y="2095500"/>
            <a:ext cx="1952625" cy="933450"/>
          </a:xfrm>
          <a:prstGeom prst="roundRect">
            <a:avLst>
              <a:gd name="adj" fmla="val 8163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14375" y="21621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采购入厂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2457450"/>
            <a:ext cx="1704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采购价/运费/入库费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2571750" y="2428875"/>
            <a:ext cx="381000" cy="190500"/>
          </a:xfrm>
          <a:prstGeom prst="right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2952750" y="2095500"/>
            <a:ext cx="1952625" cy="933450"/>
          </a:xfrm>
          <a:prstGeom prst="roundRect">
            <a:avLst>
              <a:gd name="adj" fmla="val 8163"/>
            </a:avLst>
          </a:prstGeom>
          <a:solidFill>
            <a:srgbClr val="091820"/>
          </a:solidFill>
          <a:ln w="19050">
            <a:solidFill>
              <a:srgbClr val="23D4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048000" y="21621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仓储投料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76575" y="2457450"/>
            <a:ext cx="1704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移库/装卸/人工费用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4905375" y="2428875"/>
            <a:ext cx="381000" cy="190500"/>
          </a:xfrm>
          <a:prstGeom prst="rightArrow">
            <a:avLst/>
          </a:prstGeom>
          <a:solidFill>
            <a:srgbClr val="23D4FF"/>
          </a:solidFill>
          <a:ln w="0">
            <a:solidFill>
              <a:srgbClr val="23D4FF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5286375" y="2095500"/>
            <a:ext cx="1952625" cy="933450"/>
          </a:xfrm>
          <a:prstGeom prst="roundRect">
            <a:avLst>
              <a:gd name="adj" fmla="val 8163"/>
            </a:avLst>
          </a:prstGeom>
          <a:solidFill>
            <a:srgbClr val="091820"/>
          </a:solidFill>
          <a:ln w="19050">
            <a:solidFill>
              <a:srgbClr val="53D38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81625" y="21621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生产加工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410200" y="2457450"/>
            <a:ext cx="1704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投料批次/能源/制造费用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7239000" y="2428875"/>
            <a:ext cx="381000" cy="190500"/>
          </a:xfrm>
          <a:prstGeom prst="rightArrow">
            <a:avLst/>
          </a:prstGeom>
          <a:solidFill>
            <a:srgbClr val="53D38A"/>
          </a:solidFill>
          <a:ln w="0">
            <a:solidFill>
              <a:srgbClr val="53D38A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7620000" y="2095500"/>
            <a:ext cx="1952625" cy="933450"/>
          </a:xfrm>
          <a:prstGeom prst="roundRect">
            <a:avLst>
              <a:gd name="adj" fmla="val 8163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715250" y="216217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订单交付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743825" y="2457450"/>
            <a:ext cx="1704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包装/运输/销售订单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下箭头 24"/>
          <p:cNvSpPr>
            <a:spLocks noGrp="1"/>
          </p:cNvSpPr>
          <p:nvPr/>
        </p:nvSpPr>
        <p:spPr>
          <a:xfrm>
            <a:off x="5000625" y="3190875"/>
            <a:ext cx="342900" cy="495300"/>
          </a:xfrm>
          <a:prstGeom prst="downArrow">
            <a:avLst/>
          </a:prstGeom>
          <a:solidFill>
            <a:srgbClr val="FFF200"/>
          </a:solidFill>
          <a:ln w="0">
            <a:solidFill>
              <a:srgbClr val="FFF200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3143250" y="3762375"/>
            <a:ext cx="4048125" cy="1047750"/>
          </a:xfrm>
          <a:prstGeom prst="roundRect">
            <a:avLst>
              <a:gd name="adj" fmla="val 7273"/>
            </a:avLst>
          </a:prstGeom>
          <a:solidFill>
            <a:srgbClr val="0B2833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429000" y="3886200"/>
            <a:ext cx="3476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批次成本引擎</a:t>
            </a:r>
            <a:endParaRPr sz="180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381375" y="4286250"/>
            <a:ext cx="3571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直接费用归集  ·  公共费用池分摊  ·  批次链传递  ·  分摊校验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右箭头 28"/>
          <p:cNvSpPr>
            <a:spLocks noGrp="1"/>
          </p:cNvSpPr>
          <p:nvPr/>
        </p:nvSpPr>
        <p:spPr>
          <a:xfrm>
            <a:off x="7334250" y="4171950"/>
            <a:ext cx="523875" cy="209550"/>
          </a:xfrm>
          <a:prstGeom prst="rightArrow">
            <a:avLst/>
          </a:prstGeom>
          <a:solidFill>
            <a:srgbClr val="FFF200"/>
          </a:solidFill>
          <a:ln w="0">
            <a:solidFill>
              <a:srgbClr val="FFF200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048625" y="338137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价值分析树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048625" y="3657600"/>
            <a:ext cx="171450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8096250" y="3810000"/>
            <a:ext cx="14763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162925" y="3819525"/>
            <a:ext cx="1343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9763125" y="3810000"/>
            <a:ext cx="14763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829800" y="3819525"/>
            <a:ext cx="1343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096250" y="4381500"/>
            <a:ext cx="14763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162925" y="4391025"/>
            <a:ext cx="1343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供应商贡献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9763125" y="4381500"/>
            <a:ext cx="14763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829800" y="4391025"/>
            <a:ext cx="1343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销售订单利润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8096250" y="4953000"/>
            <a:ext cx="3190875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B34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62925" y="4962525"/>
            <a:ext cx="3057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成本差异追溯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666875" y="5191125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财务复核与规则版本管理贯穿归集、分摊和发布全过程</a:t>
            </a:r>
            <a:endParaRPr sz="112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2428875" y="5715000"/>
            <a:ext cx="7524750" cy="571500"/>
          </a:xfrm>
          <a:prstGeom prst="roundRect">
            <a:avLst>
              <a:gd name="adj" fmla="val 13333"/>
            </a:avLst>
          </a:prstGeom>
          <a:solidFill>
            <a:srgbClr val="0B222D"/>
          </a:solidFill>
          <a:ln w="14288">
            <a:solidFill>
              <a:srgbClr val="FFF20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571750" y="57721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经营价值</a:t>
            </a:r>
            <a:endParaRPr sz="135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571750" y="60579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让供应链决策看见真实成本和利润，为采购、排程与库存策略提供统一价值尺度。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>
            <a:endParaRPr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68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ctr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/>
          <p:cNvSpPr>
            <a:spLocks noGrp="1"/>
          </p:cNvSpPr>
          <p:nvPr/>
        </p:nvSpPr>
        <p:spPr>
          <a:xfrm>
            <a:off x="1257300" y="4381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供应链驾驶舱—全局态势与决策闭环中枢</a:t>
            </a:r>
            <a:endParaRPr sz="2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0668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以统一态势为中心，向外连接指标监测、异常处置、情景推演和正式业务调整，形成整齐可追踪的管理闭环。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4429125" y="2095500"/>
            <a:ext cx="3333750" cy="3333750"/>
          </a:xfrm>
          <a:prstGeom prst="ellipse">
            <a:avLst/>
          </a:prstGeom>
          <a:solidFill>
            <a:srgbClr val="071F2A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5000625" y="2667000"/>
            <a:ext cx="2190750" cy="2190750"/>
          </a:xfrm>
          <a:prstGeom prst="ellipse">
            <a:avLst/>
          </a:prstGeom>
          <a:solidFill>
            <a:srgbClr val="0A3442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191125" y="31242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供应链态势中枢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19700" y="3667125"/>
            <a:ext cx="17621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 · 地图 · 专题视图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红黄绿健康度 · 影响链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1619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运营闭环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9125" y="18954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620250" y="1619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决策闭环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620250" y="1895475"/>
            <a:ext cx="16192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666750" y="20955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21621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汇聚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90575" y="24574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跨模块结果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2095500" y="22764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666750" y="27813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2000" y="28479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识别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90575" y="31432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异常与预警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2095500" y="29622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666750" y="34671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62000" y="35337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钻取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90575" y="38290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明细与根因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2095500" y="36480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666750" y="41529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62000" y="42195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处置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90575" y="45148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派发与跟踪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右箭头 30"/>
          <p:cNvSpPr>
            <a:spLocks noGrp="1"/>
          </p:cNvSpPr>
          <p:nvPr/>
        </p:nvSpPr>
        <p:spPr>
          <a:xfrm>
            <a:off x="2095500" y="43338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666750" y="48387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62000" y="49053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验证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0575" y="52006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恢复后关闭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右箭头 34"/>
          <p:cNvSpPr>
            <a:spLocks noGrp="1"/>
          </p:cNvSpPr>
          <p:nvPr/>
        </p:nvSpPr>
        <p:spPr>
          <a:xfrm>
            <a:off x="2095500" y="5019675"/>
            <a:ext cx="457200" cy="171450"/>
          </a:xfrm>
          <a:prstGeom prst="righ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6" name="左箭头 35"/>
          <p:cNvSpPr>
            <a:spLocks noGrp="1"/>
          </p:cNvSpPr>
          <p:nvPr/>
        </p:nvSpPr>
        <p:spPr>
          <a:xfrm>
            <a:off x="9620250" y="22764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10096500" y="20955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191750" y="21621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设定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220325" y="24574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情景参数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左箭头 39"/>
          <p:cNvSpPr>
            <a:spLocks noGrp="1"/>
          </p:cNvSpPr>
          <p:nvPr/>
        </p:nvSpPr>
        <p:spPr>
          <a:xfrm>
            <a:off x="9620250" y="29622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10096500" y="27813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0191750" y="28479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冻结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0220325" y="31432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基线快照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左箭头 43"/>
          <p:cNvSpPr>
            <a:spLocks noGrp="1"/>
          </p:cNvSpPr>
          <p:nvPr/>
        </p:nvSpPr>
        <p:spPr>
          <a:xfrm>
            <a:off x="9620250" y="36480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5" name="圆角矩形 44"/>
          <p:cNvSpPr>
            <a:spLocks noGrp="1"/>
          </p:cNvSpPr>
          <p:nvPr/>
        </p:nvSpPr>
        <p:spPr>
          <a:xfrm>
            <a:off x="10096500" y="34671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0191750" y="35337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编排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0220325" y="38290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专业模型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左箭头 47"/>
          <p:cNvSpPr>
            <a:spLocks noGrp="1"/>
          </p:cNvSpPr>
          <p:nvPr/>
        </p:nvSpPr>
        <p:spPr>
          <a:xfrm>
            <a:off x="9620250" y="43338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10096500" y="41529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0191750" y="42195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对比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0220325" y="45148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成本/服务/风险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左箭头 51"/>
          <p:cNvSpPr>
            <a:spLocks noGrp="1"/>
          </p:cNvSpPr>
          <p:nvPr/>
        </p:nvSpPr>
        <p:spPr>
          <a:xfrm>
            <a:off x="9620250" y="5019675"/>
            <a:ext cx="457200" cy="171450"/>
          </a:xfrm>
          <a:prstGeom prst="leftArrow">
            <a:avLst/>
          </a:prstGeom>
          <a:solidFill>
            <a:srgbClr val="17556C"/>
          </a:solidFill>
          <a:ln w="0">
            <a:solidFill>
              <a:srgbClr val="17556C"/>
            </a:solidFill>
            <a:prstDash val="solid"/>
          </a:ln>
        </p:spPr>
      </p:sp>
      <p:sp>
        <p:nvSpPr>
          <p:cNvPr id="53" name="圆角矩形 52"/>
          <p:cNvSpPr>
            <a:spLocks noGrp="1"/>
          </p:cNvSpPr>
          <p:nvPr/>
        </p:nvSpPr>
        <p:spPr>
          <a:xfrm>
            <a:off x="10096500" y="4838700"/>
            <a:ext cx="1381125" cy="533400"/>
          </a:xfrm>
          <a:prstGeom prst="roundRect">
            <a:avLst>
              <a:gd name="adj" fmla="val 1428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191750" y="4905375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采纳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0220325" y="5200650"/>
            <a:ext cx="11334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正式调整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3493770" y="2238375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3560445" y="224790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库存健康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7347585" y="2238375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7414260" y="224790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交付达成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3242945" y="4676775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B348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3309620" y="468630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采购执行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7553325" y="46672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23D4FF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7620000" y="4676775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产能负荷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左箭头 63"/>
          <p:cNvSpPr>
            <a:spLocks noGrp="1"/>
          </p:cNvSpPr>
          <p:nvPr/>
        </p:nvSpPr>
        <p:spPr>
          <a:xfrm>
            <a:off x="3333750" y="5715000"/>
            <a:ext cx="5524500" cy="28575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3714750" y="56769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正式执行结果回流态势监测；新问题进入沙盘评估并驱动下一轮改进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3333750" y="6191250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看全局  ·  找异常  ·  做推演  ·  促协同  ·  跟闭环</a:t>
            </a:r>
            <a:endParaRPr sz="135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  <a:endParaRPr sz="1400"/>
          </a:p>
        </p:txBody>
      </p:sp>
      <p:pic>
        <p:nvPicPr>
          <p:cNvPr id="4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>
            <a:spLocks noGrp="1"/>
          </p:cNvSpPr>
          <p:nvPr/>
        </p:nvSpPr>
        <p:spPr>
          <a:xfrm>
            <a:off x="711200" y="444500"/>
            <a:ext cx="11480165" cy="4699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88900" tIns="50800" rIns="88900" bIns="50800" anchor="ctr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/>
          <p:cNvSpPr>
            <a:spLocks noGrp="1"/>
          </p:cNvSpPr>
          <p:nvPr/>
        </p:nvSpPr>
        <p:spPr>
          <a:xfrm>
            <a:off x="1257300" y="4381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SCOS平台—未来价值流</a:t>
            </a:r>
            <a:endParaRPr sz="2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11049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以客户需求为起点，以经营价值为终点；计划链、执行链、成本链和管理链在同一平台形成双向贯通。</a:t>
            </a:r>
            <a:endParaRPr sz="142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右箭头 7"/>
          <p:cNvSpPr>
            <a:spLocks noGrp="1"/>
          </p:cNvSpPr>
          <p:nvPr/>
        </p:nvSpPr>
        <p:spPr>
          <a:xfrm>
            <a:off x="2428875" y="2552700"/>
            <a:ext cx="428625" cy="209550"/>
          </a:xfrm>
          <a:prstGeom prst="right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9" name="右箭头 8"/>
          <p:cNvSpPr>
            <a:spLocks noGrp="1"/>
          </p:cNvSpPr>
          <p:nvPr/>
        </p:nvSpPr>
        <p:spPr>
          <a:xfrm>
            <a:off x="4619625" y="2552700"/>
            <a:ext cx="428625" cy="209550"/>
          </a:xfrm>
          <a:prstGeom prst="rightArrow">
            <a:avLst/>
          </a:prstGeom>
          <a:solidFill>
            <a:srgbClr val="23D4FF"/>
          </a:solidFill>
          <a:ln w="0">
            <a:solidFill>
              <a:srgbClr val="23D4FF"/>
            </a:solidFill>
            <a:prstDash val="solid"/>
          </a:ln>
        </p:spPr>
      </p:sp>
      <p:sp>
        <p:nvSpPr>
          <p:cNvPr id="10" name="右箭头 9"/>
          <p:cNvSpPr>
            <a:spLocks noGrp="1"/>
          </p:cNvSpPr>
          <p:nvPr/>
        </p:nvSpPr>
        <p:spPr>
          <a:xfrm>
            <a:off x="6810375" y="2552700"/>
            <a:ext cx="428625" cy="209550"/>
          </a:xfrm>
          <a:prstGeom prst="rightArrow">
            <a:avLst/>
          </a:prstGeom>
          <a:solidFill>
            <a:srgbClr val="53D38A"/>
          </a:solidFill>
          <a:ln w="0">
            <a:solidFill>
              <a:srgbClr val="53D38A"/>
            </a:solidFill>
            <a:prstDash val="solid"/>
          </a:ln>
        </p:spPr>
      </p:sp>
      <p:sp>
        <p:nvSpPr>
          <p:cNvPr id="11" name="右箭头 10"/>
          <p:cNvSpPr>
            <a:spLocks noGrp="1"/>
          </p:cNvSpPr>
          <p:nvPr/>
        </p:nvSpPr>
        <p:spPr>
          <a:xfrm>
            <a:off x="9001125" y="2552700"/>
            <a:ext cx="428625" cy="209550"/>
          </a:xfrm>
          <a:prstGeom prst="rightArrow">
            <a:avLst/>
          </a:prstGeom>
          <a:solidFill>
            <a:srgbClr val="FFF200"/>
          </a:solidFill>
          <a:ln w="0">
            <a:solidFill>
              <a:srgbClr val="FFF200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619125" y="2000250"/>
            <a:ext cx="1809750" cy="1285875"/>
          </a:xfrm>
          <a:prstGeom prst="roundRect">
            <a:avLst>
              <a:gd name="adj" fmla="val 5926"/>
            </a:avLst>
          </a:prstGeom>
          <a:solidFill>
            <a:srgbClr val="09182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14375" y="2066925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库存优化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2950" y="2362200"/>
            <a:ext cx="15621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需求与库存平衡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形成补货建议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857500" y="2000250"/>
            <a:ext cx="1762125" cy="1285875"/>
          </a:xfrm>
          <a:prstGeom prst="roundRect">
            <a:avLst>
              <a:gd name="adj" fmla="val 5926"/>
            </a:avLst>
          </a:prstGeom>
          <a:solidFill>
            <a:srgbClr val="091820"/>
          </a:solidFill>
          <a:ln w="19050">
            <a:solidFill>
              <a:srgbClr val="23D4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952750" y="206692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精益排程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981325" y="2362200"/>
            <a:ext cx="151447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产能与物料协同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形成生产承诺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048250" y="2000250"/>
            <a:ext cx="1762125" cy="1285875"/>
          </a:xfrm>
          <a:prstGeom prst="roundRect">
            <a:avLst>
              <a:gd name="adj" fmla="val 5926"/>
            </a:avLst>
          </a:prstGeom>
          <a:solidFill>
            <a:srgbClr val="091820"/>
          </a:solidFill>
          <a:ln w="19050">
            <a:solidFill>
              <a:srgbClr val="53D38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143500" y="206692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采购优化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172075" y="2362200"/>
            <a:ext cx="151447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供应商组合优化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保障原料到货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239000" y="2000250"/>
            <a:ext cx="1762125" cy="1285875"/>
          </a:xfrm>
          <a:prstGeom prst="roundRect">
            <a:avLst>
              <a:gd name="adj" fmla="val 5926"/>
            </a:avLst>
          </a:prstGeom>
          <a:solidFill>
            <a:srgbClr val="091820"/>
          </a:solidFill>
          <a:ln w="19050">
            <a:solidFill>
              <a:srgbClr val="FFF20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334250" y="206692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成本分摊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362825" y="2362200"/>
            <a:ext cx="151447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还原批次与订单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真实成本利润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429750" y="2000250"/>
            <a:ext cx="2095500" cy="1285875"/>
          </a:xfrm>
          <a:prstGeom prst="roundRect">
            <a:avLst>
              <a:gd name="adj" fmla="val 5926"/>
            </a:avLst>
          </a:prstGeom>
          <a:solidFill>
            <a:srgbClr val="091820"/>
          </a:solidFill>
          <a:ln w="19050">
            <a:solidFill>
              <a:srgbClr val="FFB34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525000" y="206692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供应链驾驶舱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53575" y="2362200"/>
            <a:ext cx="184785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全局监测、预警处置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情景推演与决策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下箭头 26"/>
          <p:cNvSpPr>
            <a:spLocks noGrp="1"/>
          </p:cNvSpPr>
          <p:nvPr/>
        </p:nvSpPr>
        <p:spPr>
          <a:xfrm>
            <a:off x="10382250" y="3476625"/>
            <a:ext cx="323850" cy="523875"/>
          </a:xfrm>
          <a:prstGeom prst="downArrow">
            <a:avLst/>
          </a:prstGeom>
          <a:solidFill>
            <a:srgbClr val="FFB348"/>
          </a:solidFill>
          <a:ln w="0">
            <a:solidFill>
              <a:srgbClr val="FFB348"/>
            </a:solidFill>
            <a:prstDash val="solid"/>
          </a:ln>
        </p:spPr>
      </p:sp>
      <p:sp>
        <p:nvSpPr>
          <p:cNvPr id="28" name="左箭头 27"/>
          <p:cNvSpPr>
            <a:spLocks noGrp="1"/>
          </p:cNvSpPr>
          <p:nvPr/>
        </p:nvSpPr>
        <p:spPr>
          <a:xfrm>
            <a:off x="1619250" y="4229100"/>
            <a:ext cx="9048750" cy="304800"/>
          </a:xfrm>
          <a:prstGeom prst="leftArrow">
            <a:avLst/>
          </a:prstGeom>
          <a:solidFill>
            <a:srgbClr val="17485A"/>
          </a:solidFill>
          <a:ln w="0">
            <a:solidFill>
              <a:srgbClr val="17485A"/>
            </a:solidFill>
            <a:prstDash val="solid"/>
          </a:ln>
        </p:spPr>
      </p:sp>
      <p:sp>
        <p:nvSpPr>
          <p:cNvPr id="29" name="上箭头 28"/>
          <p:cNvSpPr>
            <a:spLocks noGrp="1"/>
          </p:cNvSpPr>
          <p:nvPr/>
        </p:nvSpPr>
        <p:spPr>
          <a:xfrm>
            <a:off x="1047750" y="3476625"/>
            <a:ext cx="323850" cy="523875"/>
          </a:xfrm>
          <a:prstGeom prst="upArrow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571875" y="4191000"/>
            <a:ext cx="571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执行实绩 · KPI偏差 · 风险事件 · 成本影响 · 情景参数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481012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价值跃迁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66750" y="5086350"/>
            <a:ext cx="1809750" cy="19050"/>
          </a:xfrm>
          <a:prstGeom prst="rect">
            <a:avLst/>
          </a:prstGeom>
          <a:solidFill>
            <a:srgbClr val="00AEEF"/>
          </a:solidFill>
          <a:ln w="0">
            <a:solidFill>
              <a:srgbClr val="00AEEF"/>
            </a:solidFill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714375" y="5257800"/>
            <a:ext cx="2571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00AEE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81050" y="5267325"/>
            <a:ext cx="2438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计划：经验驱动 → 数据与模型驱动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3495675" y="5257800"/>
            <a:ext cx="2571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23D4F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562350" y="5267325"/>
            <a:ext cx="2438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协同：模块割裂 → 端到端联动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276975" y="5257800"/>
            <a:ext cx="2571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53D38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343650" y="5267325"/>
            <a:ext cx="2438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管理：事后解释 → 事前预判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9058275" y="5257800"/>
            <a:ext cx="2571750" cy="323850"/>
          </a:xfrm>
          <a:prstGeom prst="roundRect">
            <a:avLst>
              <a:gd name="adj" fmla="val 23529"/>
            </a:avLst>
          </a:prstGeom>
          <a:solidFill>
            <a:srgbClr val="102832"/>
          </a:solidFill>
          <a:ln w="11430">
            <a:solidFill>
              <a:srgbClr val="FFF200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124950" y="5267325"/>
            <a:ext cx="2438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经营：局部成本 → 全局价值最优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524000" y="59055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最终形成“需求牵引、计划协同、执行反馈、价值衡量、持续优化”的供应链经营闭环。</a:t>
            </a:r>
            <a:endParaRPr sz="150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_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69E5"/>
      </a:accent1>
      <a:accent2>
        <a:srgbClr val="1969CC"/>
      </a:accent2>
      <a:accent3>
        <a:srgbClr val="00E8D8"/>
      </a:accent3>
      <a:accent4>
        <a:srgbClr val="1FC0B5"/>
      </a:accent4>
      <a:accent5>
        <a:srgbClr val="000000"/>
      </a:accent5>
      <a:accent6>
        <a:srgbClr val="0C0B0B"/>
      </a:accent6>
      <a:hlink>
        <a:srgbClr val="FF0042"/>
      </a:hlink>
      <a:folHlink>
        <a:srgbClr val="787878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2338</Words>
  <Application>WPS 表格</Application>
  <PresentationFormat>Converted Presentation</PresentationFormat>
  <Paragraphs>418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28</vt:i4>
      </vt:variant>
      <vt:variant>
        <vt:lpstr>幻灯片标题</vt:lpstr>
      </vt:variant>
      <vt:variant>
        <vt:i4>8</vt:i4>
      </vt:variant>
    </vt:vector>
  </HeadingPairs>
  <TitlesOfParts>
    <vt:vector size="52" baseType="lpstr">
      <vt:lpstr>Arial</vt:lpstr>
      <vt:lpstr>宋体</vt:lpstr>
      <vt:lpstr>Wingdings</vt:lpstr>
      <vt:lpstr>Arial</vt:lpstr>
      <vt:lpstr>微软雅黑</vt:lpstr>
      <vt:lpstr>方正雅意黑 GB18030L2</vt:lpstr>
      <vt:lpstr>等线</vt:lpstr>
      <vt:lpstr>汉仪中等线KW</vt:lpstr>
      <vt:lpstr>微软雅黑</vt:lpstr>
      <vt:lpstr>宋体</vt:lpstr>
      <vt:lpstr>Arial Unicode MS</vt:lpstr>
      <vt:lpstr>汉仪书宋二KW</vt:lpstr>
      <vt:lpstr>Calibri</vt:lpstr>
      <vt:lpstr>Helvetica Neue</vt:lpstr>
      <vt:lpstr>微软雅黑</vt:lpstr>
      <vt:lpstr>等线</vt:lpstr>
      <vt:lpstr>默认主题</vt:lpstr>
      <vt:lpstr>1_默认主题</vt:lpstr>
      <vt:lpstr>2_默认主题</vt:lpstr>
      <vt:lpstr>5_默认主题</vt:lpstr>
      <vt:lpstr>6_默认主题</vt:lpstr>
      <vt:lpstr>2_默认主题</vt:lpstr>
      <vt:lpstr>7_默认主题</vt:lpstr>
      <vt:lpstr>2_默认主题</vt:lpstr>
      <vt:lpstr>8_默认主题</vt:lpstr>
      <vt:lpstr>2_默认主题</vt:lpstr>
      <vt:lpstr>3_默认主题</vt:lpstr>
      <vt:lpstr>3_默认主题</vt:lpstr>
      <vt:lpstr>4_默认主题</vt:lpstr>
      <vt:lpstr>2_默认主题</vt:lpstr>
      <vt:lpstr>9_默认主题</vt:lpstr>
      <vt:lpstr>2_默认主题</vt:lpstr>
      <vt:lpstr>10_默认主题</vt:lpstr>
      <vt:lpstr>11_默认主题</vt:lpstr>
      <vt:lpstr>2_默认主题</vt:lpstr>
      <vt:lpstr>12_默认主题</vt:lpstr>
      <vt:lpstr>2_默认主题</vt:lpstr>
      <vt:lpstr>2_主题1</vt:lpstr>
      <vt:lpstr>14_默认主题</vt:lpstr>
      <vt:lpstr>13_默认主题</vt:lpstr>
      <vt:lpstr>15_默认主题</vt:lpstr>
      <vt:lpstr>16_默认主题</vt:lpstr>
      <vt:lpstr>17_默认主题</vt:lpstr>
      <vt:lpstr>18_默认主题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zihaoguo</cp:lastModifiedBy>
  <cp:revision>6</cp:revision>
  <dcterms:created xsi:type="dcterms:W3CDTF">2026-08-25T08:02:21Z</dcterms:created>
  <dcterms:modified xsi:type="dcterms:W3CDTF">2026-08-25T08:02:21Z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421F8D6255B7A194B64A8D6A280ED60E_42</vt:lpwstr>
  </property>
  <property fmtid="{D5CDD505-2E9C-101B-9397-08002B2CF9AE}" pid="3" name="KSOProductBuildVer">
    <vt:lpwstr>2052-12.1.26055.26055</vt:lpwstr>
  </property>
</Properties>
</file>