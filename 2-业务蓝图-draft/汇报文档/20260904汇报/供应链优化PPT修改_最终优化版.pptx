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Masters/slideMaster13.xml" ContentType="application/vnd.openxmlformats-officedocument.presentationml.slideMaster+xml"/>
  <Override PartName="/ppt/slideMasters/theme/theme14.xml" ContentType="application/vnd.openxmlformats-officedocument.theme+xml"/>
  <Override PartName="/ppt/slideMasters/slideMaster14.xml" ContentType="application/vnd.openxmlformats-officedocument.presentationml.slideMaster+xml"/>
  <Override PartName="/ppt/slideMasters/theme/theme1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dd394ec7aa4cbb" /><Relationship Type="http://schemas.openxmlformats.org/officeDocument/2006/relationships/extended-properties" Target="/docProps/app.xml" Id="Rbadd973a08a44b46" /><Relationship Type="http://schemas.openxmlformats.org/officeDocument/2006/relationships/officeDocument" Target="/ppt/presentation.xml" Id="Rc9b1edced47142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ee3b87862a4fac"/>
    <p:sldMasterId xmlns:r="http://schemas.openxmlformats.org/officeDocument/2006/relationships" id="2147483651" r:id="R160e9ee7af1245b7"/>
    <p:sldMasterId xmlns:r="http://schemas.openxmlformats.org/officeDocument/2006/relationships" id="2147483654" r:id="Rff09a7d502be44f0"/>
    <p:sldMasterId xmlns:r="http://schemas.openxmlformats.org/officeDocument/2006/relationships" id="2147483664" r:id="R5f28fad67f26472b"/>
    <p:sldMasterId xmlns:r="http://schemas.openxmlformats.org/officeDocument/2006/relationships" id="2147483667" r:id="R0bdd2513fb9644af"/>
    <p:sldMasterId xmlns:r="http://schemas.openxmlformats.org/officeDocument/2006/relationships" id="2147483670" r:id="R10b127b7e3244b3d"/>
    <p:sldMasterId xmlns:r="http://schemas.openxmlformats.org/officeDocument/2006/relationships" id="2147483673" r:id="Raddda2a92cb74d00"/>
    <p:sldMasterId xmlns:r="http://schemas.openxmlformats.org/officeDocument/2006/relationships" id="2147483676" r:id="Red8651f46134496b"/>
    <p:sldMasterId xmlns:r="http://schemas.openxmlformats.org/officeDocument/2006/relationships" id="2147483679" r:id="R899092a566ba41db"/>
    <p:sldMasterId xmlns:r="http://schemas.openxmlformats.org/officeDocument/2006/relationships" id="2147483682" r:id="Rcdbcfccfdaca4fff"/>
    <p:sldMasterId xmlns:r="http://schemas.openxmlformats.org/officeDocument/2006/relationships" id="2147483685" r:id="Rd3e901ff527c41fd"/>
    <p:sldMasterId xmlns:r="http://schemas.openxmlformats.org/officeDocument/2006/relationships" id="2147483688" r:id="Ra5ddfb53f34e45c2"/>
    <p:sldMasterId xmlns:r="http://schemas.openxmlformats.org/officeDocument/2006/relationships" id="2147483691" r:id="Rcaf5c47d3ab84027"/>
    <p:sldMasterId xmlns:r="http://schemas.openxmlformats.org/officeDocument/2006/relationships" id="2147483694" r:id="R90f1960da4a44685"/>
  </p:sldMasterIdLst>
  <p:notesMasterIdLst>
    <p:notesMasterId xmlns:r="http://schemas.openxmlformats.org/officeDocument/2006/relationships" r:id="Ra2d7a6a0c75e48fd"/>
  </p:notesMasterIdLst>
  <p:sldIdLst>
    <p:sldId xmlns:r="http://schemas.openxmlformats.org/officeDocument/2006/relationships" id="256" r:id="R4325acbe7cde4d7d"/>
    <p:sldId xmlns:r="http://schemas.openxmlformats.org/officeDocument/2006/relationships" id="257" r:id="R02d551b5290b4822"/>
    <p:sldId xmlns:r="http://schemas.openxmlformats.org/officeDocument/2006/relationships" id="258" r:id="R0fb8e0a5c669431f"/>
    <p:sldId xmlns:r="http://schemas.openxmlformats.org/officeDocument/2006/relationships" id="259" r:id="Rb687e479e9dc47bb"/>
    <p:sldId xmlns:r="http://schemas.openxmlformats.org/officeDocument/2006/relationships" id="260" r:id="R3ff1159d1ece43da"/>
    <p:sldId xmlns:r="http://schemas.openxmlformats.org/officeDocument/2006/relationships" id="261" r:id="Rd8094a6bc02c4d05"/>
    <p:sldId xmlns:r="http://schemas.openxmlformats.org/officeDocument/2006/relationships" id="262" r:id="R7250c0ccb7ff432a"/>
    <p:sldId xmlns:r="http://schemas.openxmlformats.org/officeDocument/2006/relationships" id="263" r:id="Rd2da61c9d8244212"/>
    <p:sldId xmlns:r="http://schemas.openxmlformats.org/officeDocument/2006/relationships" id="264" r:id="R97ac273a988f40ef"/>
    <p:sldId xmlns:r="http://schemas.openxmlformats.org/officeDocument/2006/relationships" id="265" r:id="R8db9d1a9131e4049"/>
    <p:sldId xmlns:r="http://schemas.openxmlformats.org/officeDocument/2006/relationships" id="266" r:id="R08efa02075b24d8d"/>
    <p:sldId xmlns:r="http://schemas.openxmlformats.org/officeDocument/2006/relationships" id="267" r:id="Rcd22b8b3f8cf430a"/>
    <p:sldId xmlns:r="http://schemas.openxmlformats.org/officeDocument/2006/relationships" id="268" r:id="R406fc1b64c02440b"/>
    <p:sldId xmlns:r="http://schemas.openxmlformats.org/officeDocument/2006/relationships" id="269" r:id="Rf649ab501c8a40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d2791175c4249" /><Relationship Type="http://schemas.openxmlformats.org/officeDocument/2006/relationships/slideMaster" Target="/ppt/slideMasters/slideMaster1.xml" Id="R1fee3b87862a4fac" /><Relationship Type="http://schemas.openxmlformats.org/officeDocument/2006/relationships/slideMaster" Target="/ppt/slideMasters/slideMaster2.xml" Id="R160e9ee7af1245b7" /><Relationship Type="http://schemas.openxmlformats.org/officeDocument/2006/relationships/slideMaster" Target="/ppt/slideMasters/slideMaster3.xml" Id="Rff09a7d502be44f0" /><Relationship Type="http://schemas.openxmlformats.org/officeDocument/2006/relationships/slideMaster" Target="/ppt/slideMasters/slideMaster4.xml" Id="R5f28fad67f26472b" /><Relationship Type="http://schemas.openxmlformats.org/officeDocument/2006/relationships/slideMaster" Target="/ppt/slideMasters/slideMaster5.xml" Id="R0bdd2513fb9644af" /><Relationship Type="http://schemas.openxmlformats.org/officeDocument/2006/relationships/slideMaster" Target="/ppt/slideMasters/slideMaster6.xml" Id="R10b127b7e3244b3d" /><Relationship Type="http://schemas.openxmlformats.org/officeDocument/2006/relationships/slideMaster" Target="/ppt/slideMasters/slideMaster7.xml" Id="Raddda2a92cb74d00" /><Relationship Type="http://schemas.openxmlformats.org/officeDocument/2006/relationships/slideMaster" Target="/ppt/slideMasters/slideMaster8.xml" Id="Red8651f46134496b" /><Relationship Type="http://schemas.openxmlformats.org/officeDocument/2006/relationships/slideMaster" Target="/ppt/slideMasters/slideMaster9.xml" Id="R899092a566ba41db" /><Relationship Type="http://schemas.openxmlformats.org/officeDocument/2006/relationships/slideMaster" Target="/ppt/slideMasters/slideMaster10.xml" Id="Rcdbcfccfdaca4fff" /><Relationship Type="http://schemas.openxmlformats.org/officeDocument/2006/relationships/slideMaster" Target="/ppt/slideMasters/slideMaster11.xml" Id="Rd3e901ff527c41fd" /><Relationship Type="http://schemas.openxmlformats.org/officeDocument/2006/relationships/slideMaster" Target="/ppt/slideMasters/slideMaster12.xml" Id="Ra5ddfb53f34e45c2" /><Relationship Type="http://schemas.openxmlformats.org/officeDocument/2006/relationships/slideMaster" Target="/ppt/slideMasters/slideMaster13.xml" Id="Rcaf5c47d3ab84027" /><Relationship Type="http://schemas.openxmlformats.org/officeDocument/2006/relationships/slideMaster" Target="/ppt/slideMasters/slideMaster14.xml" Id="R90f1960da4a44685" /><Relationship Type="http://schemas.openxmlformats.org/officeDocument/2006/relationships/notesMaster" Target="/ppt/notesMasters/notesMaster1.xml" Id="Ra2d7a6a0c75e48fd" /><Relationship Type="http://schemas.openxmlformats.org/officeDocument/2006/relationships/presProps" Target="/ppt/presProps.xml" Id="R225fb14007954c7c" /><Relationship Type="http://schemas.openxmlformats.org/officeDocument/2006/relationships/viewProps" Target="/ppt/viewProps.xml" Id="R133b3964c7344ac7" /><Relationship Type="http://schemas.openxmlformats.org/officeDocument/2006/relationships/tableStyles" Target="/ppt/tableStyles.xml" Id="R4d76587e1df74b1f" /><Relationship Type="http://schemas.openxmlformats.org/officeDocument/2006/relationships/slide" Target="/ppt/slides/slide1.xml" Id="R4325acbe7cde4d7d" /><Relationship Type="http://schemas.openxmlformats.org/officeDocument/2006/relationships/slide" Target="/ppt/slides/slide2.xml" Id="R02d551b5290b4822" /><Relationship Type="http://schemas.openxmlformats.org/officeDocument/2006/relationships/slide" Target="/ppt/slides/slide3.xml" Id="R0fb8e0a5c669431f" /><Relationship Type="http://schemas.openxmlformats.org/officeDocument/2006/relationships/slide" Target="/ppt/slides/slide4.xml" Id="Rb687e479e9dc47bb" /><Relationship Type="http://schemas.openxmlformats.org/officeDocument/2006/relationships/slide" Target="/ppt/slides/slide5.xml" Id="R3ff1159d1ece43da" /><Relationship Type="http://schemas.openxmlformats.org/officeDocument/2006/relationships/slide" Target="/ppt/slides/slide6.xml" Id="Rd8094a6bc02c4d05" /><Relationship Type="http://schemas.openxmlformats.org/officeDocument/2006/relationships/slide" Target="/ppt/slides/slide7.xml" Id="R7250c0ccb7ff432a" /><Relationship Type="http://schemas.openxmlformats.org/officeDocument/2006/relationships/slide" Target="/ppt/slides/slide8.xml" Id="Rd2da61c9d8244212" /><Relationship Type="http://schemas.openxmlformats.org/officeDocument/2006/relationships/slide" Target="/ppt/slides/slide9.xml" Id="R97ac273a988f40ef" /><Relationship Type="http://schemas.openxmlformats.org/officeDocument/2006/relationships/slide" Target="/ppt/slides/slide10.xml" Id="R8db9d1a9131e4049" /><Relationship Type="http://schemas.openxmlformats.org/officeDocument/2006/relationships/slide" Target="/ppt/slides/slide11.xml" Id="R08efa02075b24d8d" /><Relationship Type="http://schemas.openxmlformats.org/officeDocument/2006/relationships/slide" Target="/ppt/slides/slide12.xml" Id="Rcd22b8b3f8cf430a" /><Relationship Type="http://schemas.openxmlformats.org/officeDocument/2006/relationships/slide" Target="/ppt/slides/slide13.xml" Id="R406fc1b64c02440b" /><Relationship Type="http://schemas.openxmlformats.org/officeDocument/2006/relationships/slide" Target="/ppt/slides/slide14.xml" Id="Rf649ab501c8a40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6.xml" Id="Rea0f87141f1940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6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f009d91b154711" /><Relationship Type="http://schemas.openxmlformats.org/officeDocument/2006/relationships/notesMaster" Target="/ppt/notesMasters/notesMaster1.xml" Id="R97d5c5ed06134b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2646688ae24f16" /><Relationship Type="http://schemas.openxmlformats.org/officeDocument/2006/relationships/notesMaster" Target="/ppt/notesMasters/notesMaster1.xml" Id="Recd7bb5c2ab749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9b2dd6e7d4475e" /><Relationship Type="http://schemas.openxmlformats.org/officeDocument/2006/relationships/notesMaster" Target="/ppt/notesMasters/notesMaster1.xml" Id="R0578960e51804f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eddda2762a4d37" /><Relationship Type="http://schemas.openxmlformats.org/officeDocument/2006/relationships/notesMaster" Target="/ppt/notesMasters/notesMaster1.xml" Id="R08fdb228256d4a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f06016e1ed438e" /><Relationship Type="http://schemas.openxmlformats.org/officeDocument/2006/relationships/notesMaster" Target="/ppt/notesMasters/notesMaster1.xml" Id="Ra7cc44f8d3444c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a86977c2ab4232" /><Relationship Type="http://schemas.openxmlformats.org/officeDocument/2006/relationships/notesMaster" Target="/ppt/notesMasters/notesMaster1.xml" Id="R1a1a38b8c6cb46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539ca453c54275" /><Relationship Type="http://schemas.openxmlformats.org/officeDocument/2006/relationships/notesMaster" Target="/ppt/notesMasters/notesMaster1.xml" Id="R3a7a14cfc4db4f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1c5351935547e3" /><Relationship Type="http://schemas.openxmlformats.org/officeDocument/2006/relationships/notesMaster" Target="/ppt/notesMasters/notesMaster1.xml" Id="R954e82137c624a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33ed8a7ad94b32" /><Relationship Type="http://schemas.openxmlformats.org/officeDocument/2006/relationships/notesMaster" Target="/ppt/notesMasters/notesMaster1.xml" Id="R74ac481c5e7b4e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4c1fa467254034" /><Relationship Type="http://schemas.openxmlformats.org/officeDocument/2006/relationships/notesMaster" Target="/ppt/notesMasters/notesMaster1.xml" Id="R8aa48790901547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a24235729642ef" /><Relationship Type="http://schemas.openxmlformats.org/officeDocument/2006/relationships/notesMaster" Target="/ppt/notesMasters/notesMaster1.xml" Id="R0720636cfe9042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233563e2dd424b" /><Relationship Type="http://schemas.openxmlformats.org/officeDocument/2006/relationships/notesMaster" Target="/ppt/notesMasters/notesMaster1.xml" Id="Rdd6d74c1bf8849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d9baf1f6ea4ede" /><Relationship Type="http://schemas.openxmlformats.org/officeDocument/2006/relationships/notesMaster" Target="/ppt/notesMasters/notesMaster1.xml" Id="R4b2f6bb914f94a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f454fea9c446cf" /><Relationship Type="http://schemas.openxmlformats.org/officeDocument/2006/relationships/notesMaster" Target="/ppt/notesMasters/notesMaster1.xml" Id="Rc877c43a4dcb40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供应链优化PPT修改.pptx（页7-10输入、模型、输出与价值；页2原始提要）
- 本页图片为基于原稿工业科技风格重新生成的视觉素材，不直接复用原稿其他页图片。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供应链优化PPT修改.pptx（页12数据—模型—应用—反馈闭环；页13管理角色转变）
- 本页图片为基于原稿工业科技风格重新生成的视觉素材，不直接复用原稿其他页图片。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供应链优化PPT修改.pptx（页4量化指标提要；页12-13价值逻辑）
- 本页图片为基于原稿工业科技风格重新生成的视觉素材，不直接复用原稿其他页图片。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694f43cd5944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023207d254108" /><Relationship Type="http://schemas.openxmlformats.org/officeDocument/2006/relationships/image" Target="/ppt/media/image.png" Id="Raa832d76fc8e48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bfd2264dde49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1625b820494e42" /><Relationship Type="http://schemas.openxmlformats.org/officeDocument/2006/relationships/image" Target="/ppt/media/image.png" Id="R41067825221844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c725c3be0dc43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a76f7ed5624416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736f94e9bbc42b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99f316cefa141c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f4b643038864d6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9877d6230be42f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30dfb5aa701455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b2235752d5f474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210225e85cb405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758f4932d80465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33f1af68ea14aa4" /><Relationship Type="http://schemas.openxmlformats.org/officeDocument/2006/relationships/image" Target="/ppt/media/image.png" Id="R91a1af0928f549c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9bcf2dd314f84d9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5a03520cc21b476a" /><Relationship Type="http://schemas.openxmlformats.org/officeDocument/2006/relationships/image" Target="/ppt/media/image.png" Id="R7537922cd2d6499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891af0229e654b9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36c653e39b2c4699" /><Relationship Type="http://schemas.openxmlformats.org/officeDocument/2006/relationships/image" Target="/ppt/media/image.png" Id="Re08eda23998d4fe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ed2947c730c4437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35b2b26614c8434e" /><Relationship Type="http://schemas.openxmlformats.org/officeDocument/2006/relationships/image" Target="/ppt/media/image.png" Id="R4c91a8f4922647f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178cc09b39974ce7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cb08c2cd1e7b4204" /><Relationship Type="http://schemas.openxmlformats.org/officeDocument/2006/relationships/image" Target="/ppt/media/image.png" Id="R1664beb222dd4ca3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cc3f19f7d3914d12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e4e5563c7ba14a6c" /><Relationship Type="http://schemas.openxmlformats.org/officeDocument/2006/relationships/image" Target="/ppt/media/image.png" Id="Rc98b308b739444a4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c358560f361a4da3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4028ed46368248c2" /><Relationship Type="http://schemas.openxmlformats.org/officeDocument/2006/relationships/image" Target="/ppt/media/image.png" Id="R3e7cd9bfb5ac4a9f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d4cab3afc1ea4c8f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11710a24316d46e9" /><Relationship Type="http://schemas.openxmlformats.org/officeDocument/2006/relationships/image" Target="/ppt/media/image.png" Id="R00bd146fd1224d52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8f67fe6378454026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f9f3e1154fd64e07" /><Relationship Type="http://schemas.openxmlformats.org/officeDocument/2006/relationships/image" Target="/ppt/media/image.png" Id="R733e6787295b4f5a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3.xml" Id="Rd291c2a80a124263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3.xml" Id="R10c547fae60f4334" /><Relationship Type="http://schemas.openxmlformats.org/officeDocument/2006/relationships/image" Target="/ppt/media/image.png" Id="R515232be608649de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aa41a7398f104bec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d53dede725654e34" /><Relationship Type="http://schemas.openxmlformats.org/officeDocument/2006/relationships/image" Target="/ppt/media/image.png" Id="R8c89ff5bca654329" /></Relationships>
</file>

<file path=ppt/slideLayouts/slideLayout1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25BC7B-EA3F-446F-BFE6-D87D27038BB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5AFAD7D4-BF42-49B2-A27D-0BC1636E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32d76fc8e48db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2997A09-6417-4453-B72D-AE2F2E31BD77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6A704D68-2021-411D-944D-E2D7167F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67825221844e0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444AD9B-16D4-4CC5-8C59-E6681C42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8112416-A6EA-49C9-9490-48CF488F0A6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60401" y="1512888"/>
            <a:ext cx="7913565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5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 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D23B977-357F-400E-AE83-C9F7970D21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60401" y="3992563"/>
            <a:ext cx="7913565" cy="9318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200">
                <a:solidFill>
                  <a:schemeClr val="tx1">
                    <a:alpha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C9AD88CD-017A-4820-A6FB-320EC8402C4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67649" y="6109859"/>
            <a:ext cx="3651251" cy="180659"/>
          </a:xfrm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indent="0" algn="r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 algn="r">
              <a:spcBef>
                <a:spcPct val="0"/>
              </a:spcBef>
              <a:buNone/>
            </a:pPr>
            <a:r>
              <a:t>Speaker name and title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D81E5955-EBA4-461D-94C4-BAEA2CEE282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3100" y="6109859"/>
            <a:ext cx="3651251" cy="180659"/>
          </a:xfrm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indent="0" algn="l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>
              <a:buNone/>
            </a:pPr>
            <a:r>
              <a:t>OfficePLUS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C52FC310-BAD7-4975-AD28-72182728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4169" y="5676332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弧形 9">
            <a:extLst xmlns:a="http://schemas.openxmlformats.org/drawingml/2006/main">
              <a:ext uri="{FF2B5EF4-FFF2-40B4-BE49-F238E27FC236}">
                <a16:creationId xmlns:a16="http://schemas.microsoft.com/office/drawing/2014/main" id="{38C91EBF-A0BF-4BB6-B225-01BC2451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897579" y="4512922"/>
            <a:ext cx="4690154" cy="4690154"/>
          </a:xfrm>
          <a:prstGeom xmlns:a="http://schemas.openxmlformats.org/drawingml/2006/main" prst="arc">
            <a:avLst>
              <a:gd name="adj1" fmla="val 12847544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弧形 5">
            <a:extLst xmlns:a="http://schemas.openxmlformats.org/drawingml/2006/main">
              <a:ext uri="{FF2B5EF4-FFF2-40B4-BE49-F238E27FC236}">
                <a16:creationId xmlns:a16="http://schemas.microsoft.com/office/drawing/2014/main" id="{600FF5E4-1499-4E50-8066-59D6EB9C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66892" flipH="0" flipV="0">
            <a:off x="-2998951" y="3411550"/>
            <a:ext cx="6892898" cy="6892898"/>
          </a:xfrm>
          <a:prstGeom xmlns:a="http://schemas.openxmlformats.org/drawingml/2006/main" prst="arc">
            <a:avLst>
              <a:gd name="adj1" fmla="val 11885142"/>
              <a:gd name="adj2" fmla="val 18112891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7" name="弧形 6">
            <a:extLst xmlns:a="http://schemas.openxmlformats.org/drawingml/2006/main">
              <a:ext uri="{FF2B5EF4-FFF2-40B4-BE49-F238E27FC236}">
                <a16:creationId xmlns:a16="http://schemas.microsoft.com/office/drawing/2014/main" id="{483FB25F-0902-469D-929B-CC9FD41C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-4411160" y="1999341"/>
            <a:ext cx="9717317" cy="9717317"/>
          </a:xfrm>
          <a:prstGeom xmlns:a="http://schemas.openxmlformats.org/drawingml/2006/main" prst="arc">
            <a:avLst>
              <a:gd name="adj1" fmla="val 885225"/>
              <a:gd name="adj2" fmla="val 7131830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弧形 7">
            <a:extLst xmlns:a="http://schemas.openxmlformats.org/drawingml/2006/main">
              <a:ext uri="{FF2B5EF4-FFF2-40B4-BE49-F238E27FC236}">
                <a16:creationId xmlns:a16="http://schemas.microsoft.com/office/drawing/2014/main" id="{BF9C3155-091E-4F52-9D10-55D7B986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952" flipH="0" flipV="0">
            <a:off x="-5935416" y="475085"/>
            <a:ext cx="12765829" cy="12765829"/>
          </a:xfrm>
          <a:prstGeom xmlns:a="http://schemas.openxmlformats.org/drawingml/2006/main" prst="arc">
            <a:avLst>
              <a:gd name="adj1" fmla="val 12663326"/>
              <a:gd name="adj2" fmla="val 1898460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ABA67CF9-09C8-4C8A-9CA8-9E1CFCCC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10332" y="-762568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弧形 18">
            <a:extLst xmlns:a="http://schemas.openxmlformats.org/drawingml/2006/main">
              <a:ext uri="{FF2B5EF4-FFF2-40B4-BE49-F238E27FC236}">
                <a16:creationId xmlns:a16="http://schemas.microsoft.com/office/drawing/2014/main" id="{DD1A04BE-F70D-4AC9-9C2C-C7AC9A8B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6922" y="-1925978"/>
            <a:ext cx="4690154" cy="4690154"/>
          </a:xfrm>
          <a:prstGeom xmlns:a="http://schemas.openxmlformats.org/drawingml/2006/main" prst="arc">
            <a:avLst>
              <a:gd name="adj1" fmla="val 8681123"/>
              <a:gd name="adj2" fmla="val 93598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弧形 19">
            <a:extLst xmlns:a="http://schemas.openxmlformats.org/drawingml/2006/main">
              <a:ext uri="{FF2B5EF4-FFF2-40B4-BE49-F238E27FC236}">
                <a16:creationId xmlns:a16="http://schemas.microsoft.com/office/drawing/2014/main" id="{DE752667-4458-4331-A739-7E95B13B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9846922" y="-1925978"/>
            <a:ext cx="4690154" cy="4690154"/>
          </a:xfrm>
          <a:prstGeom xmlns:a="http://schemas.openxmlformats.org/drawingml/2006/main" prst="arc">
            <a:avLst>
              <a:gd name="adj1" fmla="val 11969093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弧形 20">
            <a:extLst xmlns:a="http://schemas.openxmlformats.org/drawingml/2006/main">
              <a:ext uri="{FF2B5EF4-FFF2-40B4-BE49-F238E27FC236}">
                <a16:creationId xmlns:a16="http://schemas.microsoft.com/office/drawing/2014/main" id="{B998C436-2144-4B2A-97AB-74683CA8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8745550" y="-3027350"/>
            <a:ext cx="6892898" cy="6892898"/>
          </a:xfrm>
          <a:prstGeom xmlns:a="http://schemas.openxmlformats.org/drawingml/2006/main" prst="arc">
            <a:avLst>
              <a:gd name="adj1" fmla="val 11997002"/>
              <a:gd name="adj2" fmla="val 18351143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16" name="弧形 15">
            <a:extLst xmlns:a="http://schemas.openxmlformats.org/drawingml/2006/main">
              <a:ext uri="{FF2B5EF4-FFF2-40B4-BE49-F238E27FC236}">
                <a16:creationId xmlns:a16="http://schemas.microsoft.com/office/drawing/2014/main" id="{5F1DDFB9-65D1-43B2-8E75-1554F1DC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7333341" y="-4439559"/>
            <a:ext cx="9717317" cy="9717317"/>
          </a:xfrm>
          <a:prstGeom xmlns:a="http://schemas.openxmlformats.org/drawingml/2006/main" prst="arc">
            <a:avLst>
              <a:gd name="adj1" fmla="val 11968596"/>
              <a:gd name="adj2" fmla="val 1813159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76F1F4-3BFA-4E7A-867D-1A05A0A29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57448" y="3015885"/>
            <a:ext cx="5677105" cy="693823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4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E0689A8-09C4-4B79-8763-6F689DAF39F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257448" y="3736693"/>
            <a:ext cx="5677105" cy="9657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title style</a:t>
            </a:r>
            <a:endParaRPr/>
          </a:p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B0EB339F-B4FC-4778-BCA7-60A5B51D45D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71003" y="367812"/>
            <a:ext cx="1043876" cy="830164"/>
          </a:xfr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indent="0" algn="ctr">
              <a:lnSpc>
                <a:spcPct val="120000"/>
              </a:lnSpc>
              <a:buFontTx/>
              <a:buNone/>
              <a:defRPr sz="4400" b="1">
                <a:solidFill>
                  <a:schemeClr val="tx1"/>
                </a:solidFill>
              </a:defRPr>
            </a:lvl1pPr>
            <a:lvl2pPr indent="0">
              <a:lnSpc>
                <a:spcPct val="120000"/>
              </a:lnSpc>
              <a:buFontTx/>
              <a:buNone/>
              <a:defRPr/>
            </a:lvl2pPr>
            <a:lvl3pPr indent="0">
              <a:lnSpc>
                <a:spcPct val="120000"/>
              </a:lnSpc>
              <a:buFontTx/>
              <a:buNone/>
              <a:defRPr/>
            </a:lvl3pPr>
            <a:lvl4pPr indent="0">
              <a:lnSpc>
                <a:spcPct val="120000"/>
              </a:lnSpc>
              <a:buFontTx/>
              <a:buNone/>
              <a:defRPr/>
            </a:lvl4pPr>
            <a:lvl5pPr indent="0">
              <a:lnSpc>
                <a:spcPct val="120000"/>
              </a:lnSpc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日期占位符 5">
            <a:extLst xmlns:a="http://schemas.openxmlformats.org/drawingml/2006/main">
              <a:ext uri="{FF2B5EF4-FFF2-40B4-BE49-F238E27FC236}">
                <a16:creationId xmlns:a16="http://schemas.microsoft.com/office/drawing/2014/main" id="{07CBF742-0B44-4940-BB30-CD2916D619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401732" y="6235704"/>
            <a:ext cx="1388536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9C77E07B-08AA-4A0B-84B1-D4F837246D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60402" y="6235704"/>
            <a:ext cx="4140201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8" name="灯片编号占位符 7">
            <a:extLst xmlns:a="http://schemas.openxmlformats.org/drawingml/2006/main">
              <a:ext uri="{FF2B5EF4-FFF2-40B4-BE49-F238E27FC236}">
                <a16:creationId xmlns:a16="http://schemas.microsoft.com/office/drawing/2014/main" id="{CD130E05-8F24-4015-88DA-BFC9E3C1B2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971305" y="6235704"/>
            <a:ext cx="2547595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0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AD7785DE-74F9-4440-8429-59A32265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318" y="0"/>
            <a:ext cx="684" cy="13546"/>
          </a:xfrm>
          <a:custGeom xmlns:a="http://schemas.openxmlformats.org/drawingml/2006/main"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4015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endParaRPr sz="1800">
              <a:solidFill>
                <a:schemeClr val="tx1"/>
              </a:solidFill>
            </a:endParaRPr>
          </a:p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FF4F0291-B00B-49EC-B2A5-4BFC960BB51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69100" y="5255017"/>
            <a:ext cx="4843552" cy="258532"/>
          </a:xfr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>
              <a:buNone/>
            </a:pPr>
            <a:r>
              <a:t>Signature</a:t>
            </a:r>
            <a:endParaRPr/>
          </a:p>
        </p:txBody>
      </p:sp>
      <p:sp>
        <p:nvSpPr>
          <p:cNvPr id="27" name="文本占位符 26">
            <a:extLst xmlns:a="http://schemas.openxmlformats.org/drawingml/2006/main">
              <a:ext uri="{FF2B5EF4-FFF2-40B4-BE49-F238E27FC236}">
                <a16:creationId xmlns:a16="http://schemas.microsoft.com/office/drawing/2014/main" id="{2C05BDC2-7CE9-48FF-B528-597A6044953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769100" y="5513549"/>
            <a:ext cx="4843552" cy="258532"/>
          </a:xfr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B84B587-057F-4CED-9B48-D54102E2160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769100" y="3247008"/>
            <a:ext cx="4843552" cy="113767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400" b="1"/>
            </a:lvl1pPr>
          </a:lstStyle>
          <a:p xmlns:a="http://schemas.openxmlformats.org/drawingml/2006/main">
            <a:pPr lvl="0">
              <a:buNone/>
            </a:pPr>
            <a:r>
              <a:t>Thank you</a:t>
            </a:r>
            <a:endParaRPr/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FED71C64-333C-4EB2-9114-6AA7BA51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8207422" y="2065340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弧形 12">
            <a:extLst xmlns:a="http://schemas.openxmlformats.org/drawingml/2006/main">
              <a:ext uri="{FF2B5EF4-FFF2-40B4-BE49-F238E27FC236}">
                <a16:creationId xmlns:a16="http://schemas.microsoft.com/office/drawing/2014/main" id="{7B519172-374A-42BF-BABF-49898070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7044012" y="901930"/>
            <a:ext cx="4690154" cy="4690154"/>
          </a:xfrm>
          <a:prstGeom xmlns:a="http://schemas.openxmlformats.org/drawingml/2006/main" prst="arc">
            <a:avLst>
              <a:gd name="adj1" fmla="val 8681123"/>
              <a:gd name="adj2" fmla="val 14615283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弧形 13">
            <a:extLst xmlns:a="http://schemas.openxmlformats.org/drawingml/2006/main">
              <a:ext uri="{FF2B5EF4-FFF2-40B4-BE49-F238E27FC236}">
                <a16:creationId xmlns:a16="http://schemas.microsoft.com/office/drawing/2014/main" id="{0698FFDA-E150-430C-AEC3-E2E5E06D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7044012" y="901930"/>
            <a:ext cx="4690154" cy="4690154"/>
          </a:xfrm>
          <a:prstGeom xmlns:a="http://schemas.openxmlformats.org/drawingml/2006/main" prst="arc">
            <a:avLst>
              <a:gd name="adj1" fmla="val 5884870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弧形 14">
            <a:extLst xmlns:a="http://schemas.openxmlformats.org/drawingml/2006/main">
              <a:ext uri="{FF2B5EF4-FFF2-40B4-BE49-F238E27FC236}">
                <a16:creationId xmlns:a16="http://schemas.microsoft.com/office/drawing/2014/main" id="{E59342BE-53F3-495C-8DA3-8A0EDEC5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5942640" y="-199442"/>
            <a:ext cx="6892898" cy="6892898"/>
          </a:xfrm>
          <a:prstGeom xmlns:a="http://schemas.openxmlformats.org/drawingml/2006/main" prst="arc">
            <a:avLst>
              <a:gd name="adj1" fmla="val 11003651"/>
              <a:gd name="adj2" fmla="val 2065537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8" name="弧形 7">
            <a:extLst xmlns:a="http://schemas.openxmlformats.org/drawingml/2006/main">
              <a:ext uri="{FF2B5EF4-FFF2-40B4-BE49-F238E27FC236}">
                <a16:creationId xmlns:a16="http://schemas.microsoft.com/office/drawing/2014/main" id="{4C91454B-F9A1-4358-92C8-565283E4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66892" flipH="1" flipV="0">
            <a:off x="-15942640" y="-199442"/>
            <a:ext cx="6892898" cy="6892898"/>
          </a:xfrm>
          <a:prstGeom xmlns:a="http://schemas.openxmlformats.org/drawingml/2006/main" prst="arc">
            <a:avLst>
              <a:gd name="adj1" fmla="val 17964632"/>
              <a:gd name="adj2" fmla="val 20655375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6"/>
                </a:gs>
                <a:gs pos="100000">
                  <a:schemeClr val="accent6">
                    <a:alpha val="50000"/>
                  </a:schemeClr>
                </a:gs>
              </a:gsLst>
              <a:lin ang="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弧形 8">
            <a:extLst xmlns:a="http://schemas.openxmlformats.org/drawingml/2006/main">
              <a:ext uri="{FF2B5EF4-FFF2-40B4-BE49-F238E27FC236}">
                <a16:creationId xmlns:a16="http://schemas.microsoft.com/office/drawing/2014/main" id="{A897A7C3-D355-44D8-A792-90832208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4530431" y="-1611651"/>
            <a:ext cx="9717317" cy="9717317"/>
          </a:xfrm>
          <a:prstGeom xmlns:a="http://schemas.openxmlformats.org/drawingml/2006/main" prst="arc">
            <a:avLst>
              <a:gd name="adj1" fmla="val 11003651"/>
              <a:gd name="adj2" fmla="val 17440526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10" name="弧形 9">
            <a:extLst xmlns:a="http://schemas.openxmlformats.org/drawingml/2006/main">
              <a:ext uri="{FF2B5EF4-FFF2-40B4-BE49-F238E27FC236}">
                <a16:creationId xmlns:a16="http://schemas.microsoft.com/office/drawing/2014/main" id="{F4EF81D0-3E3D-48EB-AE63-AD3B2DBF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952" flipH="1" flipV="0">
            <a:off x="-13006175" y="-3135907"/>
            <a:ext cx="12765829" cy="12765829"/>
          </a:xfrm>
          <a:prstGeom xmlns:a="http://schemas.openxmlformats.org/drawingml/2006/main" prst="arc">
            <a:avLst>
              <a:gd name="adj1" fmla="val 2152946"/>
              <a:gd name="adj2" fmla="val 6967338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87F3B7A-1186-4F39-9D53-676E47D0B5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F6A99F-2216-4A3C-AFB9-69804E6C89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9BFAE1B-F094-4B4B-B9D7-BBA5A9FDFF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secHead" preserve="1">
  <p:cSld name="6_节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79DC728-AE0C-4826-9DE7-4CE5AD01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7585" y="2071370"/>
            <a:ext cx="3098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>
              <a:solidFill>
                <a:schemeClr val="bg1"/>
              </a:solidFill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DE0D3AE-EE61-41E2-8296-0A93F1461E7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C3BB0AFA-3B77-45BE-8386-9D801366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1af0928f549c6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6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120C8AB-7C1F-4E12-8D83-FBD4291860F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A3E7F268-9CC7-4920-B71C-880FF7AD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7922cd2d6499c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8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FEDE330-4E41-45D3-A5FE-DCB4F4A1427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7F146FE4-B932-4EF1-B8EA-97147889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eda23998d4fe7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0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1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F0BE862-F3BE-431C-BC4E-195560B7BD2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09076A93-DAEC-4C5B-ABA5-10DC07DE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1a8f4922647fe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3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1E9139F-06E0-46C3-9FD4-693515B35B4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5F5C1B7F-4A11-479A-BE68-C175AF7F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4beb222dd4ca3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4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5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DD4769D-6C40-49E3-A0EC-82C280F6FE2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A85670E0-7FDD-4CF8-87CA-B1F2681D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b308b739444a4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6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7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0CBAB50-02D1-4E84-8114-AE3BE8FFAA2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8FB92757-46D5-40E8-A705-DAA2157F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cd9bfb5ac4a9f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8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9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6388BCC-2821-4E24-B776-157ACCFC20F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F3DCC65A-6690-4459-BE2E-C3A8F8D1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d146fd1224d52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0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1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5230C75-C8D1-4ED1-A6E1-E14A777F3DE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8D9AAD86-EDAA-46B6-9DA0-FD94AA3C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e6787295b4f5a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3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31B2D54-E42C-4E7D-94B6-63A43F0FBE0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AFAA9FF3-1CD6-464F-8FC4-52545D68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232be608649de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4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5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812536-2AC2-40F8-9640-C7735DC09BF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0EB0CC73-A860-4C20-871F-2F8C9FDB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9ff5bca654329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aff8a3d1c24e8f" /><Relationship Type="http://schemas.openxmlformats.org/officeDocument/2006/relationships/slideLayout" Target="/ppt/slideLayouts/slideLayout1.xml" Id="R9709d29c09e1411c" /><Relationship Type="http://schemas.openxmlformats.org/officeDocument/2006/relationships/slideLayout" Target="/ppt/slideLayouts/slideLayout2.xml" Id="R51c265d6a558481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3522eab12e84fb6" /><Relationship Type="http://schemas.openxmlformats.org/officeDocument/2006/relationships/slideLayout" Target="/ppt/slideLayouts/slideLayout3.xml" Id="R0105d48819bb4206" /><Relationship Type="http://schemas.openxmlformats.org/officeDocument/2006/relationships/slideLayout" Target="/ppt/slideLayouts/slideLayout4.xml" Id="R0ce62987a8c743f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9d66faac97e4abd" /><Relationship Type="http://schemas.openxmlformats.org/officeDocument/2006/relationships/slideLayout" Target="/ppt/slideLayouts/slideLayout5.xml" Id="Rf6d75e94931340e8" /><Relationship Type="http://schemas.openxmlformats.org/officeDocument/2006/relationships/slideLayout" Target="/ppt/slideLayouts/slideLayout6.xml" Id="R3e2941e90069447c" /><Relationship Type="http://schemas.openxmlformats.org/officeDocument/2006/relationships/slideLayout" Target="/ppt/slideLayouts/slideLayout7.xml" Id="R98d940fb27a9460e" /><Relationship Type="http://schemas.openxmlformats.org/officeDocument/2006/relationships/slideLayout" Target="/ppt/slideLayouts/slideLayout8.xml" Id="R8cdb85c603284455" /><Relationship Type="http://schemas.openxmlformats.org/officeDocument/2006/relationships/slideLayout" Target="/ppt/slideLayouts/slideLayout9.xml" Id="R93970b99acbf46fb" /><Relationship Type="http://schemas.openxmlformats.org/officeDocument/2006/relationships/slideLayout" Target="/ppt/slideLayouts/slideLayout10.xml" Id="R9aae8c9f65b74d0c" /><Relationship Type="http://schemas.openxmlformats.org/officeDocument/2006/relationships/slideLayout" Target="/ppt/slideLayouts/slideLayout11.xml" Id="R937bd0667a2b422b" /><Relationship Type="http://schemas.openxmlformats.org/officeDocument/2006/relationships/slideLayout" Target="/ppt/slideLayouts/slideLayout12.xml" Id="R4028cb2b92664ad7" /><Relationship Type="http://schemas.openxmlformats.org/officeDocument/2006/relationships/slideLayout" Target="/ppt/slideLayouts/slideLayout13.xml" Id="R142646bcbbd14d4e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5c313c3313494d80" /><Relationship Type="http://schemas.openxmlformats.org/officeDocument/2006/relationships/slideLayout" Target="/ppt/slideLayouts/slideLayout14.xml" Id="R440fe5aab02c4b75" /><Relationship Type="http://schemas.openxmlformats.org/officeDocument/2006/relationships/slideLayout" Target="/ppt/slideLayouts/slideLayout15.xml" Id="Rdd7abbba33014d4c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b8108808a1084a75" /><Relationship Type="http://schemas.openxmlformats.org/officeDocument/2006/relationships/slideLayout" Target="/ppt/slideLayouts/slideLayout16.xml" Id="R282ddb9f58834134" /><Relationship Type="http://schemas.openxmlformats.org/officeDocument/2006/relationships/slideLayout" Target="/ppt/slideLayouts/slideLayout17.xml" Id="R2c2271f87b2d4577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408eed40b5184f8b" /><Relationship Type="http://schemas.openxmlformats.org/officeDocument/2006/relationships/slideLayout" Target="/ppt/slideLayouts/slideLayout18.xml" Id="R0ce0f492900f4358" /><Relationship Type="http://schemas.openxmlformats.org/officeDocument/2006/relationships/slideLayout" Target="/ppt/slideLayouts/slideLayout19.xml" Id="R7d9c94bdf9b54ee4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fd754e6083e94f30" /><Relationship Type="http://schemas.openxmlformats.org/officeDocument/2006/relationships/slideLayout" Target="/ppt/slideLayouts/slideLayout20.xml" Id="R5b3631d2328b4264" /><Relationship Type="http://schemas.openxmlformats.org/officeDocument/2006/relationships/slideLayout" Target="/ppt/slideLayouts/slideLayout21.xml" Id="Rab3f59081fa54228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7c31ebc8edd34342" /><Relationship Type="http://schemas.openxmlformats.org/officeDocument/2006/relationships/slideLayout" Target="/ppt/slideLayouts/slideLayout22.xml" Id="Rcf37219fdc254ba2" /><Relationship Type="http://schemas.openxmlformats.org/officeDocument/2006/relationships/slideLayout" Target="/ppt/slideLayouts/slideLayout23.xml" Id="R507b9a8f3a504273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20ea6486f4ac4d75" /><Relationship Type="http://schemas.openxmlformats.org/officeDocument/2006/relationships/slideLayout" Target="/ppt/slideLayouts/slideLayout24.xml" Id="Ref31999017f74d72" /><Relationship Type="http://schemas.openxmlformats.org/officeDocument/2006/relationships/slideLayout" Target="/ppt/slideLayouts/slideLayout25.xml" Id="Rb63c5ea4e88a4e83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theme" Target="/ppt/slideMasters/theme/theme11.xml" Id="Rafda5f15dcb6411e" /><Relationship Type="http://schemas.openxmlformats.org/officeDocument/2006/relationships/slideLayout" Target="/ppt/slideLayouts/slideLayout26.xml" Id="Rff351bb82a1848fd" /><Relationship Type="http://schemas.openxmlformats.org/officeDocument/2006/relationships/slideLayout" Target="/ppt/slideLayouts/slideLayout27.xml" Id="R6be626fa5e1b4b5b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theme" Target="/ppt/slideMasters/theme/theme12.xml" Id="Re405e563ae584969" /><Relationship Type="http://schemas.openxmlformats.org/officeDocument/2006/relationships/slideLayout" Target="/ppt/slideLayouts/slideLayout28.xml" Id="Re4b44873321b4f89" /><Relationship Type="http://schemas.openxmlformats.org/officeDocument/2006/relationships/slideLayout" Target="/ppt/slideLayouts/slideLayout29.xml" Id="Rc3a868b5ad144afe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theme" Target="/ppt/slideMasters/theme/theme13.xml" Id="R14ea1bc09e044da6" /><Relationship Type="http://schemas.openxmlformats.org/officeDocument/2006/relationships/slideLayout" Target="/ppt/slideLayouts/slideLayout30.xml" Id="R9c07f9d561cc4a27" /><Relationship Type="http://schemas.openxmlformats.org/officeDocument/2006/relationships/slideLayout" Target="/ppt/slideLayouts/slideLayout31.xml" Id="R81984affca2d4fa3" /></Relationships>
</file>

<file path=ppt/slideMasters/_rels/slideMaster13.xml.rels>&#65279;<?xml version="1.0" encoding="utf-8"?><Relationships xmlns="http://schemas.openxmlformats.org/package/2006/relationships"><Relationship Type="http://schemas.openxmlformats.org/officeDocument/2006/relationships/theme" Target="/ppt/slideMasters/theme/theme14.xml" Id="R9b113ed5dc2a409a" /><Relationship Type="http://schemas.openxmlformats.org/officeDocument/2006/relationships/slideLayout" Target="/ppt/slideLayouts/slideLayout32.xml" Id="R9e1b71f5514048aa" /><Relationship Type="http://schemas.openxmlformats.org/officeDocument/2006/relationships/slideLayout" Target="/ppt/slideLayouts/slideLayout33.xml" Id="R0b918aa397de46a8" /></Relationships>
</file>

<file path=ppt/slideMasters/_rels/slideMaster14.xml.rels>&#65279;<?xml version="1.0" encoding="utf-8"?><Relationships xmlns="http://schemas.openxmlformats.org/package/2006/relationships"><Relationship Type="http://schemas.openxmlformats.org/officeDocument/2006/relationships/theme" Target="/ppt/slideMasters/theme/theme15.xml" Id="Rd7a304aef6b64a39" /><Relationship Type="http://schemas.openxmlformats.org/officeDocument/2006/relationships/slideLayout" Target="/ppt/slideLayouts/slideLayout34.xml" Id="Raac13c69333d483e" /><Relationship Type="http://schemas.openxmlformats.org/officeDocument/2006/relationships/slideLayout" Target="/ppt/slideLayouts/slideLayout35.xml" Id="R111202300a9048e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9d29c09e1411c"/>
    <p:sldLayoutId xmlns:r="http://schemas.openxmlformats.org/officeDocument/2006/relationships" id="2147483650" r:id="R51c265d6a558481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0105d48819bb4206"/>
    <p:sldLayoutId xmlns:r="http://schemas.openxmlformats.org/officeDocument/2006/relationships" id="2147483653" r:id="R0ce62987a8c743f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0ACCC21-7151-4D70-964B-898443E4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FBD51A6-FB84-401B-BAD0-7E328F1635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0402" y="0"/>
            <a:ext cx="10858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456DE90-96F7-44E5-BA1B-409A05451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0402" y="1130300"/>
            <a:ext cx="10858500" cy="500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31A339D6-6B5F-4B25-AF18-4859475C12B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5401732" y="6235704"/>
            <a:ext cx="1388536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E0563071-DF16-49A2-9A03-551390AA94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60402" y="6235704"/>
            <a:ext cx="4140201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F8BC58B6-2D1A-411E-8FF6-CCC3BC0B9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971305" y="6235704"/>
            <a:ext cx="2547595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f6d75e94931340e8"/>
    <p:sldLayoutId xmlns:r="http://schemas.openxmlformats.org/officeDocument/2006/relationships" id="2147483656" r:id="R3e2941e90069447c"/>
    <p:sldLayoutId xmlns:r="http://schemas.openxmlformats.org/officeDocument/2006/relationships" id="2147483657" r:id="R98d940fb27a9460e"/>
    <p:sldLayoutId xmlns:r="http://schemas.openxmlformats.org/officeDocument/2006/relationships" id="2147483658" r:id="R8cdb85c603284455"/>
    <p:sldLayoutId xmlns:r="http://schemas.openxmlformats.org/officeDocument/2006/relationships" id="2147483659" r:id="R93970b99acbf46fb"/>
    <p:sldLayoutId xmlns:r="http://schemas.openxmlformats.org/officeDocument/2006/relationships" id="2147483660" r:id="R9aae8c9f65b74d0c"/>
    <p:sldLayoutId xmlns:r="http://schemas.openxmlformats.org/officeDocument/2006/relationships" id="2147483661" r:id="R937bd0667a2b422b"/>
    <p:sldLayoutId xmlns:r="http://schemas.openxmlformats.org/officeDocument/2006/relationships" id="2147483662" r:id="R4028cb2b92664ad7"/>
    <p:sldLayoutId xmlns:r="http://schemas.openxmlformats.org/officeDocument/2006/relationships" id="2147483663" r:id="R142646bcbbd14d4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440fe5aab02c4b75"/>
    <p:sldLayoutId xmlns:r="http://schemas.openxmlformats.org/officeDocument/2006/relationships" id="2147483666" r:id="Rdd7abbba33014d4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8" r:id="R282ddb9f58834134"/>
    <p:sldLayoutId xmlns:r="http://schemas.openxmlformats.org/officeDocument/2006/relationships" id="2147483669" r:id="R2c2271f87b2d457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1" r:id="R0ce0f492900f4358"/>
    <p:sldLayoutId xmlns:r="http://schemas.openxmlformats.org/officeDocument/2006/relationships" id="2147483672" r:id="R7d9c94bdf9b54ee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5b3631d2328b4264"/>
    <p:sldLayoutId xmlns:r="http://schemas.openxmlformats.org/officeDocument/2006/relationships" id="2147483675" r:id="Rab3f59081fa5422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cf37219fdc254ba2"/>
    <p:sldLayoutId xmlns:r="http://schemas.openxmlformats.org/officeDocument/2006/relationships" id="2147483678" r:id="R507b9a8f3a50427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0" r:id="Ref31999017f74d72"/>
    <p:sldLayoutId xmlns:r="http://schemas.openxmlformats.org/officeDocument/2006/relationships" id="2147483681" r:id="Rb63c5ea4e88a4e8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3" r:id="Rff351bb82a1848fd"/>
    <p:sldLayoutId xmlns:r="http://schemas.openxmlformats.org/officeDocument/2006/relationships" id="2147483684" r:id="R6be626fa5e1b4b5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6" r:id="Re4b44873321b4f89"/>
    <p:sldLayoutId xmlns:r="http://schemas.openxmlformats.org/officeDocument/2006/relationships" id="2147483687" r:id="Rc3a868b5ad144af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9" r:id="R9c07f9d561cc4a27"/>
    <p:sldLayoutId xmlns:r="http://schemas.openxmlformats.org/officeDocument/2006/relationships" id="2147483690" r:id="R81984affca2d4fa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2" r:id="R9e1b71f5514048aa"/>
    <p:sldLayoutId xmlns:r="http://schemas.openxmlformats.org/officeDocument/2006/relationships" id="2147483693" r:id="R0b918aa397de46a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5" r:id="Raac13c69333d483e"/>
    <p:sldLayoutId xmlns:r="http://schemas.openxmlformats.org/officeDocument/2006/relationships" id="2147483696" r:id="R111202300a9048e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2_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69E5"/>
      </a:accent1>
      <a:accent2>
        <a:srgbClr val="1969CC"/>
      </a:accent2>
      <a:accent3>
        <a:srgbClr val="00E8D8"/>
      </a:accent3>
      <a:accent4>
        <a:srgbClr val="1FC0B5"/>
      </a:accent4>
      <a:accent5>
        <a:srgbClr val="000000"/>
      </a:accent5>
      <a:accent6>
        <a:srgbClr val="0C0B0B"/>
      </a:accent6>
      <a:hlink>
        <a:srgbClr val="FF0042"/>
      </a:hlink>
      <a:folHlink>
        <a:srgbClr val="787878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1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1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7.xml><?xml version="1.0" encoding="utf-8"?>
<a:theme xmlns:a="http://schemas.openxmlformats.org/drawingml/2006/main" name="2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8.xml><?xml version="1.0" encoding="utf-8"?>
<a:theme xmlns:a="http://schemas.openxmlformats.org/drawingml/2006/main" name="2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9.xml><?xml version="1.0" encoding="utf-8"?>
<a:theme xmlns:a="http://schemas.openxmlformats.org/drawingml/2006/main" name="2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0.xml><?xml version="1.0" encoding="utf-8"?>
<a:theme xmlns:a="http://schemas.openxmlformats.org/drawingml/2006/main" name="6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1.xml><?xml version="1.0" encoding="utf-8"?>
<a:theme xmlns:a="http://schemas.openxmlformats.org/drawingml/2006/main" name="6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2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93fb1d9cb4bd9" /><Relationship Type="http://schemas.openxmlformats.org/officeDocument/2006/relationships/image" Target="/ppt/media/image2.png" Id="Ra8fd074b060448e6" /><Relationship Type="http://schemas.openxmlformats.org/officeDocument/2006/relationships/image" Target="/ppt/media/image3.png" Id="R9634d479a8a14b5b" /><Relationship Type="http://schemas.openxmlformats.org/officeDocument/2006/relationships/image" Target="/ppt/media/image4.png" Id="R421b4f94408a4cb6" /><Relationship Type="http://schemas.openxmlformats.org/officeDocument/2006/relationships/image" Target="/ppt/media/image5.png" Id="Redf46bc161de4eb4" /><Relationship Type="http://schemas.openxmlformats.org/officeDocument/2006/relationships/image" Target="/ppt/media/image6.png" Id="Rc7c62f318f4b44db" /><Relationship Type="http://schemas.openxmlformats.org/officeDocument/2006/relationships/notesSlide" Target="/ppt/notesSlides/notesSlide1.xml" Id="Ra6290466fcfd4d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.xml" Id="R719c17c6c1484d6c" /><Relationship Type="http://schemas.openxmlformats.org/officeDocument/2006/relationships/image" Target="/ppt/media/image.png" Id="Rd7f5b08812f346a8" /><Relationship Type="http://schemas.openxmlformats.org/officeDocument/2006/relationships/image" Target="/ppt/media/image7.png" Id="R57b6395e50254081" /><Relationship Type="http://schemas.openxmlformats.org/officeDocument/2006/relationships/notesSlide" Target="/ppt/notesSlides/notesSlide2.xml" Id="Rea8f5b76c72245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2.xml" Id="Rf03b049e25ae4a7f" /><Relationship Type="http://schemas.openxmlformats.org/officeDocument/2006/relationships/image" Target="/ppt/media/image.png" Id="Rf058f89bea424c6f" /><Relationship Type="http://schemas.openxmlformats.org/officeDocument/2006/relationships/image" Target="/ppt/media/image8.png" Id="R2015feea04c346ec" /><Relationship Type="http://schemas.openxmlformats.org/officeDocument/2006/relationships/notesSlide" Target="/ppt/notesSlides/notesSlide3.xml" Id="R8940fa4df36b40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4.xml" Id="Rb89ae229fa6a46f3" /><Relationship Type="http://schemas.openxmlformats.org/officeDocument/2006/relationships/image" Target="/ppt/media/image.png" Id="Ra0775c6f3efa4e8d" /><Relationship Type="http://schemas.openxmlformats.org/officeDocument/2006/relationships/image" Target="/ppt/media/image9.png" Id="R536765ce045f45da" /><Relationship Type="http://schemas.openxmlformats.org/officeDocument/2006/relationships/notesSlide" Target="/ppt/notesSlides/notesSlide4.xml" Id="Rbfb08b0a89e044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bdf8c2781e834e3a" /><Relationship Type="http://schemas.openxmlformats.org/officeDocument/2006/relationships/image" Target="/ppt/media/image.png" Id="R6b6625d363524e17" /><Relationship Type="http://schemas.openxmlformats.org/officeDocument/2006/relationships/image" Target="/ppt/media/image.svg" Id="Re9336237ce7f4381" /><Relationship Type="http://schemas.openxmlformats.org/officeDocument/2006/relationships/image" Target="/ppt/media/image2.svg" Id="Reea104de3ba54e68" /><Relationship Type="http://schemas.openxmlformats.org/officeDocument/2006/relationships/image" Target="/ppt/media/image2.png" Id="R06c5b970a3104389" /><Relationship Type="http://schemas.openxmlformats.org/officeDocument/2006/relationships/image" Target="/ppt/media/image3.svg" Id="Rbdb5b6e2b4ce4c6c" /><Relationship Type="http://schemas.openxmlformats.org/officeDocument/2006/relationships/image" Target="/ppt/media/image3.png" Id="R0b0cfea96cd4416c" /><Relationship Type="http://schemas.openxmlformats.org/officeDocument/2006/relationships/notesSlide" Target="/ppt/notesSlides/notesSlide5.xml" Id="Rd8811f1c6c2a40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9df06fc80e4e5d" /><Relationship Type="http://schemas.openxmlformats.org/officeDocument/2006/relationships/image" Target="/ppt/media/image.png" Id="R7bf6a40cd43e48af" /><Relationship Type="http://schemas.openxmlformats.org/officeDocument/2006/relationships/notesSlide" Target="/ppt/notesSlides/notesSlide6.xml" Id="R66b0ddeb1a3045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94225081007406e" /><Relationship Type="http://schemas.openxmlformats.org/officeDocument/2006/relationships/image" Target="/ppt/media/image.png" Id="R7fd069f42465491e" /><Relationship Type="http://schemas.openxmlformats.org/officeDocument/2006/relationships/notesSlide" Target="/ppt/notesSlides/notesSlide7.xml" Id="R082bad9cfb9143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2498e91412f64927" /><Relationship Type="http://schemas.openxmlformats.org/officeDocument/2006/relationships/image" Target="/ppt/media/image.png" Id="R92b0347ac81c4c32" /><Relationship Type="http://schemas.openxmlformats.org/officeDocument/2006/relationships/notesSlide" Target="/ppt/notesSlides/notesSlide8.xml" Id="R1616607ae23c46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97036394e824793" /><Relationship Type="http://schemas.openxmlformats.org/officeDocument/2006/relationships/image" Target="/ppt/media/image.png" Id="R2408634c7b284acd" /><Relationship Type="http://schemas.openxmlformats.org/officeDocument/2006/relationships/notesSlide" Target="/ppt/notesSlides/notesSlide9.xml" Id="R00c43c1748e549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bc3c10121454883" /><Relationship Type="http://schemas.openxmlformats.org/officeDocument/2006/relationships/image" Target="/ppt/media/image.png" Id="R4ace9b9fbb434af6" /><Relationship Type="http://schemas.openxmlformats.org/officeDocument/2006/relationships/notesSlide" Target="/ppt/notesSlides/notesSlide10.xml" Id="R6ae6a017c0a444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9adfee7275ca43d0" /><Relationship Type="http://schemas.openxmlformats.org/officeDocument/2006/relationships/image" Target="/ppt/media/image.png" Id="R4d3588e91b9e49cb" /><Relationship Type="http://schemas.openxmlformats.org/officeDocument/2006/relationships/image" Target="/ppt/media/image10.png" Id="Rc206ad8944f5425d" /><Relationship Type="http://schemas.openxmlformats.org/officeDocument/2006/relationships/notesSlide" Target="/ppt/notesSlides/notesSlide11.xml" Id="Rfee2583e05214a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93768bba72aa4574" /><Relationship Type="http://schemas.openxmlformats.org/officeDocument/2006/relationships/image" Target="/ppt/media/image.png" Id="Rabbd655a28b74766" /><Relationship Type="http://schemas.openxmlformats.org/officeDocument/2006/relationships/image" Target="/ppt/media/image4.svg" Id="R67d2f2a5f0954895" /><Relationship Type="http://schemas.openxmlformats.org/officeDocument/2006/relationships/image" Target="/ppt/media/image4.png" Id="R5af81bcf40f14862" /><Relationship Type="http://schemas.openxmlformats.org/officeDocument/2006/relationships/image" Target="/ppt/media/image5.svg" Id="R28aa8259fbbe40a1" /><Relationship Type="http://schemas.openxmlformats.org/officeDocument/2006/relationships/image" Target="/ppt/media/image5.png" Id="R97fa49074e224ffc" /><Relationship Type="http://schemas.openxmlformats.org/officeDocument/2006/relationships/image" Target="/ppt/media/image6.svg" Id="R78f002e3363b4437" /><Relationship Type="http://schemas.openxmlformats.org/officeDocument/2006/relationships/image" Target="/ppt/media/image6.png" Id="R51023bb20d8747a2" /><Relationship Type="http://schemas.openxmlformats.org/officeDocument/2006/relationships/notesSlide" Target="/ppt/notesSlides/notesSlide12.xml" Id="R693efd5c36f947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325e82937f3b4abf" /><Relationship Type="http://schemas.openxmlformats.org/officeDocument/2006/relationships/image" Target="/ppt/media/image.png" Id="R866b5f69dd8649e3" /><Relationship Type="http://schemas.openxmlformats.org/officeDocument/2006/relationships/image" Target="/ppt/media/image11.png" Id="R9655bb8ee96f4d95" /><Relationship Type="http://schemas.openxmlformats.org/officeDocument/2006/relationships/image" Target="/ppt/media/image12.png" Id="Rd5b46f299c2342d0" /><Relationship Type="http://schemas.openxmlformats.org/officeDocument/2006/relationships/image" Target="/ppt/media/image13.png" Id="R648e991078d34230" /><Relationship Type="http://schemas.openxmlformats.org/officeDocument/2006/relationships/image" Target="/ppt/media/image14.png" Id="Rc7ba0825500342a1" /><Relationship Type="http://schemas.openxmlformats.org/officeDocument/2006/relationships/image" Target="/ppt/media/image15.png" Id="Rc2a8c3adb51a46ac" /><Relationship Type="http://schemas.openxmlformats.org/officeDocument/2006/relationships/image" Target="/ppt/media/image16.png" Id="R741245fad7fc4418" /><Relationship Type="http://schemas.openxmlformats.org/officeDocument/2006/relationships/image" Target="/ppt/media/image17.png" Id="R690b1c138d2d454e" /><Relationship Type="http://schemas.openxmlformats.org/officeDocument/2006/relationships/notesSlide" Target="/ppt/notesSlides/notesSlide13.xml" Id="Rd1ca7a73d3c24a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297f0ded8aa4a64" /><Relationship Type="http://schemas.openxmlformats.org/officeDocument/2006/relationships/image" Target="/ppt/media/image18.png" Id="Rb22c7ebd1fcb4280" /><Relationship Type="http://schemas.openxmlformats.org/officeDocument/2006/relationships/image" Target="/ppt/media/image3.png" Id="R119819708df34451" /><Relationship Type="http://schemas.openxmlformats.org/officeDocument/2006/relationships/image" Target="/ppt/media/image6.png" Id="R0f8567cea1e64291" /><Relationship Type="http://schemas.openxmlformats.org/officeDocument/2006/relationships/notesSlide" Target="/ppt/notesSlides/notesSlide14.xml" Id="Ref8adcb779e04e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d074b060448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070313" y="746125"/>
            <a:ext cx="8856429" cy="6642322"/>
          </a:xfrm>
          <a:prstGeom xmlns:a="http://schemas.openxmlformats.org/drawingml/2006/main" prst="rect">
            <a:avLst/>
          </a:prstGeom>
        </p:spPr>
      </p:pic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13819C8-D5FA-4EDF-9138-5FFCC3EA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27500"/>
            <a:ext cx="4064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algn="l">
              <a:buNone/>
            </a:pPr>
            <a:endParaRPr sz="14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A8A198E-971B-4EE7-AB9A-8FCED79B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489200"/>
            <a:ext cx="7112000" cy="4191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0">
            <a:gsLst>
              <a:gs pos="0">
                <a:srgbClr val="0569E5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2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4d479a8a14b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85300" y="268605"/>
            <a:ext cx="2336800" cy="2286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pic>
        <p:nvPicPr>
          <p:cNvPr id="23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b4f94408a4cb6"/>
          <a:srcRect xmlns:a="http://schemas.openxmlformats.org/drawingml/2006/main" l="0" t="26682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V="1">
            <a:off x="0" y="2984500"/>
            <a:ext cx="9410700" cy="3873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71F19A2-7689-4913-9E55-55F1244F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7340"/>
            <a:ext cx="7738110" cy="482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non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让工业更智能，让客户更成功</a:t>
            </a:r>
            <a:r>
              <a:rPr sz="18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——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C23D7E33-54DC-46DA-A771-DF40DA25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" y="2373630"/>
            <a:ext cx="645414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132000"/>
              </a:lnSpc>
              <a:buNone/>
            </a:pPr>
            <a:r>
              <a:rPr sz="4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中粮生物科技太仓</a:t>
            </a:r>
            <a:endParaRPr sz="4000">
              <a:solidFill>
                <a:schemeClr val="bg1"/>
              </a:solidFill>
              <a:latin typeface="黑体"/>
              <a:ea typeface="黑体"/>
              <a:cs typeface="黑体"/>
            </a:endParaRPr>
          </a:p>
          <a:p xmlns:a="http://schemas.openxmlformats.org/drawingml/2006/main">
            <a:pPr marL="0" indent="0" algn="l">
              <a:lnSpc>
                <a:spcPct val="132000"/>
              </a:lnSpc>
              <a:buNone/>
            </a:pPr>
            <a:r>
              <a:rPr sz="4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新建55万吨/年淀粉糖项目</a:t>
            </a:r>
            <a:endParaRPr sz="4000">
              <a:solidFill>
                <a:schemeClr val="bg1"/>
              </a:solidFill>
              <a:latin typeface="黑体"/>
              <a:ea typeface="黑体"/>
              <a:cs typeface="黑体"/>
            </a:endParaRPr>
          </a:p>
          <a:p xmlns:a="http://schemas.openxmlformats.org/drawingml/2006/main">
            <a:pPr marL="0" indent="0" algn="l">
              <a:lnSpc>
                <a:spcPct val="132000"/>
              </a:lnSpc>
              <a:buNone/>
            </a:pPr>
            <a:r>
              <a:rPr sz="3200" b="1">
                <a:solidFill>
                  <a:srgbClr val="FFFF00"/>
                </a:solidFill>
                <a:latin typeface="黑体"/>
                <a:ea typeface="黑体"/>
                <a:cs typeface="黑体"/>
              </a:rPr>
              <a:t>AI</a:t>
            </a:r>
            <a:r>
              <a:rPr sz="3200" b="1">
                <a:solidFill>
                  <a:srgbClr val="FFFF00"/>
                </a:solidFill>
                <a:latin typeface="黑体"/>
                <a:ea typeface="黑体"/>
                <a:cs typeface="黑体"/>
              </a:rPr>
              <a:t>全流程智能化系统蓝图</a:t>
            </a:r>
            <a:r>
              <a:rPr sz="3200" b="1">
                <a:solidFill>
                  <a:srgbClr val="FFFF00"/>
                </a:solidFill>
                <a:latin typeface="黑体"/>
                <a:ea typeface="黑体"/>
                <a:cs typeface="黑体"/>
              </a:rPr>
              <a:t>方案</a:t>
            </a:r>
            <a:endParaRPr sz="3200" b="1">
              <a:solidFill>
                <a:srgbClr val="FFFF00"/>
              </a:solidFill>
              <a:latin typeface="黑体"/>
              <a:ea typeface="黑体"/>
              <a:cs typeface="黑体"/>
            </a:endParaRPr>
          </a:p>
        </p:txBody>
      </p:sp>
      <p:pic>
        <p:nvPicPr>
          <p:cNvPr id="26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46bc161de4e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0495" y="5939155"/>
            <a:ext cx="4140200" cy="676910"/>
          </a:xfrm>
          <a:prstGeom xmlns:a="http://schemas.openxmlformats.org/drawingml/2006/main" prst="rect">
            <a:avLst/>
          </a:prstGeom>
        </p:spPr>
      </p:pic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226C6D2-4A89-4A02-8E2C-3DEE47C9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095" y="5321935"/>
            <a:ext cx="3891280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汇报人：张仔</a:t>
            </a:r>
            <a:r>
              <a:rPr sz="20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洁</a:t>
            </a:r>
            <a:endParaRPr sz="2000" b="1"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62f318f4b44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630" y="268605"/>
            <a:ext cx="1282065" cy="5829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25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FD7F4DE-1D73-4B7A-9377-89CF65CC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6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5b08812f346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8D8F5BE-0CB9-4CFC-A93A-F846831E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5725" tIns="38100" rIns="857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7、SCOS四模块业务顺序：从成品库存到经营成本的闭环</a:t>
            </a:r>
            <a:endParaRPr sz="2400" b="1" i="0" u="none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s2-subtitle-v3">
            <a:extLst xmlns:a="http://schemas.openxmlformats.org/drawingml/2006/main">
              <a:ext uri="{FF2B5EF4-FFF2-40B4-BE49-F238E27FC236}">
                <a16:creationId xmlns:a16="http://schemas.microsoft.com/office/drawing/2014/main" id="{6588C293-F0E4-4DA2-A8D4-75AB35EC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74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先稳住成品交付，再把结果输入排程，反推原料采购，最终用成本分析完成经营复盘。</a:t>
            </a:r>
          </a:p>
        </p:txBody>
      </p:sp>
      <p:sp>
        <p:nvSpPr>
          <p:cNvPr id="8" name="s2-kicker-v3">
            <a:extLst xmlns:a="http://schemas.openxmlformats.org/drawingml/2006/main">
              <a:ext uri="{FF2B5EF4-FFF2-40B4-BE49-F238E27FC236}">
                <a16:creationId xmlns:a16="http://schemas.microsoft.com/office/drawing/2014/main" id="{8C2FBF77-22B6-4019-98B8-4C792556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业务顺序不是并列菜单，而是同一条可执行价值流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6395e50254081"/>
          <a:srcRect xmlns:a="http://schemas.openxmlformats.org/drawingml/2006/main" l="0" t="41223" r="0" b="412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543050"/>
            <a:ext cx="10744200" cy="1257300"/>
          </a:xfrm>
          <a:prstGeom xmlns:a="http://schemas.openxmlformats.org/drawingml/2006/main" prst="roundRect">
            <a:avLst>
              <a:gd name="adj" fmla="val 13636"/>
            </a:avLst>
          </a:prstGeom>
        </p:spPr>
      </p:pic>
      <p:sp>
        <p:nvSpPr>
          <p:cNvPr id="10" name="s2-anchor-01">
            <a:extLst xmlns:a="http://schemas.openxmlformats.org/drawingml/2006/main">
              <a:ext uri="{FF2B5EF4-FFF2-40B4-BE49-F238E27FC236}">
                <a16:creationId xmlns:a16="http://schemas.microsoft.com/office/drawing/2014/main" id="{3D46168B-9D4D-4BD3-88EE-A0C5029F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A25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s2-anchor-n-01">
            <a:extLst xmlns:a="http://schemas.openxmlformats.org/drawingml/2006/main">
              <a:ext uri="{FF2B5EF4-FFF2-40B4-BE49-F238E27FC236}">
                <a16:creationId xmlns:a16="http://schemas.microsoft.com/office/drawing/2014/main" id="{1627F522-3D32-4BC3-8C8F-CA08017A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s2-anchor-l-01">
            <a:extLst xmlns:a="http://schemas.openxmlformats.org/drawingml/2006/main">
              <a:ext uri="{FF2B5EF4-FFF2-40B4-BE49-F238E27FC236}">
                <a16:creationId xmlns:a16="http://schemas.microsoft.com/office/drawing/2014/main" id="{05FAE0DB-6F1E-4D73-819D-FACF7428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5745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成品库存</a:t>
            </a:r>
          </a:p>
        </p:txBody>
      </p:sp>
      <p:sp>
        <p:nvSpPr>
          <p:cNvPr id="13" name="s2-anchor-02">
            <a:extLst xmlns:a="http://schemas.openxmlformats.org/drawingml/2006/main">
              <a:ext uri="{FF2B5EF4-FFF2-40B4-BE49-F238E27FC236}">
                <a16:creationId xmlns:a16="http://schemas.microsoft.com/office/drawing/2014/main" id="{103D738D-7E4B-4AA4-A2D8-484242AC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A25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s2-anchor-n-02">
            <a:extLst xmlns:a="http://schemas.openxmlformats.org/drawingml/2006/main">
              <a:ext uri="{FF2B5EF4-FFF2-40B4-BE49-F238E27FC236}">
                <a16:creationId xmlns:a16="http://schemas.microsoft.com/office/drawing/2014/main" id="{19FF5961-9044-4243-B834-32294449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574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s2-anchor-l-02">
            <a:extLst xmlns:a="http://schemas.openxmlformats.org/drawingml/2006/main">
              <a:ext uri="{FF2B5EF4-FFF2-40B4-BE49-F238E27FC236}">
                <a16:creationId xmlns:a16="http://schemas.microsoft.com/office/drawing/2014/main" id="{3334A128-120C-418C-A59B-CB095B3E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5745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精益排程</a:t>
            </a:r>
          </a:p>
        </p:txBody>
      </p:sp>
      <p:sp>
        <p:nvSpPr>
          <p:cNvPr id="16" name="s2-anchor-03">
            <a:extLst xmlns:a="http://schemas.openxmlformats.org/drawingml/2006/main">
              <a:ext uri="{FF2B5EF4-FFF2-40B4-BE49-F238E27FC236}">
                <a16:creationId xmlns:a16="http://schemas.microsoft.com/office/drawing/2014/main" id="{240B3A7D-0E60-42E3-9066-6376F93A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A25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s2-anchor-n-03">
            <a:extLst xmlns:a="http://schemas.openxmlformats.org/drawingml/2006/main">
              <a:ext uri="{FF2B5EF4-FFF2-40B4-BE49-F238E27FC236}">
                <a16:creationId xmlns:a16="http://schemas.microsoft.com/office/drawing/2014/main" id="{E44FA66B-89DB-41CD-BF9D-D5540153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s2-anchor-l-03">
            <a:extLst xmlns:a="http://schemas.openxmlformats.org/drawingml/2006/main">
              <a:ext uri="{FF2B5EF4-FFF2-40B4-BE49-F238E27FC236}">
                <a16:creationId xmlns:a16="http://schemas.microsoft.com/office/drawing/2014/main" id="{640F13B6-3481-410A-8779-CBFBEEF7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5745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原料采购</a:t>
            </a:r>
          </a:p>
        </p:txBody>
      </p:sp>
      <p:sp>
        <p:nvSpPr>
          <p:cNvPr id="19" name="s2-anchor-04">
            <a:extLst xmlns:a="http://schemas.openxmlformats.org/drawingml/2006/main">
              <a:ext uri="{FF2B5EF4-FFF2-40B4-BE49-F238E27FC236}">
                <a16:creationId xmlns:a16="http://schemas.microsoft.com/office/drawing/2014/main" id="{9762761F-B006-4537-8B39-BDD8EFC4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A25"/>
          </a:solidFill>
          <a:ln xmlns:a="http://schemas.openxmlformats.org/drawingml/2006/main" w="15240">
            <a:solidFill>
              <a:srgbClr val="C7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s2-anchor-n-04">
            <a:extLst xmlns:a="http://schemas.openxmlformats.org/drawingml/2006/main">
              <a:ext uri="{FF2B5EF4-FFF2-40B4-BE49-F238E27FC236}">
                <a16:creationId xmlns:a16="http://schemas.microsoft.com/office/drawing/2014/main" id="{9A498164-0B52-405F-B374-8A6AFECB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1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s2-anchor-l-04">
            <a:extLst xmlns:a="http://schemas.openxmlformats.org/drawingml/2006/main">
              <a:ext uri="{FF2B5EF4-FFF2-40B4-BE49-F238E27FC236}">
                <a16:creationId xmlns:a16="http://schemas.microsoft.com/office/drawing/2014/main" id="{E1499F49-C9F3-4DD5-B68D-A838B056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5745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成本分析</a:t>
            </a:r>
          </a:p>
        </p:txBody>
      </p:sp>
      <p:sp>
        <p:nvSpPr>
          <p:cNvPr id="22" name="s2-order-arrow-1">
            <a:extLst xmlns:a="http://schemas.openxmlformats.org/drawingml/2006/main">
              <a:ext uri="{FF2B5EF4-FFF2-40B4-BE49-F238E27FC236}">
                <a16:creationId xmlns:a16="http://schemas.microsoft.com/office/drawing/2014/main" id="{D8378639-2C87-4B25-9818-9D61F660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38481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B9F2"/>
          </a:solidFill>
          <a:ln xmlns:a="http://schemas.openxmlformats.org/drawingml/2006/main" w="0">
            <a:solidFill>
              <a:srgbClr val="08B9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s2-order-arrow-2">
            <a:extLst xmlns:a="http://schemas.openxmlformats.org/drawingml/2006/main">
              <a:ext uri="{FF2B5EF4-FFF2-40B4-BE49-F238E27FC236}">
                <a16:creationId xmlns:a16="http://schemas.microsoft.com/office/drawing/2014/main" id="{2645AEED-71C6-4184-AD61-A6B4E479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38481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D48A"/>
          </a:solidFill>
          <a:ln xmlns:a="http://schemas.openxmlformats.org/drawingml/2006/main" w="0">
            <a:solidFill>
              <a:srgbClr val="55D4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s2-order-arrow-3">
            <a:extLst xmlns:a="http://schemas.openxmlformats.org/drawingml/2006/main">
              <a:ext uri="{FF2B5EF4-FFF2-40B4-BE49-F238E27FC236}">
                <a16:creationId xmlns:a16="http://schemas.microsoft.com/office/drawing/2014/main" id="{38C64B3F-EFBC-47EF-8A98-A307B4A0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38481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AE2B"/>
          </a:solidFill>
          <a:ln xmlns:a="http://schemas.openxmlformats.org/drawingml/2006/main" w="0">
            <a:solidFill>
              <a:srgbClr val="FFAE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s2-card-01">
            <a:extLst xmlns:a="http://schemas.openxmlformats.org/drawingml/2006/main">
              <a:ext uri="{FF2B5EF4-FFF2-40B4-BE49-F238E27FC236}">
                <a16:creationId xmlns:a16="http://schemas.microsoft.com/office/drawing/2014/main" id="{259CEE05-2106-4F15-A72F-D3BCF71A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2381250" cy="2057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s2-card-top-01">
            <a:extLst xmlns:a="http://schemas.openxmlformats.org/drawingml/2006/main">
              <a:ext uri="{FF2B5EF4-FFF2-40B4-BE49-F238E27FC236}">
                <a16:creationId xmlns:a16="http://schemas.microsoft.com/office/drawing/2014/main" id="{4D831635-2419-4532-8678-87940ADE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8B9F2"/>
          </a:solidFill>
          <a:ln xmlns:a="http://schemas.openxmlformats.org/drawingml/2006/main" w="0">
            <a:solidFill>
              <a:srgbClr val="08B9F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s2-card-num-01">
            <a:extLst xmlns:a="http://schemas.openxmlformats.org/drawingml/2006/main">
              <a:ext uri="{FF2B5EF4-FFF2-40B4-BE49-F238E27FC236}">
                <a16:creationId xmlns:a16="http://schemas.microsoft.com/office/drawing/2014/main" id="{0D859500-8853-43F6-8706-9FB53861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8" name="s2-card-title-01">
            <a:extLst xmlns:a="http://schemas.openxmlformats.org/drawingml/2006/main">
              <a:ext uri="{FF2B5EF4-FFF2-40B4-BE49-F238E27FC236}">
                <a16:creationId xmlns:a16="http://schemas.microsoft.com/office/drawing/2014/main" id="{4009CD0D-D5E3-4223-A003-305B8F0E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成品安全库存优化</a:t>
            </a:r>
          </a:p>
        </p:txBody>
      </p:sp>
      <p:sp>
        <p:nvSpPr>
          <p:cNvPr id="29" name="s2-card-tag-01">
            <a:extLst xmlns:a="http://schemas.openxmlformats.org/drawingml/2006/main">
              <a:ext uri="{FF2B5EF4-FFF2-40B4-BE49-F238E27FC236}">
                <a16:creationId xmlns:a16="http://schemas.microsoft.com/office/drawing/2014/main" id="{3D003C74-8151-40B2-960C-93082A51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先保障交付</a:t>
            </a:r>
          </a:p>
        </p:txBody>
      </p:sp>
      <p:sp>
        <p:nvSpPr>
          <p:cNvPr id="30" name="s2-card-rule-01">
            <a:extLst xmlns:a="http://schemas.openxmlformats.org/drawingml/2006/main">
              <a:ext uri="{FF2B5EF4-FFF2-40B4-BE49-F238E27FC236}">
                <a16:creationId xmlns:a16="http://schemas.microsoft.com/office/drawing/2014/main" id="{795E1828-13D6-4FBB-ACEB-0F8A1FB5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764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D5470"/>
            </a:solidFill>
            <a:prstDash val="solid"/>
          </a:ln>
        </p:spPr>
      </p:sp>
      <p:sp>
        <p:nvSpPr>
          <p:cNvPr id="31" name="s2-card-input-01">
            <a:extLst xmlns:a="http://schemas.openxmlformats.org/drawingml/2006/main">
              <a:ext uri="{FF2B5EF4-FFF2-40B4-BE49-F238E27FC236}">
                <a16:creationId xmlns:a16="http://schemas.microsoft.com/office/drawing/2014/main" id="{537099AE-DDEF-43E0-9404-DA4B1AA0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878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878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输入｜需求预测 / 历史出货 / 提前期 / 服务水平 / 库存成本</a:t>
            </a:r>
          </a:p>
        </p:txBody>
      </p:sp>
      <p:sp>
        <p:nvSpPr>
          <p:cNvPr id="32" name="s2-card-model-01">
            <a:extLst xmlns:a="http://schemas.openxmlformats.org/drawingml/2006/main">
              <a:ext uri="{FF2B5EF4-FFF2-40B4-BE49-F238E27FC236}">
                <a16:creationId xmlns:a16="http://schemas.microsoft.com/office/drawing/2014/main" id="{18D945B9-AC3F-4086-B591-11A938E9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878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78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模型｜R,s,S滚动策略；7天冻结，异常重算</a:t>
            </a:r>
          </a:p>
        </p:txBody>
      </p:sp>
      <p:sp>
        <p:nvSpPr>
          <p:cNvPr id="33" name="s2-card-output-01">
            <a:extLst xmlns:a="http://schemas.openxmlformats.org/drawingml/2006/main">
              <a:ext uri="{FF2B5EF4-FFF2-40B4-BE49-F238E27FC236}">
                <a16:creationId xmlns:a16="http://schemas.microsoft.com/office/drawing/2014/main" id="{3A2AE0B4-3307-47A1-AE6B-FA36D4B0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878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878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输出｜安全库存、补货日期量、缺货/容量风险</a:t>
            </a:r>
          </a:p>
        </p:txBody>
      </p:sp>
      <p:sp>
        <p:nvSpPr>
          <p:cNvPr id="34" name="s2-card-value-01">
            <a:extLst xmlns:a="http://schemas.openxmlformats.org/drawingml/2006/main">
              <a:ext uri="{FF2B5EF4-FFF2-40B4-BE49-F238E27FC236}">
                <a16:creationId xmlns:a16="http://schemas.microsoft.com/office/drawing/2014/main" id="{66137E3F-E49C-4120-BEC5-E51C6D9F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863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降低缺货与积压，提升库存周转</a:t>
            </a:r>
          </a:p>
        </p:txBody>
      </p:sp>
      <p:sp>
        <p:nvSpPr>
          <p:cNvPr id="35" name="s2-card-02">
            <a:extLst xmlns:a="http://schemas.openxmlformats.org/drawingml/2006/main">
              <a:ext uri="{FF2B5EF4-FFF2-40B4-BE49-F238E27FC236}">
                <a16:creationId xmlns:a16="http://schemas.microsoft.com/office/drawing/2014/main" id="{1C42EFDD-F362-4441-9784-F0E2DC15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24200"/>
            <a:ext cx="2381250" cy="2057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s2-card-top-02">
            <a:extLst xmlns:a="http://schemas.openxmlformats.org/drawingml/2006/main">
              <a:ext uri="{FF2B5EF4-FFF2-40B4-BE49-F238E27FC236}">
                <a16:creationId xmlns:a16="http://schemas.microsoft.com/office/drawing/2014/main" id="{EF20ABD0-CED9-45D2-96CD-BC631348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2420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5D48A"/>
          </a:solidFill>
          <a:ln xmlns:a="http://schemas.openxmlformats.org/drawingml/2006/main" w="0">
            <a:solidFill>
              <a:srgbClr val="55D48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s2-card-num-02">
            <a:extLst xmlns:a="http://schemas.openxmlformats.org/drawingml/2006/main">
              <a:ext uri="{FF2B5EF4-FFF2-40B4-BE49-F238E27FC236}">
                <a16:creationId xmlns:a16="http://schemas.microsoft.com/office/drawing/2014/main" id="{5D21BBE7-5949-4B53-9058-6D418822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766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8" name="s2-card-title-02">
            <a:extLst xmlns:a="http://schemas.openxmlformats.org/drawingml/2006/main">
              <a:ext uri="{FF2B5EF4-FFF2-40B4-BE49-F238E27FC236}">
                <a16:creationId xmlns:a16="http://schemas.microsoft.com/office/drawing/2014/main" id="{7AA4F281-24F8-4B63-9A1D-4299A319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385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精益生产排程</a:t>
            </a:r>
          </a:p>
        </p:txBody>
      </p:sp>
      <p:sp>
        <p:nvSpPr>
          <p:cNvPr id="39" name="s2-card-tag-02">
            <a:extLst xmlns:a="http://schemas.openxmlformats.org/drawingml/2006/main">
              <a:ext uri="{FF2B5EF4-FFF2-40B4-BE49-F238E27FC236}">
                <a16:creationId xmlns:a16="http://schemas.microsoft.com/office/drawing/2014/main" id="{7C526D74-FD86-45A4-901B-D148F6D3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433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接入库存结果</a:t>
            </a:r>
          </a:p>
        </p:txBody>
      </p:sp>
      <p:sp>
        <p:nvSpPr>
          <p:cNvPr id="40" name="s2-card-rule-02">
            <a:extLst xmlns:a="http://schemas.openxmlformats.org/drawingml/2006/main">
              <a:ext uri="{FF2B5EF4-FFF2-40B4-BE49-F238E27FC236}">
                <a16:creationId xmlns:a16="http://schemas.microsoft.com/office/drawing/2014/main" id="{B20484AC-1367-4C64-BD96-DE6A7EFC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20764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D5470"/>
            </a:solidFill>
            <a:prstDash val="solid"/>
          </a:ln>
        </p:spPr>
      </p:sp>
      <p:sp>
        <p:nvSpPr>
          <p:cNvPr id="41" name="s2-card-input-02">
            <a:extLst xmlns:a="http://schemas.openxmlformats.org/drawingml/2006/main">
              <a:ext uri="{FF2B5EF4-FFF2-40B4-BE49-F238E27FC236}">
                <a16:creationId xmlns:a16="http://schemas.microsoft.com/office/drawing/2014/main" id="{71406389-AAAC-483E-B379-C396F9F0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878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878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输入｜订单优先级 / BOM工艺 / 设备人力 / 在途物料</a:t>
            </a:r>
          </a:p>
        </p:txBody>
      </p:sp>
      <p:sp>
        <p:nvSpPr>
          <p:cNvPr id="42" name="s2-card-model-02">
            <a:extLst xmlns:a="http://schemas.openxmlformats.org/drawingml/2006/main">
              <a:ext uri="{FF2B5EF4-FFF2-40B4-BE49-F238E27FC236}">
                <a16:creationId xmlns:a16="http://schemas.microsoft.com/office/drawing/2014/main" id="{8285B981-62BB-4D3B-97FD-8A73FD09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878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78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模型｜约束排程、负荷平衡、瓶颈与冲突识别</a:t>
            </a:r>
          </a:p>
        </p:txBody>
      </p:sp>
      <p:sp>
        <p:nvSpPr>
          <p:cNvPr id="43" name="s2-card-output-02">
            <a:extLst xmlns:a="http://schemas.openxmlformats.org/drawingml/2006/main">
              <a:ext uri="{FF2B5EF4-FFF2-40B4-BE49-F238E27FC236}">
                <a16:creationId xmlns:a16="http://schemas.microsoft.com/office/drawing/2014/main" id="{02BB3E78-9B2E-4F02-94FB-10B5DCEC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101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878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878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输出｜详细作业计划、ATP、计划模拟与预警</a:t>
            </a:r>
          </a:p>
        </p:txBody>
      </p:sp>
      <p:sp>
        <p:nvSpPr>
          <p:cNvPr id="44" name="s2-card-value-02">
            <a:extLst xmlns:a="http://schemas.openxmlformats.org/drawingml/2006/main">
              <a:ext uri="{FF2B5EF4-FFF2-40B4-BE49-F238E27FC236}">
                <a16:creationId xmlns:a16="http://schemas.microsoft.com/office/drawing/2014/main" id="{BD2AA950-AEC8-4320-8492-85CD6193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5300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863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让交付承诺可执行，减少临时协调</a:t>
            </a:r>
          </a:p>
        </p:txBody>
      </p:sp>
      <p:sp>
        <p:nvSpPr>
          <p:cNvPr id="45" name="s2-card-03">
            <a:extLst xmlns:a="http://schemas.openxmlformats.org/drawingml/2006/main">
              <a:ext uri="{FF2B5EF4-FFF2-40B4-BE49-F238E27FC236}">
                <a16:creationId xmlns:a16="http://schemas.microsoft.com/office/drawing/2014/main" id="{956C1E43-1FF5-4998-96B2-6448194A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24200"/>
            <a:ext cx="2381250" cy="2057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s2-card-top-03">
            <a:extLst xmlns:a="http://schemas.openxmlformats.org/drawingml/2006/main">
              <a:ext uri="{FF2B5EF4-FFF2-40B4-BE49-F238E27FC236}">
                <a16:creationId xmlns:a16="http://schemas.microsoft.com/office/drawing/2014/main" id="{ACC521B0-539E-471B-9AAB-82278776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2420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AE2B"/>
          </a:solidFill>
          <a:ln xmlns:a="http://schemas.openxmlformats.org/drawingml/2006/main" w="0">
            <a:solidFill>
              <a:srgbClr val="FFAE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s2-card-num-03">
            <a:extLst xmlns:a="http://schemas.openxmlformats.org/drawingml/2006/main">
              <a:ext uri="{FF2B5EF4-FFF2-40B4-BE49-F238E27FC236}">
                <a16:creationId xmlns:a16="http://schemas.microsoft.com/office/drawing/2014/main" id="{6EDE2EED-16BB-4DA5-AAF0-02C3CB21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766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8" name="s2-card-title-03">
            <a:extLst xmlns:a="http://schemas.openxmlformats.org/drawingml/2006/main">
              <a:ext uri="{FF2B5EF4-FFF2-40B4-BE49-F238E27FC236}">
                <a16:creationId xmlns:a16="http://schemas.microsoft.com/office/drawing/2014/main" id="{54348B09-61C0-4786-8ED6-E6584CF8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原料采购优化</a:t>
            </a:r>
          </a:p>
        </p:txBody>
      </p:sp>
      <p:sp>
        <p:nvSpPr>
          <p:cNvPr id="49" name="s2-card-tag-03">
            <a:extLst xmlns:a="http://schemas.openxmlformats.org/drawingml/2006/main">
              <a:ext uri="{FF2B5EF4-FFF2-40B4-BE49-F238E27FC236}">
                <a16:creationId xmlns:a16="http://schemas.microsoft.com/office/drawing/2014/main" id="{708E14C2-0C0C-4B31-969F-829D4E88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接入原料需求</a:t>
            </a:r>
          </a:p>
        </p:txBody>
      </p:sp>
      <p:sp>
        <p:nvSpPr>
          <p:cNvPr id="50" name="s2-card-rule-03">
            <a:extLst xmlns:a="http://schemas.openxmlformats.org/drawingml/2006/main">
              <a:ext uri="{FF2B5EF4-FFF2-40B4-BE49-F238E27FC236}">
                <a16:creationId xmlns:a16="http://schemas.microsoft.com/office/drawing/2014/main" id="{B51F78D0-C787-481D-B0ED-EFA93880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20764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D5470"/>
            </a:solidFill>
            <a:prstDash val="solid"/>
          </a:ln>
        </p:spPr>
      </p:sp>
      <p:sp>
        <p:nvSpPr>
          <p:cNvPr id="51" name="s2-card-input-03">
            <a:extLst xmlns:a="http://schemas.openxmlformats.org/drawingml/2006/main">
              <a:ext uri="{FF2B5EF4-FFF2-40B4-BE49-F238E27FC236}">
                <a16:creationId xmlns:a16="http://schemas.microsoft.com/office/drawing/2014/main" id="{12359FCF-E644-4B50-9CBA-ACF13F4A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878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878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输入｜物料需求 / 库存 / 供应商画像 / 交付约束</a:t>
            </a:r>
          </a:p>
        </p:txBody>
      </p:sp>
      <p:sp>
        <p:nvSpPr>
          <p:cNvPr id="52" name="s2-card-model-03">
            <a:extLst xmlns:a="http://schemas.openxmlformats.org/drawingml/2006/main">
              <a:ext uri="{FF2B5EF4-FFF2-40B4-BE49-F238E27FC236}">
                <a16:creationId xmlns:a16="http://schemas.microsoft.com/office/drawing/2014/main" id="{573EC8EE-4E6C-43CC-9D34-6CF80C1A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878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78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模型｜供应商评分、总拥有成本、可行性校验</a:t>
            </a:r>
          </a:p>
        </p:txBody>
      </p:sp>
      <p:sp>
        <p:nvSpPr>
          <p:cNvPr id="53" name="s2-card-output-03">
            <a:extLst xmlns:a="http://schemas.openxmlformats.org/drawingml/2006/main">
              <a:ext uri="{FF2B5EF4-FFF2-40B4-BE49-F238E27FC236}">
                <a16:creationId xmlns:a16="http://schemas.microsoft.com/office/drawing/2014/main" id="{92E82649-F427-49CD-9093-4C6D1528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878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878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输出｜采购量、分配方案、到货日期、合同建议</a:t>
            </a:r>
          </a:p>
        </p:txBody>
      </p:sp>
      <p:sp>
        <p:nvSpPr>
          <p:cNvPr id="54" name="s2-card-value-03">
            <a:extLst xmlns:a="http://schemas.openxmlformats.org/drawingml/2006/main">
              <a:ext uri="{FF2B5EF4-FFF2-40B4-BE49-F238E27FC236}">
                <a16:creationId xmlns:a16="http://schemas.microsoft.com/office/drawing/2014/main" id="{42E0E608-AF73-4AFB-8B0B-FD95FE28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863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从单价采购升级为总成本与供应安全</a:t>
            </a:r>
          </a:p>
        </p:txBody>
      </p:sp>
      <p:sp>
        <p:nvSpPr>
          <p:cNvPr id="55" name="s2-card-04">
            <a:extLst xmlns:a="http://schemas.openxmlformats.org/drawingml/2006/main">
              <a:ext uri="{FF2B5EF4-FFF2-40B4-BE49-F238E27FC236}">
                <a16:creationId xmlns:a16="http://schemas.microsoft.com/office/drawing/2014/main" id="{4C953EC5-EEA1-49BC-9960-9A439B51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24200"/>
            <a:ext cx="2381250" cy="2057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15240">
            <a:solidFill>
              <a:srgbClr val="C7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s2-card-top-04">
            <a:extLst xmlns:a="http://schemas.openxmlformats.org/drawingml/2006/main">
              <a:ext uri="{FF2B5EF4-FFF2-40B4-BE49-F238E27FC236}">
                <a16:creationId xmlns:a16="http://schemas.microsoft.com/office/drawing/2014/main" id="{1255B072-2AAC-4E47-B434-B0161375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2420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D52B"/>
          </a:solidFill>
          <a:ln xmlns:a="http://schemas.openxmlformats.org/drawingml/2006/main" w="0">
            <a:solidFill>
              <a:srgbClr val="C7D5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s2-card-num-04">
            <a:extLst xmlns:a="http://schemas.openxmlformats.org/drawingml/2006/main">
              <a:ext uri="{FF2B5EF4-FFF2-40B4-BE49-F238E27FC236}">
                <a16:creationId xmlns:a16="http://schemas.microsoft.com/office/drawing/2014/main" id="{7B44D4CB-6C4B-42E6-8FB8-B7B8314A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766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8" name="s2-card-title-04">
            <a:extLst xmlns:a="http://schemas.openxmlformats.org/drawingml/2006/main">
              <a:ext uri="{FF2B5EF4-FFF2-40B4-BE49-F238E27FC236}">
                <a16:creationId xmlns:a16="http://schemas.microsoft.com/office/drawing/2014/main" id="{15A0AC9B-D194-4166-9C99-8BDCBE84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成本分析与核算</a:t>
            </a:r>
          </a:p>
        </p:txBody>
      </p:sp>
      <p:sp>
        <p:nvSpPr>
          <p:cNvPr id="59" name="s2-card-tag-04">
            <a:extLst xmlns:a="http://schemas.openxmlformats.org/drawingml/2006/main">
              <a:ext uri="{FF2B5EF4-FFF2-40B4-BE49-F238E27FC236}">
                <a16:creationId xmlns:a16="http://schemas.microsoft.com/office/drawing/2014/main" id="{EAA46ECD-213C-4777-884C-8FC7C7F6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433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1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经营复盘</a:t>
            </a:r>
          </a:p>
        </p:txBody>
      </p:sp>
      <p:sp>
        <p:nvSpPr>
          <p:cNvPr id="60" name="s2-card-rule-04">
            <a:extLst xmlns:a="http://schemas.openxmlformats.org/drawingml/2006/main">
              <a:ext uri="{FF2B5EF4-FFF2-40B4-BE49-F238E27FC236}">
                <a16:creationId xmlns:a16="http://schemas.microsoft.com/office/drawing/2014/main" id="{2A0908F1-69E7-46D7-8E36-4E482734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20764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D5470"/>
            </a:solidFill>
            <a:prstDash val="solid"/>
          </a:ln>
        </p:spPr>
      </p:sp>
      <p:sp>
        <p:nvSpPr>
          <p:cNvPr id="61" name="s2-card-input-04">
            <a:extLst xmlns:a="http://schemas.openxmlformats.org/drawingml/2006/main">
              <a:ext uri="{FF2B5EF4-FFF2-40B4-BE49-F238E27FC236}">
                <a16:creationId xmlns:a16="http://schemas.microsoft.com/office/drawing/2014/main" id="{53B31F67-5616-4E99-A1CF-A5F463AC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878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878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输入｜采购 / 仓储 / 生产 / 包装运输费用</a:t>
            </a:r>
          </a:p>
        </p:txBody>
      </p:sp>
      <p:sp>
        <p:nvSpPr>
          <p:cNvPr id="62" name="s2-card-model-04">
            <a:extLst xmlns:a="http://schemas.openxmlformats.org/drawingml/2006/main">
              <a:ext uri="{FF2B5EF4-FFF2-40B4-BE49-F238E27FC236}">
                <a16:creationId xmlns:a16="http://schemas.microsoft.com/office/drawing/2014/main" id="{032F7DA6-EC96-4A5D-88D1-BC89845E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862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878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78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模型｜批次成本引擎、归集分摊、版本复核</a:t>
            </a:r>
          </a:p>
        </p:txBody>
      </p:sp>
      <p:sp>
        <p:nvSpPr>
          <p:cNvPr id="63" name="s2-card-output-04">
            <a:extLst xmlns:a="http://schemas.openxmlformats.org/drawingml/2006/main">
              <a:ext uri="{FF2B5EF4-FFF2-40B4-BE49-F238E27FC236}">
                <a16:creationId xmlns:a16="http://schemas.microsoft.com/office/drawing/2014/main" id="{4A5FEB89-DE01-463E-B2B1-24B2957C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01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878" b="1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878" b="1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输出｜产品、客户、订单利润及成本差异追溯</a:t>
            </a:r>
          </a:p>
        </p:txBody>
      </p:sp>
      <p:sp>
        <p:nvSpPr>
          <p:cNvPr id="64" name="s2-card-value-04">
            <a:extLst xmlns:a="http://schemas.openxmlformats.org/drawingml/2006/main">
              <a:ext uri="{FF2B5EF4-FFF2-40B4-BE49-F238E27FC236}">
                <a16:creationId xmlns:a16="http://schemas.microsoft.com/office/drawing/2014/main" id="{FB55048A-5182-4C34-A9CB-6C56BA6D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863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统一经营价值尺度，支持复盘</a:t>
            </a:r>
          </a:p>
        </p:txBody>
      </p:sp>
      <p:sp>
        <p:nvSpPr>
          <p:cNvPr id="65" name="s2-flow-rail">
            <a:extLst xmlns:a="http://schemas.openxmlformats.org/drawingml/2006/main">
              <a:ext uri="{FF2B5EF4-FFF2-40B4-BE49-F238E27FC236}">
                <a16:creationId xmlns:a16="http://schemas.microsoft.com/office/drawing/2014/main" id="{C29B4191-B1D5-47AF-8408-FCC06D72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07442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102B36"/>
          </a:solidFill>
          <a:ln xmlns:a="http://schemas.openxmlformats.org/drawingml/2006/main" w="15240">
            <a:solidFill>
              <a:srgbClr val="1D547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s2-flow-text">
            <a:extLst xmlns:a="http://schemas.openxmlformats.org/drawingml/2006/main">
              <a:ext uri="{FF2B5EF4-FFF2-40B4-BE49-F238E27FC236}">
                <a16:creationId xmlns:a16="http://schemas.microsoft.com/office/drawing/2014/main" id="{D211F53A-CA74-42B7-86DA-73A02BDF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1038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成品安全库存结果  →  排程计划  →  原料需求  →  采购方案  →  成本复盘</a:t>
            </a:r>
          </a:p>
        </p:txBody>
      </p:sp>
    </p:spTree>
    <p:extLst>
      <p:ext uri="{BB962C8B-B14F-4D97-AF65-F5344CB8AC3E}">
        <p14:creationId xmlns:p14="http://schemas.microsoft.com/office/powerpoint/2010/main" val="817406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C8C45DC-51B9-4548-BF34-33A78EAC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3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8f89bea424c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670A34E-07ED-4881-A9B1-EF940E63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5725" tIns="38100" rIns="857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7、SCOS带来的变化：从“开会找答案”到“平台给方案”</a:t>
            </a:r>
            <a:endParaRPr sz="2400" b="1" i="0" u="none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s3-subtitle-v3">
            <a:extLst xmlns:a="http://schemas.openxmlformats.org/drawingml/2006/main">
              <a:ext uri="{FF2B5EF4-FFF2-40B4-BE49-F238E27FC236}">
                <a16:creationId xmlns:a16="http://schemas.microsoft.com/office/drawing/2014/main" id="{53AB7767-0C09-4B66-AE1D-1487BAFD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74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从周期性汇总转向实时事实，从经验排产转向模型建议，从追进度转向异常闭环。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5feea04c346ec"/>
          <a:srcRect xmlns:a="http://schemas.openxmlformats.org/drawingml/2006/main" l="0" t="31516" r="0" b="315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428750"/>
            <a:ext cx="10744200" cy="2647950"/>
          </a:xfrm>
          <a:prstGeom xmlns:a="http://schemas.openxmlformats.org/drawingml/2006/main" prst="roundRect">
            <a:avLst>
              <a:gd name="adj" fmla="val 6475"/>
            </a:avLst>
          </a:prstGeom>
        </p:spPr>
      </p:pic>
      <p:sp>
        <p:nvSpPr>
          <p:cNvPr id="9" name="s3-current-caption">
            <a:extLst xmlns:a="http://schemas.openxmlformats.org/drawingml/2006/main">
              <a:ext uri="{FF2B5EF4-FFF2-40B4-BE49-F238E27FC236}">
                <a16:creationId xmlns:a16="http://schemas.microsoft.com/office/drawing/2014/main" id="{5442992A-89E2-4551-A6D9-FFE792B4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4574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71A25"/>
          </a:solidFill>
          <a:ln xmlns:a="http://schemas.openxmlformats.org/drawingml/2006/main" w="15240">
            <a:solidFill>
              <a:srgbClr val="5261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s3-current-caption-t">
            <a:extLst xmlns:a="http://schemas.openxmlformats.org/drawingml/2006/main">
              <a:ext uri="{FF2B5EF4-FFF2-40B4-BE49-F238E27FC236}">
                <a16:creationId xmlns:a16="http://schemas.microsoft.com/office/drawing/2014/main" id="{6BF67566-16C4-471B-A6D0-1211EE22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6232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现状｜会议驱动</a:t>
            </a:r>
          </a:p>
        </p:txBody>
      </p:sp>
      <p:sp>
        <p:nvSpPr>
          <p:cNvPr id="11" name="s3-current-caption-b">
            <a:extLst xmlns:a="http://schemas.openxmlformats.org/drawingml/2006/main">
              <a:ext uri="{FF2B5EF4-FFF2-40B4-BE49-F238E27FC236}">
                <a16:creationId xmlns:a16="http://schemas.microsoft.com/office/drawing/2014/main" id="{50A17C4C-051E-4539-8D7E-F9315B6A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周期汇总 · 事后复盘 · 手工追进度</a:t>
            </a:r>
          </a:p>
        </p:txBody>
      </p:sp>
      <p:sp>
        <p:nvSpPr>
          <p:cNvPr id="12" name="s3-core-caption">
            <a:extLst xmlns:a="http://schemas.openxmlformats.org/drawingml/2006/main">
              <a:ext uri="{FF2B5EF4-FFF2-40B4-BE49-F238E27FC236}">
                <a16:creationId xmlns:a16="http://schemas.microsoft.com/office/drawing/2014/main" id="{1DEF58B3-733E-4A2F-A254-120504A7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81350"/>
            <a:ext cx="31623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082E3D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s3-core-caption-t">
            <a:extLst xmlns:a="http://schemas.openxmlformats.org/drawingml/2006/main">
              <a:ext uri="{FF2B5EF4-FFF2-40B4-BE49-F238E27FC236}">
                <a16:creationId xmlns:a16="http://schemas.microsoft.com/office/drawing/2014/main" id="{894A8551-4829-492A-82BD-5B58CB47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SCOS中枢</a:t>
            </a:r>
          </a:p>
        </p:txBody>
      </p:sp>
      <p:sp>
        <p:nvSpPr>
          <p:cNvPr id="14" name="s3-core-caption-b">
            <a:extLst xmlns:a="http://schemas.openxmlformats.org/drawingml/2006/main">
              <a:ext uri="{FF2B5EF4-FFF2-40B4-BE49-F238E27FC236}">
                <a16:creationId xmlns:a16="http://schemas.microsoft.com/office/drawing/2014/main" id="{B5A76759-EF0E-400B-A83D-654D2319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3377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5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统一事实 · 模型推演 · 异常闭环</a:t>
            </a:r>
          </a:p>
        </p:txBody>
      </p:sp>
      <p:sp>
        <p:nvSpPr>
          <p:cNvPr id="15" name="s3-target-caption">
            <a:extLst xmlns:a="http://schemas.openxmlformats.org/drawingml/2006/main">
              <a:ext uri="{FF2B5EF4-FFF2-40B4-BE49-F238E27FC236}">
                <a16:creationId xmlns:a16="http://schemas.microsoft.com/office/drawing/2014/main" id="{BDBB723B-D049-4A90-8E8E-0FABF669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76600"/>
            <a:ext cx="24574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A2A22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s3-target-caption-t">
            <a:extLst xmlns:a="http://schemas.openxmlformats.org/drawingml/2006/main">
              <a:ext uri="{FF2B5EF4-FFF2-40B4-BE49-F238E27FC236}">
                <a16:creationId xmlns:a16="http://schemas.microsoft.com/office/drawing/2014/main" id="{FDC6EF13-C01B-4624-BB9F-EDF4E82A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6232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目标｜驾驶舱驱动</a:t>
            </a:r>
          </a:p>
        </p:txBody>
      </p:sp>
      <p:sp>
        <p:nvSpPr>
          <p:cNvPr id="17" name="s3-target-caption-b">
            <a:extLst xmlns:a="http://schemas.openxmlformats.org/drawingml/2006/main">
              <a:ext uri="{FF2B5EF4-FFF2-40B4-BE49-F238E27FC236}">
                <a16:creationId xmlns:a16="http://schemas.microsoft.com/office/drawing/2014/main" id="{2D2BAB01-84E7-459D-9A35-E65E029F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195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按节点看异常 · 执行结果回流</a:t>
            </a:r>
          </a:p>
        </p:txBody>
      </p:sp>
      <p:sp>
        <p:nvSpPr>
          <p:cNvPr id="18" name="s3-flow-arrow-1">
            <a:extLst xmlns:a="http://schemas.openxmlformats.org/drawingml/2006/main">
              <a:ext uri="{FF2B5EF4-FFF2-40B4-BE49-F238E27FC236}">
                <a16:creationId xmlns:a16="http://schemas.microsoft.com/office/drawing/2014/main" id="{BE95943A-B385-4C7F-98AC-A6AC67C9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3514725"/>
            <a:ext cx="8191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B9F2"/>
          </a:solidFill>
          <a:ln xmlns:a="http://schemas.openxmlformats.org/drawingml/2006/main" w="0">
            <a:solidFill>
              <a:srgbClr val="08B9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s3-flow-arrow-2">
            <a:extLst xmlns:a="http://schemas.openxmlformats.org/drawingml/2006/main">
              <a:ext uri="{FF2B5EF4-FFF2-40B4-BE49-F238E27FC236}">
                <a16:creationId xmlns:a16="http://schemas.microsoft.com/office/drawing/2014/main" id="{5E21BD82-201B-49E5-B2B6-CF4382E3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3514725"/>
            <a:ext cx="8191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D48A"/>
          </a:solidFill>
          <a:ln xmlns:a="http://schemas.openxmlformats.org/drawingml/2006/main" w="0">
            <a:solidFill>
              <a:srgbClr val="55D4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s3-role-label-v3">
            <a:extLst xmlns:a="http://schemas.openxmlformats.org/drawingml/2006/main">
              <a:ext uri="{FF2B5EF4-FFF2-40B4-BE49-F238E27FC236}">
                <a16:creationId xmlns:a16="http://schemas.microsoft.com/office/drawing/2014/main" id="{6538A6CF-4D9F-4958-9642-2A96650A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管理角色的可感知变化</a:t>
            </a:r>
          </a:p>
        </p:txBody>
      </p:sp>
      <p:sp>
        <p:nvSpPr>
          <p:cNvPr id="21" name="s3-role-01">
            <a:extLst xmlns:a="http://schemas.openxmlformats.org/drawingml/2006/main">
              <a:ext uri="{FF2B5EF4-FFF2-40B4-BE49-F238E27FC236}">
                <a16:creationId xmlns:a16="http://schemas.microsoft.com/office/drawing/2014/main" id="{07C85B90-648E-4405-9133-50FBAD09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s3-role-n-01">
            <a:extLst xmlns:a="http://schemas.openxmlformats.org/drawingml/2006/main">
              <a:ext uri="{FF2B5EF4-FFF2-40B4-BE49-F238E27FC236}">
                <a16:creationId xmlns:a16="http://schemas.microsoft.com/office/drawing/2014/main" id="{573E9610-2B17-4AD1-BD5E-EE86D95B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3" name="s3-role-l-01">
            <a:extLst xmlns:a="http://schemas.openxmlformats.org/drawingml/2006/main">
              <a:ext uri="{FF2B5EF4-FFF2-40B4-BE49-F238E27FC236}">
                <a16:creationId xmlns:a16="http://schemas.microsoft.com/office/drawing/2014/main" id="{6238A6BE-0198-49C2-B6B8-B21B8158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计划管理</a:t>
            </a:r>
          </a:p>
        </p:txBody>
      </p:sp>
      <p:sp>
        <p:nvSpPr>
          <p:cNvPr id="24" name="s3-role-p-01">
            <a:extLst xmlns:a="http://schemas.openxmlformats.org/drawingml/2006/main">
              <a:ext uri="{FF2B5EF4-FFF2-40B4-BE49-F238E27FC236}">
                <a16:creationId xmlns:a16="http://schemas.microsoft.com/office/drawing/2014/main" id="{D8CCB9F5-C0A8-4413-A85C-DE302F92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凭经验排产  →  看智能建议</a:t>
            </a:r>
          </a:p>
        </p:txBody>
      </p:sp>
      <p:sp>
        <p:nvSpPr>
          <p:cNvPr id="25" name="s3-role-02">
            <a:extLst xmlns:a="http://schemas.openxmlformats.org/drawingml/2006/main">
              <a:ext uri="{FF2B5EF4-FFF2-40B4-BE49-F238E27FC236}">
                <a16:creationId xmlns:a16="http://schemas.microsoft.com/office/drawing/2014/main" id="{CF3B020C-D3D0-4209-B0FA-36A6F4D5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1485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s3-role-n-02">
            <a:extLst xmlns:a="http://schemas.openxmlformats.org/drawingml/2006/main">
              <a:ext uri="{FF2B5EF4-FFF2-40B4-BE49-F238E27FC236}">
                <a16:creationId xmlns:a16="http://schemas.microsoft.com/office/drawing/2014/main" id="{9F48FF72-3069-4B91-A062-DDFE3DC7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291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7" name="s3-role-l-02">
            <a:extLst xmlns:a="http://schemas.openxmlformats.org/drawingml/2006/main">
              <a:ext uri="{FF2B5EF4-FFF2-40B4-BE49-F238E27FC236}">
                <a16:creationId xmlns:a16="http://schemas.microsoft.com/office/drawing/2014/main" id="{3AD20BE5-612A-4EE6-B0FB-7383A3C8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29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会议机制</a:t>
            </a:r>
          </a:p>
        </p:txBody>
      </p:sp>
      <p:sp>
        <p:nvSpPr>
          <p:cNvPr id="28" name="s3-role-p-02">
            <a:extLst xmlns:a="http://schemas.openxmlformats.org/drawingml/2006/main">
              <a:ext uri="{FF2B5EF4-FFF2-40B4-BE49-F238E27FC236}">
                <a16:creationId xmlns:a16="http://schemas.microsoft.com/office/drawing/2014/main" id="{656B1EB6-BD3D-4B4A-88B0-C921AB7D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530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天天开会  →  开异常会</a:t>
            </a:r>
          </a:p>
        </p:txBody>
      </p:sp>
      <p:sp>
        <p:nvSpPr>
          <p:cNvPr id="29" name="s3-role-03">
            <a:extLst xmlns:a="http://schemas.openxmlformats.org/drawingml/2006/main">
              <a:ext uri="{FF2B5EF4-FFF2-40B4-BE49-F238E27FC236}">
                <a16:creationId xmlns:a16="http://schemas.microsoft.com/office/drawing/2014/main" id="{33DF1E1B-F55E-48B5-A2CD-D069F28E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1485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s3-role-n-03">
            <a:extLst xmlns:a="http://schemas.openxmlformats.org/drawingml/2006/main">
              <a:ext uri="{FF2B5EF4-FFF2-40B4-BE49-F238E27FC236}">
                <a16:creationId xmlns:a16="http://schemas.microsoft.com/office/drawing/2014/main" id="{5690D9E9-7DA7-45C1-9633-4E74EF49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291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1" name="s3-role-l-03">
            <a:extLst xmlns:a="http://schemas.openxmlformats.org/drawingml/2006/main">
              <a:ext uri="{FF2B5EF4-FFF2-40B4-BE49-F238E27FC236}">
                <a16:creationId xmlns:a16="http://schemas.microsoft.com/office/drawing/2014/main" id="{C06E99D0-1FDF-4383-B64A-00F8AD0D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供应协同</a:t>
            </a:r>
          </a:p>
        </p:txBody>
      </p:sp>
      <p:sp>
        <p:nvSpPr>
          <p:cNvPr id="32" name="s3-role-p-03">
            <a:extLst xmlns:a="http://schemas.openxmlformats.org/drawingml/2006/main">
              <a:ext uri="{FF2B5EF4-FFF2-40B4-BE49-F238E27FC236}">
                <a16:creationId xmlns:a16="http://schemas.microsoft.com/office/drawing/2014/main" id="{DBDA163A-2D0F-420C-83C0-88F12492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530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催进度  →  看节点</a:t>
            </a:r>
          </a:p>
        </p:txBody>
      </p:sp>
      <p:sp>
        <p:nvSpPr>
          <p:cNvPr id="33" name="s3-role-04">
            <a:extLst xmlns:a="http://schemas.openxmlformats.org/drawingml/2006/main">
              <a:ext uri="{FF2B5EF4-FFF2-40B4-BE49-F238E27FC236}">
                <a16:creationId xmlns:a16="http://schemas.microsoft.com/office/drawing/2014/main" id="{B8FBC03D-61B7-445D-8269-4A8B7748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1485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s3-role-n-04">
            <a:extLst xmlns:a="http://schemas.openxmlformats.org/drawingml/2006/main">
              <a:ext uri="{FF2B5EF4-FFF2-40B4-BE49-F238E27FC236}">
                <a16:creationId xmlns:a16="http://schemas.microsoft.com/office/drawing/2014/main" id="{B3592767-A3EC-43A0-9752-3A7D765C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291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5" name="s3-role-l-04">
            <a:extLst xmlns:a="http://schemas.openxmlformats.org/drawingml/2006/main">
              <a:ext uri="{FF2B5EF4-FFF2-40B4-BE49-F238E27FC236}">
                <a16:creationId xmlns:a16="http://schemas.microsoft.com/office/drawing/2014/main" id="{3FF4F099-5D1F-47CA-9DD0-271F887D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29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财务复盘</a:t>
            </a:r>
          </a:p>
        </p:txBody>
      </p:sp>
      <p:sp>
        <p:nvSpPr>
          <p:cNvPr id="36" name="s3-role-p-04">
            <a:extLst xmlns:a="http://schemas.openxmlformats.org/drawingml/2006/main">
              <a:ext uri="{FF2B5EF4-FFF2-40B4-BE49-F238E27FC236}">
                <a16:creationId xmlns:a16="http://schemas.microsoft.com/office/drawing/2014/main" id="{115CEE0D-807B-42FB-BA52-C3A27373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手工对账  →  看KPI</a:t>
            </a:r>
          </a:p>
        </p:txBody>
      </p:sp>
      <p:sp>
        <p:nvSpPr>
          <p:cNvPr id="37" name="s3-foot-v3">
            <a:extLst xmlns:a="http://schemas.openxmlformats.org/drawingml/2006/main">
              <a:ext uri="{FF2B5EF4-FFF2-40B4-BE49-F238E27FC236}">
                <a16:creationId xmlns:a16="http://schemas.microsoft.com/office/drawing/2014/main" id="{93D5760B-8832-4884-A689-116B87C1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74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变化不是增加报表，而是让决策前置、异常显性化、执行结果可复盘。</a:t>
            </a:r>
          </a:p>
        </p:txBody>
      </p:sp>
    </p:spTree>
    <p:extLst>
      <p:ext uri="{BB962C8B-B14F-4D97-AF65-F5344CB8AC3E}">
        <p14:creationId xmlns:p14="http://schemas.microsoft.com/office/powerpoint/2010/main" val="970499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9FC4482-1126-41C5-8DE1-3B3E188E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4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75c6f3efa4e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3B2781E-EC36-4FB5-9F8D-43026A6E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5725" tIns="38100" rIns="857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7、供应链优化价值总结：把精益方法变成可追踪的经营结果</a:t>
            </a:r>
            <a:endParaRPr sz="2400" b="1" i="0" u="none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s4-subtitle-v3">
            <a:extLst xmlns:a="http://schemas.openxmlformats.org/drawingml/2006/main">
              <a:ext uri="{FF2B5EF4-FFF2-40B4-BE49-F238E27FC236}">
                <a16:creationId xmlns:a16="http://schemas.microsoft.com/office/drawing/2014/main" id="{9BE84FA0-745B-4F80-9B12-0225AE67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74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计划、执行、成本与经营指标形成连续证据，价值不靠口号，而靠可验收口径持续证明。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765ce045f45da"/>
          <a:srcRect xmlns:a="http://schemas.openxmlformats.org/drawingml/2006/main" l="0" t="32713" r="0" b="327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428750"/>
            <a:ext cx="10744200" cy="2476500"/>
          </a:xfrm>
          <a:prstGeom xmlns:a="http://schemas.openxmlformats.org/drawingml/2006/main" prst="roundRect">
            <a:avLst>
              <a:gd name="adj" fmla="val 6923"/>
            </a:avLst>
          </a:prstGeom>
        </p:spPr>
      </p:pic>
      <p:sp>
        <p:nvSpPr>
          <p:cNvPr id="11" name="s4-hero-label">
            <a:extLst xmlns:a="http://schemas.openxmlformats.org/drawingml/2006/main">
              <a:ext uri="{FF2B5EF4-FFF2-40B4-BE49-F238E27FC236}">
                <a16:creationId xmlns:a16="http://schemas.microsoft.com/office/drawing/2014/main" id="{7E72CC34-9E6B-4EE6-9A22-043A1259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4000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71A25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s4-hero-label-t">
            <a:extLst xmlns:a="http://schemas.openxmlformats.org/drawingml/2006/main">
              <a:ext uri="{FF2B5EF4-FFF2-40B4-BE49-F238E27FC236}">
                <a16:creationId xmlns:a16="http://schemas.microsoft.com/office/drawing/2014/main" id="{0DD469FA-5EB0-481A-89E7-56674F09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4307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4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四类经营事实收敛为一条价值流</a:t>
            </a:r>
          </a:p>
        </p:txBody>
      </p:sp>
      <p:sp>
        <p:nvSpPr>
          <p:cNvPr id="13" name="s4-hero-label-b">
            <a:extLst xmlns:a="http://schemas.openxmlformats.org/drawingml/2006/main">
              <a:ext uri="{FF2B5EF4-FFF2-40B4-BE49-F238E27FC236}">
                <a16:creationId xmlns:a16="http://schemas.microsoft.com/office/drawing/2014/main" id="{72314F88-C569-4006-9D36-871AB7A6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计划 · 物料 · 成本 · 决策</a:t>
            </a:r>
          </a:p>
        </p:txBody>
      </p:sp>
      <p:sp>
        <p:nvSpPr>
          <p:cNvPr id="14" name="s4-label-116">
            <a:extLst xmlns:a="http://schemas.openxmlformats.org/drawingml/2006/main">
              <a:ext uri="{FF2B5EF4-FFF2-40B4-BE49-F238E27FC236}">
                <a16:creationId xmlns:a16="http://schemas.microsoft.com/office/drawing/2014/main" id="{4CB08F5A-6881-44E5-9FB5-D570133D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207645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A25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s4-label-h-116">
            <a:extLst xmlns:a="http://schemas.openxmlformats.org/drawingml/2006/main">
              <a:ext uri="{FF2B5EF4-FFF2-40B4-BE49-F238E27FC236}">
                <a16:creationId xmlns:a16="http://schemas.microsoft.com/office/drawing/2014/main" id="{89868A3E-FB7E-4CBD-8FDB-C5094C6A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2427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计划可执行</a:t>
            </a:r>
          </a:p>
        </p:txBody>
      </p:sp>
      <p:sp>
        <p:nvSpPr>
          <p:cNvPr id="16" name="s4-label-b-116">
            <a:extLst xmlns:a="http://schemas.openxmlformats.org/drawingml/2006/main">
              <a:ext uri="{FF2B5EF4-FFF2-40B4-BE49-F238E27FC236}">
                <a16:creationId xmlns:a16="http://schemas.microsoft.com/office/drawing/2014/main" id="{29FF433F-063B-4B27-98AC-4E69B5E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交付承诺可计算</a:t>
            </a:r>
          </a:p>
        </p:txBody>
      </p:sp>
      <p:sp>
        <p:nvSpPr>
          <p:cNvPr id="17" name="s4-label-360">
            <a:extLst xmlns:a="http://schemas.openxmlformats.org/drawingml/2006/main">
              <a:ext uri="{FF2B5EF4-FFF2-40B4-BE49-F238E27FC236}">
                <a16:creationId xmlns:a16="http://schemas.microsoft.com/office/drawing/2014/main" id="{B728F13E-F69F-4CA7-B4FB-2D2C5DED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38550"/>
            <a:ext cx="207645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A25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s4-label-h-360">
            <a:extLst xmlns:a="http://schemas.openxmlformats.org/drawingml/2006/main">
              <a:ext uri="{FF2B5EF4-FFF2-40B4-BE49-F238E27FC236}">
                <a16:creationId xmlns:a16="http://schemas.microsoft.com/office/drawing/2014/main" id="{F3515F8A-0044-4AF1-803C-8FC2BAC5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2427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物料可保障</a:t>
            </a:r>
          </a:p>
        </p:txBody>
      </p:sp>
      <p:sp>
        <p:nvSpPr>
          <p:cNvPr id="19" name="s4-label-b-360">
            <a:extLst xmlns:a="http://schemas.openxmlformats.org/drawingml/2006/main">
              <a:ext uri="{FF2B5EF4-FFF2-40B4-BE49-F238E27FC236}">
                <a16:creationId xmlns:a16="http://schemas.microsoft.com/office/drawing/2014/main" id="{CAD604FD-9196-40AB-840F-C59A9A6D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624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库存与采购协同</a:t>
            </a:r>
          </a:p>
        </p:txBody>
      </p:sp>
      <p:sp>
        <p:nvSpPr>
          <p:cNvPr id="20" name="s4-label-604">
            <a:extLst xmlns:a="http://schemas.openxmlformats.org/drawingml/2006/main">
              <a:ext uri="{FF2B5EF4-FFF2-40B4-BE49-F238E27FC236}">
                <a16:creationId xmlns:a16="http://schemas.microsoft.com/office/drawing/2014/main" id="{2ECA1DD9-E69A-4AC9-89A1-F8096829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38550"/>
            <a:ext cx="207645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A25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s4-label-h-604">
            <a:extLst xmlns:a="http://schemas.openxmlformats.org/drawingml/2006/main">
              <a:ext uri="{FF2B5EF4-FFF2-40B4-BE49-F238E27FC236}">
                <a16:creationId xmlns:a16="http://schemas.microsoft.com/office/drawing/2014/main" id="{B586CFA2-E25C-4EF8-B9E8-09002601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2427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成本可解释</a:t>
            </a:r>
          </a:p>
        </p:txBody>
      </p:sp>
      <p:sp>
        <p:nvSpPr>
          <p:cNvPr id="22" name="s4-label-b-604">
            <a:extLst xmlns:a="http://schemas.openxmlformats.org/drawingml/2006/main">
              <a:ext uri="{FF2B5EF4-FFF2-40B4-BE49-F238E27FC236}">
                <a16:creationId xmlns:a16="http://schemas.microsoft.com/office/drawing/2014/main" id="{C0C4C122-5C89-400E-98AA-2A911263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624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批次利润可穿透</a:t>
            </a:r>
          </a:p>
        </p:txBody>
      </p:sp>
      <p:sp>
        <p:nvSpPr>
          <p:cNvPr id="23" name="s4-label-848">
            <a:extLst xmlns:a="http://schemas.openxmlformats.org/drawingml/2006/main">
              <a:ext uri="{FF2B5EF4-FFF2-40B4-BE49-F238E27FC236}">
                <a16:creationId xmlns:a16="http://schemas.microsoft.com/office/drawing/2014/main" id="{DC757354-0795-4442-8355-16210D9B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38550"/>
            <a:ext cx="207645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A25"/>
          </a:solidFill>
          <a:ln xmlns:a="http://schemas.openxmlformats.org/drawingml/2006/main" w="15240">
            <a:solidFill>
              <a:srgbClr val="C7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s4-label-h-848">
            <a:extLst xmlns:a="http://schemas.openxmlformats.org/drawingml/2006/main">
              <a:ext uri="{FF2B5EF4-FFF2-40B4-BE49-F238E27FC236}">
                <a16:creationId xmlns:a16="http://schemas.microsoft.com/office/drawing/2014/main" id="{54E3229B-6C7E-4F09-91C4-16731632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2427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决策可复盘</a:t>
            </a:r>
          </a:p>
        </p:txBody>
      </p:sp>
      <p:sp>
        <p:nvSpPr>
          <p:cNvPr id="25" name="s4-label-b-848">
            <a:extLst xmlns:a="http://schemas.openxmlformats.org/drawingml/2006/main">
              <a:ext uri="{FF2B5EF4-FFF2-40B4-BE49-F238E27FC236}">
                <a16:creationId xmlns:a16="http://schemas.microsoft.com/office/drawing/2014/main" id="{DC9AD2CD-F859-46F5-9E54-702996DD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结果回流可沉淀</a:t>
            </a:r>
          </a:p>
        </p:txBody>
      </p:sp>
      <p:sp>
        <p:nvSpPr>
          <p:cNvPr id="26" name="s4-value-arrow-1">
            <a:extLst xmlns:a="http://schemas.openxmlformats.org/drawingml/2006/main">
              <a:ext uri="{FF2B5EF4-FFF2-40B4-BE49-F238E27FC236}">
                <a16:creationId xmlns:a16="http://schemas.microsoft.com/office/drawing/2014/main" id="{A4ECBDDE-C537-4BB3-80FE-45E7A645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38481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D48A"/>
          </a:solidFill>
          <a:ln xmlns:a="http://schemas.openxmlformats.org/drawingml/2006/main" w="0">
            <a:solidFill>
              <a:srgbClr val="55D4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s4-value-arrow-2">
            <a:extLst xmlns:a="http://schemas.openxmlformats.org/drawingml/2006/main">
              <a:ext uri="{FF2B5EF4-FFF2-40B4-BE49-F238E27FC236}">
                <a16:creationId xmlns:a16="http://schemas.microsoft.com/office/drawing/2014/main" id="{3AD72ED1-64F4-4682-B67B-9C19BD90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38481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AE2B"/>
          </a:solidFill>
          <a:ln xmlns:a="http://schemas.openxmlformats.org/drawingml/2006/main" w="0">
            <a:solidFill>
              <a:srgbClr val="FFAE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s4-value-arrow-3">
            <a:extLst xmlns:a="http://schemas.openxmlformats.org/drawingml/2006/main">
              <a:ext uri="{FF2B5EF4-FFF2-40B4-BE49-F238E27FC236}">
                <a16:creationId xmlns:a16="http://schemas.microsoft.com/office/drawing/2014/main" id="{E3BFD0D9-20D0-4062-95C1-AD9D222A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8481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52B"/>
          </a:solidFill>
          <a:ln xmlns:a="http://schemas.openxmlformats.org/drawingml/2006/main" w="0">
            <a:solidFill>
              <a:srgbClr val="C7D5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s4-kpi-label-v3">
            <a:extLst xmlns:a="http://schemas.openxmlformats.org/drawingml/2006/main">
              <a:ext uri="{FF2B5EF4-FFF2-40B4-BE49-F238E27FC236}">
                <a16:creationId xmlns:a16="http://schemas.microsoft.com/office/drawing/2014/main" id="{519CAA3A-834C-4E01-8BA7-087F844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指标框架｜先定义口径，再持续采集</a:t>
            </a:r>
          </a:p>
        </p:txBody>
      </p:sp>
      <p:sp>
        <p:nvSpPr>
          <p:cNvPr id="30" name="s4-kpi-0">
            <a:extLst xmlns:a="http://schemas.openxmlformats.org/drawingml/2006/main">
              <a:ext uri="{FF2B5EF4-FFF2-40B4-BE49-F238E27FC236}">
                <a16:creationId xmlns:a16="http://schemas.microsoft.com/office/drawing/2014/main" id="{4EF6E861-4AAA-41E9-9D57-5560689E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24193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s4-kpi-head-0">
            <a:extLst xmlns:a="http://schemas.openxmlformats.org/drawingml/2006/main">
              <a:ext uri="{FF2B5EF4-FFF2-40B4-BE49-F238E27FC236}">
                <a16:creationId xmlns:a16="http://schemas.microsoft.com/office/drawing/2014/main" id="{F642E455-BF39-4810-A2E2-49FF1749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88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调度会议次数 / 月</a:t>
            </a:r>
          </a:p>
        </p:txBody>
      </p:sp>
      <p:sp>
        <p:nvSpPr>
          <p:cNvPr id="32" name="s4-kpi-body-0">
            <a:extLst xmlns:a="http://schemas.openxmlformats.org/drawingml/2006/main">
              <a:ext uri="{FF2B5EF4-FFF2-40B4-BE49-F238E27FC236}">
                <a16:creationId xmlns:a16="http://schemas.microsoft.com/office/drawing/2014/main" id="{585D7BEC-C736-4FC0-811F-ACE579A5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异常触发替代定期汇总</a:t>
            </a:r>
          </a:p>
        </p:txBody>
      </p:sp>
      <p:sp>
        <p:nvSpPr>
          <p:cNvPr id="33" name="s4-kpi-1">
            <a:extLst xmlns:a="http://schemas.openxmlformats.org/drawingml/2006/main">
              <a:ext uri="{FF2B5EF4-FFF2-40B4-BE49-F238E27FC236}">
                <a16:creationId xmlns:a16="http://schemas.microsoft.com/office/drawing/2014/main" id="{D72211E9-90C9-46DF-B4B1-38BD9FBC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24400"/>
            <a:ext cx="24193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s4-kpi-head-1">
            <a:extLst xmlns:a="http://schemas.openxmlformats.org/drawingml/2006/main">
              <a:ext uri="{FF2B5EF4-FFF2-40B4-BE49-F238E27FC236}">
                <a16:creationId xmlns:a16="http://schemas.microsoft.com/office/drawing/2014/main" id="{534C0611-2216-4671-AA19-8005B3B9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387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88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可提前识别风险场景数</a:t>
            </a:r>
          </a:p>
        </p:txBody>
      </p:sp>
      <p:sp>
        <p:nvSpPr>
          <p:cNvPr id="35" name="s4-kpi-body-1">
            <a:extLst xmlns:a="http://schemas.openxmlformats.org/drawingml/2006/main">
              <a:ext uri="{FF2B5EF4-FFF2-40B4-BE49-F238E27FC236}">
                <a16:creationId xmlns:a16="http://schemas.microsoft.com/office/drawing/2014/main" id="{74840874-AC73-42DC-8814-6B580A1E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响应窗口前置</a:t>
            </a:r>
          </a:p>
        </p:txBody>
      </p:sp>
      <p:sp>
        <p:nvSpPr>
          <p:cNvPr id="36" name="s4-kpi-2">
            <a:extLst xmlns:a="http://schemas.openxmlformats.org/drawingml/2006/main">
              <a:ext uri="{FF2B5EF4-FFF2-40B4-BE49-F238E27FC236}">
                <a16:creationId xmlns:a16="http://schemas.microsoft.com/office/drawing/2014/main" id="{4B050B66-D6F3-47F2-810E-D045868A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24193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s4-kpi-head-2">
            <a:extLst xmlns:a="http://schemas.openxmlformats.org/drawingml/2006/main">
              <a:ext uri="{FF2B5EF4-FFF2-40B4-BE49-F238E27FC236}">
                <a16:creationId xmlns:a16="http://schemas.microsoft.com/office/drawing/2014/main" id="{6D2E6378-E547-419C-AEE9-2F987390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387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88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系统生成经营方案场景数</a:t>
            </a:r>
          </a:p>
        </p:txBody>
      </p:sp>
      <p:sp>
        <p:nvSpPr>
          <p:cNvPr id="38" name="s4-kpi-body-2">
            <a:extLst xmlns:a="http://schemas.openxmlformats.org/drawingml/2006/main">
              <a:ext uri="{FF2B5EF4-FFF2-40B4-BE49-F238E27FC236}">
                <a16:creationId xmlns:a16="http://schemas.microsoft.com/office/drawing/2014/main" id="{489FFC8B-5C85-4D96-A72D-56B8AE9B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244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方案可追溯、可复用</a:t>
            </a:r>
          </a:p>
        </p:txBody>
      </p:sp>
      <p:sp>
        <p:nvSpPr>
          <p:cNvPr id="39" name="s4-kpi-3">
            <a:extLst xmlns:a="http://schemas.openxmlformats.org/drawingml/2006/main">
              <a:ext uri="{FF2B5EF4-FFF2-40B4-BE49-F238E27FC236}">
                <a16:creationId xmlns:a16="http://schemas.microsoft.com/office/drawing/2014/main" id="{CF01AE72-2946-482C-8D1F-C22F635F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24400"/>
            <a:ext cx="24193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s4-kpi-head-3">
            <a:extLst xmlns:a="http://schemas.openxmlformats.org/drawingml/2006/main">
              <a:ext uri="{FF2B5EF4-FFF2-40B4-BE49-F238E27FC236}">
                <a16:creationId xmlns:a16="http://schemas.microsoft.com/office/drawing/2014/main" id="{2C83EF2A-4F6C-45FE-B95E-72D1AB19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387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88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情景推演采纳率（%）</a:t>
            </a:r>
          </a:p>
        </p:txBody>
      </p:sp>
      <p:sp>
        <p:nvSpPr>
          <p:cNvPr id="41" name="s4-kpi-body-3">
            <a:extLst xmlns:a="http://schemas.openxmlformats.org/drawingml/2006/main">
              <a:ext uri="{FF2B5EF4-FFF2-40B4-BE49-F238E27FC236}">
                <a16:creationId xmlns:a16="http://schemas.microsoft.com/office/drawing/2014/main" id="{D74073CD-41DC-4DE0-9B64-2DC1B7A1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244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推演进入真实决策</a:t>
            </a:r>
          </a:p>
        </p:txBody>
      </p:sp>
      <p:sp>
        <p:nvSpPr>
          <p:cNvPr id="42" name="s4-foot-v3">
            <a:extLst xmlns:a="http://schemas.openxmlformats.org/drawingml/2006/main">
              <a:ext uri="{FF2B5EF4-FFF2-40B4-BE49-F238E27FC236}">
                <a16:creationId xmlns:a16="http://schemas.microsoft.com/office/drawing/2014/main" id="{D0E37FC7-4192-40D3-9CC2-748868AF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4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蓝图交付重点：口径统一、流程可执行、结果可追溯、价值可复盘。</a:t>
            </a:r>
          </a:p>
        </p:txBody>
      </p:sp>
    </p:spTree>
    <p:extLst>
      <p:ext uri="{BB962C8B-B14F-4D97-AF65-F5344CB8AC3E}">
        <p14:creationId xmlns:p14="http://schemas.microsoft.com/office/powerpoint/2010/main" val="2102544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C4AE64C-2410-44CE-A21E-6E608A8B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11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625d363524e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6EBBC8E-CA0A-466F-9047-D69C8006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11543665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淀粉糖生产运营业务现状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VS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未来蓝图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24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经营管理智能辅助决策升级</a:t>
            </a:r>
            <a:endParaRPr sz="2400"/>
          </a:p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C81B5AF0-5847-4B49-B3F7-FE6A388B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97000"/>
            <a:ext cx="2870200" cy="482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4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625d363524e17">
            <a:extLst>
              <a:ext uri="{96DAC541-7B7A-43D3-8B79-37D633B846F1}">
                <asvg:svgBlip xmlns:asvg="http://schemas.microsoft.com/office/drawing/2016/SVG/main" r:embed="Re9336237ce7f43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1651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3A7B4767-C90B-4239-8FDD-047C45CD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25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现状</a:t>
            </a:r>
            <a:endParaRPr sz="1100"/>
          </a:p>
        </p:txBody>
      </p:sp>
      <p:cxnSp>
        <p:nvCxnSpPr>
          <p:cNvPr id="116" name="Connector 20"/>
          <p:cNvCxnSpPr/>
          <p:nvPr/>
        </p:nvCxnSpPr>
        <p:spPr>
          <a:xfrm xmlns:a="http://schemas.openxmlformats.org/drawingml/2006/main" rot="-17539">
            <a:off x="3238516" y="2152650"/>
            <a:ext cx="24892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13F7462F-3951-4AF0-9080-2ECB85F0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955" y="2433320"/>
            <a:ext cx="2616200" cy="299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⽆智能辅助决策系统，当前采⽤“周期性回顾+经验驱动”的经营决策模式：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1.决策时效：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经营分析主要依赖⽉度或周度会议，数据汇总存在⼀定的周期，侧重于对过去⼀段时间业绩的事后复盘。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2.分析深度：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⽬前主要通过报表展示历史统计数据，尚未引⼊多维度的模拟仿真⼯具（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What-if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分析），难以在决策前对不同策略（如排产调整、原料波动）的影响进⾏量化预演。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30B8AFEF-E272-468D-A140-65D61011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1397000"/>
            <a:ext cx="2870200" cy="482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3B82F6">
                <a:alpha val="7000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5b970a3104389">
            <a:extLst>
              <a:ext uri="{96DAC541-7B7A-43D3-8B79-37D633B846F1}">
                <asvg:svgBlip xmlns:asvg="http://schemas.microsoft.com/office/drawing/2016/SVG/main" r:embed="Reea104de3ba54e6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5700" y="1651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9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87C918A7-137C-42B1-93BC-7D5C7528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1625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未来</a:t>
            </a:r>
            <a:endParaRPr sz="1100"/>
          </a:p>
        </p:txBody>
      </p:sp>
      <p:cxnSp>
        <p:nvCxnSpPr>
          <p:cNvPr id="121" name="Connector 27"/>
          <p:cNvCxnSpPr/>
          <p:nvPr/>
        </p:nvCxnSpPr>
        <p:spPr>
          <a:xfrm xmlns:a="http://schemas.openxmlformats.org/drawingml/2006/main" rot="-17539">
            <a:off x="6235716" y="2152650"/>
            <a:ext cx="24892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3B82F6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C8D94AAB-F454-4BF1-B71D-0BB1F859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1397000"/>
            <a:ext cx="2870200" cy="482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8000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3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cfea96cd4416c">
            <a:extLst>
              <a:ext uri="{96DAC541-7B7A-43D3-8B79-37D633B846F1}">
                <asvg:svgBlip xmlns:asvg="http://schemas.microsoft.com/office/drawing/2016/SVG/main" r:embed="Rbdb5b6e2b4ce4c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2900" y="1651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6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9DF9AA1E-03E7-4DBB-8444-A4ED41B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1625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EA580C"/>
                </a:solidFill>
                <a:latin typeface="Noto Sans SC"/>
                <a:ea typeface="Noto Sans SC"/>
                <a:cs typeface="Noto Sans SC"/>
              </a:rPr>
              <a:t>关键跃升</a:t>
            </a:r>
            <a:endParaRPr sz="1100"/>
          </a:p>
        </p:txBody>
      </p:sp>
      <p:cxnSp>
        <p:nvCxnSpPr>
          <p:cNvPr id="125" name="Connector 34"/>
          <p:cNvCxnSpPr/>
          <p:nvPr/>
        </p:nvCxnSpPr>
        <p:spPr>
          <a:xfrm xmlns:a="http://schemas.openxmlformats.org/drawingml/2006/main" rot="-17539">
            <a:off x="9232916" y="2152650"/>
            <a:ext cx="24892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1CA9127-1174-4949-8450-26BE2ABE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" y="914400"/>
            <a:ext cx="3012440" cy="587121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172A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F2F2FB2-75E4-40F9-952C-E558647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10" y="581850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19 </a:t>
            </a:r>
            <a:r>
              <a:rPr sz="12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经营管理智能辅助决策</a:t>
            </a:r>
            <a:endParaRPr sz="12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33AC482-2183-40D0-89CF-063714CC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19367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12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质量追溯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6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BE21EFE-F757-4A80-B286-05DE60F5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249110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13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成本追溯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7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AD86476-4139-430E-A417-4BC0DE24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304546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14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设备运维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8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BF5B13A-834C-4BB7-B6C8-F5A4E865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36004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15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能碳管理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9" name="AutoShape 8">
            <a:extLst xmlns:a="http://schemas.openxmlformats.org/drawingml/2006/main">
              <a:ext uri="{FF2B5EF4-FFF2-40B4-BE49-F238E27FC236}">
                <a16:creationId xmlns:a16="http://schemas.microsoft.com/office/drawing/2014/main" id="{6E83C9E4-2CC5-4C98-9B17-819B12F3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415544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16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横向使能：数据与集成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0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CFC791A-FEA7-4E88-9431-DB36A3B3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470979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17 横向使能：⾃动化分层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B57F47D-00BE-4F8B-A223-7ABFACAD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138239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01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订单接收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8BD1207-F166-41D0-90E3-036F9299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19367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02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原料采购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71DB1E3-4592-4A0C-9418-FEACF6CF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249110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algn="l">
              <a:lnSpc>
                <a:spcPct val="125000"/>
              </a:lnSpc>
              <a:buClrTx/>
              <a:buSzTx/>
              <a:buFontTx/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03 计划排产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9354D68-4C68-450F-8F8E-C77C191F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304546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04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调度执⾏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8564443-F5CC-4EA4-BDF4-D0E71624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36004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05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原料转运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存储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FFC898E2-D7C1-4B4B-A71E-6B98AEB4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415544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06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⽣产作业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ED82F44D-20E6-4E63-97E8-7270F294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471043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07 过程暂存(中间品)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278A2294-D36A-46F5-8120-753D3CD8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52641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08 质量检测分析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C35E7E79-C6D8-4482-A5F2-AC76FB54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581850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09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异常管理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3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04F85967-BB19-487D-8761-1C95D131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637222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10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成品⼊库仓储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7F766FFE-4443-4172-979E-92D8106F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" y="948690"/>
            <a:ext cx="156273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>
                    <a:lumMod val="60000"/>
                    <a:lumOff val="40000"/>
                  </a:schemeClr>
                </a:solidFill>
              </a:rPr>
              <a:t>对比分析维度</a:t>
            </a:r>
            <a:endParaRPr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03F94A7A-3F4F-4BF3-9C7F-A13C3030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70810"/>
            <a:ext cx="2616200" cy="299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1.管理驾驶舱：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汇聚CRM、SAP、SCOS、MES、WMS、QMS/LIMS、WMS、TMS、EMS、EAM、PHM、TMS等数据，展示订单履约、产量、库存、质量、能耗、设备和成本指标。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2.智能辅助决策与全局寻优：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结合数据与模型，在排产、采购、订单交付、经济效益分析、库存安全、物流优化、安全管理等场景，系统⾃动输出“异常根因—未来趋势—调整预案”。管理者从“⼈找数据做决策”升级为“AI推送决策⼈确认”，实现全局多⽬标寻优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endParaRPr sz="1200" b="1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3.模拟推演：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⽀持原料价格波动、产能负荷、能源价格、库存策略、异常停机等场景的“What-if”测算，为排产采购、销售和经营决策提供依据。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EA95563D-930E-4997-8564-8531C3DA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765" y="2433320"/>
            <a:ext cx="2616200" cy="299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从事后统计与经验粗放管理向事前预演与模型精益智控转变；实现跨⼯序、跨部⻔的分钟级决策响应，推动企业从“被动处置”向“主动预判、系统调控”跨越。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8680D57-82CE-4D66-9814-EA5AA975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138239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11 </a:t>
            </a: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发货交付与成品出⼚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1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14B6205-1DFC-4F59-B157-8CE89A15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52641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18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AI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赋能经营管理与实时⼯艺控制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829756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88E3969-35E4-4008-8D8D-0D55E1C5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10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6a40cd43e48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DEAECBF-918D-44D1-BDB6-AB9E04BE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、智能运营管理平台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总体</a:t>
            </a: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架构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utoShape 5">
            <a:extLst xmlns:a="http://schemas.openxmlformats.org/drawingml/2006/main">
              <a:ext uri="{FF2B5EF4-FFF2-40B4-BE49-F238E27FC236}">
                <a16:creationId xmlns:a16="http://schemas.microsoft.com/office/drawing/2014/main" id="{D676C83B-9B8E-4F91-A4BD-B702BEEE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4732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35E4CA3-B679-4879-8D08-0204592B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01800"/>
            <a:ext cx="12954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经营管理层</a:t>
            </a:r>
            <a:endParaRPr b="1" i="0" u="none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3858925-061A-4FBC-8355-6377C8F6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73200"/>
            <a:ext cx="89154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24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DDFB634-27B9-47B4-AF20-0BE70996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01800"/>
            <a:ext cx="4191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SCOS</a:t>
            </a: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驾驶舱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11" name="Connector 11"/>
          <p:cNvCxnSpPr/>
          <p:nvPr/>
        </p:nvCxnSpPr>
        <p:spPr>
          <a:xfrm xmlns:a="http://schemas.openxmlformats.org/drawingml/2006/main" rot="5114181">
            <a:off x="5956300" y="2356114"/>
            <a:ext cx="1524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28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BEBDF4CC-7711-4798-9D8E-DBDBB1A4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4384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2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978E9EBD-AC28-45ED-B60C-9B174D30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62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应用</a:t>
            </a: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服务</a:t>
            </a: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46F80A7-CC45-49B1-8BAA-31CD8078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38400"/>
            <a:ext cx="14097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1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C78C6D82-B172-4E44-AED0-052E5675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2616200"/>
            <a:ext cx="135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精益生产排程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6619B23D-1850-444F-8AB6-B35983A5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2438400"/>
            <a:ext cx="14097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3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EEF7EA57-785E-49E3-869A-97498762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616200"/>
            <a:ext cx="135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安全库存优化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CD51CB9C-10E7-4FDD-945B-EA2E9BD1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635" y="2438400"/>
            <a:ext cx="292036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5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4D44728E-8F3C-4CC1-844C-8058538A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635" y="2616200"/>
            <a:ext cx="281876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采购优化管理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6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AE55B811-C6DE-459E-95A5-223FEB8F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39035"/>
            <a:ext cx="281876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7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0127B699-256E-4568-8679-BC52A213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0" y="2616835"/>
            <a:ext cx="255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统计与成本核算分析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22" name="Connector 26"/>
          <p:cNvCxnSpPr/>
          <p:nvPr/>
        </p:nvCxnSpPr>
        <p:spPr>
          <a:xfrm xmlns:a="http://schemas.openxmlformats.org/drawingml/2006/main" rot="5114181">
            <a:off x="5956300" y="3321314"/>
            <a:ext cx="1524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43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5FA7954F-33BA-4CAE-A151-F23C433B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4036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44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B26D3835-E970-46A3-90D7-453E5F34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优化决策层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5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132BEFE9-5138-4B2C-B4A5-C85BF545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3600"/>
            <a:ext cx="2921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46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FB45E819-131D-4AB6-AE1D-C25C673B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0" y="3581400"/>
            <a:ext cx="27178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优化引擎 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7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5F670BCC-B687-497B-AB1E-E7CCE275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3600"/>
            <a:ext cx="2921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48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E65365ED-68D3-4C96-91FE-D825F66C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3581400"/>
            <a:ext cx="271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需求预测模型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9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D8F03126-C965-4317-B481-343448D0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03600"/>
            <a:ext cx="281876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50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D5F6EAB6-99A1-4FA5-AE97-C22B143B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81400"/>
            <a:ext cx="271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规则引擎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31" name="Connector 35"/>
          <p:cNvCxnSpPr/>
          <p:nvPr/>
        </p:nvCxnSpPr>
        <p:spPr>
          <a:xfrm xmlns:a="http://schemas.openxmlformats.org/drawingml/2006/main" rot="5114181">
            <a:off x="5956300" y="4286514"/>
            <a:ext cx="1524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52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F301CEEE-9E46-4B97-B599-EB415A18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3688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53" name="AutoShape 37">
            <a:extLst xmlns:a="http://schemas.openxmlformats.org/drawingml/2006/main">
              <a:ext uri="{FF2B5EF4-FFF2-40B4-BE49-F238E27FC236}">
                <a16:creationId xmlns:a16="http://schemas.microsoft.com/office/drawing/2014/main" id="{91EA8385-2441-4F8C-A221-C9FE39AD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466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数据层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4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6392C3EE-AE20-4B04-A3DF-C651C35D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68800"/>
            <a:ext cx="888936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55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D3086059-A972-40E6-9964-2C729D0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0" y="4546600"/>
            <a:ext cx="871029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数据中台：主数据　·　业务数据　·　数据仓库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36" name="Connector 40"/>
          <p:cNvCxnSpPr/>
          <p:nvPr/>
        </p:nvCxnSpPr>
        <p:spPr>
          <a:xfrm xmlns:a="http://schemas.openxmlformats.org/drawingml/2006/main" rot="5114181">
            <a:off x="5956300" y="5251714"/>
            <a:ext cx="1524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57" name="AutoShape 41">
            <a:extLst xmlns:a="http://schemas.openxmlformats.org/drawingml/2006/main">
              <a:ext uri="{FF2B5EF4-FFF2-40B4-BE49-F238E27FC236}">
                <a16:creationId xmlns:a16="http://schemas.microsoft.com/office/drawing/2014/main" id="{72A01A26-CCBC-470B-863F-4E7A4EAE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58" name="AutoShape 42">
            <a:extLst xmlns:a="http://schemas.openxmlformats.org/drawingml/2006/main">
              <a:ext uri="{FF2B5EF4-FFF2-40B4-BE49-F238E27FC236}">
                <a16:creationId xmlns:a16="http://schemas.microsoft.com/office/drawing/2014/main" id="{998698FA-9D7E-45D3-94B6-F0B6B002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118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集成层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9" name="AutoShape 43">
            <a:extLst xmlns:a="http://schemas.openxmlformats.org/drawingml/2006/main">
              <a:ext uri="{FF2B5EF4-FFF2-40B4-BE49-F238E27FC236}">
                <a16:creationId xmlns:a16="http://schemas.microsoft.com/office/drawing/2014/main" id="{84B36179-E4FA-4FD0-9603-F876BA5D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0"/>
            <a:ext cx="17018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0" name="AutoShape 44">
            <a:extLst xmlns:a="http://schemas.openxmlformats.org/drawingml/2006/main">
              <a:ext uri="{FF2B5EF4-FFF2-40B4-BE49-F238E27FC236}">
                <a16:creationId xmlns:a16="http://schemas.microsoft.com/office/drawing/2014/main" id="{8BCF6FE8-80CA-4146-9174-E511344D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5511800"/>
            <a:ext cx="165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SAP 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1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66C58B40-A2D4-4552-95A1-F5524FDB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5334000"/>
            <a:ext cx="17018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2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4DF6EC93-8E39-490E-AAA6-77DE0C96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11800"/>
            <a:ext cx="165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MES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3" name="AutoShape 47">
            <a:extLst xmlns:a="http://schemas.openxmlformats.org/drawingml/2006/main">
              <a:ext uri="{FF2B5EF4-FFF2-40B4-BE49-F238E27FC236}">
                <a16:creationId xmlns:a16="http://schemas.microsoft.com/office/drawing/2014/main" id="{4D4FB4D5-C1CA-49A7-95E7-1419A099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5334000"/>
            <a:ext cx="17018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4" name="AutoShape 48">
            <a:extLst xmlns:a="http://schemas.openxmlformats.org/drawingml/2006/main">
              <a:ext uri="{FF2B5EF4-FFF2-40B4-BE49-F238E27FC236}">
                <a16:creationId xmlns:a16="http://schemas.microsoft.com/office/drawing/2014/main" id="{CEA453D0-013F-45D7-8C59-7C70003B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5511800"/>
            <a:ext cx="165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WMS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5" name="AutoShape 49">
            <a:extLst xmlns:a="http://schemas.openxmlformats.org/drawingml/2006/main">
              <a:ext uri="{FF2B5EF4-FFF2-40B4-BE49-F238E27FC236}">
                <a16:creationId xmlns:a16="http://schemas.microsoft.com/office/drawing/2014/main" id="{98A3D03A-B9DA-4AE1-9B8E-8ADA4F0F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7018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6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CF25F1E0-1F61-4CE7-A367-634C7BE4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5511800"/>
            <a:ext cx="165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TMS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7" name="AutoShape 51">
            <a:extLst xmlns:a="http://schemas.openxmlformats.org/drawingml/2006/main">
              <a:ext uri="{FF2B5EF4-FFF2-40B4-BE49-F238E27FC236}">
                <a16:creationId xmlns:a16="http://schemas.microsoft.com/office/drawing/2014/main" id="{8A9F5482-CD52-4C2C-A142-36A05BD5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0" y="5334000"/>
            <a:ext cx="185483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8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0E41DEEC-AF91-4F20-961B-216D15EA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11800"/>
            <a:ext cx="182943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CRM</a:t>
            </a: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等其他系统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589628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74A690C-02B9-4FB5-84E2-386C8E2E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7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069f4246549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9F6138C-227D-45C4-8E23-0D09108E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模型算法驱动生产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精益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排程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7E005B3-95C3-4118-BE94-02C90B15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把交付优先级、库存补货、产能设备与原辅包到货约束汇聚到统一排程，形成上下游一致的时间承诺。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D541BB1-442C-4AB1-94BE-E8EBB44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多约束汇聚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7C039D0-4055-4A2F-8369-33FBD06C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CE064DD6-84D6-4D1C-B7A0-05FC9A86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52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8959A5E-F174-4D23-826D-C8002912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" y="20955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订单与需求预测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A0E27F5-1CDE-43C9-BC36-CCE7845E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982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优先级/交期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右箭头 28">
            <a:extLst xmlns:a="http://schemas.openxmlformats.org/drawingml/2006/main">
              <a:ext uri="{FF2B5EF4-FFF2-40B4-BE49-F238E27FC236}">
                <a16:creationId xmlns:a16="http://schemas.microsoft.com/office/drawing/2014/main" id="{90CC05E3-AE0B-4B10-A9F1-B0D72B5E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383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1FEADC78-3C02-4917-8E3F-5F1D9953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52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23D4FF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1AA10D3-EF3E-444C-AA10-0562BCC6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BOM/</a:t>
            </a: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工艺路线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701C136-7E17-4C73-8FAB-FCE4D273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35" y="3190875"/>
            <a:ext cx="13550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产品结构和生产步骤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右箭头 32">
            <a:extLst xmlns:a="http://schemas.openxmlformats.org/drawingml/2006/main">
              <a:ext uri="{FF2B5EF4-FFF2-40B4-BE49-F238E27FC236}">
                <a16:creationId xmlns:a16="http://schemas.microsoft.com/office/drawing/2014/main" id="{1F6A239E-6C0B-4450-AA93-10DBA811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1942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17EFDBCB-7300-47B4-98DD-C8CAF711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1524000" cy="87693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B348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83C6AF5-B9F0-46EE-80BA-EB71756D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资源</a:t>
            </a: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54CA952-B039-4202-B09D-C4BE7179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9384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设备、模具、人力等关键资源的当前可用性与产能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右箭头 36">
            <a:extLst xmlns:a="http://schemas.openxmlformats.org/drawingml/2006/main">
              <a:ext uri="{FF2B5EF4-FFF2-40B4-BE49-F238E27FC236}">
                <a16:creationId xmlns:a16="http://schemas.microsoft.com/office/drawing/2014/main" id="{C20049F7-6D18-473A-A7DF-0161A794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004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3336880E-57AE-42AD-8BF3-1D1B2698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5505"/>
            <a:ext cx="1524000" cy="8604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53D38A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A51B53D-270A-4AA6-B7AD-CEEA8DD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218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库存与采购在途信息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5B2552E-AF33-4E88-B1EC-955755A8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2033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当前可用物料及预计到货的采购订单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右箭头 44">
            <a:extLst xmlns:a="http://schemas.openxmlformats.org/drawingml/2006/main">
              <a:ext uri="{FF2B5EF4-FFF2-40B4-BE49-F238E27FC236}">
                <a16:creationId xmlns:a16="http://schemas.microsoft.com/office/drawing/2014/main" id="{4962BEA1-EA5E-453D-86DA-24D1B316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6600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6" name="六边形 45">
            <a:extLst xmlns:a="http://schemas.openxmlformats.org/drawingml/2006/main">
              <a:ext uri="{FF2B5EF4-FFF2-40B4-BE49-F238E27FC236}">
                <a16:creationId xmlns:a16="http://schemas.microsoft.com/office/drawing/2014/main" id="{1D51D36D-8985-4A2A-B4F7-757EF56B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2381250" cy="23812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82B39"/>
          </a:solidFill>
          <a:ln xmlns:a="http://schemas.openxmlformats.org/drawingml/2006/main" w="28575">
            <a:solidFill>
              <a:srgbClr val="23D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05146ED-4DF6-4202-ADED-12964F2E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81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约束排程引擎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61E5E8F-756A-42EE-9ABD-051D4900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61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需求合并与优先级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产能负荷平衡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瓶颈/冲突识别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计划版本与锁定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右箭头 48">
            <a:extLst xmlns:a="http://schemas.openxmlformats.org/drawingml/2006/main">
              <a:ext uri="{FF2B5EF4-FFF2-40B4-BE49-F238E27FC236}">
                <a16:creationId xmlns:a16="http://schemas.microsoft.com/office/drawing/2014/main" id="{CE767F76-4CFC-4ED2-8269-0729ED89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D4FF"/>
          </a:solidFill>
          <a:ln xmlns:a="http://schemas.openxmlformats.org/drawingml/2006/main" w="0">
            <a:solidFill>
              <a:srgbClr val="23D4FF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B418991-815D-4E89-9C5D-18707B5B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计划执行泳道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43B2888A-544E-4DDA-B24F-010EEC12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9547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3C5EAC52-36A7-42A5-BD68-6220AC73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9232E"/>
          </a:solidFill>
          <a:ln xmlns:a="http://schemas.openxmlformats.org/drawingml/2006/main" w="14288">
            <a:solidFill>
              <a:srgbClr val="00AEEF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FCF61556-939B-4CA0-B492-D97BECAB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24075"/>
            <a:ext cx="1085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AEE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AEEF"/>
                </a:solidFill>
                <a:latin typeface="微软雅黑"/>
                <a:ea typeface="微软雅黑"/>
                <a:cs typeface="微软雅黑"/>
              </a:rPr>
              <a:t>详细的生产作业计划</a:t>
            </a:r>
            <a:endParaRPr sz="1275" b="1">
              <a:solidFill>
                <a:srgbClr val="00AE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9FAB14D6-D7F7-43D8-A96F-1CF0AC17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240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明确各工序、设备、班次的具体任务与时间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6644404A-FB1E-4971-8CF3-8291C3A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90825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9232E"/>
          </a:solidFill>
          <a:ln xmlns:a="http://schemas.openxmlformats.org/drawingml/2006/main" w="14288">
            <a:solidFill>
              <a:srgbClr val="23D4FF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8633456B-EED9-4164-9244-1223B31B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670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可承诺量（</a:t>
            </a:r>
            <a:r>
              <a: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ATP）</a:t>
            </a:r>
            <a:endParaRPr sz="1275" b="1">
              <a:solidFill>
                <a:srgbClr val="23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EAE55271-A47A-4BA3-B036-3EA16B98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67025"/>
            <a:ext cx="369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向销售端提供可靠的、基于实际产能和物料的交付日期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D8A59EA8-DECC-4847-9531-A5D6AEC6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33775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9232E"/>
          </a:solidFill>
          <a:ln xmlns:a="http://schemas.openxmlformats.org/drawingml/2006/main" w="14288">
            <a:solidFill>
              <a:srgbClr val="53D38A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9070ACC8-3561-4B37-9ACE-F280CB72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997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3D38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53D38A"/>
                </a:solidFill>
                <a:latin typeface="微软雅黑"/>
                <a:ea typeface="微软雅黑"/>
                <a:cs typeface="微软雅黑"/>
              </a:rPr>
              <a:t>计划模拟与预警</a:t>
            </a:r>
            <a:endParaRPr sz="1275" b="1">
              <a:solidFill>
                <a:srgbClr val="53D3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E826EEF1-D45B-4F5A-A080-62AB1A9A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9975"/>
            <a:ext cx="353123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模拟不同策略下的产出和交付结果，并对潜在的交期风险进行预警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6AA590D9-CE99-4CD3-A428-421F977C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76725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9232E"/>
          </a:solidFill>
          <a:ln xmlns:a="http://schemas.openxmlformats.org/drawingml/2006/main" w="14288">
            <a:solidFill>
              <a:srgbClr val="FFB348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8ED790CE-2AED-46ED-B7FB-A5C258F0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529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异常</a:t>
            </a:r>
            <a:r>
              <a: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状况自行</a:t>
            </a:r>
            <a:r>
              <a: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调整</a:t>
            </a:r>
            <a:endParaRPr sz="1275" b="1">
              <a:solidFill>
                <a:srgbClr val="FFB3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AF6C8855-E1A2-47A3-82BC-DAEE0F8C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529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需求波动、资源瓶颈、原</a:t>
            </a: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辅料到货准时性与质量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左箭头 63">
            <a:extLst xmlns:a="http://schemas.openxmlformats.org/drawingml/2006/main">
              <a:ext uri="{FF2B5EF4-FFF2-40B4-BE49-F238E27FC236}">
                <a16:creationId xmlns:a16="http://schemas.microsoft.com/office/drawing/2014/main" id="{4114918E-3320-4473-82E7-1ACB876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81625"/>
            <a:ext cx="733425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72A00840-1AC4-48B8-A532-C001554B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435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实际产量 / 完工时间 / 设备状态 / 物料消耗 / 订单变化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BBCB1B8C-5756-4428-B6AF-B350C3F5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857875"/>
            <a:ext cx="752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23D4FF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6C2CB2C-A14A-44CF-A8C3-2FB5A7F4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150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协同价值</a:t>
            </a:r>
            <a:endParaRPr sz="1350" b="1">
              <a:solidFill>
                <a:srgbClr val="23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2E5B75B2-3D1D-4CA4-AB89-EFF092F1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200775"/>
            <a:ext cx="72390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提前暴露产能、物料和交期冲突，提升计划可执行性，减少临时协调与被动救火。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4018850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95040DD-DD21-46BF-B8B6-C3B55853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10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0347ac81c4c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B20A61-2FEA-4C41-B06C-1105BDAD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安全库存水位智能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优化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58CADDC-BF6E-44D8-B96E-2CC1EBC2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B363792-2334-4BFB-B962-2519C735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214D155-4868-4D6C-86D3-8CE92782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81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3BB4EB8-69F3-4BE3-8875-0B8275FE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30E68A-79BF-4753-BA01-9A8D8340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5631DCC-726F-46E1-AB36-E787298F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542B1F0-74A9-41FF-A604-E065957E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00C5CF1-FD03-4C40-A68B-16347D1B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76E7E285-F45F-46F8-99AA-F85A5503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CCE53E0-EAC8-4539-B15F-FCB24B2F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2882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安全库存 / s / S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8C03718F-FD24-4A85-848E-EBB4FA1E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9FFF6C1-58DA-4018-821E-521DF1CC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3365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补货日期与数量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64EC6C45-F159-49A4-B084-DED2354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DEB92C0-25CC-4D13-8D1C-6CC9D54E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3847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预计库存水位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26614760-8F24-4988-9B4E-A8BB63B9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7D7118F3-2BB0-4903-8D36-AFC1F608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4330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缺货/容量风险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05E0A33C-3FAF-442E-A67F-15C4167B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19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7ACFE3F1-3B38-4D33-AE21-E1B29664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2882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计划员确认发布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04CEE2B4-A5A4-4A90-B351-F9005CBE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241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028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BFE852CA-D4E8-4459-96DF-3459E9A4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生产排程承接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06D99DDB-B31D-4673-AD6E-4AF3643E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289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1927609-3747-4DB6-A058-ACEC1C97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384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生产入库执行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81052A51-61AB-40E1-831D-6EA61F08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337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ED1EB9F-5C62-49B4-BC91-B7338344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驾驶舱预警跟踪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右箭头 59">
            <a:extLst xmlns:a="http://schemas.openxmlformats.org/drawingml/2006/main">
              <a:ext uri="{FF2B5EF4-FFF2-40B4-BE49-F238E27FC236}">
                <a16:creationId xmlns:a16="http://schemas.microsoft.com/office/drawing/2014/main" id="{D06C4008-888D-466A-9D70-A6110B6A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61" name="右箭头 60">
            <a:extLst xmlns:a="http://schemas.openxmlformats.org/drawingml/2006/main">
              <a:ext uri="{FF2B5EF4-FFF2-40B4-BE49-F238E27FC236}">
                <a16:creationId xmlns:a16="http://schemas.microsoft.com/office/drawing/2014/main" id="{54C14AE2-AA33-479A-9577-21CDF7C8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62" name="右箭头 61">
            <a:extLst xmlns:a="http://schemas.openxmlformats.org/drawingml/2006/main">
              <a:ext uri="{FF2B5EF4-FFF2-40B4-BE49-F238E27FC236}">
                <a16:creationId xmlns:a16="http://schemas.microsoft.com/office/drawing/2014/main" id="{E55195F5-0513-4523-A8DF-531ADC01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22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63" name="椭圆 62">
            <a:extLst xmlns:a="http://schemas.openxmlformats.org/drawingml/2006/main">
              <a:ext uri="{FF2B5EF4-FFF2-40B4-BE49-F238E27FC236}">
                <a16:creationId xmlns:a16="http://schemas.microsoft.com/office/drawing/2014/main" id="{3F8ED588-3FA6-46B5-9D50-BD7857BE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833"/>
          </a:solidFill>
          <a:ln xmlns:a="http://schemas.openxmlformats.org/drawingml/2006/main" w="28575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E1D0E86-3325-46EB-9759-C77CC46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动态库存策略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6F88B711-AF14-4ADB-B95D-2CCDD150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(R,s,S) 参数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逐日库存推演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共享库容与罐位兼容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7天锁定与异常重算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下箭头 65">
            <a:extLst xmlns:a="http://schemas.openxmlformats.org/drawingml/2006/main">
              <a:ext uri="{FF2B5EF4-FFF2-40B4-BE49-F238E27FC236}">
                <a16:creationId xmlns:a16="http://schemas.microsoft.com/office/drawing/2014/main" id="{FD597DC0-F1A1-4959-80B9-7272C135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2945" y="5067300"/>
            <a:ext cx="323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67" name="左箭头 66">
            <a:extLst xmlns:a="http://schemas.openxmlformats.org/drawingml/2006/main">
              <a:ext uri="{FF2B5EF4-FFF2-40B4-BE49-F238E27FC236}">
                <a16:creationId xmlns:a16="http://schemas.microsoft.com/office/drawing/2014/main" id="{B6F976E1-4034-4D7F-AF06-FD1FA109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80962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上箭头 67">
            <a:extLst xmlns:a="http://schemas.openxmlformats.org/drawingml/2006/main">
              <a:ext uri="{FF2B5EF4-FFF2-40B4-BE49-F238E27FC236}">
                <a16:creationId xmlns:a16="http://schemas.microsoft.com/office/drawing/2014/main" id="{5AD1D0F2-0253-4A99-B448-157933A5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5067300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128524C5-23C4-4A77-A27C-4F621336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实际出货 / 实际入库 / 偏差与预警 / 参数效果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圆角矩形 93">
            <a:extLst xmlns:a="http://schemas.openxmlformats.org/drawingml/2006/main">
              <a:ext uri="{FF2B5EF4-FFF2-40B4-BE49-F238E27FC236}">
                <a16:creationId xmlns:a16="http://schemas.microsoft.com/office/drawing/2014/main" id="{25A0C926-5CB6-4459-AEA8-97C241B4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04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C6505B03-176C-4CD9-832E-A97CC48F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rPr>
              <a:t>以服务水平牵引库存结构优化</a:t>
            </a:r>
            <a:endParaRPr sz="1350" b="1">
              <a:solidFill>
                <a:srgbClr val="00AE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83EDAC79-EC94-4FB2-80BD-F472DFCE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245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降低缺货与呆滞风险，提升库存周转和订单保障能力，让库存从静态经验值变为动态经营参数。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E8505F88-7692-4DE1-8659-38D379A6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把需求变化、库存状态与生产补充能力统一到逐日库存轨迹中，在保障交付的同时控制资金占用和库容风险。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0A2125F0-94E3-4114-A0BE-674672D2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2019300"/>
            <a:ext cx="1981200" cy="53264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D876ED3-722A-4BA3-B060-D9303B76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027050"/>
            <a:ext cx="1847850" cy="52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1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需求预测与历史数据</a:t>
            </a:r>
            <a:endParaRPr sz="1090" b="1">
              <a:solidFill>
                <a:schemeClr val="accent1">
                  <a:lumMod val="20000"/>
                  <a:lumOff val="80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用于预测未来消耗量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20C40F0F-D660-46DF-A057-73841973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2718435"/>
            <a:ext cx="1981200" cy="53264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92F0C1A-86B6-4086-8845-CFF1643B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726184"/>
            <a:ext cx="1847850" cy="52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提前期与补货规则</a:t>
            </a:r>
            <a:endParaRPr sz="1090" b="0">
              <a:solidFill>
                <a:schemeClr val="accent2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采购、制造及运输的提前期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974A03E7-F01B-46D4-86D3-BB707572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3411220"/>
            <a:ext cx="1981200" cy="53264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A191E8-98FF-434D-A961-7128BA07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3418969"/>
            <a:ext cx="1847850" cy="52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chemeClr val="accent5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服务水平目标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企业希望达到的库存满足率（如95%）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D2FADDDE-0D63-4546-8A59-B2EB99DC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410" y="4131310"/>
            <a:ext cx="1981200" cy="53264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1C99D50-CDF9-4FF2-89DC-EFA9F7C7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0085" y="4139059"/>
            <a:ext cx="1847850" cy="52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chemeClr val="accent6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成本参数</a:t>
            </a:r>
            <a:endParaRPr sz="1090">
              <a:solidFill>
                <a:schemeClr val="accent6">
                  <a:lumMod val="20000"/>
                  <a:lumOff val="80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包括库存持有成本、订货成本、缺货成本等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855958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C526946-C127-4D2D-8EE2-DBDCBE17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9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8634c7b284a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8B2FB24-A787-4410-B072-11DC00D9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数据驱动采购决策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优化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1E22277-6BCE-4305-8D2E-470F61C4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以上游已发布原材料需求为唯一需求口径，在满足供应、质量和到货约束的前提下优化供应商组合与综合采购成本。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9769BEC-1F1B-4DD2-9A4D-6152C189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D981111-B083-46DF-9C53-BD44A83E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FF18207-C8DE-493A-A6B8-11DA4273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81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5403F0B-4826-4D8C-82EA-3AA44D68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86DAF70-6D07-4DB5-9B50-7710403A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576A8CF-0B1B-444A-8B52-721AE32A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F65D676-8F32-4268-86FB-FD9D39AC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30C9572-56AC-4EE1-8DC5-6225F770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7C15A659-CBF5-4F7D-A090-A3A68EC1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2019300"/>
            <a:ext cx="1981200" cy="6007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F5D33CE-4007-4629-B476-2F71F9F8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028825"/>
            <a:ext cx="1847850" cy="591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6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物料需求计划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由生产计划直接驱动的原材料和零部件需求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7D2EC547-40AD-497F-AAA2-4206B8A3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02404F5B-6530-4BEB-8243-2059DA06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2882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月度采购总量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4612F33D-1745-47F2-AE4E-4B4E1E6E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F3186B98-B1A4-448E-9D38-A59DA958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3365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供应商分配方案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552F6E76-098B-473D-A451-F1BD6F10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F319263-A951-44E9-AB89-241FE96E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3847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建议到货日期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C1639E86-3158-450E-8B3C-74716D1E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38668409-72D4-48D7-BEE2-18EE18B4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4330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锁价/合同建议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086261F3-4DAD-43F9-839C-EB9EA8D6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19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EA30423-ED78-4F48-8872-7B29DB8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2882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业务确认与审批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EF86584C-0F95-48F5-9E0A-F3C901A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241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0AAE4EF9-5F54-4E79-9C41-54C530E9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E采 / SAP下单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E81889AD-4550-40E2-84E2-90B3B1B6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289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3D1DB762-CC4A-44C3-8A9A-2CA22D1E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384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供应商发货到厂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95007135-F2B7-4FB9-874B-2AB8C8E4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337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A78F7D68-0712-4C2B-BD59-C51745C2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质检与订单更新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右箭头 59">
            <a:extLst xmlns:a="http://schemas.openxmlformats.org/drawingml/2006/main">
              <a:ext uri="{FF2B5EF4-FFF2-40B4-BE49-F238E27FC236}">
                <a16:creationId xmlns:a16="http://schemas.microsoft.com/office/drawing/2014/main" id="{142C0AD6-D908-4DBA-9F51-2D04D704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61" name="右箭头 60">
            <a:extLst xmlns:a="http://schemas.openxmlformats.org/drawingml/2006/main">
              <a:ext uri="{FF2B5EF4-FFF2-40B4-BE49-F238E27FC236}">
                <a16:creationId xmlns:a16="http://schemas.microsoft.com/office/drawing/2014/main" id="{A5AB2FDE-ED2B-4340-9DA8-04C4F921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D38A"/>
          </a:solidFill>
          <a:ln xmlns:a="http://schemas.openxmlformats.org/drawingml/2006/main" w="0">
            <a:solidFill>
              <a:srgbClr val="53D38A"/>
            </a:solidFill>
            <a:prstDash val="solid"/>
          </a:ln>
        </p:spPr>
      </p:sp>
      <p:sp>
        <p:nvSpPr>
          <p:cNvPr id="62" name="右箭头 61">
            <a:extLst xmlns:a="http://schemas.openxmlformats.org/drawingml/2006/main">
              <a:ext uri="{FF2B5EF4-FFF2-40B4-BE49-F238E27FC236}">
                <a16:creationId xmlns:a16="http://schemas.microsoft.com/office/drawing/2014/main" id="{C85BA00F-6059-4C67-9744-8FD2C28B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22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63" name="椭圆 62">
            <a:extLst xmlns:a="http://schemas.openxmlformats.org/drawingml/2006/main">
              <a:ext uri="{FF2B5EF4-FFF2-40B4-BE49-F238E27FC236}">
                <a16:creationId xmlns:a16="http://schemas.microsoft.com/office/drawing/2014/main" id="{A7EF8300-1CE0-4A1F-9ADD-0F690924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833"/>
          </a:solidFill>
          <a:ln xmlns:a="http://schemas.openxmlformats.org/drawingml/2006/main" w="28575">
            <a:solidFill>
              <a:srgbClr val="53D38A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553E8825-C646-4EC4-AEE1-DC328297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采购组合优化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D8B47F7-EF17-45B4-AB76-01B87DAD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分期待采购需求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供应商准入与评分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综合成本最优化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到货可行性校验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下箭头 65">
            <a:extLst xmlns:a="http://schemas.openxmlformats.org/drawingml/2006/main">
              <a:ext uri="{FF2B5EF4-FFF2-40B4-BE49-F238E27FC236}">
                <a16:creationId xmlns:a16="http://schemas.microsoft.com/office/drawing/2014/main" id="{14466CA5-DEB9-4C72-A68D-FE61468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95750"/>
            <a:ext cx="323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3D38A"/>
          </a:solidFill>
          <a:ln xmlns:a="http://schemas.openxmlformats.org/drawingml/2006/main" w="0">
            <a:solidFill>
              <a:srgbClr val="53D38A"/>
            </a:solidFill>
            <a:prstDash val="solid"/>
          </a:ln>
        </p:spPr>
      </p:sp>
      <p:sp>
        <p:nvSpPr>
          <p:cNvPr id="67" name="左箭头 66">
            <a:extLst xmlns:a="http://schemas.openxmlformats.org/drawingml/2006/main">
              <a:ext uri="{FF2B5EF4-FFF2-40B4-BE49-F238E27FC236}">
                <a16:creationId xmlns:a16="http://schemas.microsoft.com/office/drawing/2014/main" id="{2E1531DA-2B49-4AA7-BA4A-218045EF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80962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68" name="上箭头 67">
            <a:extLst xmlns:a="http://schemas.openxmlformats.org/drawingml/2006/main">
              <a:ext uri="{FF2B5EF4-FFF2-40B4-BE49-F238E27FC236}">
                <a16:creationId xmlns:a16="http://schemas.microsoft.com/office/drawing/2014/main" id="{97F3A8F1-449A-4EF5-89F7-09F57C3B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38625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AB4A4432-0B92-4B2E-A384-9FB46E55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实际价格 / 到货数量与日期 / 质量 / 供应商履约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圆角矩形 93">
            <a:extLst xmlns:a="http://schemas.openxmlformats.org/drawingml/2006/main">
              <a:ext uri="{FF2B5EF4-FFF2-40B4-BE49-F238E27FC236}">
                <a16:creationId xmlns:a16="http://schemas.microsoft.com/office/drawing/2014/main" id="{E0A324EE-099E-4AFF-A662-3F5834B7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04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53D38A"/>
            </a:solidFill>
            <a:prstDash val="solid"/>
          </a:ln>
        </p:spPr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11D54ED5-9E48-443B-A763-7EEBC0F1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rPr>
              <a:t>从单价采购升级为总成本与供应安全协同优化</a:t>
            </a:r>
            <a:endParaRPr sz="1350" b="1">
              <a:solidFill>
                <a:srgbClr val="53D3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E281B930-3830-4166-9C30-2AFD2D13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245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减少重复采购和缺口风险，提升多供应商组合决策效率，并为供应中断提供可解释的备选方案。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8243586C-811B-4403-84FF-80160C6E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045" y="2745740"/>
            <a:ext cx="1981200" cy="6007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7C6255E-8049-484F-9EA5-47893BC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0720" y="2917825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库存水位信息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实时库存数据，用于精准计算净需求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E9AF4B4A-3F21-40DC-AF42-D70251F8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8965" y="3482340"/>
            <a:ext cx="1981200" cy="6007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85D4F6A-B8A9-4908-8DFE-8CF63272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915" y="3654425"/>
            <a:ext cx="200533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4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供应商画像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包括供应商的交货表现、质量水平、历史价格和合同条款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33115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AED229A-7196-40AF-A024-2341B522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4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e9b9fbb434a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648FCD8-4F31-464D-96C1-017E6284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全自动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统计与成本核算分析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B1EFB54-0EA7-4F45-92ED-0B6443ED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FFFFFF"/>
                </a:solidFill>
              </a:rPr>
              <a:t>成本分摊—批次价值链与多维利润分析</a:t>
            </a:r>
            <a:endParaRPr b="1">
              <a:solidFill>
                <a:srgbClr val="FFFFFF"/>
              </a:solidFill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成本沿实物流和批次链逐级归集、分摊与传递，最终穿透到销售订单、客户和产品经营结果。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4ED6584-BDC7-4431-B992-DBD648C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成本形成链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6424AED-4775-4BA6-B528-E8F8B948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D298E83A-FCED-4A8C-9EFF-3FDCA35B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9526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9FD0CE-22B6-4975-B6F5-8683FB0E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采购入厂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0232C82-7C10-411A-864C-A4AB2982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采购价/运费/入库费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D6C01252-D0F8-439F-B429-CA84623A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2887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3E7AEF4-69D6-4A56-8F4C-277E4C72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9526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23D4F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56C91A0-5C1C-4008-87BE-75F86CB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仓储投料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7FFD34E-0CFA-4531-8093-EC837A6E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574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移库/装卸/人工费用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右箭头 16">
            <a:extLst xmlns:a="http://schemas.openxmlformats.org/drawingml/2006/main">
              <a:ext uri="{FF2B5EF4-FFF2-40B4-BE49-F238E27FC236}">
                <a16:creationId xmlns:a16="http://schemas.microsoft.com/office/drawing/2014/main" id="{070F7DD1-E5D7-4D88-B7C9-7DE750DD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2887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D4FF"/>
          </a:solidFill>
          <a:ln xmlns:a="http://schemas.openxmlformats.org/drawingml/2006/main" w="0">
            <a:solidFill>
              <a:srgbClr val="23D4FF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711B659-E68B-4016-B29F-A1D75B18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95500"/>
            <a:ext cx="19526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53D38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1B1FDA4-679C-42CA-9253-2BBCDB44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生产加工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373A9AE-15BE-46E6-8D4A-C13671A6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574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投料批次/能源/制造费用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右箭头 20">
            <a:extLst xmlns:a="http://schemas.openxmlformats.org/drawingml/2006/main">
              <a:ext uri="{FF2B5EF4-FFF2-40B4-BE49-F238E27FC236}">
                <a16:creationId xmlns:a16="http://schemas.microsoft.com/office/drawing/2014/main" id="{76D08E9A-64EA-4748-9EA3-AA5683E9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D38A"/>
          </a:solidFill>
          <a:ln xmlns:a="http://schemas.openxmlformats.org/drawingml/2006/main" w="0">
            <a:solidFill>
              <a:srgbClr val="53D38A"/>
            </a:solidFill>
            <a:prstDash val="solid"/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3913C8EC-C13A-4C61-9E9E-6B431995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19526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AA337E4-D845-4C11-9A6B-29CA5DA7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订单交付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A1043B8-EDD6-463C-905C-86B65E36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4574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包装/运输/销售订单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下箭头 24">
            <a:extLst xmlns:a="http://schemas.openxmlformats.org/drawingml/2006/main">
              <a:ext uri="{FF2B5EF4-FFF2-40B4-BE49-F238E27FC236}">
                <a16:creationId xmlns:a16="http://schemas.microsoft.com/office/drawing/2014/main" id="{1A94217D-23C8-49BA-A426-D17F497F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9087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8375FA32-489B-4F1C-8841-CF119D85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62375"/>
            <a:ext cx="4048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2833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2BFED1D-FF58-45DB-91F8-B8AEB28E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6971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批次成本引擎</a:t>
            </a:r>
            <a:endParaRPr sz="280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6127E0A-83F2-4F9A-907B-4AEA5B61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8625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右箭头 28">
            <a:extLst xmlns:a="http://schemas.openxmlformats.org/drawingml/2006/main">
              <a:ext uri="{FF2B5EF4-FFF2-40B4-BE49-F238E27FC236}">
                <a16:creationId xmlns:a16="http://schemas.microsoft.com/office/drawing/2014/main" id="{26BE3070-DE33-43F6-91AD-AC1890B1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523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6E36FF8-EA37-46B8-B241-6EA03534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81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价值分析树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2AA6A6BD-8130-4C23-917D-D8E5EE7A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576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83E68042-6559-4484-8D0D-91D43789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B4959B5-26C3-4E47-B723-B40F34FC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19525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8A1F7EA3-3B67-4015-A565-5497613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10000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32642AD-028D-4571-A6AB-555BF826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19525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942B97B0-5C33-4048-8FCE-11A3AE81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0C60500-1F81-4AB9-BC47-7A19DAD8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391025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供应商贡献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B0C4DA98-5187-4426-8A60-DA7FF746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81500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E2466E1-3F6E-4E7F-9F75-B17A1768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91025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销售订单利润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81C65B15-7C32-4A42-A59E-778D2430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90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B348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A09051C-55E7-413C-9A16-5B132DE7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62525"/>
            <a:ext cx="3057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成本差异追溯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401A90EF-0A5D-4F4D-B43D-2570C89D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91125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财务复核与规则版本管理贯穿归集、分摊和发布全过程</a:t>
            </a:r>
            <a:endParaRPr sz="112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E2F5028B-07F9-4443-A980-87360821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15000"/>
            <a:ext cx="7524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FFF200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ABFC004-4CC5-453F-BA9C-AAF3BD5F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721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经营价值</a:t>
            </a:r>
            <a:endParaRPr sz="135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42B0C5F7-0082-4BD6-A1F2-D8152843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57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让供应链决策看见真实成本和利润，为采购、排程与库存策略提供统一价值尺度。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050"/>
          </a:p>
        </p:txBody>
      </p:sp>
    </p:spTree>
    <p:extLst>
      <p:ext uri="{BB962C8B-B14F-4D97-AF65-F5344CB8AC3E}">
        <p14:creationId xmlns:p14="http://schemas.microsoft.com/office/powerpoint/2010/main" val="7847892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DD7CCE-7007-410D-8F77-3C869561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7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588e91b9e49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31BDDA5-0EC0-498C-95E1-277CC036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智慧运营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驾驶舱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47BEE2F-2FFE-4B8D-88DC-5FAFD91A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以统一态势为中心，向外连接指标监测、异常处置、情景推演和正式业务调整，形成整齐可追踪的管理闭环。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F49BD8F-BD7D-45F8-BCBF-E370CE3A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F2A"/>
          </a:solidFill>
          <a:ln xmlns:a="http://schemas.openxmlformats.org/drawingml/2006/main" w="19050">
            <a:solidFill>
              <a:schemeClr val="accent2"/>
            </a:solidFill>
            <a:prstDash val="solid"/>
          </a:ln>
        </p:spPr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7AF4238E-69FF-4594-91BC-4A315C28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670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3442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7325AD0-69B9-4D1D-8018-2CD9FDAF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24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供应链态势中枢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197A255-5FFF-41A9-8082-CBEB6782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67125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KPI · 地图 · 专题视图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红黄绿健康度 · 影响链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3E9BBB0-3574-44A3-BAC5-F454EDE0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运营闭环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C4AFA98-88F0-4F85-8133-73658776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9338DB9-D4EB-4C29-9F10-A5487791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决策闭环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9FD7C03-57FC-4609-812C-A3B82204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954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62B80BE3-8868-42DC-8B6A-30A3C901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7E2FB19-D733-4AF4-8705-F969A919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汇聚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71D51C6-6C2B-4F50-A94B-9B2B5C99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跨模块结果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1B0BDD14-8E5A-4001-8984-E06AFE10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764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D427999F-C310-4ED9-9997-67FDBC72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71E0022-618E-43B7-B4D9-AAE8B79B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识别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1D2A812-576E-4737-BD29-E5895740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432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异常与预警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右箭头 22">
            <a:extLst xmlns:a="http://schemas.openxmlformats.org/drawingml/2006/main">
              <a:ext uri="{FF2B5EF4-FFF2-40B4-BE49-F238E27FC236}">
                <a16:creationId xmlns:a16="http://schemas.microsoft.com/office/drawing/2014/main" id="{D9E163C6-68E9-4ED9-8F3B-E24EA996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622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53E81691-C9FE-467D-B4C7-18664063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1D55AA4-B27A-4A07-8B5A-6D906D73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钻取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B0906D0-7E07-4E81-B259-2BC8191A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290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明细与根因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右箭头 26">
            <a:extLst xmlns:a="http://schemas.openxmlformats.org/drawingml/2006/main">
              <a:ext uri="{FF2B5EF4-FFF2-40B4-BE49-F238E27FC236}">
                <a16:creationId xmlns:a16="http://schemas.microsoft.com/office/drawing/2014/main" id="{DC56BA15-F13F-463D-A2B7-6D033485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480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C0793208-5C15-4239-A96B-B145B172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70DF0B6-658F-4815-B5D9-8A5FB3B2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处置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25E302D-F9B1-46E3-88D3-3B0A3CF7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148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派发与跟踪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右箭头 30">
            <a:extLst xmlns:a="http://schemas.openxmlformats.org/drawingml/2006/main">
              <a:ext uri="{FF2B5EF4-FFF2-40B4-BE49-F238E27FC236}">
                <a16:creationId xmlns:a16="http://schemas.microsoft.com/office/drawing/2014/main" id="{FA289ADC-59E9-4C0F-BCE9-E363AECF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338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8AACF0AA-10DA-4240-B638-257EEDEC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9D4A033-D61E-455B-A33B-7E4AA9AB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验证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6007EE5-FCFC-4297-86C2-37A2EE05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006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恢复后关闭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右箭头 34">
            <a:extLst xmlns:a="http://schemas.openxmlformats.org/drawingml/2006/main">
              <a:ext uri="{FF2B5EF4-FFF2-40B4-BE49-F238E27FC236}">
                <a16:creationId xmlns:a16="http://schemas.microsoft.com/office/drawing/2014/main" id="{6D97F93E-32B9-4AE9-A771-3BC329EC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96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6" name="左箭头 35">
            <a:extLst xmlns:a="http://schemas.openxmlformats.org/drawingml/2006/main">
              <a:ext uri="{FF2B5EF4-FFF2-40B4-BE49-F238E27FC236}">
                <a16:creationId xmlns:a16="http://schemas.microsoft.com/office/drawing/2014/main" id="{3F323AC1-F8C3-4244-9316-28F16262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764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C58C2500-DCCC-414C-9A3D-42EB77F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FF20805-1FE0-4A46-ADE3-2465493D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621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设定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3A67DBB-1AF5-4CD8-B611-8C66AF13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4574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情景参数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左箭头 39">
            <a:extLst xmlns:a="http://schemas.openxmlformats.org/drawingml/2006/main">
              <a:ext uri="{FF2B5EF4-FFF2-40B4-BE49-F238E27FC236}">
                <a16:creationId xmlns:a16="http://schemas.microsoft.com/office/drawing/2014/main" id="{311622E9-C470-4A7F-81C9-FFDC09EB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622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5E729C43-4295-477F-8C79-755B3E5E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DBA0BFB-58B4-4941-B42B-35DF94CE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479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冻结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117732E-1D2B-47B2-AD44-90806333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432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基线快照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左箭头 43">
            <a:extLst xmlns:a="http://schemas.openxmlformats.org/drawingml/2006/main">
              <a:ext uri="{FF2B5EF4-FFF2-40B4-BE49-F238E27FC236}">
                <a16:creationId xmlns:a16="http://schemas.microsoft.com/office/drawing/2014/main" id="{7B1DAED2-0277-4863-8A51-E8DCC2BE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480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E5784C81-E701-4DE6-A893-7CB15611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671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0543E9F-4165-4033-B96B-4F5168EF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337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编排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DDE84D26-0F58-44A0-A0A5-80168A7D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8290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专业模型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左箭头 47">
            <a:extLst xmlns:a="http://schemas.openxmlformats.org/drawingml/2006/main">
              <a:ext uri="{FF2B5EF4-FFF2-40B4-BE49-F238E27FC236}">
                <a16:creationId xmlns:a16="http://schemas.microsoft.com/office/drawing/2014/main" id="{F742CBF0-29B4-410A-A44C-340C11D6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338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BAA331B3-7CB5-4F65-B177-6234879E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529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0E7221B-687C-4E57-803E-4826960F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95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对比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823E29F8-95BD-4093-8314-A5E2B671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5148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成本/服务/风险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左箭头 51">
            <a:extLst xmlns:a="http://schemas.openxmlformats.org/drawingml/2006/main">
              <a:ext uri="{FF2B5EF4-FFF2-40B4-BE49-F238E27FC236}">
                <a16:creationId xmlns:a16="http://schemas.microsoft.com/office/drawing/2014/main" id="{3ED2804E-C9A1-411A-A0FE-6398BF8A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196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DDDDD09C-4C14-40C2-942E-5FC483C6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387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2A9FB8A0-4015-4584-BA76-85AFAB9F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053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采纳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0E2BE2E8-013A-4E87-9AC1-61FE624A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2006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正式调整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40D9A281-A0F7-470A-80DC-36897412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770" y="22383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57681F29-B440-4985-858D-55A80930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445" y="22479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库存健康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A8E93C7D-BDC4-4246-AC95-4073DFBF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585" y="22383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3F7074D9-913D-46CD-BFE4-3CB235F4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2479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交付达成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E4D7DDA3-8113-4562-A6BC-E5199915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945" y="46767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B348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0F548691-1E66-448B-9988-9ECF4432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620" y="46863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采购执行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圆角矩形 61">
            <a:extLst xmlns:a="http://schemas.openxmlformats.org/drawingml/2006/main">
              <a:ext uri="{FF2B5EF4-FFF2-40B4-BE49-F238E27FC236}">
                <a16:creationId xmlns:a16="http://schemas.microsoft.com/office/drawing/2014/main" id="{BF0C60C9-F2F5-464C-A68F-5FAF0EA8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672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23D4FF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D2670F1-143C-49BB-8DFB-BC8F75E0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7677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产能负荷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左箭头 63">
            <a:extLst xmlns:a="http://schemas.openxmlformats.org/drawingml/2006/main">
              <a:ext uri="{FF2B5EF4-FFF2-40B4-BE49-F238E27FC236}">
                <a16:creationId xmlns:a16="http://schemas.microsoft.com/office/drawing/2014/main" id="{87F56F5C-91A3-4D8D-99A0-62323162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55245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10B5E147-4228-414C-9236-FD048CAD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正式执行结果回流态势监测；新问题进入沙盘评估并驱动下一轮改进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A9ACC57F-ED27-490F-BD5A-D42EB1EE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191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看全局  ·  找异常  ·  做推演  ·  促协同  ·  跟闭环</a:t>
            </a:r>
            <a:endParaRPr sz="135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2" name="图片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6ad8944f542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835" y="875030"/>
            <a:ext cx="9561195" cy="50488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709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7D3E34A8-7308-43ED-9313-6208E43D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" y="5946140"/>
            <a:ext cx="11640820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488A7004-2F09-42AD-A526-CF80C81D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345" y="4942205"/>
            <a:ext cx="7202170" cy="80899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8490A48-3FA5-4AAF-B561-2899AEF3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155" y="1405255"/>
            <a:ext cx="2081530" cy="2418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07B3A3FC-5623-4323-9CC5-4C614AD1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235" y="1412875"/>
            <a:ext cx="2081530" cy="2418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FE144240-8273-4061-B9B1-4FDA1402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1412240"/>
            <a:ext cx="2081530" cy="2418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A7BD09CA-BE3C-4493-AB0D-A847BF52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" y="3823335"/>
            <a:ext cx="2382520" cy="9436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ED8376D4-1CF6-4EC9-85F9-3DF4DA52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10" y="1191895"/>
            <a:ext cx="2382520" cy="9436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4EC9FD1-87FE-4ED7-BBE2-3C6E2DEE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23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d655a28b747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D7D8020-1D87-413D-8BBF-440B83B9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1134491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模型数据驱动下的经营决策升级</a:t>
            </a:r>
            <a:endParaRPr sz="2400" b="1" i="0" u="none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90C62B7-77C2-4F31-B4A7-FBA3656F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" y="5946140"/>
            <a:ext cx="5302885" cy="810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业务对象：生产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采购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销售</a:t>
            </a:r>
            <a:br/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业务范围：物料流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信息流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资金流</a:t>
            </a:r>
            <a:endParaRPr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E7F085B1-84BD-4979-8CB2-D962A371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0" y="5946140"/>
            <a:ext cx="5302885" cy="810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业务环节：需求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计划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排产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执行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报工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跟踪</a:t>
            </a:r>
            <a:br/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业务管理：订单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生产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仓储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发货</a:t>
            </a:r>
            <a:endParaRPr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3" name="文本框 132">
            <a:extLst xmlns:a="http://schemas.openxmlformats.org/drawingml/2006/main">
              <a:ext uri="{FF2B5EF4-FFF2-40B4-BE49-F238E27FC236}">
                <a16:creationId xmlns:a16="http://schemas.microsoft.com/office/drawing/2014/main" id="{49F4D644-D7C8-4266-827A-F80DB488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310" y="4942205"/>
            <a:ext cx="720217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每批、每类产品、每个车次产品的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利润是多少？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工厂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每月每周每天每个工序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的成本是多少？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4" name="文本框 133">
            <a:extLst xmlns:a="http://schemas.openxmlformats.org/drawingml/2006/main">
              <a:ext uri="{FF2B5EF4-FFF2-40B4-BE49-F238E27FC236}">
                <a16:creationId xmlns:a16="http://schemas.microsoft.com/office/drawing/2014/main" id="{B720DF60-978B-465C-A5A7-E5BD1B5E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110" y="4635500"/>
            <a:ext cx="95821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00" b="1">
                <a:ln w="15875"/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物料流</a:t>
            </a:r>
            <a:endParaRPr sz="1600" b="1">
              <a:ln w="15875"/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5" name="文本框 134">
            <a:extLst xmlns:a="http://schemas.openxmlformats.org/drawingml/2006/main">
              <a:ext uri="{FF2B5EF4-FFF2-40B4-BE49-F238E27FC236}">
                <a16:creationId xmlns:a16="http://schemas.microsoft.com/office/drawing/2014/main" id="{CC454089-7050-45BD-97E1-9D0CA910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570" y="4635500"/>
            <a:ext cx="90551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00" b="1">
                <a:ln w="15875"/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资金流</a:t>
            </a:r>
            <a:endParaRPr sz="1600" b="1">
              <a:ln w="15875"/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6" name="文本框 135">
            <a:extLst xmlns:a="http://schemas.openxmlformats.org/drawingml/2006/main">
              <a:ext uri="{FF2B5EF4-FFF2-40B4-BE49-F238E27FC236}">
                <a16:creationId xmlns:a16="http://schemas.microsoft.com/office/drawing/2014/main" id="{31BD91EF-2D11-4E9D-BE49-E53E8D90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40" y="4635500"/>
            <a:ext cx="95821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00" b="1">
                <a:ln w="15875"/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信息流</a:t>
            </a:r>
            <a:endParaRPr sz="1600" b="1">
              <a:ln w="15875"/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47" name="直接箭头连接符 137"/>
          <p:cNvCxnSpPr/>
          <p:nvPr/>
        </p:nvCxnSpPr>
        <p:spPr>
          <a:xfrm xmlns:a="http://schemas.openxmlformats.org/drawingml/2006/main">
            <a:off x="4342765" y="4804410"/>
            <a:ext cx="1115695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stealth" w="med" len="lg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8" name="直接箭头连接符 139"/>
          <p:cNvCxnSpPr/>
          <p:nvPr/>
        </p:nvCxnSpPr>
        <p:spPr>
          <a:xfrm xmlns:a="http://schemas.openxmlformats.org/drawingml/2006/main">
            <a:off x="6780900" y="4788853"/>
            <a:ext cx="1116000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stealth" w="med" len="lg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9" name="直接箭头连接符 140"/>
          <p:cNvCxnSpPr/>
          <p:nvPr/>
        </p:nvCxnSpPr>
        <p:spPr>
          <a:xfrm xmlns:a="http://schemas.openxmlformats.org/drawingml/2006/main">
            <a:off x="9254860" y="4809173"/>
            <a:ext cx="1116000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stealth" w="med" len="lg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7" name="Plan text.txt">
            <a:extLst xmlns:a="http://schemas.openxmlformats.org/drawingml/2006/main">
              <a:ext uri="{FF2B5EF4-FFF2-40B4-BE49-F238E27FC236}">
                <a16:creationId xmlns:a16="http://schemas.microsoft.com/office/drawing/2014/main" id="{C480CD97-188D-4748-A194-62D3CB2B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" y="1191895"/>
            <a:ext cx="2383790" cy="942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原料怎么采购？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供应商如何选择？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客户如何分级？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Plan text.txt">
            <a:extLst xmlns:a="http://schemas.openxmlformats.org/drawingml/2006/main">
              <a:ext uri="{FF2B5EF4-FFF2-40B4-BE49-F238E27FC236}">
                <a16:creationId xmlns:a16="http://schemas.microsoft.com/office/drawing/2014/main" id="{853E69E1-537C-4464-920C-B9A83C8E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10" y="2166620"/>
            <a:ext cx="2383155" cy="16567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产供销运如何平衡优化？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生产模式如何选择？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订单如何满足？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交期如何保障？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如何执行生产？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紧急事件如何应对？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Plan text.txt">
            <a:extLst xmlns:a="http://schemas.openxmlformats.org/drawingml/2006/main">
              <a:ext uri="{FF2B5EF4-FFF2-40B4-BE49-F238E27FC236}">
                <a16:creationId xmlns:a16="http://schemas.microsoft.com/office/drawing/2014/main" id="{A1E18481-9945-4651-89D6-7918535B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10" y="4812030"/>
            <a:ext cx="2384425" cy="6692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lnSpc>
                <a:spcPct val="10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供应链如何跟踪？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0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信息如何共享？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Plan text.txt">
            <a:extLst xmlns:a="http://schemas.openxmlformats.org/drawingml/2006/main">
              <a:ext uri="{FF2B5EF4-FFF2-40B4-BE49-F238E27FC236}">
                <a16:creationId xmlns:a16="http://schemas.microsoft.com/office/drawing/2014/main" id="{663FFCD1-3006-4770-B99A-B82B6011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05" y="3830955"/>
            <a:ext cx="2384425" cy="9251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库存如何优化？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运输成本如何控制？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仓库网络怎么设计？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BA44AE5-4275-4B7C-8EBC-DDA4521F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1565910"/>
            <a:ext cx="28194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1100"/>
          </a:p>
        </p:txBody>
      </p:sp>
      <p:sp>
        <p:nvSpPr>
          <p:cNvPr id="1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AD48CF9-EACB-40C7-BBD4-C0FA870C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20" y="1540510"/>
            <a:ext cx="1160145" cy="359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数据基座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5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81bcf40f14862">
            <a:extLst>
              <a:ext uri="{96DAC541-7B7A-43D3-8B79-37D633B846F1}">
                <asvg:svgBlip xmlns:asvg="http://schemas.microsoft.com/office/drawing/2016/SVG/main" r:embed="R67d2f2a5f095489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95670" y="1540510"/>
            <a:ext cx="215265" cy="333375"/>
          </a:xfrm>
          <a:prstGeom xmlns:a="http://schemas.openxmlformats.org/drawingml/2006/main" prst="rect">
            <a:avLst/>
          </a:prstGeom>
        </p:spPr>
      </p:pic>
      <p:cxnSp>
        <p:nvCxnSpPr>
          <p:cNvPr id="257" name="Connector 10"/>
          <p:cNvCxnSpPr/>
          <p:nvPr/>
        </p:nvCxnSpPr>
        <p:spPr>
          <a:xfrm xmlns:a="http://schemas.openxmlformats.org/drawingml/2006/main" rot="21584515">
            <a:off x="4437380" y="2021205"/>
            <a:ext cx="184023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B0E01E6C-6AAB-4C01-9F0F-22DD00FC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380" y="2207260"/>
            <a:ext cx="1840230" cy="1487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统一数据服务层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标准 API</a:t>
            </a:r>
            <a:endParaRPr sz="1100">
              <a:solidFill>
                <a:schemeClr val="bg1"/>
              </a:solidFill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实时数据平台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事件订阅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外部数据接入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价格/天气/路况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关键运营 KPI 延迟</a:t>
            </a:r>
            <a:r>
              <a:rPr sz="12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2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≤ 5s</a:t>
            </a:r>
            <a:endParaRPr sz="1200" b="1" i="0" u="none">
              <a:solidFill>
                <a:srgbClr val="F5822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BFC0F85-0B1A-4302-9C49-50CA7C99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565910"/>
            <a:ext cx="28194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1100"/>
          </a:p>
        </p:txBody>
      </p:sp>
      <p:sp>
        <p:nvSpPr>
          <p:cNvPr id="2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BEC3F71E-2FA6-4EA7-BF32-F93C6D2C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255" y="1540510"/>
            <a:ext cx="1160145" cy="359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模型中枢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61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a49074e224ffc">
            <a:extLst>
              <a:ext uri="{96DAC541-7B7A-43D3-8B79-37D633B846F1}">
                <asvg:svgBlip xmlns:asvg="http://schemas.microsoft.com/office/drawing/2016/SVG/main" r:embed="R28aa8259fbbe40a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3605" y="1540510"/>
            <a:ext cx="215265" cy="333375"/>
          </a:xfrm>
          <a:prstGeom xmlns:a="http://schemas.openxmlformats.org/drawingml/2006/main" prst="rect">
            <a:avLst/>
          </a:prstGeom>
        </p:spPr>
      </p:pic>
      <p:cxnSp>
        <p:nvCxnSpPr>
          <p:cNvPr id="262" name="Connector 16"/>
          <p:cNvCxnSpPr/>
          <p:nvPr/>
        </p:nvCxnSpPr>
        <p:spPr>
          <a:xfrm xmlns:a="http://schemas.openxmlformats.org/drawingml/2006/main" rot="21584515">
            <a:off x="6965315" y="2021205"/>
            <a:ext cx="184023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6852200-5A2A-4C30-8D60-251A50F7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315" y="2207260"/>
            <a:ext cx="1840230" cy="1487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数学优化求解器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多目标建模</a:t>
            </a:r>
            <a:endParaRPr sz="1100">
              <a:solidFill>
                <a:schemeClr val="bg1"/>
              </a:solidFill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模型服务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预测/情景模拟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模型资产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精益排程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采购优化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库存优化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成本核算模型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72h 详细排程求解</a:t>
            </a:r>
            <a:r>
              <a:rPr sz="12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2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≤ 5min</a:t>
            </a:r>
            <a:endParaRPr sz="1200" b="1" i="0" u="none">
              <a:solidFill>
                <a:srgbClr val="F5822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73B0C3A-9C0E-4CCB-BD83-45DB6FAB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565910"/>
            <a:ext cx="28194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1100"/>
          </a:p>
        </p:txBody>
      </p:sp>
      <p:sp>
        <p:nvSpPr>
          <p:cNvPr id="3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756DA540-A125-41DF-91FD-E1566A07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190" y="1540510"/>
            <a:ext cx="1160145" cy="359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决策应用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66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23bb20d8747a2">
            <a:extLst>
              <a:ext uri="{96DAC541-7B7A-43D3-8B79-37D633B846F1}">
                <asvg:svgBlip xmlns:asvg="http://schemas.microsoft.com/office/drawing/2016/SVG/main" r:embed="R78f002e3363b443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1540" y="1540510"/>
            <a:ext cx="215265" cy="333375"/>
          </a:xfrm>
          <a:prstGeom xmlns:a="http://schemas.openxmlformats.org/drawingml/2006/main" prst="rect">
            <a:avLst/>
          </a:prstGeom>
        </p:spPr>
      </p:pic>
      <p:cxnSp>
        <p:nvCxnSpPr>
          <p:cNvPr id="267" name="Connector 22"/>
          <p:cNvCxnSpPr/>
          <p:nvPr/>
        </p:nvCxnSpPr>
        <p:spPr>
          <a:xfrm xmlns:a="http://schemas.openxmlformats.org/drawingml/2006/main" rot="21584515">
            <a:off x="9493250" y="2021205"/>
            <a:ext cx="184023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A720BFC7-FDD5-4505-9156-325E9CD9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250" y="2207260"/>
            <a:ext cx="1840230" cy="1487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采购决策优化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总拥有成本最优</a:t>
            </a:r>
            <a:endParaRPr sz="1100">
              <a:solidFill>
                <a:schemeClr val="bg1"/>
              </a:solidFill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精益生产排程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安全库存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全程追溯协同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驾驶舱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数据—模型—应用—反馈</a:t>
            </a:r>
            <a:r>
              <a:rPr sz="12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2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闭环迭代</a:t>
            </a:r>
            <a:endParaRPr sz="1200" b="1" i="0" u="none">
              <a:solidFill>
                <a:srgbClr val="F58220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269" name="Connector 24"/>
          <p:cNvCxnSpPr/>
          <p:nvPr/>
        </p:nvCxnSpPr>
        <p:spPr>
          <a:xfrm xmlns:a="http://schemas.openxmlformats.org/drawingml/2006/main" rot="21532602">
            <a:off x="6410325" y="2662555"/>
            <a:ext cx="42291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70" name="Connector 25"/>
          <p:cNvCxnSpPr/>
          <p:nvPr/>
        </p:nvCxnSpPr>
        <p:spPr>
          <a:xfrm xmlns:a="http://schemas.openxmlformats.org/drawingml/2006/main" rot="21532602">
            <a:off x="8938260" y="2662555"/>
            <a:ext cx="42291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B708EDA0-4ABD-425E-96ED-1D535C2A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" y="1035050"/>
            <a:ext cx="2667000" cy="448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BD9866A6-A505-4E5A-9C44-7F38060B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" y="927100"/>
            <a:ext cx="2662555" cy="466217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cxnSp>
        <p:nvCxnSpPr>
          <p:cNvPr id="273" name="Connector 26"/>
          <p:cNvCxnSpPr/>
          <p:nvPr/>
        </p:nvCxnSpPr>
        <p:spPr>
          <a:xfrm xmlns:a="http://schemas.openxmlformats.org/drawingml/2006/main" rot="5340734" flipH="0" flipV="0">
            <a:off x="10557257" y="4184210"/>
            <a:ext cx="582287" cy="8206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4" name="Connector 27"/>
          <p:cNvCxnSpPr/>
          <p:nvPr/>
        </p:nvCxnSpPr>
        <p:spPr>
          <a:xfrm xmlns:a="http://schemas.openxmlformats.org/drawingml/2006/main" rot="10794364" flipH="0" flipV="0">
            <a:off x="4724340" y="4422189"/>
            <a:ext cx="6124060" cy="8206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5" name="Connector 28"/>
          <p:cNvCxnSpPr/>
          <p:nvPr/>
        </p:nvCxnSpPr>
        <p:spPr>
          <a:xfrm xmlns:a="http://schemas.openxmlformats.org/drawingml/2006/main" rot="-5459265" flipH="0" flipV="0">
            <a:off x="4433196" y="4184210"/>
            <a:ext cx="582287" cy="8206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53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107B1F83-E681-49EC-AA75-BB657CB1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490" y="418782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执行数据回流 · 持续校准模型，驱动经营决策持续升级</a:t>
            </a:r>
            <a:endParaRPr sz="11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4" name="直接连接符 53">
            <a:extLst xmlns:a="http://schemas.openxmlformats.org/drawingml/2006/main">
              <a:ext uri="{FF2B5EF4-FFF2-40B4-BE49-F238E27FC236}">
                <a16:creationId xmlns:a16="http://schemas.microsoft.com/office/drawing/2014/main" id="{D20BA741-7A50-49AD-A26F-D0FAC903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962015"/>
            <a:ext cx="0" cy="81280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0672736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BCCAAA4-7E19-4011-870C-4856E977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7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b5f69dd8649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BC8AB03-4512-4A48-9E9B-BD62FEA6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1134491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平台驱动的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管理角色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转变</a:t>
            </a:r>
            <a:endParaRPr sz="2400" b="1" i="0" u="none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0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5bb8ee96f4d95"/>
          <a:srcRect xmlns:a="http://schemas.openxmlformats.org/drawingml/2006/main" l="367" t="25287" r="-719" b="7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7965" y="1619885"/>
            <a:ext cx="3610610" cy="3819525"/>
          </a:xfrm>
          <a:prstGeom xmlns:a="http://schemas.openxmlformats.org/drawingml/2006/main" prst="rect">
            <a:avLst/>
          </a:prstGeom>
        </p:spPr>
      </p:pic>
      <p:pic>
        <p:nvPicPr>
          <p:cNvPr id="81" name="图片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46f299c2342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8655" y="995045"/>
            <a:ext cx="2530475" cy="1418590"/>
          </a:xfrm>
          <a:prstGeom xmlns:a="http://schemas.openxmlformats.org/drawingml/2006/main" prst="ellipse">
            <a:avLst/>
          </a:prstGeom>
        </p:spPr>
      </p:pic>
      <p:pic>
        <p:nvPicPr>
          <p:cNvPr id="82" name="图片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e991078d342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98310" y="2822575"/>
            <a:ext cx="2944495" cy="1633855"/>
          </a:xfrm>
          <a:prstGeom xmlns:a="http://schemas.openxmlformats.org/drawingml/2006/main" prst="ellipse">
            <a:avLst/>
          </a:prstGeom>
        </p:spPr>
      </p:pic>
      <p:pic>
        <p:nvPicPr>
          <p:cNvPr id="8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a0825500342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9920" y="4924425"/>
            <a:ext cx="2569210" cy="1431925"/>
          </a:xfrm>
          <a:prstGeom xmlns:a="http://schemas.openxmlformats.org/drawingml/2006/main" prst="ellipse">
            <a:avLst/>
          </a:prstGeom>
        </p:spPr>
      </p:pic>
      <p:pic>
        <p:nvPicPr>
          <p:cNvPr id="84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8c3adb51a46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30715" y="4924425"/>
            <a:ext cx="2525395" cy="1426845"/>
          </a:xfrm>
          <a:prstGeom xmlns:a="http://schemas.openxmlformats.org/drawingml/2006/main" prst="ellipse">
            <a:avLst/>
          </a:prstGeom>
        </p:spPr>
      </p:pic>
      <p:pic>
        <p:nvPicPr>
          <p:cNvPr id="85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245fad7fc4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245" y="995045"/>
            <a:ext cx="2662555" cy="1458595"/>
          </a:xfrm>
          <a:prstGeom xmlns:a="http://schemas.openxmlformats.org/drawingml/2006/main" prst="ellipse">
            <a:avLst/>
          </a:prstGeom>
        </p:spPr>
      </p:pic>
      <p:cxnSp>
        <p:nvCxnSpPr>
          <p:cNvPr id="86" name="直接连接符 7"/>
          <p:cNvCxnSpPr>
            <a:stCxn xmlns:a="http://schemas.openxmlformats.org/drawingml/2006/main" id="52" idx="5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6638290" y="2205990"/>
            <a:ext cx="591185" cy="855980"/>
          </a:xfrm>
          <a:prstGeom xmlns:a="http://schemas.openxmlformats.org/drawingml/2006/main" prst="line">
            <a:avLst/>
          </a:prstGeom>
          <a:ln xmlns:a="http://schemas.openxmlformats.org/drawingml/2006/main" w="31750" cap="rnd">
            <a:solidFill>
              <a:schemeClr val="accent1"/>
            </a:solidFill>
            <a:prstDash val="sysDot"/>
            <a:round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87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b1c138d2d45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0910" y="2644775"/>
            <a:ext cx="1299210" cy="1142365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56F77BE-562F-4DE0-8A7B-AA73420B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190" y="2534285"/>
            <a:ext cx="1701800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从"找料"变</a:t>
            </a:r>
            <a:r>
              <a:rPr sz="1000" b="1">
                <a:ln w="15875"/>
                <a:solidFill>
                  <a:srgbClr val="92D050"/>
                </a:solidFill>
              </a:rPr>
              <a:t>"审料"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从"追单"变</a:t>
            </a:r>
            <a:r>
              <a:rPr sz="1000" b="1">
                <a:ln w="15875"/>
                <a:solidFill>
                  <a:srgbClr val="92D050"/>
                </a:solidFill>
              </a:rPr>
              <a:t>"管异常" 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从"建档案"变</a:t>
            </a:r>
            <a:r>
              <a:rPr sz="1000" b="1">
                <a:ln w="15875"/>
                <a:solidFill>
                  <a:srgbClr val="92D050"/>
                </a:solidFill>
              </a:rPr>
              <a:t>"做评估"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从"手工对账"变</a:t>
            </a:r>
            <a:r>
              <a:rPr sz="1000" b="1">
                <a:ln w="15875"/>
                <a:solidFill>
                  <a:srgbClr val="92D050"/>
                </a:solidFill>
              </a:rPr>
              <a:t>"看报告</a:t>
            </a:r>
            <a:r>
              <a:rPr sz="1000">
                <a:ln w="15875"/>
                <a:solidFill>
                  <a:srgbClr val="92D050"/>
                </a:solidFill>
              </a:rPr>
              <a:t>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从"到处询价"变</a:t>
            </a:r>
            <a:r>
              <a:rPr sz="1000" b="1">
                <a:ln w="15875"/>
                <a:solidFill>
                  <a:srgbClr val="92D050"/>
                </a:solidFill>
              </a:rPr>
              <a:t>"谈战略"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sp>
        <p:nvSpPr>
          <p:cNvPr id="20" name="环形箭头 19">
            <a:extLst xmlns:a="http://schemas.openxmlformats.org/drawingml/2006/main">
              <a:ext uri="{FF2B5EF4-FFF2-40B4-BE49-F238E27FC236}">
                <a16:creationId xmlns:a16="http://schemas.microsoft.com/office/drawing/2014/main" id="{90EC7F95-082F-4438-80A3-487F4314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810" y="3761105"/>
            <a:ext cx="1760855" cy="1540510"/>
          </a:xfrm>
          <a:prstGeom xmlns:a="http://schemas.openxmlformats.org/drawingml/2006/main"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 xmlns:a="http://schemas.openxmlformats.org/drawingml/2006/main">
              <a:ext uri="{FF2B5EF4-FFF2-40B4-BE49-F238E27FC236}">
                <a16:creationId xmlns:a16="http://schemas.microsoft.com/office/drawing/2014/main" id="{F60A5DE5-ABA1-48C9-A673-AF1217B7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65170" y="1932305"/>
            <a:ext cx="1588770" cy="1616710"/>
          </a:xfrm>
          <a:prstGeom xmlns:a="http://schemas.openxmlformats.org/drawingml/2006/main"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3" name="右箭头 22">
            <a:extLst xmlns:a="http://schemas.openxmlformats.org/drawingml/2006/main">
              <a:ext uri="{FF2B5EF4-FFF2-40B4-BE49-F238E27FC236}">
                <a16:creationId xmlns:a16="http://schemas.microsoft.com/office/drawing/2014/main" id="{F81D67D2-93DB-45F9-BD16-A65AA6DA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655" y="3429000"/>
            <a:ext cx="969010" cy="389890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环形箭头 23">
            <a:extLst xmlns:a="http://schemas.openxmlformats.org/drawingml/2006/main">
              <a:ext uri="{FF2B5EF4-FFF2-40B4-BE49-F238E27FC236}">
                <a16:creationId xmlns:a16="http://schemas.microsoft.com/office/drawing/2014/main" id="{9E84ED88-519A-43A6-A4F2-F3803BD3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810" y="3787140"/>
            <a:ext cx="1760855" cy="1540510"/>
          </a:xfrm>
          <a:prstGeom xmlns:a="http://schemas.openxmlformats.org/drawingml/2006/main"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  <a:gradFill xmlns:a="http://schemas.openxmlformats.org/drawingml/2006/main"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5" name="环形箭头 24">
            <a:extLst xmlns:a="http://schemas.openxmlformats.org/drawingml/2006/main">
              <a:ext uri="{FF2B5EF4-FFF2-40B4-BE49-F238E27FC236}">
                <a16:creationId xmlns:a16="http://schemas.microsoft.com/office/drawing/2014/main" id="{DDFB0A6F-F315-483B-93E7-1D673AB5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65170" y="1958340"/>
            <a:ext cx="1588770" cy="1616710"/>
          </a:xfrm>
          <a:prstGeom xmlns:a="http://schemas.openxmlformats.org/drawingml/2006/main"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  <a:gradFill xmlns:a="http://schemas.openxmlformats.org/drawingml/2006/main"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6" name="右箭头 25">
            <a:extLst xmlns:a="http://schemas.openxmlformats.org/drawingml/2006/main">
              <a:ext uri="{FF2B5EF4-FFF2-40B4-BE49-F238E27FC236}">
                <a16:creationId xmlns:a16="http://schemas.microsoft.com/office/drawing/2014/main" id="{4339768E-44DB-4C5E-A466-0A3EEB30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655" y="3455035"/>
            <a:ext cx="969010" cy="38989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3BABDCE-64BB-4E51-B900-E84F7592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70" y="2489835"/>
            <a:ext cx="1743075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从"接电话"变</a:t>
            </a:r>
            <a:r>
              <a:rPr sz="1000" b="1">
                <a:ln w="15875"/>
                <a:solidFill>
                  <a:srgbClr val="92D050"/>
                </a:solidFill>
              </a:rPr>
              <a:t>"看推送"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从"催进度"变"</a:t>
            </a:r>
            <a:r>
              <a:rPr sz="1000" b="1">
                <a:ln w="15875"/>
                <a:solidFill>
                  <a:srgbClr val="92D050"/>
                </a:solidFill>
              </a:rPr>
              <a:t>看节点"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从"做报价"变</a:t>
            </a:r>
            <a:r>
              <a:rPr sz="1000" b="1">
                <a:ln w="15875"/>
                <a:solidFill>
                  <a:srgbClr val="92D050"/>
                </a:solidFill>
              </a:rPr>
              <a:t>"审报价"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从"跑客户"变</a:t>
            </a:r>
            <a:r>
              <a:rPr sz="1000" b="1">
                <a:ln w="15875"/>
                <a:solidFill>
                  <a:srgbClr val="92D050"/>
                </a:solidFill>
              </a:rPr>
              <a:t>"做客户经营"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从"凭经验"变</a:t>
            </a:r>
            <a:r>
              <a:rPr sz="1000" b="1">
                <a:ln w="15875"/>
                <a:solidFill>
                  <a:srgbClr val="92D050"/>
                </a:solidFill>
              </a:rPr>
              <a:t>"看预测"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10F3AAD-6DB9-4827-A187-286DAD31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89400"/>
            <a:ext cx="1743075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从"编计划"变</a:t>
            </a:r>
            <a:r>
              <a:rPr sz="1000" b="1">
                <a:ln w="15875"/>
                <a:solidFill>
                  <a:srgbClr val="92D050"/>
                </a:solidFill>
              </a:rPr>
              <a:t>"审计划"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从"盯现场"变</a:t>
            </a:r>
            <a:r>
              <a:rPr sz="1000" b="1">
                <a:ln w="15875"/>
                <a:solidFill>
                  <a:srgbClr val="92D050"/>
                </a:solidFill>
              </a:rPr>
              <a:t>"看大屏"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从"天天开会"变</a:t>
            </a:r>
            <a:r>
              <a:rPr sz="1000" b="1">
                <a:ln w="15875"/>
                <a:solidFill>
                  <a:srgbClr val="92D050"/>
                </a:solidFill>
              </a:rPr>
              <a:t>"开异常会"</a:t>
            </a:r>
            <a:r>
              <a:rPr sz="1000">
                <a:ln w="15875"/>
                <a:solidFill>
                  <a:srgbClr val="92D050"/>
                </a:solidFill>
              </a:rPr>
              <a:t> 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从"手排插单"变</a:t>
            </a:r>
            <a:r>
              <a:rPr sz="1000" b="1">
                <a:ln w="15875"/>
                <a:solidFill>
                  <a:srgbClr val="92D050"/>
                </a:solidFill>
              </a:rPr>
              <a:t>"一键重排"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从"算账"变</a:t>
            </a:r>
            <a:r>
              <a:rPr sz="1000" b="1">
                <a:ln w="15875"/>
                <a:solidFill>
                  <a:srgbClr val="92D050"/>
                </a:solidFill>
              </a:rPr>
              <a:t>"看 </a:t>
            </a:r>
            <a:r>
              <a:rPr sz="1000" b="1">
                <a:ln w="15875"/>
                <a:solidFill>
                  <a:srgbClr val="92D050"/>
                </a:solidFill>
              </a:rPr>
              <a:t>KPI"</a:t>
            </a:r>
            <a:r>
              <a:rPr sz="1000" b="1">
                <a:ln w="15875"/>
                <a:solidFill>
                  <a:srgbClr val="92D050"/>
                </a:solidFill>
              </a:rPr>
              <a:t>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3EDB58EB-E0C8-4909-A4F5-32126E62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780" y="4114165"/>
            <a:ext cx="1845945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从"找货"变</a:t>
            </a:r>
            <a:r>
              <a:rPr sz="1000" b="1">
                <a:ln w="15875"/>
                <a:solidFill>
                  <a:srgbClr val="92D050"/>
                </a:solidFill>
              </a:rPr>
              <a:t>"看任务"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从"人工盘点"变</a:t>
            </a:r>
            <a:r>
              <a:rPr sz="1000" b="1">
                <a:ln w="15875"/>
                <a:solidFill>
                  <a:srgbClr val="92D050"/>
                </a:solidFill>
              </a:rPr>
              <a:t>"审盘点"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从"杂乱排队"变</a:t>
            </a:r>
            <a:r>
              <a:rPr sz="1000" b="1">
                <a:ln w="15875"/>
                <a:solidFill>
                  <a:srgbClr val="92D050"/>
                </a:solidFill>
              </a:rPr>
              <a:t>"自动调度"</a:t>
            </a:r>
            <a:r>
              <a:rPr sz="1000">
                <a:ln w="15875"/>
                <a:solidFill>
                  <a:srgbClr val="92D050"/>
                </a:solidFill>
              </a:rPr>
              <a:t> </a:t>
            </a:r>
            <a:endParaRPr sz="1000">
              <a:ln w="15875"/>
              <a:solidFill>
                <a:srgbClr val="92D050"/>
              </a:solidFill>
            </a:endParaR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D414F3EA-4F75-4378-BE7E-74665800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1075" y="4678680"/>
            <a:ext cx="2065020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从"看报表"变</a:t>
            </a:r>
            <a:r>
              <a:rPr sz="1000" b="1">
                <a:ln w="15875"/>
                <a:solidFill>
                  <a:srgbClr val="92D050"/>
                </a:solidFill>
              </a:rPr>
              <a:t>"看驾驶舱"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从"逐项审批"变</a:t>
            </a:r>
            <a:r>
              <a:rPr sz="1000" b="1">
                <a:ln w="15875"/>
                <a:solidFill>
                  <a:srgbClr val="92D050"/>
                </a:solidFill>
              </a:rPr>
              <a:t>"批例外" 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从"凭经验排兵"变</a:t>
            </a:r>
            <a:r>
              <a:rPr sz="1000" b="1">
                <a:ln w="15875"/>
                <a:solidFill>
                  <a:srgbClr val="92D050"/>
                </a:solidFill>
              </a:rPr>
              <a:t>"看智能建议"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从"盯数字"变</a:t>
            </a:r>
            <a:r>
              <a:rPr sz="1000" b="1">
                <a:ln w="15875"/>
                <a:solidFill>
                  <a:srgbClr val="92D050"/>
                </a:solidFill>
              </a:rPr>
              <a:t>"盯异常" 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从"管执行"变</a:t>
            </a:r>
            <a:r>
              <a:rPr sz="1000" b="1">
                <a:ln w="15875"/>
                <a:solidFill>
                  <a:srgbClr val="92D050"/>
                </a:solidFill>
              </a:rPr>
              <a:t>"管变革"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cxnSp>
        <p:nvCxnSpPr>
          <p:cNvPr id="99" name="直接连接符 32"/>
          <p:cNvCxnSpPr>
            <a:endCxn xmlns:a="http://schemas.openxmlformats.org/drawingml/2006/main" id="53" idx="7"/>
          </p:cNvCxnSpPr>
          <p:nvPr/>
        </p:nvCxnSpPr>
        <p:spPr>
          <a:xfrm xmlns:a="http://schemas.openxmlformats.org/drawingml/2006/main" flipH="1">
            <a:off x="9311640" y="2412365"/>
            <a:ext cx="814070" cy="649605"/>
          </a:xfrm>
          <a:prstGeom xmlns:a="http://schemas.openxmlformats.org/drawingml/2006/main" prst="line">
            <a:avLst/>
          </a:prstGeom>
          <a:ln xmlns:a="http://schemas.openxmlformats.org/drawingml/2006/main" w="31750" cap="rnd">
            <a:solidFill>
              <a:schemeClr val="accent1"/>
            </a:solidFill>
            <a:prstDash val="sysDot"/>
            <a:round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0" name="直接连接符 33"/>
          <p:cNvCxnSpPr>
            <a:stCxn xmlns:a="http://schemas.openxmlformats.org/drawingml/2006/main" id="5" idx="7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V="1">
            <a:off x="6632575" y="4217035"/>
            <a:ext cx="596900" cy="916940"/>
          </a:xfrm>
          <a:prstGeom xmlns:a="http://schemas.openxmlformats.org/drawingml/2006/main" prst="line">
            <a:avLst/>
          </a:prstGeom>
          <a:ln xmlns:a="http://schemas.openxmlformats.org/drawingml/2006/main" w="31750" cap="rnd">
            <a:solidFill>
              <a:schemeClr val="accent1"/>
            </a:solidFill>
            <a:prstDash val="sysDot"/>
            <a:round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1" name="直接连接符 34"/>
          <p:cNvCxnSpPr>
            <a:stCxn xmlns:a="http://schemas.openxmlformats.org/drawingml/2006/main" id="6" idx="1"/>
            <a:endCxn xmlns:a="http://schemas.openxmlformats.org/drawingml/2006/main" id="53" idx="5"/>
          </p:cNvCxnSpPr>
          <p:nvPr/>
        </p:nvCxnSpPr>
        <p:spPr>
          <a:xfrm xmlns:a="http://schemas.openxmlformats.org/drawingml/2006/main" flipH="1" flipV="1">
            <a:off x="9311640" y="4217035"/>
            <a:ext cx="588645" cy="916305"/>
          </a:xfrm>
          <a:prstGeom xmlns:a="http://schemas.openxmlformats.org/drawingml/2006/main" prst="line">
            <a:avLst/>
          </a:prstGeom>
          <a:ln xmlns:a="http://schemas.openxmlformats.org/drawingml/2006/main" w="31750" cap="rnd">
            <a:solidFill>
              <a:schemeClr val="accent1"/>
            </a:solidFill>
            <a:prstDash val="sysDot"/>
            <a:round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378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c7ebd1fcb42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7365"/>
          </a:xfrm>
          <a:prstGeom xmlns:a="http://schemas.openxmlformats.org/drawingml/2006/main" prst="rect">
            <a:avLst/>
          </a:prstGeom>
        </p:spPr>
      </p:pic>
      <p:pic>
        <p:nvPicPr>
          <p:cNvPr id="1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819708df344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85300" y="268605"/>
            <a:ext cx="2336800" cy="2286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pic>
        <p:nvPicPr>
          <p:cNvPr id="2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567cea1e642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630" y="268605"/>
            <a:ext cx="1282065" cy="582930"/>
          </a:xfrm>
          <a:prstGeom xmlns:a="http://schemas.openxmlformats.org/drawingml/2006/main" prst="rect">
            <a:avLst/>
          </a:prstGeom>
        </p:spPr>
      </p:pic>
      <p:sp>
        <p:nvSpPr>
          <p:cNvPr id="5" name="矩形: 圆角 72">
            <a:extLst xmlns:a="http://schemas.openxmlformats.org/drawingml/2006/main">
              <a:ext uri="{FF2B5EF4-FFF2-40B4-BE49-F238E27FC236}">
                <a16:creationId xmlns:a16="http://schemas.microsoft.com/office/drawing/2014/main" id="{70B4B7FA-BB97-40EA-91C7-73F73EA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1132840"/>
            <a:ext cx="851535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/>
                <a:ea typeface="Arial Bold"/>
                <a:cs typeface="Arial Bold"/>
              </a:rPr>
              <a:t>共同</a:t>
            </a: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/>
                <a:ea typeface="Arial Bold"/>
                <a:cs typeface="Arial Bold"/>
              </a:rPr>
              <a:t>愿景</a:t>
            </a:r>
            <a:endParaRPr sz="2400" b="1" i="0" u="none" kern="0" cap="none" spc="0" baseline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/>
              <a:ea typeface="Arial Bold"/>
              <a:cs typeface="Arial Bold"/>
            </a:endParaRPr>
          </a:p>
        </p:txBody>
      </p:sp>
      <p:sp>
        <p:nvSpPr>
          <p:cNvPr id="8" name="矩形: 圆角 73">
            <a:extLst xmlns:a="http://schemas.openxmlformats.org/drawingml/2006/main">
              <a:ext uri="{FF2B5EF4-FFF2-40B4-BE49-F238E27FC236}">
                <a16:creationId xmlns:a16="http://schemas.microsoft.com/office/drawing/2014/main" id="{1CCB5BA5-31E0-41D8-BDE9-5FAF7D4B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1694815"/>
            <a:ext cx="851535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建行业首个</a:t>
            </a: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全流程标杆，创智慧工厂+智能实验室融合范式。</a:t>
            </a:r>
            <a:endParaRPr sz="1800" b="1" i="0" u="none" kern="0" cap="none" spc="0" baseline="0">
              <a:ln>
                <a:noFill/>
              </a:ln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: 圆角 75">
            <a:extLst xmlns:a="http://schemas.openxmlformats.org/drawingml/2006/main">
              <a:ext uri="{FF2B5EF4-FFF2-40B4-BE49-F238E27FC236}">
                <a16:creationId xmlns:a16="http://schemas.microsoft.com/office/drawing/2014/main" id="{62D35161-0EA4-4D36-A120-3BE9EC49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3380740"/>
            <a:ext cx="851408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协同</a:t>
            </a: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价值观</a:t>
            </a:r>
            <a:endParaRPr sz="2400" b="1" i="0" u="none" kern="0" cap="none" spc="0" baseline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: 圆角 76">
            <a:extLst xmlns:a="http://schemas.openxmlformats.org/drawingml/2006/main">
              <a:ext uri="{FF2B5EF4-FFF2-40B4-BE49-F238E27FC236}">
                <a16:creationId xmlns:a16="http://schemas.microsoft.com/office/drawing/2014/main" id="{8ACA7C57-F030-440C-9996-9624D99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3942715"/>
            <a:ext cx="851408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="1" i="0" u="none" cap="none" spc="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安全零事故、进度零失控、质量零妥协、沟通零障碍、知识零保留</a:t>
            </a:r>
            <a:endParaRPr b="1" i="0" u="none" kern="0" cap="none" spc="0" baseline="0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: 圆角 78">
            <a:extLst xmlns:a="http://schemas.openxmlformats.org/drawingml/2006/main">
              <a:ext uri="{FF2B5EF4-FFF2-40B4-BE49-F238E27FC236}">
                <a16:creationId xmlns:a16="http://schemas.microsoft.com/office/drawing/2014/main" id="{2EF5CF26-8F5B-4C7B-AA52-173B6C06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2256790"/>
            <a:ext cx="851535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/>
                <a:ea typeface="Arial Bold"/>
                <a:cs typeface="Arial Bold"/>
              </a:rPr>
              <a:t>初心</a:t>
            </a: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/>
                <a:ea typeface="Arial Bold"/>
                <a:cs typeface="Arial Bold"/>
              </a:rPr>
              <a:t>使命</a:t>
            </a:r>
            <a:endParaRPr sz="2400" b="1" i="0" u="none" kern="0" cap="none" spc="0" baseline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/>
              <a:ea typeface="Arial Bold"/>
              <a:cs typeface="Arial Bold"/>
            </a:endParaRPr>
          </a:p>
        </p:txBody>
      </p:sp>
      <p:sp>
        <p:nvSpPr>
          <p:cNvPr id="14" name="矩形: 圆角 79">
            <a:extLst xmlns:a="http://schemas.openxmlformats.org/drawingml/2006/main">
              <a:ext uri="{FF2B5EF4-FFF2-40B4-BE49-F238E27FC236}">
                <a16:creationId xmlns:a16="http://schemas.microsoft.com/office/drawing/2014/main" id="{5DDAD909-1D5E-4F9F-8134-0B8FD0AE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2818765"/>
            <a:ext cx="851535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让工艺更精准、让质量更可控、让运营更高效、让人员更轻松</a:t>
            </a:r>
            <a:endParaRPr sz="1800" b="1" i="0" u="none" kern="0" cap="none" spc="0" baseline="0">
              <a:ln>
                <a:noFill/>
              </a:ln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10475655"/>
      </p:ext>
    </p:extLst>
  </p:cSld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2026-09-02T02:54:45.0120000Z</dcterms:created>
  <dcterms:modified xsi:type="dcterms:W3CDTF">2026-09-02T02:54:45.0120000Z</dcterms:modified>
</coreProperties>
</file>