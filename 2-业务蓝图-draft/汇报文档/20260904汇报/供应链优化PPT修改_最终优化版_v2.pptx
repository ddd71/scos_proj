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1.svg" ContentType="image/svg+xml"/>
  <Override PartName="/ppt/media/image12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4" r:id="rId4"/>
    <p:sldMasterId id="2147483664" r:id="rId5"/>
    <p:sldMasterId id="2147483667" r:id="rId6"/>
    <p:sldMasterId id="2147483670" r:id="rId7"/>
    <p:sldMasterId id="2147483673" r:id="rId8"/>
    <p:sldMasterId id="2147483676" r:id="rId9"/>
    <p:sldMasterId id="2147483679" r:id="rId10"/>
    <p:sldMasterId id="2147483682" r:id="rId11"/>
    <p:sldMasterId id="2147483685" r:id="rId12"/>
    <p:sldMasterId id="2147483688" r:id="rId13"/>
    <p:sldMasterId id="2147483691" r:id="rId14"/>
    <p:sldMasterId id="2147483694" r:id="rId15"/>
  </p:sldMasterIdLst>
  <p:notesMasterIdLst>
    <p:notesMasterId r:id="rId17"/>
  </p:notesMasterIdLst>
  <p:sldIdLst>
    <p:sldId id="256" r:id="rId16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1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3.xml"/><Relationship Id="rId28" Type="http://schemas.openxmlformats.org/officeDocument/2006/relationships/slide" Target="slides/slide12.xml"/><Relationship Id="rId27" Type="http://schemas.openxmlformats.org/officeDocument/2006/relationships/slide" Target="slides/slide11.xml"/><Relationship Id="rId26" Type="http://schemas.openxmlformats.org/officeDocument/2006/relationships/slide" Target="slides/slide10.xml"/><Relationship Id="rId25" Type="http://schemas.openxmlformats.org/officeDocument/2006/relationships/slide" Target="slides/slide9.xml"/><Relationship Id="rId24" Type="http://schemas.openxmlformats.org/officeDocument/2006/relationships/slide" Target="slides/slide8.xml"/><Relationship Id="rId23" Type="http://schemas.openxmlformats.org/officeDocument/2006/relationships/slide" Target="slides/slide7.xml"/><Relationship Id="rId22" Type="http://schemas.openxmlformats.org/officeDocument/2006/relationships/slide" Target="slides/slide6.xml"/><Relationship Id="rId21" Type="http://schemas.openxmlformats.org/officeDocument/2006/relationships/slide" Target="slides/slide5.xml"/><Relationship Id="rId20" Type="http://schemas.openxmlformats.org/officeDocument/2006/relationships/slide" Target="slides/slide4.xml"/><Relationship Id="rId2" Type="http://schemas.openxmlformats.org/officeDocument/2006/relationships/theme" Target="theme/theme1.xml"/><Relationship Id="rId19" Type="http://schemas.openxmlformats.org/officeDocument/2006/relationships/slide" Target="slides/slide3.xml"/><Relationship Id="rId18" Type="http://schemas.openxmlformats.org/officeDocument/2006/relationships/slide" Target="slides/slide2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
[Sources]
- 供应链优化PPT修改.pptx（页7-10输入、模型、输出与价值；页2原始提要）
- 本页图片为基于原稿工业科技风格重新生成的视觉素材，不直接复用原稿其他页图片。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
[Sources]
- 供应链优化PPT修改.pptx（页12数据—模型—应用—反馈闭环；页13管理角色转变及中粮工服风格参考）
- 本页图片为基于页13服饰风格重新生成的中国员工场景，不直接复用原稿其他页图片；图片不含可读品牌文字。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
[Sources]
- 供应链优化PPT修改.pptx（页4量化指标提要；页12-13价值逻辑）
- 本页图片为基于原稿工业科技风格重新生成的视觉素材，不直接复用原稿其他页图片。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1" y="1512888"/>
            <a:ext cx="7913565" cy="2387600"/>
          </a:xfrm>
        </p:spPr>
        <p:txBody>
          <a:bodyPr anchor="b">
            <a:normAutofit/>
          </a:bodyPr>
          <a:lstStyle>
            <a:lvl1pPr algn="l">
              <a:buNone/>
              <a:defRPr sz="5400">
                <a:solidFill>
                  <a:schemeClr val="tx1"/>
                </a:solidFill>
              </a:defRPr>
            </a:lvl1pPr>
          </a:lstStyle>
          <a:p>
            <a:r>
              <a:t>Click to edit Master title style 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60401" y="3992563"/>
            <a:ext cx="7913565" cy="931862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>
                    <a:alpha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0" hasCustomPrompt="1"/>
          </p:nvPr>
        </p:nvSpPr>
        <p:spPr>
          <a:xfrm>
            <a:off x="7867649" y="6109859"/>
            <a:ext cx="3651251" cy="180659"/>
          </a:xfrm>
        </p:spPr>
        <p:txBody>
          <a:bodyPr vert="horz" wrap="none" lIns="91440" tIns="45720" rIns="91440" bIns="45720" anchor="ctr">
            <a:noAutofit/>
          </a:bodyPr>
          <a:lstStyle>
            <a:lvl1pPr marL="0" indent="0" algn="r">
              <a:buNone/>
              <a:defRPr sz="1000" b="0">
                <a:ln>
                  <a:noFill/>
                </a:ln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228600" lvl="0" indent="-228600" algn="r">
              <a:spcBef>
                <a:spcPct val="0"/>
              </a:spcBef>
              <a:buNone/>
            </a:pPr>
            <a:r>
              <a:t>Speaker name and title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1" hasCustomPrompt="1"/>
          </p:nvPr>
        </p:nvSpPr>
        <p:spPr>
          <a:xfrm>
            <a:off x="673100" y="6109859"/>
            <a:ext cx="3651251" cy="180659"/>
          </a:xfrm>
        </p:spPr>
        <p:txBody>
          <a:bodyPr vert="horz" wrap="none" lIns="91440" tIns="45720" rIns="91440" bIns="45720" anchor="ctr">
            <a:noAutofit/>
          </a:bodyPr>
          <a:lstStyle>
            <a:lvl1pPr marL="0" indent="0" algn="l">
              <a:buNone/>
              <a:defRPr sz="1000" b="0">
                <a:ln>
                  <a:noFill/>
                </a:ln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indent="0">
              <a:buNone/>
            </a:pPr>
            <a:r>
              <a:t>OfficePLUS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/>
      <p:sp>
        <p:nvSpPr>
          <p:cNvPr id="9" name="椭圆 8"/>
          <p:cNvSpPr>
            <a:spLocks noGrp="1"/>
          </p:cNvSpPr>
          <p:nvPr/>
        </p:nvSpPr>
        <p:spPr>
          <a:xfrm>
            <a:off x="-734169" y="5676332"/>
            <a:ext cx="2363334" cy="2363334"/>
          </a:xfrm>
          <a:prstGeom prst="ellipse">
            <a:avLst/>
          </a:prstGeom>
          <a:noFill/>
          <a:ln w="635000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弧形 9"/>
          <p:cNvSpPr>
            <a:spLocks noGrp="1"/>
          </p:cNvSpPr>
          <p:nvPr/>
        </p:nvSpPr>
        <p:spPr>
          <a:xfrm>
            <a:off x="-1897579" y="4512922"/>
            <a:ext cx="4690154" cy="4690154"/>
          </a:xfrm>
          <a:prstGeom prst="arc">
            <a:avLst>
              <a:gd name="adj1" fmla="val 12847544"/>
              <a:gd name="adj2" fmla="val 16719650"/>
            </a:avLst>
          </a:prstGeom>
          <a:noFill/>
          <a:ln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弧形 5"/>
          <p:cNvSpPr>
            <a:spLocks noGrp="1"/>
          </p:cNvSpPr>
          <p:nvPr/>
        </p:nvSpPr>
        <p:spPr>
          <a:xfrm rot="1366892">
            <a:off x="-2998951" y="3411550"/>
            <a:ext cx="6892898" cy="6892898"/>
          </a:xfrm>
          <a:prstGeom prst="arc">
            <a:avLst>
              <a:gd name="adj1" fmla="val 11885142"/>
              <a:gd name="adj2" fmla="val 18112891"/>
            </a:avLst>
          </a:prstGeom>
          <a:noFill/>
          <a:ln w="635000">
            <a:solidFill>
              <a:schemeClr val="accent5">
                <a:lumMod val="50000"/>
                <a:lumOff val="50000"/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</a:p>
        </p:txBody>
      </p:sp>
      <p:sp>
        <p:nvSpPr>
          <p:cNvPr id="7" name="弧形 6"/>
          <p:cNvSpPr>
            <a:spLocks noGrp="1"/>
          </p:cNvSpPr>
          <p:nvPr/>
        </p:nvSpPr>
        <p:spPr>
          <a:xfrm rot="12480051">
            <a:off x="-4411160" y="1999341"/>
            <a:ext cx="9717317" cy="9717317"/>
          </a:xfrm>
          <a:prstGeom prst="arc">
            <a:avLst>
              <a:gd name="adj1" fmla="val 885225"/>
              <a:gd name="adj2" fmla="val 7131830"/>
            </a:avLst>
          </a:prstGeom>
          <a:noFill/>
          <a:ln w="635000">
            <a:solidFill>
              <a:schemeClr val="accent5">
                <a:lumMod val="50000"/>
                <a:lumOff val="50000"/>
                <a:alpha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弧形 7"/>
          <p:cNvSpPr>
            <a:spLocks noGrp="1"/>
          </p:cNvSpPr>
          <p:nvPr/>
        </p:nvSpPr>
        <p:spPr>
          <a:xfrm rot="515952">
            <a:off x="-5935416" y="475085"/>
            <a:ext cx="12765829" cy="12765829"/>
          </a:xfrm>
          <a:prstGeom prst="arc">
            <a:avLst>
              <a:gd name="adj1" fmla="val 12663326"/>
              <a:gd name="adj2" fmla="val 18984605"/>
            </a:avLst>
          </a:prstGeom>
          <a:noFill/>
          <a:ln w="635000">
            <a:solidFill>
              <a:schemeClr val="accent5">
                <a:lumMod val="50000"/>
                <a:lumOff val="50000"/>
                <a:alpha val="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11010332" y="-762568"/>
            <a:ext cx="2363334" cy="2363334"/>
          </a:xfrm>
          <a:prstGeom prst="ellipse">
            <a:avLst/>
          </a:prstGeom>
          <a:noFill/>
          <a:ln w="635000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弧形 18"/>
          <p:cNvSpPr>
            <a:spLocks noGrp="1"/>
          </p:cNvSpPr>
          <p:nvPr/>
        </p:nvSpPr>
        <p:spPr>
          <a:xfrm>
            <a:off x="9846922" y="-1925978"/>
            <a:ext cx="4690154" cy="4690154"/>
          </a:xfrm>
          <a:prstGeom prst="arc">
            <a:avLst>
              <a:gd name="adj1" fmla="val 8681123"/>
              <a:gd name="adj2" fmla="val 9359850"/>
            </a:avLst>
          </a:prstGeom>
          <a:noFill/>
          <a:ln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弧形 19"/>
          <p:cNvSpPr>
            <a:spLocks noGrp="1"/>
          </p:cNvSpPr>
          <p:nvPr/>
        </p:nvSpPr>
        <p:spPr>
          <a:xfrm rot="12480051">
            <a:off x="9846922" y="-1925978"/>
            <a:ext cx="4690154" cy="4690154"/>
          </a:xfrm>
          <a:prstGeom prst="arc">
            <a:avLst>
              <a:gd name="adj1" fmla="val 11969093"/>
              <a:gd name="adj2" fmla="val 16719650"/>
            </a:avLst>
          </a:prstGeom>
          <a:noFill/>
          <a:ln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弧形 20"/>
          <p:cNvSpPr>
            <a:spLocks noGrp="1"/>
          </p:cNvSpPr>
          <p:nvPr/>
        </p:nvSpPr>
        <p:spPr>
          <a:xfrm rot="12480051">
            <a:off x="8745550" y="-3027350"/>
            <a:ext cx="6892898" cy="6892898"/>
          </a:xfrm>
          <a:prstGeom prst="arc">
            <a:avLst>
              <a:gd name="adj1" fmla="val 11997002"/>
              <a:gd name="adj2" fmla="val 18351143"/>
            </a:avLst>
          </a:prstGeom>
          <a:noFill/>
          <a:ln w="635000">
            <a:solidFill>
              <a:schemeClr val="accent5">
                <a:lumMod val="50000"/>
                <a:lumOff val="50000"/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</a:p>
        </p:txBody>
      </p:sp>
      <p:sp>
        <p:nvSpPr>
          <p:cNvPr id="16" name="弧形 15"/>
          <p:cNvSpPr>
            <a:spLocks noGrp="1"/>
          </p:cNvSpPr>
          <p:nvPr/>
        </p:nvSpPr>
        <p:spPr>
          <a:xfrm rot="12480051">
            <a:off x="7333341" y="-4439559"/>
            <a:ext cx="9717317" cy="9717317"/>
          </a:xfrm>
          <a:prstGeom prst="arc">
            <a:avLst>
              <a:gd name="adj1" fmla="val 11968596"/>
              <a:gd name="adj2" fmla="val 18131595"/>
            </a:avLst>
          </a:prstGeom>
          <a:noFill/>
          <a:ln w="635000">
            <a:solidFill>
              <a:schemeClr val="accent5">
                <a:lumMod val="50000"/>
                <a:lumOff val="50000"/>
                <a:alpha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57448" y="3015885"/>
            <a:ext cx="5677105" cy="693823"/>
          </a:xfrm>
        </p:spPr>
        <p:txBody>
          <a:bodyPr anchor="b">
            <a:normAutofit/>
          </a:bodyPr>
          <a:lstStyle>
            <a:lvl1pPr algn="ctr">
              <a:buNone/>
              <a:defRPr sz="24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257448" y="3736693"/>
            <a:ext cx="5677105" cy="965763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200">
                <a:solidFill>
                  <a:schemeClr val="tx1">
                    <a:tint val="75000"/>
                    <a:alpha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title style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idx="10" hasCustomPrompt="1"/>
          </p:nvPr>
        </p:nvSpPr>
        <p:spPr>
          <a:xfrm>
            <a:off x="271003" y="367812"/>
            <a:ext cx="1043876" cy="830164"/>
          </a:xfrm>
        </p:spPr>
        <p:txBody>
          <a:bodyPr wrap="none">
            <a:spAutoFit/>
          </a:bodyPr>
          <a:lstStyle>
            <a:lvl1pPr indent="0" algn="ctr">
              <a:lnSpc>
                <a:spcPct val="120000"/>
              </a:lnSpc>
              <a:buFontTx/>
              <a:buNone/>
              <a:defRPr sz="4400" b="1">
                <a:solidFill>
                  <a:schemeClr val="tx1"/>
                </a:solidFill>
              </a:defRPr>
            </a:lvl1pPr>
            <a:lvl2pPr indent="0">
              <a:lnSpc>
                <a:spcPct val="120000"/>
              </a:lnSpc>
              <a:buFontTx/>
              <a:buNone/>
              <a:defRPr/>
            </a:lvl2pPr>
            <a:lvl3pPr indent="0">
              <a:lnSpc>
                <a:spcPct val="120000"/>
              </a:lnSpc>
              <a:buFontTx/>
              <a:buNone/>
              <a:defRPr/>
            </a:lvl3pPr>
            <a:lvl4pPr indent="0">
              <a:lnSpc>
                <a:spcPct val="120000"/>
              </a:lnSpc>
              <a:buFontTx/>
              <a:buNone/>
              <a:defRPr/>
            </a:lvl4pPr>
            <a:lvl5pPr indent="0">
              <a:lnSpc>
                <a:spcPct val="120000"/>
              </a:lnSpc>
              <a:buFontTx/>
              <a:buNone/>
              <a:defRPr/>
            </a:lvl5pPr>
          </a:lstStyle>
          <a:p>
            <a:pPr lvl="0">
              <a:buNone/>
            </a:pPr>
            <a:r>
              <a:t>01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6" name="日期占位符 5"/>
          <p:cNvSpPr>
            <a:spLocks noGrp="1"/>
          </p:cNvSpPr>
          <p:nvPr>
            <p:ph type="dt" idx="10"/>
          </p:nvPr>
        </p:nvSpPr>
        <p:spPr>
          <a:xfrm>
            <a:off x="5401732" y="6235704"/>
            <a:ext cx="1388536" cy="206381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页脚占位符 6"/>
          <p:cNvSpPr>
            <a:spLocks noGrp="1"/>
          </p:cNvSpPr>
          <p:nvPr>
            <p:ph type="ftr" idx="11"/>
          </p:nvPr>
        </p:nvSpPr>
        <p:spPr>
          <a:xfrm>
            <a:off x="660402" y="6235704"/>
            <a:ext cx="4140201" cy="206381"/>
          </a:xfrm>
          <a:prstGeom prst="rect">
            <a:avLst/>
          </a:prstGeom>
        </p:spPr>
        <p:txBody>
          <a:bodyPr/>
          <a:lstStyle/>
          <a:p>
            <a:r>
              <a:t>请在插入菜单</a:t>
            </a:r>
            <a:r>
              <a:t>—</a:t>
            </a:r>
            <a:r>
              <a:t>页眉和页脚中修改此文本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idx="12"/>
          </p:nvPr>
        </p:nvSpPr>
        <p:spPr>
          <a:xfrm>
            <a:off x="8971305" y="6235704"/>
            <a:ext cx="2547595" cy="206381"/>
          </a:xfrm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末尾幻灯片">
    <p:spTree>
      <p:nvGrpSpPr>
        <p:cNvPr id="1" name=""/>
        <p:cNvGrpSpPr/>
        <p:nvPr/>
      </p:nvGrpSpPr>
      <p:grpSpPr/>
      <p:sp>
        <p:nvSpPr>
          <p:cNvPr id="11" name="任意多边形: 形状 10"/>
          <p:cNvSpPr>
            <a:spLocks noGrp="1"/>
          </p:cNvSpPr>
          <p:nvPr/>
        </p:nvSpPr>
        <p:spPr>
          <a:xfrm>
            <a:off x="12191318" y="0"/>
            <a:ext cx="684" cy="13546"/>
          </a:xfrm>
          <a:custGeom>
            <a:avLst/>
            <a:gdLst>
              <a:gd name="connsiteX0" fmla="*/ 0 w 684"/>
              <a:gd name="connsiteY0" fmla="*/ 0 h 13546"/>
              <a:gd name="connsiteX1" fmla="*/ 684 w 684"/>
              <a:gd name="connsiteY1" fmla="*/ 0 h 13546"/>
              <a:gd name="connsiteX2" fmla="*/ 684 w 684"/>
              <a:gd name="connsiteY2" fmla="*/ 13546 h 13546"/>
              <a:gd name="connsiteX3" fmla="*/ 0 w 684"/>
              <a:gd name="connsiteY3" fmla="*/ 0 h 13546"/>
            </a:gdLst>
            <a:ahLst/>
            <a:cxnLst/>
            <a:rect l="l" t="t" r="r" b="b"/>
            <a:pathLst>
              <a:path w="684" h="13546">
                <a:moveTo>
                  <a:pt x="0" y="0"/>
                </a:moveTo>
                <a:lnTo>
                  <a:pt x="684" y="0"/>
                </a:lnTo>
                <a:lnTo>
                  <a:pt x="684" y="1354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4015">
            <a:noFill/>
            <a:prstDash val="solid"/>
          </a:ln>
        </p:spPr>
        <p:txBody>
          <a:bodyPr wrap="square" anchor="ctr">
            <a:noAutofit/>
          </a:bodyPr>
          <a:lstStyle/>
          <a:p>
            <a:endParaRPr sz="1800">
              <a:solidFill>
                <a:schemeClr val="tx1"/>
              </a:solidFill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1" hasCustomPrompt="1"/>
          </p:nvPr>
        </p:nvSpPr>
        <p:spPr>
          <a:xfrm>
            <a:off x="6769100" y="5255017"/>
            <a:ext cx="4843552" cy="258532"/>
          </a:xfrm>
        </p:spPr>
        <p:txBody>
          <a:bodyPr vert="horz" wrap="square" lIns="91440" tIns="45720" rIns="91440" bIns="45720" anchor="ctr">
            <a:spAutoFit/>
          </a:bodyPr>
          <a:lstStyle>
            <a:lvl1pPr marL="0" indent="0" algn="l">
              <a:buNone/>
              <a:defRPr sz="1200" b="0">
                <a:ln>
                  <a:noFill/>
                </a:ln>
                <a:latin typeface="+mj-lt"/>
                <a:ea typeface="+mj-lt"/>
                <a:cs typeface="+mj-lt"/>
              </a:defRPr>
            </a:lvl1pPr>
          </a:lstStyle>
          <a:p>
            <a:pPr marL="0" indent="0">
              <a:buNone/>
            </a:pPr>
            <a:r>
              <a:t>Signature</a:t>
            </a:r>
          </a:p>
        </p:txBody>
      </p:sp>
      <p:sp>
        <p:nvSpPr>
          <p:cNvPr id="27" name="文本占位符 26"/>
          <p:cNvSpPr>
            <a:spLocks noGrp="1"/>
          </p:cNvSpPr>
          <p:nvPr>
            <p:ph type="body" idx="12" hasCustomPrompt="1"/>
          </p:nvPr>
        </p:nvSpPr>
        <p:spPr>
          <a:xfrm>
            <a:off x="6769100" y="5513549"/>
            <a:ext cx="4843552" cy="258532"/>
          </a:xfrm>
        </p:spPr>
        <p:txBody>
          <a:bodyPr vert="horz" wrap="square" lIns="91440" tIns="45720" rIns="91440" bIns="45720" anchor="ctr">
            <a:spAutoFit/>
          </a:bodyPr>
          <a:lstStyle>
            <a:lvl1pPr marL="0" indent="0" algn="l">
              <a:buNone/>
              <a:defRPr sz="1200" b="0">
                <a:ln>
                  <a:noFill/>
                </a:ln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6769100" y="3247008"/>
            <a:ext cx="4843552" cy="1137671"/>
          </a:xfrm>
        </p:spPr>
        <p:txBody>
          <a:bodyPr anchor="b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400" b="1"/>
            </a:lvl1pPr>
          </a:lstStyle>
          <a:p>
            <a:pPr lvl="0">
              <a:buNone/>
            </a:pPr>
            <a:r>
              <a:t>Thank you</a:t>
            </a: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 flipH="1">
            <a:off x="-18207422" y="2065340"/>
            <a:ext cx="2363334" cy="2363334"/>
          </a:xfrm>
          <a:prstGeom prst="ellipse">
            <a:avLst/>
          </a:prstGeom>
          <a:noFill/>
          <a:ln w="635000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弧形 12"/>
          <p:cNvSpPr>
            <a:spLocks noGrp="1"/>
          </p:cNvSpPr>
          <p:nvPr/>
        </p:nvSpPr>
        <p:spPr>
          <a:xfrm flipH="1">
            <a:off x="-17044012" y="901930"/>
            <a:ext cx="4690154" cy="4690154"/>
          </a:xfrm>
          <a:prstGeom prst="arc">
            <a:avLst>
              <a:gd name="adj1" fmla="val 8681123"/>
              <a:gd name="adj2" fmla="val 14615283"/>
            </a:avLst>
          </a:prstGeom>
          <a:noFill/>
          <a:ln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弧形 13"/>
          <p:cNvSpPr>
            <a:spLocks noGrp="1"/>
          </p:cNvSpPr>
          <p:nvPr/>
        </p:nvSpPr>
        <p:spPr>
          <a:xfrm rot="12480051" flipH="1">
            <a:off x="-17044012" y="901930"/>
            <a:ext cx="4690154" cy="4690154"/>
          </a:xfrm>
          <a:prstGeom prst="arc">
            <a:avLst>
              <a:gd name="adj1" fmla="val 5884870"/>
              <a:gd name="adj2" fmla="val 16719650"/>
            </a:avLst>
          </a:prstGeom>
          <a:noFill/>
          <a:ln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弧形 14"/>
          <p:cNvSpPr>
            <a:spLocks noGrp="1"/>
          </p:cNvSpPr>
          <p:nvPr/>
        </p:nvSpPr>
        <p:spPr>
          <a:xfrm rot="12480051" flipH="1">
            <a:off x="-15942640" y="-199442"/>
            <a:ext cx="6892898" cy="6892898"/>
          </a:xfrm>
          <a:prstGeom prst="arc">
            <a:avLst>
              <a:gd name="adj1" fmla="val 11003651"/>
              <a:gd name="adj2" fmla="val 20655375"/>
            </a:avLst>
          </a:prstGeom>
          <a:noFill/>
          <a:ln w="635000">
            <a:solidFill>
              <a:schemeClr val="accent5">
                <a:lumMod val="50000"/>
                <a:lumOff val="50000"/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</a:p>
        </p:txBody>
      </p:sp>
      <p:sp>
        <p:nvSpPr>
          <p:cNvPr id="8" name="弧形 7"/>
          <p:cNvSpPr>
            <a:spLocks noGrp="1"/>
          </p:cNvSpPr>
          <p:nvPr/>
        </p:nvSpPr>
        <p:spPr>
          <a:xfrm rot="1366892" flipH="1">
            <a:off x="-15942640" y="-199442"/>
            <a:ext cx="6892898" cy="6892898"/>
          </a:xfrm>
          <a:prstGeom prst="arc">
            <a:avLst>
              <a:gd name="adj1" fmla="val 17964632"/>
              <a:gd name="adj2" fmla="val 20655375"/>
            </a:avLst>
          </a:prstGeom>
          <a:noFill/>
          <a:ln w="635000">
            <a:gradFill>
              <a:gsLst>
                <a:gs pos="0">
                  <a:schemeClr val="accent6"/>
                </a:gs>
                <a:gs pos="100000">
                  <a:schemeClr val="accent6">
                    <a:alpha val="50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弧形 8"/>
          <p:cNvSpPr>
            <a:spLocks noGrp="1"/>
          </p:cNvSpPr>
          <p:nvPr/>
        </p:nvSpPr>
        <p:spPr>
          <a:xfrm rot="12480051" flipH="1">
            <a:off x="-14530431" y="-1611651"/>
            <a:ext cx="9717317" cy="9717317"/>
          </a:xfrm>
          <a:prstGeom prst="arc">
            <a:avLst>
              <a:gd name="adj1" fmla="val 11003651"/>
              <a:gd name="adj2" fmla="val 17440526"/>
            </a:avLst>
          </a:prstGeom>
          <a:noFill/>
          <a:ln w="635000">
            <a:solidFill>
              <a:schemeClr val="accent5">
                <a:lumMod val="50000"/>
                <a:lumOff val="50000"/>
                <a:alpha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</a:p>
        </p:txBody>
      </p:sp>
      <p:sp>
        <p:nvSpPr>
          <p:cNvPr id="10" name="弧形 9"/>
          <p:cNvSpPr>
            <a:spLocks noGrp="1"/>
          </p:cNvSpPr>
          <p:nvPr/>
        </p:nvSpPr>
        <p:spPr>
          <a:xfrm rot="515952" flipH="1">
            <a:off x="-13006175" y="-3135907"/>
            <a:ext cx="12765829" cy="12765829"/>
          </a:xfrm>
          <a:prstGeom prst="arc">
            <a:avLst>
              <a:gd name="adj1" fmla="val 2152946"/>
              <a:gd name="adj2" fmla="val 6967338"/>
            </a:avLst>
          </a:prstGeom>
          <a:noFill/>
          <a:ln w="635000">
            <a:solidFill>
              <a:schemeClr val="accent5">
                <a:lumMod val="50000"/>
                <a:lumOff val="50000"/>
                <a:alpha val="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请在插入菜单</a:t>
            </a:r>
            <a:r>
              <a:t>—</a:t>
            </a:r>
            <a:r>
              <a:t>页眉和页脚中修改此文本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6_节标题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/>
      <p:sp>
        <p:nvSpPr>
          <p:cNvPr id="4" name="文本框 3"/>
          <p:cNvSpPr>
            <a:spLocks noGrp="1"/>
          </p:cNvSpPr>
          <p:nvPr/>
        </p:nvSpPr>
        <p:spPr>
          <a:xfrm>
            <a:off x="8617585" y="2071370"/>
            <a:ext cx="3098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0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theme" Target="../theme/theme13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theme" Target="../theme/theme1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10" name="日期占位符 9"/>
          <p:cNvSpPr>
            <a:spLocks noGrp="1"/>
          </p:cNvSpPr>
          <p:nvPr>
            <p:ph type="dt" idx="2"/>
          </p:nvPr>
        </p:nvSpPr>
        <p:spPr>
          <a:xfrm>
            <a:off x="5401732" y="6235704"/>
            <a:ext cx="1388536" cy="20638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11" name="页脚占位符 10"/>
          <p:cNvSpPr>
            <a:spLocks noGrp="1"/>
          </p:cNvSpPr>
          <p:nvPr>
            <p:ph type="ftr" idx="3"/>
          </p:nvPr>
        </p:nvSpPr>
        <p:spPr>
          <a:xfrm>
            <a:off x="660402" y="6235704"/>
            <a:ext cx="4140201" cy="20638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t>请在插入菜单</a:t>
            </a:r>
            <a:r>
              <a:t>—</a:t>
            </a:r>
            <a:r>
              <a:t>页眉和页脚中修改此文本</a:t>
            </a:r>
          </a:p>
        </p:txBody>
      </p:sp>
      <p:sp>
        <p:nvSpPr>
          <p:cNvPr id="12" name="灯片编号占位符 11"/>
          <p:cNvSpPr>
            <a:spLocks noGrp="1"/>
          </p:cNvSpPr>
          <p:nvPr>
            <p:ph type="sldNum" idx="4"/>
          </p:nvPr>
        </p:nvSpPr>
        <p:spPr>
          <a:xfrm>
            <a:off x="8971305" y="6235704"/>
            <a:ext cx="2547595" cy="20638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0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2.xml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4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24.xml"/><Relationship Id="rId6" Type="http://schemas.openxmlformats.org/officeDocument/2006/relationships/image" Target="../media/image12.svg"/><Relationship Id="rId5" Type="http://schemas.openxmlformats.org/officeDocument/2006/relationships/image" Target="../media/image3.png"/><Relationship Id="rId4" Type="http://schemas.openxmlformats.org/officeDocument/2006/relationships/image" Target="../media/image11.svg"/><Relationship Id="rId3" Type="http://schemas.openxmlformats.org/officeDocument/2006/relationships/image" Target="../media/image2.png"/><Relationship Id="rId2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26.xml"/><Relationship Id="rId7" Type="http://schemas.openxmlformats.org/officeDocument/2006/relationships/image" Target="../media/image16.svg"/><Relationship Id="rId6" Type="http://schemas.openxmlformats.org/officeDocument/2006/relationships/image" Target="../media/image6.png"/><Relationship Id="rId5" Type="http://schemas.openxmlformats.org/officeDocument/2006/relationships/image" Target="../media/image15.svg"/><Relationship Id="rId4" Type="http://schemas.openxmlformats.org/officeDocument/2006/relationships/image" Target="../media/image5.png"/><Relationship Id="rId3" Type="http://schemas.openxmlformats.org/officeDocument/2006/relationships/image" Target="../media/image14.sv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.xml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9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5070313" y="746125"/>
            <a:ext cx="8856429" cy="6642322"/>
          </a:xfrm>
          <a:prstGeom prst="rect">
            <a:avLst/>
          </a:prstGeom>
        </p:spPr>
      </p:pic>
      <p:sp>
        <p:nvSpPr>
          <p:cNvPr id="2" name="AutoShape 2"/>
          <p:cNvSpPr>
            <a:spLocks noGrp="1"/>
          </p:cNvSpPr>
          <p:nvPr/>
        </p:nvSpPr>
        <p:spPr>
          <a:xfrm>
            <a:off x="11087100" y="4127500"/>
            <a:ext cx="4064000" cy="3683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88900" tIns="50800" rIns="88900" bIns="50800" anchor="t"/>
          <a:lstStyle/>
          <a:p>
            <a:pPr algn="l">
              <a:buNone/>
            </a:pPr>
            <a:endParaRPr sz="1400"/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558800" y="2489200"/>
            <a:ext cx="7112000" cy="4191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569E5">
                  <a:alpha val="100000"/>
                </a:srgbClr>
              </a:gs>
              <a:gs pos="100000">
                <a:srgbClr val="000000">
                  <a:alpha val="0"/>
                </a:srgbClr>
              </a:gs>
            </a:gsLst>
            <a:lin ang="0"/>
          </a:gra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 sz="1400"/>
          </a:p>
        </p:txBody>
      </p:sp>
      <p:pic>
        <p:nvPicPr>
          <p:cNvPr id="22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385300" y="268605"/>
            <a:ext cx="2336800" cy="2286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pic>
        <p:nvPicPr>
          <p:cNvPr id="23" name="Picture 8"/>
          <p:cNvPicPr>
            <a:picLocks noChangeAspect="1"/>
          </p:cNvPicPr>
          <p:nvPr/>
        </p:nvPicPr>
        <p:blipFill>
          <a:blip r:embed="rId3"/>
          <a:srcRect t="26682"/>
          <a:stretch>
            <a:fillRect/>
          </a:stretch>
        </p:blipFill>
        <p:spPr>
          <a:xfrm rot="10800000" flipV="1">
            <a:off x="0" y="2984500"/>
            <a:ext cx="9410700" cy="38735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>
            <a:spLocks noGrp="1"/>
          </p:cNvSpPr>
          <p:nvPr/>
        </p:nvSpPr>
        <p:spPr>
          <a:xfrm>
            <a:off x="647700" y="4117340"/>
            <a:ext cx="7738110" cy="482600"/>
          </a:xfrm>
          <a:prstGeom prst="roundRect">
            <a:avLst>
              <a:gd name="adj" fmla="val 0"/>
            </a:avLst>
          </a:prstGeom>
          <a:noFill/>
          <a:ln w="25400" cmpd="sng">
            <a:noFill/>
            <a:prstDash val="solid"/>
          </a:ln>
        </p:spPr>
        <p:txBody>
          <a:bodyPr vert="horz" wrap="none" lIns="88900" tIns="50800" rIns="88900" bIns="508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sz="18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sz="18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让工业更智能，让客户更成功</a:t>
            </a:r>
            <a:r>
              <a:rPr sz="18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——</a:t>
            </a:r>
            <a:endParaRPr sz="1100"/>
          </a:p>
        </p:txBody>
      </p:sp>
      <p:sp>
        <p:nvSpPr>
          <p:cNvPr id="10" name="AutoShape 10"/>
          <p:cNvSpPr>
            <a:spLocks noGrp="1"/>
          </p:cNvSpPr>
          <p:nvPr/>
        </p:nvSpPr>
        <p:spPr>
          <a:xfrm>
            <a:off x="528320" y="2373630"/>
            <a:ext cx="6454140" cy="135255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88900" tIns="50800" rIns="88900" bIns="50800" anchor="b"/>
          <a:lstStyle/>
          <a:p>
            <a:pPr marL="0" indent="0" algn="l">
              <a:lnSpc>
                <a:spcPct val="132000"/>
              </a:lnSpc>
              <a:buNone/>
            </a:pPr>
            <a:r>
              <a:rPr sz="40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中粮生物科技太仓</a:t>
            </a:r>
            <a:endParaRPr sz="40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32000"/>
              </a:lnSpc>
              <a:buNone/>
            </a:pPr>
            <a:r>
              <a:rPr sz="40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新建55万吨/年淀粉糖项目</a:t>
            </a:r>
            <a:endParaRPr sz="40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32000"/>
              </a:lnSpc>
              <a:buNone/>
            </a:pPr>
            <a:r>
              <a:rPr sz="3200" b="1">
                <a:solidFill>
                  <a:srgbClr val="FFFF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</a:t>
            </a:r>
            <a:r>
              <a:rPr sz="3200" b="1">
                <a:solidFill>
                  <a:srgbClr val="FFFF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全流程智能化系统蓝图</a:t>
            </a:r>
            <a:r>
              <a:rPr sz="3200" b="1">
                <a:solidFill>
                  <a:srgbClr val="FFFF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方案</a:t>
            </a:r>
            <a:endParaRPr sz="3200" b="1">
              <a:solidFill>
                <a:srgbClr val="FFFF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6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0495" y="5939155"/>
            <a:ext cx="4140200" cy="676910"/>
          </a:xfrm>
          <a:prstGeom prst="rect">
            <a:avLst/>
          </a:prstGeom>
        </p:spPr>
      </p:pic>
      <p:sp>
        <p:nvSpPr>
          <p:cNvPr id="13" name="文本框 12"/>
          <p:cNvSpPr>
            <a:spLocks noGrp="1"/>
          </p:cNvSpPr>
          <p:nvPr/>
        </p:nvSpPr>
        <p:spPr>
          <a:xfrm>
            <a:off x="3300095" y="5321935"/>
            <a:ext cx="3891280" cy="6172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  <a:buNone/>
            </a:pPr>
            <a:r>
              <a:rPr sz="20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汇报人：张仔</a:t>
            </a:r>
            <a:r>
              <a:rPr sz="20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洁</a:t>
            </a:r>
            <a:endParaRPr sz="2000" b="1"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8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630" y="268605"/>
            <a:ext cx="1282065" cy="5829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 sz="1400"/>
          </a:p>
        </p:txBody>
      </p:sp>
      <p:pic>
        <p:nvPicPr>
          <p:cNvPr id="76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>
            <a:spLocks noGrp="1"/>
          </p:cNvSpPr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85725" tIns="38100" rIns="85725" bIns="38100" anchor="ctr">
            <a:normAutofit/>
          </a:bodyPr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7、</a:t>
            </a:r>
            <a:r>
              <a:rPr lang="zh-CN" altLang="en-US">
                <a:latin typeface="微软雅黑" charset="-122"/>
                <a:ea typeface="微软雅黑" charset="-122"/>
                <a:cs typeface="微软雅黑" charset="-122"/>
                <a:sym typeface="微软雅黑" charset="-122"/>
              </a:rPr>
              <a:t>供应链优化建设功能场景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：从成品库存到经营成本的闭环</a:t>
            </a:r>
            <a:endParaRPr sz="2400" b="1" i="0" u="none"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s2-subtitle-v3"/>
          <p:cNvSpPr>
            <a:spLocks noGrp="1"/>
          </p:cNvSpPr>
          <p:nvPr/>
        </p:nvSpPr>
        <p:spPr>
          <a:xfrm>
            <a:off x="704850" y="1009650"/>
            <a:ext cx="1074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4000"/>
              </a:lnSpc>
              <a:buNone/>
              <a:defRPr sz="1200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先稳住成品交付，再把结果输入排程，反推原料采购，最终用成本分析完成经营复盘。</a:t>
            </a:r>
            <a:endParaRPr sz="1200" b="0">
              <a:solidFill>
                <a:srgbClr val="A8BBC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s2-kicker-v3"/>
          <p:cNvSpPr>
            <a:spLocks noGrp="1"/>
          </p:cNvSpPr>
          <p:nvPr/>
        </p:nvSpPr>
        <p:spPr>
          <a:xfrm>
            <a:off x="704850" y="13144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4000"/>
              </a:lnSpc>
              <a:buNone/>
              <a:defRPr sz="105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业务顺序不是并列菜单，而是同一条可执行价值流</a:t>
            </a:r>
            <a:endParaRPr sz="1050" b="1"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s2-hero-frame"/>
          <p:cNvSpPr>
            <a:spLocks noGrp="1"/>
          </p:cNvSpPr>
          <p:nvPr/>
        </p:nvSpPr>
        <p:spPr>
          <a:xfrm>
            <a:off x="704850" y="1543050"/>
            <a:ext cx="3143250" cy="2095500"/>
          </a:xfrm>
          <a:prstGeom prst="roundRect">
            <a:avLst>
              <a:gd name="adj" fmla="val 8182"/>
            </a:avLst>
          </a:prstGeom>
          <a:solidFill>
            <a:srgbClr val="071A25"/>
          </a:solidFill>
          <a:ln w="15240">
            <a:solidFill>
              <a:srgbClr val="1D547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1543050"/>
            <a:ext cx="3143250" cy="2095500"/>
          </a:xfrm>
          <a:prstGeom prst="roundRect">
            <a:avLst>
              <a:gd name="adj" fmla="val 8182"/>
            </a:avLst>
          </a:prstGeom>
        </p:spPr>
      </p:pic>
      <p:sp>
        <p:nvSpPr>
          <p:cNvPr id="11" name="s2-order-frame"/>
          <p:cNvSpPr>
            <a:spLocks noGrp="1"/>
          </p:cNvSpPr>
          <p:nvPr/>
        </p:nvSpPr>
        <p:spPr>
          <a:xfrm>
            <a:off x="4095750" y="1543050"/>
            <a:ext cx="7353300" cy="2095500"/>
          </a:xfrm>
          <a:prstGeom prst="roundRect">
            <a:avLst>
              <a:gd name="adj" fmla="val 8182"/>
            </a:avLst>
          </a:prstGeom>
          <a:solidFill>
            <a:srgbClr val="0B1E29"/>
          </a:solidFill>
          <a:ln w="15240">
            <a:solidFill>
              <a:srgbClr val="1D547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2" name="s2-order-title"/>
          <p:cNvSpPr>
            <a:spLocks noGrp="1"/>
          </p:cNvSpPr>
          <p:nvPr/>
        </p:nvSpPr>
        <p:spPr>
          <a:xfrm>
            <a:off x="4362450" y="1695450"/>
            <a:ext cx="6762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35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四个模块按“结果传递”串联，形成可执行的经营价值链</a:t>
            </a:r>
            <a:endParaRPr sz="1350" b="1"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s2-chain-arrow-1"/>
          <p:cNvSpPr>
            <a:spLocks noGrp="1"/>
          </p:cNvSpPr>
          <p:nvPr/>
        </p:nvSpPr>
        <p:spPr>
          <a:xfrm>
            <a:off x="5848350" y="2343150"/>
            <a:ext cx="209550" cy="114300"/>
          </a:xfrm>
          <a:prstGeom prst="rightArrow">
            <a:avLst/>
          </a:prstGeom>
          <a:solidFill>
            <a:srgbClr val="08B9F2"/>
          </a:solidFill>
          <a:ln w="0">
            <a:solidFill>
              <a:srgbClr val="08B9F2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2-chain-arrow-2"/>
          <p:cNvSpPr>
            <a:spLocks noGrp="1"/>
          </p:cNvSpPr>
          <p:nvPr/>
        </p:nvSpPr>
        <p:spPr>
          <a:xfrm>
            <a:off x="7562850" y="2343150"/>
            <a:ext cx="209550" cy="114300"/>
          </a:xfrm>
          <a:prstGeom prst="rightArrow">
            <a:avLst/>
          </a:prstGeom>
          <a:solidFill>
            <a:srgbClr val="55D48A"/>
          </a:solidFill>
          <a:ln w="0">
            <a:solidFill>
              <a:srgbClr val="55D48A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s2-chain-arrow-3"/>
          <p:cNvSpPr>
            <a:spLocks noGrp="1"/>
          </p:cNvSpPr>
          <p:nvPr/>
        </p:nvSpPr>
        <p:spPr>
          <a:xfrm>
            <a:off x="9277350" y="2343150"/>
            <a:ext cx="209550" cy="114300"/>
          </a:xfrm>
          <a:prstGeom prst="rightArrow">
            <a:avLst/>
          </a:prstGeom>
          <a:solidFill>
            <a:srgbClr val="FFAE2B"/>
          </a:solidFill>
          <a:ln w="0">
            <a:solidFill>
              <a:srgbClr val="FFAE2B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2-flow-node-01"/>
          <p:cNvSpPr>
            <a:spLocks noGrp="1"/>
          </p:cNvSpPr>
          <p:nvPr/>
        </p:nvSpPr>
        <p:spPr>
          <a:xfrm>
            <a:off x="4381500" y="2095500"/>
            <a:ext cx="1428750" cy="647700"/>
          </a:xfrm>
          <a:prstGeom prst="roundRect">
            <a:avLst>
              <a:gd name="adj" fmla="val 20588"/>
            </a:avLst>
          </a:prstGeom>
          <a:solidFill>
            <a:srgbClr val="071A25"/>
          </a:solidFill>
          <a:ln w="15240">
            <a:solidFill>
              <a:srgbClr val="08B9F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7" name="s2-flow-node-n-01"/>
          <p:cNvSpPr>
            <a:spLocks noGrp="1"/>
          </p:cNvSpPr>
          <p:nvPr/>
        </p:nvSpPr>
        <p:spPr>
          <a:xfrm>
            <a:off x="4476750" y="21907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4000"/>
              </a:lnSpc>
              <a:buNone/>
              <a:defRPr sz="975" b="1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975" b="1">
              <a:solidFill>
                <a:srgbClr val="08B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s2-flow-node-l-01"/>
          <p:cNvSpPr>
            <a:spLocks noGrp="1"/>
          </p:cNvSpPr>
          <p:nvPr/>
        </p:nvSpPr>
        <p:spPr>
          <a:xfrm>
            <a:off x="4724400" y="2171700"/>
            <a:ext cx="971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9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成品安全库存</a:t>
            </a:r>
            <a:endParaRPr sz="975" b="1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2-flow-node-m-01"/>
          <p:cNvSpPr>
            <a:spLocks noGrp="1"/>
          </p:cNvSpPr>
          <p:nvPr/>
        </p:nvSpPr>
        <p:spPr>
          <a:xfrm>
            <a:off x="4476750" y="2428875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865" b="0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865" b="0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锁定服务水平</a:t>
            </a:r>
            <a:endParaRPr sz="865" b="0">
              <a:solidFill>
                <a:srgbClr val="08B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2-flow-node-02"/>
          <p:cNvSpPr>
            <a:spLocks noGrp="1"/>
          </p:cNvSpPr>
          <p:nvPr/>
        </p:nvSpPr>
        <p:spPr>
          <a:xfrm>
            <a:off x="6096000" y="2095500"/>
            <a:ext cx="1428750" cy="647700"/>
          </a:xfrm>
          <a:prstGeom prst="roundRect">
            <a:avLst>
              <a:gd name="adj" fmla="val 20588"/>
            </a:avLst>
          </a:prstGeom>
          <a:solidFill>
            <a:srgbClr val="071A25"/>
          </a:solidFill>
          <a:ln w="15240">
            <a:solidFill>
              <a:srgbClr val="55D4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21" name="s2-flow-node-n-02"/>
          <p:cNvSpPr>
            <a:spLocks noGrp="1"/>
          </p:cNvSpPr>
          <p:nvPr/>
        </p:nvSpPr>
        <p:spPr>
          <a:xfrm>
            <a:off x="6191250" y="21907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4000"/>
              </a:lnSpc>
              <a:buNone/>
              <a:defRPr sz="975" b="1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975" b="1">
              <a:solidFill>
                <a:srgbClr val="55D4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s2-flow-node-l-02"/>
          <p:cNvSpPr>
            <a:spLocks noGrp="1"/>
          </p:cNvSpPr>
          <p:nvPr/>
        </p:nvSpPr>
        <p:spPr>
          <a:xfrm>
            <a:off x="6438900" y="2171700"/>
            <a:ext cx="971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9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精益排程</a:t>
            </a:r>
            <a:endParaRPr sz="975" b="1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s2-flow-node-m-02"/>
          <p:cNvSpPr>
            <a:spLocks noGrp="1"/>
          </p:cNvSpPr>
          <p:nvPr/>
        </p:nvSpPr>
        <p:spPr>
          <a:xfrm>
            <a:off x="6191250" y="2428875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865" b="0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865" b="0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释放产能约束</a:t>
            </a:r>
            <a:endParaRPr sz="865" b="0">
              <a:solidFill>
                <a:srgbClr val="55D4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s2-flow-node-03"/>
          <p:cNvSpPr>
            <a:spLocks noGrp="1"/>
          </p:cNvSpPr>
          <p:nvPr/>
        </p:nvSpPr>
        <p:spPr>
          <a:xfrm>
            <a:off x="7810500" y="2095500"/>
            <a:ext cx="1428750" cy="647700"/>
          </a:xfrm>
          <a:prstGeom prst="roundRect">
            <a:avLst>
              <a:gd name="adj" fmla="val 20588"/>
            </a:avLst>
          </a:prstGeom>
          <a:solidFill>
            <a:srgbClr val="071A25"/>
          </a:solidFill>
          <a:ln w="15240">
            <a:solidFill>
              <a:srgbClr val="FFAE2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25" name="s2-flow-node-n-03"/>
          <p:cNvSpPr>
            <a:spLocks noGrp="1"/>
          </p:cNvSpPr>
          <p:nvPr/>
        </p:nvSpPr>
        <p:spPr>
          <a:xfrm>
            <a:off x="7905750" y="21907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4000"/>
              </a:lnSpc>
              <a:buNone/>
              <a:defRPr sz="975" b="1">
                <a:solidFill>
                  <a:srgbClr val="FFAE2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AE2B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975" b="1">
              <a:solidFill>
                <a:srgbClr val="FFAE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s2-flow-node-l-03"/>
          <p:cNvSpPr>
            <a:spLocks noGrp="1"/>
          </p:cNvSpPr>
          <p:nvPr/>
        </p:nvSpPr>
        <p:spPr>
          <a:xfrm>
            <a:off x="8153400" y="2171700"/>
            <a:ext cx="971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9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原料采购</a:t>
            </a:r>
            <a:endParaRPr sz="975" b="1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s2-flow-node-m-03"/>
          <p:cNvSpPr>
            <a:spLocks noGrp="1"/>
          </p:cNvSpPr>
          <p:nvPr/>
        </p:nvSpPr>
        <p:spPr>
          <a:xfrm>
            <a:off x="7905750" y="2428875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865" b="0">
                <a:solidFill>
                  <a:srgbClr val="FFAE2B"/>
                </a:solidFill>
                <a:latin typeface="微软雅黑"/>
                <a:ea typeface="微软雅黑"/>
                <a:cs typeface="微软雅黑"/>
              </a:defRPr>
            </a:pPr>
            <a:r>
              <a:rPr sz="865" b="0">
                <a:solidFill>
                  <a:srgbClr val="FFAE2B"/>
                </a:solidFill>
                <a:latin typeface="微软雅黑"/>
                <a:ea typeface="微软雅黑"/>
                <a:cs typeface="微软雅黑"/>
              </a:rPr>
              <a:t>净化物料需求</a:t>
            </a:r>
            <a:endParaRPr sz="865" b="0">
              <a:solidFill>
                <a:srgbClr val="FFAE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s2-flow-node-04"/>
          <p:cNvSpPr>
            <a:spLocks noGrp="1"/>
          </p:cNvSpPr>
          <p:nvPr/>
        </p:nvSpPr>
        <p:spPr>
          <a:xfrm>
            <a:off x="9525000" y="2095500"/>
            <a:ext cx="1428750" cy="647700"/>
          </a:xfrm>
          <a:prstGeom prst="roundRect">
            <a:avLst>
              <a:gd name="adj" fmla="val 20588"/>
            </a:avLst>
          </a:prstGeom>
          <a:solidFill>
            <a:srgbClr val="071A25"/>
          </a:solidFill>
          <a:ln w="15240">
            <a:solidFill>
              <a:srgbClr val="C7D52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29" name="s2-flow-node-n-04"/>
          <p:cNvSpPr>
            <a:spLocks noGrp="1"/>
          </p:cNvSpPr>
          <p:nvPr/>
        </p:nvSpPr>
        <p:spPr>
          <a:xfrm>
            <a:off x="9620250" y="21907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4000"/>
              </a:lnSpc>
              <a:buNone/>
              <a:defRPr sz="975" b="1">
                <a:solidFill>
                  <a:srgbClr val="C7D52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C7D52B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975" b="1">
              <a:solidFill>
                <a:srgbClr val="C7D5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s2-flow-node-l-04"/>
          <p:cNvSpPr>
            <a:spLocks noGrp="1"/>
          </p:cNvSpPr>
          <p:nvPr/>
        </p:nvSpPr>
        <p:spPr>
          <a:xfrm>
            <a:off x="9867900" y="2171700"/>
            <a:ext cx="971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9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成本分析</a:t>
            </a:r>
            <a:endParaRPr sz="975" b="1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s2-flow-node-m-04"/>
          <p:cNvSpPr>
            <a:spLocks noGrp="1"/>
          </p:cNvSpPr>
          <p:nvPr/>
        </p:nvSpPr>
        <p:spPr>
          <a:xfrm>
            <a:off x="9620250" y="2428875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865" b="0">
                <a:solidFill>
                  <a:srgbClr val="C7D52B"/>
                </a:solidFill>
                <a:latin typeface="微软雅黑"/>
                <a:ea typeface="微软雅黑"/>
                <a:cs typeface="微软雅黑"/>
              </a:defRPr>
            </a:pPr>
            <a:r>
              <a:rPr sz="865" b="0">
                <a:solidFill>
                  <a:srgbClr val="C7D52B"/>
                </a:solidFill>
                <a:latin typeface="微软雅黑"/>
                <a:ea typeface="微软雅黑"/>
                <a:cs typeface="微软雅黑"/>
              </a:rPr>
              <a:t>归因经营结果</a:t>
            </a:r>
            <a:endParaRPr sz="865" b="0">
              <a:solidFill>
                <a:srgbClr val="C7D5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s2-chain-caption"/>
          <p:cNvSpPr>
            <a:spLocks noGrp="1"/>
          </p:cNvSpPr>
          <p:nvPr/>
        </p:nvSpPr>
        <p:spPr>
          <a:xfrm>
            <a:off x="4362450" y="2895600"/>
            <a:ext cx="6762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安全库存结果  →  排程计划  →  原料需求  →  采购方案  →  成本复盘</a:t>
            </a:r>
            <a:endParaRPr sz="1125" b="1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s2-card-01"/>
          <p:cNvSpPr>
            <a:spLocks noGrp="1"/>
          </p:cNvSpPr>
          <p:nvPr/>
        </p:nvSpPr>
        <p:spPr>
          <a:xfrm>
            <a:off x="704850" y="3771900"/>
            <a:ext cx="2381250" cy="1733550"/>
          </a:xfrm>
          <a:prstGeom prst="roundRect">
            <a:avLst>
              <a:gd name="adj" fmla="val 9890"/>
            </a:avLst>
          </a:prstGeom>
          <a:solidFill>
            <a:srgbClr val="0B2633"/>
          </a:solidFill>
          <a:ln w="15240">
            <a:solidFill>
              <a:srgbClr val="08B9F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34" name="s2-card-top-01"/>
          <p:cNvSpPr>
            <a:spLocks noGrp="1"/>
          </p:cNvSpPr>
          <p:nvPr/>
        </p:nvSpPr>
        <p:spPr>
          <a:xfrm>
            <a:off x="704850" y="3771900"/>
            <a:ext cx="2381250" cy="66675"/>
          </a:xfrm>
          <a:prstGeom prst="roundRect">
            <a:avLst>
              <a:gd name="adj" fmla="val 42857"/>
            </a:avLst>
          </a:prstGeom>
          <a:solidFill>
            <a:srgbClr val="08B9F2"/>
          </a:solidFill>
          <a:ln w="0">
            <a:solidFill>
              <a:srgbClr val="08B9F2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35" name="s2-card-num-01"/>
          <p:cNvSpPr>
            <a:spLocks noGrp="1"/>
          </p:cNvSpPr>
          <p:nvPr/>
        </p:nvSpPr>
        <p:spPr>
          <a:xfrm>
            <a:off x="838200" y="38862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4000"/>
              </a:lnSpc>
              <a:buNone/>
              <a:defRPr sz="1015" b="1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015" b="1">
              <a:solidFill>
                <a:srgbClr val="08B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s2-card-title-01"/>
          <p:cNvSpPr>
            <a:spLocks noGrp="1"/>
          </p:cNvSpPr>
          <p:nvPr/>
        </p:nvSpPr>
        <p:spPr>
          <a:xfrm>
            <a:off x="1162050" y="3857625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24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成品安全库存优化</a:t>
            </a:r>
            <a:endParaRPr sz="1240" b="1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s2-card-tag-01"/>
          <p:cNvSpPr>
            <a:spLocks noGrp="1"/>
          </p:cNvSpPr>
          <p:nvPr/>
        </p:nvSpPr>
        <p:spPr>
          <a:xfrm>
            <a:off x="1104900" y="4133850"/>
            <a:ext cx="1581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885" b="1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885" b="1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先保障交付</a:t>
            </a:r>
            <a:endParaRPr sz="885" b="1">
              <a:solidFill>
                <a:srgbClr val="08B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s2-card-rule-01"/>
          <p:cNvSpPr>
            <a:spLocks noGrp="1"/>
          </p:cNvSpPr>
          <p:nvPr/>
        </p:nvSpPr>
        <p:spPr>
          <a:xfrm>
            <a:off x="857250" y="4343400"/>
            <a:ext cx="2076450" cy="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D5470"/>
            </a:solidFill>
            <a:prstDash val="solid"/>
          </a:ln>
        </p:spPr>
      </p:sp>
      <p:sp>
        <p:nvSpPr>
          <p:cNvPr id="39" name="s2-card-input-01"/>
          <p:cNvSpPr>
            <a:spLocks noGrp="1"/>
          </p:cNvSpPr>
          <p:nvPr/>
        </p:nvSpPr>
        <p:spPr>
          <a:xfrm>
            <a:off x="857250" y="4419600"/>
            <a:ext cx="20764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86000"/>
              </a:lnSpc>
              <a:buNone/>
              <a:defRPr sz="805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805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输入｜需求预测 / 历史出货 / 提前期 / 服务水平 / 库存成本</a:t>
            </a:r>
            <a:endParaRPr sz="805" b="0">
              <a:solidFill>
                <a:srgbClr val="A8BBC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s2-card-model-01"/>
          <p:cNvSpPr>
            <a:spLocks noGrp="1"/>
          </p:cNvSpPr>
          <p:nvPr/>
        </p:nvSpPr>
        <p:spPr>
          <a:xfrm>
            <a:off x="857250" y="4705350"/>
            <a:ext cx="20764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86000"/>
              </a:lnSpc>
              <a:buNone/>
              <a:defRPr sz="80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80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模型｜R,s,S滚动策略；7天冻结，异常重算</a:t>
            </a:r>
            <a:endParaRPr sz="805" b="0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s2-card-output-01"/>
          <p:cNvSpPr>
            <a:spLocks noGrp="1"/>
          </p:cNvSpPr>
          <p:nvPr/>
        </p:nvSpPr>
        <p:spPr>
          <a:xfrm>
            <a:off x="857250" y="4991100"/>
            <a:ext cx="2076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86000"/>
              </a:lnSpc>
              <a:buNone/>
              <a:defRPr sz="805" b="1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805" b="1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输出｜安全库存、补货日期量、缺货/容量风险</a:t>
            </a:r>
            <a:endParaRPr sz="805" b="1">
              <a:solidFill>
                <a:srgbClr val="08B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s2-card-value-01"/>
          <p:cNvSpPr>
            <a:spLocks noGrp="1"/>
          </p:cNvSpPr>
          <p:nvPr/>
        </p:nvSpPr>
        <p:spPr>
          <a:xfrm>
            <a:off x="857250" y="5295900"/>
            <a:ext cx="2076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84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降低缺货与积压，提升库存周转</a:t>
            </a:r>
            <a:endParaRPr sz="840" b="0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s2-card-02"/>
          <p:cNvSpPr>
            <a:spLocks noGrp="1"/>
          </p:cNvSpPr>
          <p:nvPr/>
        </p:nvSpPr>
        <p:spPr>
          <a:xfrm>
            <a:off x="3371850" y="3771900"/>
            <a:ext cx="2381250" cy="1733550"/>
          </a:xfrm>
          <a:prstGeom prst="roundRect">
            <a:avLst>
              <a:gd name="adj" fmla="val 9890"/>
            </a:avLst>
          </a:prstGeom>
          <a:solidFill>
            <a:srgbClr val="0B2633"/>
          </a:solidFill>
          <a:ln w="15240">
            <a:solidFill>
              <a:srgbClr val="55D4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44" name="s2-card-top-02"/>
          <p:cNvSpPr>
            <a:spLocks noGrp="1"/>
          </p:cNvSpPr>
          <p:nvPr/>
        </p:nvSpPr>
        <p:spPr>
          <a:xfrm>
            <a:off x="3371850" y="3771900"/>
            <a:ext cx="2381250" cy="66675"/>
          </a:xfrm>
          <a:prstGeom prst="roundRect">
            <a:avLst>
              <a:gd name="adj" fmla="val 42857"/>
            </a:avLst>
          </a:prstGeom>
          <a:solidFill>
            <a:srgbClr val="55D48A"/>
          </a:solidFill>
          <a:ln w="0">
            <a:solidFill>
              <a:srgbClr val="55D48A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45" name="s2-card-num-02"/>
          <p:cNvSpPr>
            <a:spLocks noGrp="1"/>
          </p:cNvSpPr>
          <p:nvPr/>
        </p:nvSpPr>
        <p:spPr>
          <a:xfrm>
            <a:off x="3505200" y="38862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4000"/>
              </a:lnSpc>
              <a:buNone/>
              <a:defRPr sz="1015" b="1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015" b="1">
              <a:solidFill>
                <a:srgbClr val="55D4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s2-card-title-02"/>
          <p:cNvSpPr>
            <a:spLocks noGrp="1"/>
          </p:cNvSpPr>
          <p:nvPr/>
        </p:nvSpPr>
        <p:spPr>
          <a:xfrm>
            <a:off x="3829050" y="3857625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24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精益生产排程</a:t>
            </a:r>
            <a:endParaRPr sz="1240" b="1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s2-card-tag-02"/>
          <p:cNvSpPr>
            <a:spLocks noGrp="1"/>
          </p:cNvSpPr>
          <p:nvPr/>
        </p:nvSpPr>
        <p:spPr>
          <a:xfrm>
            <a:off x="3771900" y="4133850"/>
            <a:ext cx="1581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885" b="1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885" b="1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接入库存结果</a:t>
            </a:r>
            <a:endParaRPr sz="885" b="1">
              <a:solidFill>
                <a:srgbClr val="55D4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s2-card-rule-02"/>
          <p:cNvSpPr>
            <a:spLocks noGrp="1"/>
          </p:cNvSpPr>
          <p:nvPr/>
        </p:nvSpPr>
        <p:spPr>
          <a:xfrm>
            <a:off x="3524250" y="4343400"/>
            <a:ext cx="2076450" cy="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D5470"/>
            </a:solidFill>
            <a:prstDash val="solid"/>
          </a:ln>
        </p:spPr>
      </p:sp>
      <p:sp>
        <p:nvSpPr>
          <p:cNvPr id="49" name="s2-card-input-02"/>
          <p:cNvSpPr>
            <a:spLocks noGrp="1"/>
          </p:cNvSpPr>
          <p:nvPr/>
        </p:nvSpPr>
        <p:spPr>
          <a:xfrm>
            <a:off x="3524250" y="4419600"/>
            <a:ext cx="20764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86000"/>
              </a:lnSpc>
              <a:buNone/>
              <a:defRPr sz="805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805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输入｜订单优先级 / BOM工艺 / 设备人力 / 在途物料</a:t>
            </a:r>
            <a:endParaRPr sz="805" b="0">
              <a:solidFill>
                <a:srgbClr val="A8BBC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s2-card-model-02"/>
          <p:cNvSpPr>
            <a:spLocks noGrp="1"/>
          </p:cNvSpPr>
          <p:nvPr/>
        </p:nvSpPr>
        <p:spPr>
          <a:xfrm>
            <a:off x="3524250" y="4705350"/>
            <a:ext cx="20764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86000"/>
              </a:lnSpc>
              <a:buNone/>
              <a:defRPr sz="80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80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模型｜约束排程、负荷平衡、瓶颈与冲突识别</a:t>
            </a:r>
            <a:endParaRPr sz="805" b="0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s2-card-output-02"/>
          <p:cNvSpPr>
            <a:spLocks noGrp="1"/>
          </p:cNvSpPr>
          <p:nvPr/>
        </p:nvSpPr>
        <p:spPr>
          <a:xfrm>
            <a:off x="3524250" y="4991100"/>
            <a:ext cx="2076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86000"/>
              </a:lnSpc>
              <a:buNone/>
              <a:defRPr sz="805" b="1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805" b="1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输出｜详细作业计划、ATP、计划模拟与预警</a:t>
            </a:r>
            <a:endParaRPr sz="805" b="1">
              <a:solidFill>
                <a:srgbClr val="55D4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s2-card-value-02"/>
          <p:cNvSpPr>
            <a:spLocks noGrp="1"/>
          </p:cNvSpPr>
          <p:nvPr/>
        </p:nvSpPr>
        <p:spPr>
          <a:xfrm>
            <a:off x="3524250" y="5295900"/>
            <a:ext cx="2076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84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让交付承诺可执行，减少临时协调</a:t>
            </a:r>
            <a:endParaRPr sz="840" b="0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s2-card-03"/>
          <p:cNvSpPr>
            <a:spLocks noGrp="1"/>
          </p:cNvSpPr>
          <p:nvPr/>
        </p:nvSpPr>
        <p:spPr>
          <a:xfrm>
            <a:off x="6038850" y="3771900"/>
            <a:ext cx="2381250" cy="1733550"/>
          </a:xfrm>
          <a:prstGeom prst="roundRect">
            <a:avLst>
              <a:gd name="adj" fmla="val 9890"/>
            </a:avLst>
          </a:prstGeom>
          <a:solidFill>
            <a:srgbClr val="0B2633"/>
          </a:solidFill>
          <a:ln w="15240">
            <a:solidFill>
              <a:srgbClr val="FFAE2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54" name="s2-card-top-03"/>
          <p:cNvSpPr>
            <a:spLocks noGrp="1"/>
          </p:cNvSpPr>
          <p:nvPr/>
        </p:nvSpPr>
        <p:spPr>
          <a:xfrm>
            <a:off x="6038850" y="3771900"/>
            <a:ext cx="2381250" cy="66675"/>
          </a:xfrm>
          <a:prstGeom prst="roundRect">
            <a:avLst>
              <a:gd name="adj" fmla="val 42857"/>
            </a:avLst>
          </a:prstGeom>
          <a:solidFill>
            <a:srgbClr val="FFAE2B"/>
          </a:solidFill>
          <a:ln w="0">
            <a:solidFill>
              <a:srgbClr val="FFAE2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55" name="s2-card-num-03"/>
          <p:cNvSpPr>
            <a:spLocks noGrp="1"/>
          </p:cNvSpPr>
          <p:nvPr/>
        </p:nvSpPr>
        <p:spPr>
          <a:xfrm>
            <a:off x="6172200" y="38862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4000"/>
              </a:lnSpc>
              <a:buNone/>
              <a:defRPr sz="1015" b="1">
                <a:solidFill>
                  <a:srgbClr val="FFAE2B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FFAE2B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015" b="1">
              <a:solidFill>
                <a:srgbClr val="FFAE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s2-card-title-03"/>
          <p:cNvSpPr>
            <a:spLocks noGrp="1"/>
          </p:cNvSpPr>
          <p:nvPr/>
        </p:nvSpPr>
        <p:spPr>
          <a:xfrm>
            <a:off x="6496050" y="3857625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24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原料采购优化</a:t>
            </a:r>
            <a:endParaRPr sz="1240" b="1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s2-card-tag-03"/>
          <p:cNvSpPr>
            <a:spLocks noGrp="1"/>
          </p:cNvSpPr>
          <p:nvPr/>
        </p:nvSpPr>
        <p:spPr>
          <a:xfrm>
            <a:off x="6438900" y="4133850"/>
            <a:ext cx="1581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885" b="1">
                <a:solidFill>
                  <a:srgbClr val="FFAE2B"/>
                </a:solidFill>
                <a:latin typeface="微软雅黑"/>
                <a:ea typeface="微软雅黑"/>
                <a:cs typeface="微软雅黑"/>
              </a:defRPr>
            </a:pPr>
            <a:r>
              <a:rPr sz="885" b="1">
                <a:solidFill>
                  <a:srgbClr val="FFAE2B"/>
                </a:solidFill>
                <a:latin typeface="微软雅黑"/>
                <a:ea typeface="微软雅黑"/>
                <a:cs typeface="微软雅黑"/>
              </a:rPr>
              <a:t>接入原料需求</a:t>
            </a:r>
            <a:endParaRPr sz="885" b="1">
              <a:solidFill>
                <a:srgbClr val="FFAE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s2-card-rule-03"/>
          <p:cNvSpPr>
            <a:spLocks noGrp="1"/>
          </p:cNvSpPr>
          <p:nvPr/>
        </p:nvSpPr>
        <p:spPr>
          <a:xfrm>
            <a:off x="6191250" y="4343400"/>
            <a:ext cx="2076450" cy="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D5470"/>
            </a:solidFill>
            <a:prstDash val="solid"/>
          </a:ln>
        </p:spPr>
      </p:sp>
      <p:sp>
        <p:nvSpPr>
          <p:cNvPr id="59" name="s2-card-input-03"/>
          <p:cNvSpPr>
            <a:spLocks noGrp="1"/>
          </p:cNvSpPr>
          <p:nvPr/>
        </p:nvSpPr>
        <p:spPr>
          <a:xfrm>
            <a:off x="6191250" y="4419600"/>
            <a:ext cx="20764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86000"/>
              </a:lnSpc>
              <a:buNone/>
              <a:defRPr sz="805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805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输入｜物料需求 / 库存 / 供应商画像 / 交付约束</a:t>
            </a:r>
            <a:endParaRPr sz="805" b="0">
              <a:solidFill>
                <a:srgbClr val="A8BBC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s2-card-model-03"/>
          <p:cNvSpPr>
            <a:spLocks noGrp="1"/>
          </p:cNvSpPr>
          <p:nvPr/>
        </p:nvSpPr>
        <p:spPr>
          <a:xfrm>
            <a:off x="6191250" y="4705350"/>
            <a:ext cx="20764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86000"/>
              </a:lnSpc>
              <a:buNone/>
              <a:defRPr sz="80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80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模型｜供应商评分、总拥有成本、可行性校验</a:t>
            </a:r>
            <a:endParaRPr sz="805" b="0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s2-card-output-03"/>
          <p:cNvSpPr>
            <a:spLocks noGrp="1"/>
          </p:cNvSpPr>
          <p:nvPr/>
        </p:nvSpPr>
        <p:spPr>
          <a:xfrm>
            <a:off x="6191250" y="4991100"/>
            <a:ext cx="2076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86000"/>
              </a:lnSpc>
              <a:buNone/>
              <a:defRPr sz="805" b="1">
                <a:solidFill>
                  <a:srgbClr val="FFAE2B"/>
                </a:solidFill>
                <a:latin typeface="微软雅黑"/>
                <a:ea typeface="微软雅黑"/>
                <a:cs typeface="微软雅黑"/>
              </a:defRPr>
            </a:pPr>
            <a:r>
              <a:rPr sz="805" b="1">
                <a:solidFill>
                  <a:srgbClr val="FFAE2B"/>
                </a:solidFill>
                <a:latin typeface="微软雅黑"/>
                <a:ea typeface="微软雅黑"/>
                <a:cs typeface="微软雅黑"/>
              </a:rPr>
              <a:t>输出｜采购量、分配方案、到货日期、合同建议</a:t>
            </a:r>
            <a:endParaRPr sz="805" b="1">
              <a:solidFill>
                <a:srgbClr val="FFAE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s2-card-value-03"/>
          <p:cNvSpPr>
            <a:spLocks noGrp="1"/>
          </p:cNvSpPr>
          <p:nvPr/>
        </p:nvSpPr>
        <p:spPr>
          <a:xfrm>
            <a:off x="6191250" y="5295900"/>
            <a:ext cx="2076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84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从单价采购升级为总成本与供应安全</a:t>
            </a:r>
            <a:endParaRPr sz="840" b="0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s2-card-04"/>
          <p:cNvSpPr>
            <a:spLocks noGrp="1"/>
          </p:cNvSpPr>
          <p:nvPr/>
        </p:nvSpPr>
        <p:spPr>
          <a:xfrm>
            <a:off x="8705850" y="3771900"/>
            <a:ext cx="2381250" cy="1733550"/>
          </a:xfrm>
          <a:prstGeom prst="roundRect">
            <a:avLst>
              <a:gd name="adj" fmla="val 9890"/>
            </a:avLst>
          </a:prstGeom>
          <a:solidFill>
            <a:srgbClr val="0B2633"/>
          </a:solidFill>
          <a:ln w="15240">
            <a:solidFill>
              <a:srgbClr val="C7D52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4" name="s2-card-top-04"/>
          <p:cNvSpPr>
            <a:spLocks noGrp="1"/>
          </p:cNvSpPr>
          <p:nvPr/>
        </p:nvSpPr>
        <p:spPr>
          <a:xfrm>
            <a:off x="8705850" y="3771900"/>
            <a:ext cx="2381250" cy="66675"/>
          </a:xfrm>
          <a:prstGeom prst="roundRect">
            <a:avLst>
              <a:gd name="adj" fmla="val 42857"/>
            </a:avLst>
          </a:prstGeom>
          <a:solidFill>
            <a:srgbClr val="C7D52B"/>
          </a:solidFill>
          <a:ln w="0">
            <a:solidFill>
              <a:srgbClr val="C7D52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65" name="s2-card-num-04"/>
          <p:cNvSpPr>
            <a:spLocks noGrp="1"/>
          </p:cNvSpPr>
          <p:nvPr/>
        </p:nvSpPr>
        <p:spPr>
          <a:xfrm>
            <a:off x="8839200" y="388620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4000"/>
              </a:lnSpc>
              <a:buNone/>
              <a:defRPr sz="1015" b="1">
                <a:solidFill>
                  <a:srgbClr val="C7D52B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C7D52B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015" b="1">
              <a:solidFill>
                <a:srgbClr val="C7D5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s2-card-title-04"/>
          <p:cNvSpPr>
            <a:spLocks noGrp="1"/>
          </p:cNvSpPr>
          <p:nvPr/>
        </p:nvSpPr>
        <p:spPr>
          <a:xfrm>
            <a:off x="9163050" y="3857625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24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成本分析与核算</a:t>
            </a:r>
            <a:endParaRPr sz="1240" b="1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s2-card-tag-04"/>
          <p:cNvSpPr>
            <a:spLocks noGrp="1"/>
          </p:cNvSpPr>
          <p:nvPr/>
        </p:nvSpPr>
        <p:spPr>
          <a:xfrm>
            <a:off x="9105900" y="4133850"/>
            <a:ext cx="1581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885" b="1">
                <a:solidFill>
                  <a:srgbClr val="C7D52B"/>
                </a:solidFill>
                <a:latin typeface="微软雅黑"/>
                <a:ea typeface="微软雅黑"/>
                <a:cs typeface="微软雅黑"/>
              </a:defRPr>
            </a:pPr>
            <a:r>
              <a:rPr sz="885" b="1">
                <a:solidFill>
                  <a:srgbClr val="C7D52B"/>
                </a:solidFill>
                <a:latin typeface="微软雅黑"/>
                <a:ea typeface="微软雅黑"/>
                <a:cs typeface="微软雅黑"/>
              </a:rPr>
              <a:t>经营复盘</a:t>
            </a:r>
            <a:endParaRPr sz="885" b="1">
              <a:solidFill>
                <a:srgbClr val="C7D5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s2-card-rule-04"/>
          <p:cNvSpPr>
            <a:spLocks noGrp="1"/>
          </p:cNvSpPr>
          <p:nvPr/>
        </p:nvSpPr>
        <p:spPr>
          <a:xfrm>
            <a:off x="8858250" y="4343400"/>
            <a:ext cx="2076450" cy="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D5470"/>
            </a:solidFill>
            <a:prstDash val="solid"/>
          </a:ln>
        </p:spPr>
      </p:sp>
      <p:sp>
        <p:nvSpPr>
          <p:cNvPr id="69" name="s2-card-input-04"/>
          <p:cNvSpPr>
            <a:spLocks noGrp="1"/>
          </p:cNvSpPr>
          <p:nvPr/>
        </p:nvSpPr>
        <p:spPr>
          <a:xfrm>
            <a:off x="8858250" y="4419600"/>
            <a:ext cx="20764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86000"/>
              </a:lnSpc>
              <a:buNone/>
              <a:defRPr sz="805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805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输入｜采购 / 仓储 / 生产 / 包装运输费用</a:t>
            </a:r>
            <a:endParaRPr sz="805" b="0">
              <a:solidFill>
                <a:srgbClr val="A8BBC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0" name="s2-card-model-04"/>
          <p:cNvSpPr>
            <a:spLocks noGrp="1"/>
          </p:cNvSpPr>
          <p:nvPr/>
        </p:nvSpPr>
        <p:spPr>
          <a:xfrm>
            <a:off x="8858250" y="4705350"/>
            <a:ext cx="20764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86000"/>
              </a:lnSpc>
              <a:buNone/>
              <a:defRPr sz="80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80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模型｜批次成本引擎、归集分摊、版本复核</a:t>
            </a:r>
            <a:endParaRPr sz="805" b="0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1" name="s2-card-output-04"/>
          <p:cNvSpPr>
            <a:spLocks noGrp="1"/>
          </p:cNvSpPr>
          <p:nvPr/>
        </p:nvSpPr>
        <p:spPr>
          <a:xfrm>
            <a:off x="8858250" y="4991100"/>
            <a:ext cx="2076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86000"/>
              </a:lnSpc>
              <a:buNone/>
              <a:defRPr sz="805" b="1">
                <a:solidFill>
                  <a:srgbClr val="C7D52B"/>
                </a:solidFill>
                <a:latin typeface="微软雅黑"/>
                <a:ea typeface="微软雅黑"/>
                <a:cs typeface="微软雅黑"/>
              </a:defRPr>
            </a:pPr>
            <a:r>
              <a:rPr sz="805" b="1">
                <a:solidFill>
                  <a:srgbClr val="C7D52B"/>
                </a:solidFill>
                <a:latin typeface="微软雅黑"/>
                <a:ea typeface="微软雅黑"/>
                <a:cs typeface="微软雅黑"/>
              </a:rPr>
              <a:t>输出｜产品、客户、订单利润及成本差异追溯</a:t>
            </a:r>
            <a:endParaRPr sz="805" b="1">
              <a:solidFill>
                <a:srgbClr val="C7D5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2" name="s2-card-value-04"/>
          <p:cNvSpPr>
            <a:spLocks noGrp="1"/>
          </p:cNvSpPr>
          <p:nvPr/>
        </p:nvSpPr>
        <p:spPr>
          <a:xfrm>
            <a:off x="8858250" y="5295900"/>
            <a:ext cx="2076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84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统一经营价值尺度，支持复盘</a:t>
            </a:r>
            <a:endParaRPr sz="840" b="0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3" name="s2-flow-rail"/>
          <p:cNvSpPr>
            <a:spLocks noGrp="1"/>
          </p:cNvSpPr>
          <p:nvPr/>
        </p:nvSpPr>
        <p:spPr>
          <a:xfrm>
            <a:off x="704850" y="5695950"/>
            <a:ext cx="10744200" cy="495300"/>
          </a:xfrm>
          <a:prstGeom prst="roundRect">
            <a:avLst>
              <a:gd name="adj" fmla="val 34615"/>
            </a:avLst>
          </a:prstGeom>
          <a:solidFill>
            <a:srgbClr val="102B36"/>
          </a:solidFill>
          <a:ln w="15240">
            <a:solidFill>
              <a:srgbClr val="1D547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74" name="s2-flow-text"/>
          <p:cNvSpPr>
            <a:spLocks noGrp="1"/>
          </p:cNvSpPr>
          <p:nvPr/>
        </p:nvSpPr>
        <p:spPr>
          <a:xfrm>
            <a:off x="876300" y="5829300"/>
            <a:ext cx="10382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1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四类结果逐级传递：库存稳交付、排程保执行、采购守供给、成本做复盘</a:t>
            </a:r>
            <a:endParaRPr sz="1125" b="1"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 sz="1400"/>
          </a:p>
        </p:txBody>
      </p:sp>
      <p:pic>
        <p:nvPicPr>
          <p:cNvPr id="4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>
            <a:spLocks noGrp="1"/>
          </p:cNvSpPr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85725" tIns="38100" rIns="85725" bIns="38100" anchor="ctr">
            <a:normAutofit/>
          </a:bodyPr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7、SCOS带来的变化：从“开会找答案”到“平台给方案”</a:t>
            </a:r>
            <a:endParaRPr sz="2400" b="1" i="0" u="none"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s3-subtitle-v3"/>
          <p:cNvSpPr>
            <a:spLocks noGrp="1"/>
          </p:cNvSpPr>
          <p:nvPr/>
        </p:nvSpPr>
        <p:spPr>
          <a:xfrm>
            <a:off x="704850" y="1009650"/>
            <a:ext cx="1074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4000"/>
              </a:lnSpc>
              <a:buNone/>
              <a:defRPr sz="1200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从周期性汇总转向实时事实，从经验排产转向模型建议，从追进度转向异常闭环。</a:t>
            </a:r>
            <a:endParaRPr sz="1200" b="0">
              <a:solidFill>
                <a:srgbClr val="A8BBC7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2"/>
          <a:srcRect t="28105" b="28105"/>
          <a:stretch>
            <a:fillRect/>
          </a:stretch>
        </p:blipFill>
        <p:spPr>
          <a:xfrm>
            <a:off x="704850" y="1428750"/>
            <a:ext cx="10744200" cy="2647950"/>
          </a:xfrm>
          <a:prstGeom prst="roundRect">
            <a:avLst>
              <a:gd name="adj" fmla="val 6475"/>
            </a:avLst>
          </a:prstGeom>
        </p:spPr>
      </p:pic>
      <p:sp>
        <p:nvSpPr>
          <p:cNvPr id="9" name="s3-current-caption"/>
          <p:cNvSpPr>
            <a:spLocks noGrp="1"/>
          </p:cNvSpPr>
          <p:nvPr/>
        </p:nvSpPr>
        <p:spPr>
          <a:xfrm>
            <a:off x="914400" y="3200400"/>
            <a:ext cx="2457450" cy="704850"/>
          </a:xfrm>
          <a:prstGeom prst="roundRect">
            <a:avLst>
              <a:gd name="adj" fmla="val 18919"/>
            </a:avLst>
          </a:prstGeom>
          <a:solidFill>
            <a:srgbClr val="071A25"/>
          </a:solidFill>
          <a:ln w="15240">
            <a:solidFill>
              <a:srgbClr val="52617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0" name="s3-current-caption-t"/>
          <p:cNvSpPr>
            <a:spLocks noGrp="1"/>
          </p:cNvSpPr>
          <p:nvPr/>
        </p:nvSpPr>
        <p:spPr>
          <a:xfrm>
            <a:off x="1028700" y="3286125"/>
            <a:ext cx="2228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2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现状｜会议驱动</a:t>
            </a:r>
            <a:endParaRPr sz="1275" b="1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s3-current-caption-b"/>
          <p:cNvSpPr>
            <a:spLocks noGrp="1"/>
          </p:cNvSpPr>
          <p:nvPr/>
        </p:nvSpPr>
        <p:spPr>
          <a:xfrm>
            <a:off x="1028700" y="3552825"/>
            <a:ext cx="2228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915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915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周期汇总 · 事后复盘</a:t>
            </a:r>
            <a:endParaRPr sz="915" b="0">
              <a:solidFill>
                <a:srgbClr val="A8BBC7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90000"/>
              </a:lnSpc>
              <a:buNone/>
              <a:defRPr sz="915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915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信息分散、手工追进度</a:t>
            </a:r>
            <a:endParaRPr sz="915" b="0">
              <a:solidFill>
                <a:srgbClr val="A8BBC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s3-core-caption"/>
          <p:cNvSpPr>
            <a:spLocks noGrp="1"/>
          </p:cNvSpPr>
          <p:nvPr/>
        </p:nvSpPr>
        <p:spPr>
          <a:xfrm>
            <a:off x="4514850" y="3124200"/>
            <a:ext cx="3162300" cy="838200"/>
          </a:xfrm>
          <a:prstGeom prst="roundRect">
            <a:avLst>
              <a:gd name="adj" fmla="val 20455"/>
            </a:avLst>
          </a:prstGeom>
          <a:solidFill>
            <a:srgbClr val="082E3D"/>
          </a:solidFill>
          <a:ln w="15240">
            <a:solidFill>
              <a:srgbClr val="08B9F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3" name="s3-core-caption-t"/>
          <p:cNvSpPr>
            <a:spLocks noGrp="1"/>
          </p:cNvSpPr>
          <p:nvPr/>
        </p:nvSpPr>
        <p:spPr>
          <a:xfrm>
            <a:off x="4667250" y="32194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35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SCOS中枢</a:t>
            </a:r>
            <a:endParaRPr sz="1350" b="1"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s3-core-caption-b"/>
          <p:cNvSpPr>
            <a:spLocks noGrp="1"/>
          </p:cNvSpPr>
          <p:nvPr/>
        </p:nvSpPr>
        <p:spPr>
          <a:xfrm>
            <a:off x="4667250" y="3476625"/>
            <a:ext cx="285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105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统一事实 · 模型推演</a:t>
            </a:r>
            <a:endParaRPr sz="1050" b="0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90000"/>
              </a:lnSpc>
              <a:buNone/>
              <a:defRPr sz="105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异常闭环 · 结果回流</a:t>
            </a:r>
            <a:endParaRPr sz="1050" b="0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s3-target-caption"/>
          <p:cNvSpPr>
            <a:spLocks noGrp="1"/>
          </p:cNvSpPr>
          <p:nvPr/>
        </p:nvSpPr>
        <p:spPr>
          <a:xfrm>
            <a:off x="8705850" y="3200400"/>
            <a:ext cx="2457450" cy="704850"/>
          </a:xfrm>
          <a:prstGeom prst="roundRect">
            <a:avLst>
              <a:gd name="adj" fmla="val 18919"/>
            </a:avLst>
          </a:prstGeom>
          <a:solidFill>
            <a:srgbClr val="0A2A22"/>
          </a:solidFill>
          <a:ln w="15240">
            <a:solidFill>
              <a:srgbClr val="55D4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6" name="s3-target-caption-t"/>
          <p:cNvSpPr>
            <a:spLocks noGrp="1"/>
          </p:cNvSpPr>
          <p:nvPr/>
        </p:nvSpPr>
        <p:spPr>
          <a:xfrm>
            <a:off x="8820150" y="3286125"/>
            <a:ext cx="2228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2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目标｜驾驶舱驱动</a:t>
            </a:r>
            <a:endParaRPr sz="1275" b="1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s3-target-caption-b"/>
          <p:cNvSpPr>
            <a:spLocks noGrp="1"/>
          </p:cNvSpPr>
          <p:nvPr/>
        </p:nvSpPr>
        <p:spPr>
          <a:xfrm>
            <a:off x="8820150" y="3552825"/>
            <a:ext cx="2228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915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915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按节点看异常</a:t>
            </a:r>
            <a:endParaRPr sz="915" b="0">
              <a:solidFill>
                <a:srgbClr val="A8BBC7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90000"/>
              </a:lnSpc>
              <a:buNone/>
              <a:defRPr sz="915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915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执行结果回流、持续复盘</a:t>
            </a:r>
            <a:endParaRPr sz="915" b="0">
              <a:solidFill>
                <a:srgbClr val="A8BBC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s3-flow-arrow-1"/>
          <p:cNvSpPr>
            <a:spLocks noGrp="1"/>
          </p:cNvSpPr>
          <p:nvPr/>
        </p:nvSpPr>
        <p:spPr>
          <a:xfrm>
            <a:off x="3429000" y="3514725"/>
            <a:ext cx="819150" cy="152400"/>
          </a:xfrm>
          <a:prstGeom prst="rightArrow">
            <a:avLst/>
          </a:prstGeom>
          <a:solidFill>
            <a:srgbClr val="08B9F2"/>
          </a:solidFill>
          <a:ln w="0">
            <a:solidFill>
              <a:srgbClr val="08B9F2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s3-flow-arrow-2"/>
          <p:cNvSpPr>
            <a:spLocks noGrp="1"/>
          </p:cNvSpPr>
          <p:nvPr/>
        </p:nvSpPr>
        <p:spPr>
          <a:xfrm>
            <a:off x="7677150" y="3514725"/>
            <a:ext cx="819150" cy="152400"/>
          </a:xfrm>
          <a:prstGeom prst="rightArrow">
            <a:avLst/>
          </a:prstGeom>
          <a:solidFill>
            <a:srgbClr val="55D48A"/>
          </a:solidFill>
          <a:ln w="0">
            <a:solidFill>
              <a:srgbClr val="55D48A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s3-role-label-v3"/>
          <p:cNvSpPr>
            <a:spLocks noGrp="1"/>
          </p:cNvSpPr>
          <p:nvPr/>
        </p:nvSpPr>
        <p:spPr>
          <a:xfrm>
            <a:off x="704850" y="42291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4000"/>
              </a:lnSpc>
              <a:buNone/>
              <a:defRPr sz="11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管理角色的可感知变化</a:t>
            </a:r>
            <a:endParaRPr sz="1125" b="1"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s3-role-01"/>
          <p:cNvSpPr>
            <a:spLocks noGrp="1"/>
          </p:cNvSpPr>
          <p:nvPr/>
        </p:nvSpPr>
        <p:spPr>
          <a:xfrm>
            <a:off x="704850" y="4495800"/>
            <a:ext cx="2381250" cy="1066800"/>
          </a:xfrm>
          <a:prstGeom prst="roundRect">
            <a:avLst>
              <a:gd name="adj" fmla="val 14286"/>
            </a:avLst>
          </a:prstGeom>
          <a:solidFill>
            <a:srgbClr val="0B1E29"/>
          </a:solidFill>
          <a:ln w="15240">
            <a:solidFill>
              <a:srgbClr val="08B9F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22" name="s3-role-n-01"/>
          <p:cNvSpPr>
            <a:spLocks noGrp="1"/>
          </p:cNvSpPr>
          <p:nvPr/>
        </p:nvSpPr>
        <p:spPr>
          <a:xfrm>
            <a:off x="819150" y="4610100"/>
            <a:ext cx="28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4000"/>
              </a:lnSpc>
              <a:buNone/>
              <a:defRPr sz="1050" b="1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050" b="1">
              <a:solidFill>
                <a:srgbClr val="08B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s3-role-l-01"/>
          <p:cNvSpPr>
            <a:spLocks noGrp="1"/>
          </p:cNvSpPr>
          <p:nvPr/>
        </p:nvSpPr>
        <p:spPr>
          <a:xfrm>
            <a:off x="1143000" y="46101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050" b="1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计划管理</a:t>
            </a:r>
            <a:endParaRPr sz="1050" b="1">
              <a:solidFill>
                <a:srgbClr val="A8BBC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s3-role-p-01"/>
          <p:cNvSpPr>
            <a:spLocks noGrp="1"/>
          </p:cNvSpPr>
          <p:nvPr/>
        </p:nvSpPr>
        <p:spPr>
          <a:xfrm>
            <a:off x="838200" y="491490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09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凭经验排产  →  看智能建议</a:t>
            </a:r>
            <a:endParaRPr sz="1090" b="1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s3-role-d-01"/>
          <p:cNvSpPr>
            <a:spLocks noGrp="1"/>
          </p:cNvSpPr>
          <p:nvPr/>
        </p:nvSpPr>
        <p:spPr>
          <a:xfrm>
            <a:off x="838200" y="5200650"/>
            <a:ext cx="2114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88000"/>
              </a:lnSpc>
              <a:buNone/>
              <a:defRPr sz="840" b="0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约束、瓶颈与缺料提前可见</a:t>
            </a:r>
            <a:endParaRPr sz="840" b="0">
              <a:solidFill>
                <a:srgbClr val="08B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s3-role-02"/>
          <p:cNvSpPr>
            <a:spLocks noGrp="1"/>
          </p:cNvSpPr>
          <p:nvPr/>
        </p:nvSpPr>
        <p:spPr>
          <a:xfrm>
            <a:off x="3371850" y="4495800"/>
            <a:ext cx="2381250" cy="1066800"/>
          </a:xfrm>
          <a:prstGeom prst="roundRect">
            <a:avLst>
              <a:gd name="adj" fmla="val 14286"/>
            </a:avLst>
          </a:prstGeom>
          <a:solidFill>
            <a:srgbClr val="0B1E29"/>
          </a:solidFill>
          <a:ln w="15240">
            <a:solidFill>
              <a:srgbClr val="FFAE2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27" name="s3-role-n-02"/>
          <p:cNvSpPr>
            <a:spLocks noGrp="1"/>
          </p:cNvSpPr>
          <p:nvPr/>
        </p:nvSpPr>
        <p:spPr>
          <a:xfrm>
            <a:off x="3486150" y="4610100"/>
            <a:ext cx="28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4000"/>
              </a:lnSpc>
              <a:buNone/>
              <a:defRPr sz="1050" b="1">
                <a:solidFill>
                  <a:srgbClr val="FFAE2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AE2B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050" b="1">
              <a:solidFill>
                <a:srgbClr val="FFAE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s3-role-l-02"/>
          <p:cNvSpPr>
            <a:spLocks noGrp="1"/>
          </p:cNvSpPr>
          <p:nvPr/>
        </p:nvSpPr>
        <p:spPr>
          <a:xfrm>
            <a:off x="3810000" y="46101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050" b="1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会议机制</a:t>
            </a:r>
            <a:endParaRPr sz="1050" b="1">
              <a:solidFill>
                <a:srgbClr val="A8BBC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s3-role-p-02"/>
          <p:cNvSpPr>
            <a:spLocks noGrp="1"/>
          </p:cNvSpPr>
          <p:nvPr/>
        </p:nvSpPr>
        <p:spPr>
          <a:xfrm>
            <a:off x="3505200" y="491490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09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天天开会  →  开异常会</a:t>
            </a:r>
            <a:endParaRPr sz="1090" b="1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s3-role-d-02"/>
          <p:cNvSpPr>
            <a:spLocks noGrp="1"/>
          </p:cNvSpPr>
          <p:nvPr/>
        </p:nvSpPr>
        <p:spPr>
          <a:xfrm>
            <a:off x="3505200" y="5200650"/>
            <a:ext cx="2114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88000"/>
              </a:lnSpc>
              <a:buNone/>
              <a:defRPr sz="840" b="0">
                <a:solidFill>
                  <a:srgbClr val="FFAE2B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FFAE2B"/>
                </a:solidFill>
                <a:latin typeface="微软雅黑"/>
                <a:ea typeface="微软雅黑"/>
                <a:cs typeface="微软雅黑"/>
              </a:rPr>
              <a:t>只讨论偏差与决策，不重复报数</a:t>
            </a:r>
            <a:endParaRPr sz="840" b="0">
              <a:solidFill>
                <a:srgbClr val="FFAE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s3-role-03"/>
          <p:cNvSpPr>
            <a:spLocks noGrp="1"/>
          </p:cNvSpPr>
          <p:nvPr/>
        </p:nvSpPr>
        <p:spPr>
          <a:xfrm>
            <a:off x="6038850" y="4495800"/>
            <a:ext cx="2381250" cy="1066800"/>
          </a:xfrm>
          <a:prstGeom prst="roundRect">
            <a:avLst>
              <a:gd name="adj" fmla="val 14286"/>
            </a:avLst>
          </a:prstGeom>
          <a:solidFill>
            <a:srgbClr val="0B1E29"/>
          </a:solidFill>
          <a:ln w="15240">
            <a:solidFill>
              <a:srgbClr val="55D4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32" name="s3-role-n-03"/>
          <p:cNvSpPr>
            <a:spLocks noGrp="1"/>
          </p:cNvSpPr>
          <p:nvPr/>
        </p:nvSpPr>
        <p:spPr>
          <a:xfrm>
            <a:off x="6153150" y="4610100"/>
            <a:ext cx="28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4000"/>
              </a:lnSpc>
              <a:buNone/>
              <a:defRPr sz="1050" b="1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050" b="1">
              <a:solidFill>
                <a:srgbClr val="55D4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s3-role-l-03"/>
          <p:cNvSpPr>
            <a:spLocks noGrp="1"/>
          </p:cNvSpPr>
          <p:nvPr/>
        </p:nvSpPr>
        <p:spPr>
          <a:xfrm>
            <a:off x="6477000" y="46101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050" b="1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供应协同</a:t>
            </a:r>
            <a:endParaRPr sz="1050" b="1">
              <a:solidFill>
                <a:srgbClr val="A8BBC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s3-role-p-03"/>
          <p:cNvSpPr>
            <a:spLocks noGrp="1"/>
          </p:cNvSpPr>
          <p:nvPr/>
        </p:nvSpPr>
        <p:spPr>
          <a:xfrm>
            <a:off x="6172200" y="491490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09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催进度  →  看节点</a:t>
            </a:r>
            <a:endParaRPr sz="1090" b="1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s3-role-d-03"/>
          <p:cNvSpPr>
            <a:spLocks noGrp="1"/>
          </p:cNvSpPr>
          <p:nvPr/>
        </p:nvSpPr>
        <p:spPr>
          <a:xfrm>
            <a:off x="6172200" y="5200650"/>
            <a:ext cx="2114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88000"/>
              </a:lnSpc>
              <a:buNone/>
              <a:defRPr sz="840" b="0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按订单与到货节点自动预警</a:t>
            </a:r>
            <a:endParaRPr sz="840" b="0">
              <a:solidFill>
                <a:srgbClr val="55D4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s3-role-04"/>
          <p:cNvSpPr>
            <a:spLocks noGrp="1"/>
          </p:cNvSpPr>
          <p:nvPr/>
        </p:nvSpPr>
        <p:spPr>
          <a:xfrm>
            <a:off x="8705850" y="4495800"/>
            <a:ext cx="2381250" cy="1066800"/>
          </a:xfrm>
          <a:prstGeom prst="roundRect">
            <a:avLst>
              <a:gd name="adj" fmla="val 14286"/>
            </a:avLst>
          </a:prstGeom>
          <a:solidFill>
            <a:srgbClr val="0B1E29"/>
          </a:solidFill>
          <a:ln w="15240">
            <a:solidFill>
              <a:srgbClr val="08B9F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37" name="s3-role-n-04"/>
          <p:cNvSpPr>
            <a:spLocks noGrp="1"/>
          </p:cNvSpPr>
          <p:nvPr/>
        </p:nvSpPr>
        <p:spPr>
          <a:xfrm>
            <a:off x="8820150" y="4610100"/>
            <a:ext cx="28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4000"/>
              </a:lnSpc>
              <a:buNone/>
              <a:defRPr sz="1050" b="1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050" b="1">
              <a:solidFill>
                <a:srgbClr val="08B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s3-role-l-04"/>
          <p:cNvSpPr>
            <a:spLocks noGrp="1"/>
          </p:cNvSpPr>
          <p:nvPr/>
        </p:nvSpPr>
        <p:spPr>
          <a:xfrm>
            <a:off x="9144000" y="46101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050" b="1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财务复盘</a:t>
            </a:r>
            <a:endParaRPr sz="1050" b="1">
              <a:solidFill>
                <a:srgbClr val="A8BBC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s3-role-p-04"/>
          <p:cNvSpPr>
            <a:spLocks noGrp="1"/>
          </p:cNvSpPr>
          <p:nvPr/>
        </p:nvSpPr>
        <p:spPr>
          <a:xfrm>
            <a:off x="8839200" y="491490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09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手工对账  →  看KPI</a:t>
            </a:r>
            <a:endParaRPr sz="1090" b="1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s3-role-d-04"/>
          <p:cNvSpPr>
            <a:spLocks noGrp="1"/>
          </p:cNvSpPr>
          <p:nvPr/>
        </p:nvSpPr>
        <p:spPr>
          <a:xfrm>
            <a:off x="8839200" y="5200650"/>
            <a:ext cx="2114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88000"/>
              </a:lnSpc>
              <a:buNone/>
              <a:defRPr sz="840" b="0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批次、客户、订单利润可追溯</a:t>
            </a:r>
            <a:endParaRPr sz="840" b="0">
              <a:solidFill>
                <a:srgbClr val="08B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s3-foot-v3"/>
          <p:cNvSpPr>
            <a:spLocks noGrp="1"/>
          </p:cNvSpPr>
          <p:nvPr/>
        </p:nvSpPr>
        <p:spPr>
          <a:xfrm>
            <a:off x="704850" y="5772150"/>
            <a:ext cx="10744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125" b="1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变化不是增加报表，而是让决策前置、异常显性化、执行结果可复盘。</a:t>
            </a:r>
            <a:endParaRPr sz="1125" b="1">
              <a:solidFill>
                <a:srgbClr val="55D48A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 sz="1400"/>
          </a:p>
        </p:txBody>
      </p:sp>
      <p:pic>
        <p:nvPicPr>
          <p:cNvPr id="48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>
            <a:spLocks noGrp="1"/>
          </p:cNvSpPr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85725" tIns="38100" rIns="85725" bIns="38100" anchor="ctr">
            <a:normAutofit/>
          </a:bodyPr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7、供应链优化价值总结：把精益方法变成可追踪的经营结果</a:t>
            </a:r>
            <a:endParaRPr sz="2400" b="1" i="0" u="none"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s4-subtitle-v3"/>
          <p:cNvSpPr>
            <a:spLocks noGrp="1"/>
          </p:cNvSpPr>
          <p:nvPr/>
        </p:nvSpPr>
        <p:spPr>
          <a:xfrm>
            <a:off x="704850" y="1009650"/>
            <a:ext cx="10744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4000"/>
              </a:lnSpc>
              <a:buNone/>
              <a:defRPr sz="1200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计划、执行、成本与经营指标形成连续证据，价值不靠口号，而靠可验收口径持续证明。</a:t>
            </a:r>
            <a:endParaRPr sz="1200" b="0">
              <a:solidFill>
                <a:srgbClr val="A8BBC7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rcRect t="32713" b="32713"/>
          <a:stretch>
            <a:fillRect/>
          </a:stretch>
        </p:blipFill>
        <p:spPr>
          <a:xfrm>
            <a:off x="704850" y="1428750"/>
            <a:ext cx="10744200" cy="2476500"/>
          </a:xfrm>
          <a:prstGeom prst="roundRect">
            <a:avLst>
              <a:gd name="adj" fmla="val 6923"/>
            </a:avLst>
          </a:prstGeom>
        </p:spPr>
      </p:pic>
      <p:sp>
        <p:nvSpPr>
          <p:cNvPr id="11" name="s4-hero-label"/>
          <p:cNvSpPr>
            <a:spLocks noGrp="1"/>
          </p:cNvSpPr>
          <p:nvPr/>
        </p:nvSpPr>
        <p:spPr>
          <a:xfrm>
            <a:off x="914400" y="1638300"/>
            <a:ext cx="4000500" cy="666750"/>
          </a:xfrm>
          <a:prstGeom prst="roundRect">
            <a:avLst>
              <a:gd name="adj" fmla="val 22857"/>
            </a:avLst>
          </a:prstGeom>
          <a:solidFill>
            <a:srgbClr val="071A25"/>
          </a:solidFill>
          <a:ln w="15240">
            <a:solidFill>
              <a:srgbClr val="08B9F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2" name="s4-hero-label-t"/>
          <p:cNvSpPr>
            <a:spLocks noGrp="1"/>
          </p:cNvSpPr>
          <p:nvPr/>
        </p:nvSpPr>
        <p:spPr>
          <a:xfrm>
            <a:off x="1066800" y="1743075"/>
            <a:ext cx="371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4000"/>
              </a:lnSpc>
              <a:buNone/>
              <a:defRPr sz="14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四类经营事实收敛为一条价值流</a:t>
            </a:r>
            <a:endParaRPr sz="1425" b="1"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s4-hero-label-b"/>
          <p:cNvSpPr>
            <a:spLocks noGrp="1"/>
          </p:cNvSpPr>
          <p:nvPr/>
        </p:nvSpPr>
        <p:spPr>
          <a:xfrm>
            <a:off x="1066800" y="2000250"/>
            <a:ext cx="3714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4000"/>
              </a:lnSpc>
              <a:buNone/>
              <a:defRPr sz="105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计划 · 物料 · 成本 · 决策</a:t>
            </a:r>
            <a:endParaRPr sz="1050" b="0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s4-value-arrow-1"/>
          <p:cNvSpPr>
            <a:spLocks noGrp="1"/>
          </p:cNvSpPr>
          <p:nvPr/>
        </p:nvSpPr>
        <p:spPr>
          <a:xfrm>
            <a:off x="3181350" y="3829050"/>
            <a:ext cx="209550" cy="114300"/>
          </a:xfrm>
          <a:prstGeom prst="rightArrow">
            <a:avLst/>
          </a:prstGeom>
          <a:solidFill>
            <a:srgbClr val="55D48A"/>
          </a:solidFill>
          <a:ln w="0">
            <a:solidFill>
              <a:srgbClr val="55D48A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s4-value-arrow-2"/>
          <p:cNvSpPr>
            <a:spLocks noGrp="1"/>
          </p:cNvSpPr>
          <p:nvPr/>
        </p:nvSpPr>
        <p:spPr>
          <a:xfrm>
            <a:off x="5505450" y="3829050"/>
            <a:ext cx="209550" cy="114300"/>
          </a:xfrm>
          <a:prstGeom prst="rightArrow">
            <a:avLst/>
          </a:prstGeom>
          <a:solidFill>
            <a:srgbClr val="FFAE2B"/>
          </a:solidFill>
          <a:ln w="0">
            <a:solidFill>
              <a:srgbClr val="FFAE2B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4-value-arrow-3"/>
          <p:cNvSpPr>
            <a:spLocks noGrp="1"/>
          </p:cNvSpPr>
          <p:nvPr/>
        </p:nvSpPr>
        <p:spPr>
          <a:xfrm>
            <a:off x="7829550" y="3829050"/>
            <a:ext cx="209550" cy="114300"/>
          </a:xfrm>
          <a:prstGeom prst="rightArrow">
            <a:avLst/>
          </a:prstGeom>
          <a:solidFill>
            <a:srgbClr val="C7D52B"/>
          </a:solidFill>
          <a:ln w="0">
            <a:solidFill>
              <a:srgbClr val="C7D52B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s4-label-116"/>
          <p:cNvSpPr>
            <a:spLocks noGrp="1"/>
          </p:cNvSpPr>
          <p:nvPr/>
        </p:nvSpPr>
        <p:spPr>
          <a:xfrm>
            <a:off x="1104900" y="3524250"/>
            <a:ext cx="2076450" cy="723900"/>
          </a:xfrm>
          <a:prstGeom prst="roundRect">
            <a:avLst>
              <a:gd name="adj" fmla="val 19737"/>
            </a:avLst>
          </a:prstGeom>
          <a:solidFill>
            <a:srgbClr val="071A25"/>
          </a:solidFill>
          <a:ln w="15240">
            <a:solidFill>
              <a:srgbClr val="08B9F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18" name="s4-label-h-116"/>
          <p:cNvSpPr>
            <a:spLocks noGrp="1"/>
          </p:cNvSpPr>
          <p:nvPr/>
        </p:nvSpPr>
        <p:spPr>
          <a:xfrm>
            <a:off x="1219200" y="3600450"/>
            <a:ext cx="1847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计划可执行</a:t>
            </a:r>
            <a:endParaRPr sz="1200" b="1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4-label-b-116"/>
          <p:cNvSpPr>
            <a:spLocks noGrp="1"/>
          </p:cNvSpPr>
          <p:nvPr/>
        </p:nvSpPr>
        <p:spPr>
          <a:xfrm>
            <a:off x="1219200" y="3838575"/>
            <a:ext cx="184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915" b="0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915" b="0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交付承诺可计算</a:t>
            </a:r>
            <a:endParaRPr sz="915" b="0">
              <a:solidFill>
                <a:srgbClr val="08B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4-label-e-116"/>
          <p:cNvSpPr>
            <a:spLocks noGrp="1"/>
          </p:cNvSpPr>
          <p:nvPr/>
        </p:nvSpPr>
        <p:spPr>
          <a:xfrm>
            <a:off x="1219200" y="4048125"/>
            <a:ext cx="184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840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排程结果可执行</a:t>
            </a:r>
            <a:endParaRPr sz="840" b="0">
              <a:solidFill>
                <a:srgbClr val="A8BBC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s4-label-360"/>
          <p:cNvSpPr>
            <a:spLocks noGrp="1"/>
          </p:cNvSpPr>
          <p:nvPr/>
        </p:nvSpPr>
        <p:spPr>
          <a:xfrm>
            <a:off x="3429000" y="3524250"/>
            <a:ext cx="2076450" cy="723900"/>
          </a:xfrm>
          <a:prstGeom prst="roundRect">
            <a:avLst>
              <a:gd name="adj" fmla="val 19737"/>
            </a:avLst>
          </a:prstGeom>
          <a:solidFill>
            <a:srgbClr val="071A25"/>
          </a:solidFill>
          <a:ln w="15240">
            <a:solidFill>
              <a:srgbClr val="55D4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22" name="s4-label-h-360"/>
          <p:cNvSpPr>
            <a:spLocks noGrp="1"/>
          </p:cNvSpPr>
          <p:nvPr/>
        </p:nvSpPr>
        <p:spPr>
          <a:xfrm>
            <a:off x="3543300" y="3600450"/>
            <a:ext cx="1847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物料可保障</a:t>
            </a:r>
            <a:endParaRPr sz="1200" b="1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s4-label-b-360"/>
          <p:cNvSpPr>
            <a:spLocks noGrp="1"/>
          </p:cNvSpPr>
          <p:nvPr/>
        </p:nvSpPr>
        <p:spPr>
          <a:xfrm>
            <a:off x="3543300" y="3838575"/>
            <a:ext cx="184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915" b="0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915" b="0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库存与采购协同</a:t>
            </a:r>
            <a:endParaRPr sz="915" b="0">
              <a:solidFill>
                <a:srgbClr val="55D4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s4-label-e-360"/>
          <p:cNvSpPr>
            <a:spLocks noGrp="1"/>
          </p:cNvSpPr>
          <p:nvPr/>
        </p:nvSpPr>
        <p:spPr>
          <a:xfrm>
            <a:off x="3543300" y="4048125"/>
            <a:ext cx="184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840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缺料风险提前预警</a:t>
            </a:r>
            <a:endParaRPr sz="840" b="0">
              <a:solidFill>
                <a:srgbClr val="A8BBC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s4-label-604"/>
          <p:cNvSpPr>
            <a:spLocks noGrp="1"/>
          </p:cNvSpPr>
          <p:nvPr/>
        </p:nvSpPr>
        <p:spPr>
          <a:xfrm>
            <a:off x="5753100" y="3524250"/>
            <a:ext cx="2076450" cy="723900"/>
          </a:xfrm>
          <a:prstGeom prst="roundRect">
            <a:avLst>
              <a:gd name="adj" fmla="val 19737"/>
            </a:avLst>
          </a:prstGeom>
          <a:solidFill>
            <a:srgbClr val="071A25"/>
          </a:solidFill>
          <a:ln w="15240">
            <a:solidFill>
              <a:srgbClr val="FFAE2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26" name="s4-label-h-604"/>
          <p:cNvSpPr>
            <a:spLocks noGrp="1"/>
          </p:cNvSpPr>
          <p:nvPr/>
        </p:nvSpPr>
        <p:spPr>
          <a:xfrm>
            <a:off x="5867400" y="3600450"/>
            <a:ext cx="1847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成本可解释</a:t>
            </a:r>
            <a:endParaRPr sz="1200" b="1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s4-label-b-604"/>
          <p:cNvSpPr>
            <a:spLocks noGrp="1"/>
          </p:cNvSpPr>
          <p:nvPr/>
        </p:nvSpPr>
        <p:spPr>
          <a:xfrm>
            <a:off x="5867400" y="3838575"/>
            <a:ext cx="184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915" b="0">
                <a:solidFill>
                  <a:srgbClr val="FFAE2B"/>
                </a:solidFill>
                <a:latin typeface="微软雅黑"/>
                <a:ea typeface="微软雅黑"/>
                <a:cs typeface="微软雅黑"/>
              </a:defRPr>
            </a:pPr>
            <a:r>
              <a:rPr sz="915" b="0">
                <a:solidFill>
                  <a:srgbClr val="FFAE2B"/>
                </a:solidFill>
                <a:latin typeface="微软雅黑"/>
                <a:ea typeface="微软雅黑"/>
                <a:cs typeface="微软雅黑"/>
              </a:rPr>
              <a:t>批次利润可穿透</a:t>
            </a:r>
            <a:endParaRPr sz="915" b="0">
              <a:solidFill>
                <a:srgbClr val="FFAE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s4-label-e-604"/>
          <p:cNvSpPr>
            <a:spLocks noGrp="1"/>
          </p:cNvSpPr>
          <p:nvPr/>
        </p:nvSpPr>
        <p:spPr>
          <a:xfrm>
            <a:off x="5867400" y="4048125"/>
            <a:ext cx="184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840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偏差原因可定位</a:t>
            </a:r>
            <a:endParaRPr sz="840" b="0">
              <a:solidFill>
                <a:srgbClr val="A8BBC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s4-label-848"/>
          <p:cNvSpPr>
            <a:spLocks noGrp="1"/>
          </p:cNvSpPr>
          <p:nvPr/>
        </p:nvSpPr>
        <p:spPr>
          <a:xfrm>
            <a:off x="8077200" y="3524250"/>
            <a:ext cx="2076450" cy="723900"/>
          </a:xfrm>
          <a:prstGeom prst="roundRect">
            <a:avLst>
              <a:gd name="adj" fmla="val 19737"/>
            </a:avLst>
          </a:prstGeom>
          <a:solidFill>
            <a:srgbClr val="071A25"/>
          </a:solidFill>
          <a:ln w="15240">
            <a:solidFill>
              <a:srgbClr val="C7D52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30" name="s4-label-h-848"/>
          <p:cNvSpPr>
            <a:spLocks noGrp="1"/>
          </p:cNvSpPr>
          <p:nvPr/>
        </p:nvSpPr>
        <p:spPr>
          <a:xfrm>
            <a:off x="8191500" y="3600450"/>
            <a:ext cx="1847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决策可复盘</a:t>
            </a:r>
            <a:endParaRPr sz="1200" b="1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s4-label-b-848"/>
          <p:cNvSpPr>
            <a:spLocks noGrp="1"/>
          </p:cNvSpPr>
          <p:nvPr/>
        </p:nvSpPr>
        <p:spPr>
          <a:xfrm>
            <a:off x="8191500" y="3838575"/>
            <a:ext cx="184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915" b="0">
                <a:solidFill>
                  <a:srgbClr val="C7D52B"/>
                </a:solidFill>
                <a:latin typeface="微软雅黑"/>
                <a:ea typeface="微软雅黑"/>
                <a:cs typeface="微软雅黑"/>
              </a:defRPr>
            </a:pPr>
            <a:r>
              <a:rPr sz="915" b="0">
                <a:solidFill>
                  <a:srgbClr val="C7D52B"/>
                </a:solidFill>
                <a:latin typeface="微软雅黑"/>
                <a:ea typeface="微软雅黑"/>
                <a:cs typeface="微软雅黑"/>
              </a:rPr>
              <a:t>结果回流可沉淀</a:t>
            </a:r>
            <a:endParaRPr sz="915" b="0">
              <a:solidFill>
                <a:srgbClr val="C7D5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s4-label-e-848"/>
          <p:cNvSpPr>
            <a:spLocks noGrp="1"/>
          </p:cNvSpPr>
          <p:nvPr/>
        </p:nvSpPr>
        <p:spPr>
          <a:xfrm>
            <a:off x="8191500" y="4048125"/>
            <a:ext cx="184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840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情景推演可复用</a:t>
            </a:r>
            <a:endParaRPr sz="840" b="0">
              <a:solidFill>
                <a:srgbClr val="A8BBC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s4-kpi-label-v3"/>
          <p:cNvSpPr>
            <a:spLocks noGrp="1"/>
          </p:cNvSpPr>
          <p:nvPr/>
        </p:nvSpPr>
        <p:spPr>
          <a:xfrm>
            <a:off x="704850" y="438150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4000"/>
              </a:lnSpc>
              <a:buNone/>
              <a:defRPr sz="11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指标框架｜先定义口径，再持续采集</a:t>
            </a:r>
            <a:endParaRPr sz="1125" b="1"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s4-kpi-0"/>
          <p:cNvSpPr>
            <a:spLocks noGrp="1"/>
          </p:cNvSpPr>
          <p:nvPr/>
        </p:nvSpPr>
        <p:spPr>
          <a:xfrm>
            <a:off x="704850" y="4648200"/>
            <a:ext cx="2419350" cy="857250"/>
          </a:xfrm>
          <a:prstGeom prst="roundRect">
            <a:avLst>
              <a:gd name="adj" fmla="val 17778"/>
            </a:avLst>
          </a:prstGeom>
          <a:solidFill>
            <a:srgbClr val="0B1E29"/>
          </a:solidFill>
          <a:ln w="15240">
            <a:solidFill>
              <a:srgbClr val="08B9F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35" name="s4-kpi-head-0"/>
          <p:cNvSpPr>
            <a:spLocks noGrp="1"/>
          </p:cNvSpPr>
          <p:nvPr/>
        </p:nvSpPr>
        <p:spPr>
          <a:xfrm>
            <a:off x="819150" y="47625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09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调度会议次数 / 月</a:t>
            </a:r>
            <a:endParaRPr sz="1090" b="1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s4-kpi-body-0"/>
          <p:cNvSpPr>
            <a:spLocks noGrp="1"/>
          </p:cNvSpPr>
          <p:nvPr/>
        </p:nvSpPr>
        <p:spPr>
          <a:xfrm>
            <a:off x="819150" y="5057775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915" b="0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915" b="0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异常触发替代定期汇总</a:t>
            </a:r>
            <a:endParaRPr sz="915" b="0">
              <a:solidFill>
                <a:srgbClr val="08B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s4-kpi-1"/>
          <p:cNvSpPr>
            <a:spLocks noGrp="1"/>
          </p:cNvSpPr>
          <p:nvPr/>
        </p:nvSpPr>
        <p:spPr>
          <a:xfrm>
            <a:off x="3448050" y="4648200"/>
            <a:ext cx="2419350" cy="857250"/>
          </a:xfrm>
          <a:prstGeom prst="roundRect">
            <a:avLst>
              <a:gd name="adj" fmla="val 17778"/>
            </a:avLst>
          </a:prstGeom>
          <a:solidFill>
            <a:srgbClr val="0B1E29"/>
          </a:solidFill>
          <a:ln w="15240">
            <a:solidFill>
              <a:srgbClr val="FFAE2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38" name="s4-kpi-head-1"/>
          <p:cNvSpPr>
            <a:spLocks noGrp="1"/>
          </p:cNvSpPr>
          <p:nvPr/>
        </p:nvSpPr>
        <p:spPr>
          <a:xfrm>
            <a:off x="3562350" y="47625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09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可提前识别风险场景数</a:t>
            </a:r>
            <a:endParaRPr sz="1090" b="1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s4-kpi-body-1"/>
          <p:cNvSpPr>
            <a:spLocks noGrp="1"/>
          </p:cNvSpPr>
          <p:nvPr/>
        </p:nvSpPr>
        <p:spPr>
          <a:xfrm>
            <a:off x="3562350" y="5057775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915" b="0">
                <a:solidFill>
                  <a:srgbClr val="FFAE2B"/>
                </a:solidFill>
                <a:latin typeface="微软雅黑"/>
                <a:ea typeface="微软雅黑"/>
                <a:cs typeface="微软雅黑"/>
              </a:defRPr>
            </a:pPr>
            <a:r>
              <a:rPr sz="915" b="0">
                <a:solidFill>
                  <a:srgbClr val="FFAE2B"/>
                </a:solidFill>
                <a:latin typeface="微软雅黑"/>
                <a:ea typeface="微软雅黑"/>
                <a:cs typeface="微软雅黑"/>
              </a:rPr>
              <a:t>响应窗口前置</a:t>
            </a:r>
            <a:endParaRPr sz="915" b="0">
              <a:solidFill>
                <a:srgbClr val="FFAE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s4-kpi-2"/>
          <p:cNvSpPr>
            <a:spLocks noGrp="1"/>
          </p:cNvSpPr>
          <p:nvPr/>
        </p:nvSpPr>
        <p:spPr>
          <a:xfrm>
            <a:off x="6191250" y="4648200"/>
            <a:ext cx="2419350" cy="857250"/>
          </a:xfrm>
          <a:prstGeom prst="roundRect">
            <a:avLst>
              <a:gd name="adj" fmla="val 17778"/>
            </a:avLst>
          </a:prstGeom>
          <a:solidFill>
            <a:srgbClr val="0B1E29"/>
          </a:solidFill>
          <a:ln w="15240">
            <a:solidFill>
              <a:srgbClr val="55D4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41" name="s4-kpi-head-2"/>
          <p:cNvSpPr>
            <a:spLocks noGrp="1"/>
          </p:cNvSpPr>
          <p:nvPr/>
        </p:nvSpPr>
        <p:spPr>
          <a:xfrm>
            <a:off x="6305550" y="47625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09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系统生成经营方案场景数</a:t>
            </a:r>
            <a:endParaRPr sz="1090" b="1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s4-kpi-body-2"/>
          <p:cNvSpPr>
            <a:spLocks noGrp="1"/>
          </p:cNvSpPr>
          <p:nvPr/>
        </p:nvSpPr>
        <p:spPr>
          <a:xfrm>
            <a:off x="6305550" y="5057775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915" b="0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915" b="0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方案可追溯、可复用</a:t>
            </a:r>
            <a:endParaRPr sz="915" b="0">
              <a:solidFill>
                <a:srgbClr val="55D4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s4-kpi-3"/>
          <p:cNvSpPr>
            <a:spLocks noGrp="1"/>
          </p:cNvSpPr>
          <p:nvPr/>
        </p:nvSpPr>
        <p:spPr>
          <a:xfrm>
            <a:off x="8934450" y="4648200"/>
            <a:ext cx="2419350" cy="857250"/>
          </a:xfrm>
          <a:prstGeom prst="roundRect">
            <a:avLst>
              <a:gd name="adj" fmla="val 17778"/>
            </a:avLst>
          </a:prstGeom>
          <a:solidFill>
            <a:srgbClr val="0B1E29"/>
          </a:solidFill>
          <a:ln w="15240">
            <a:solidFill>
              <a:srgbClr val="08B9F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wrap="square" lIns="95250" tIns="76200" rIns="95250" bIns="76200" anchor="ctr">
            <a:normAutofit/>
          </a:bodyPr>
          <a:lstStyle/>
          <a:p/>
        </p:txBody>
      </p:sp>
      <p:sp>
        <p:nvSpPr>
          <p:cNvPr id="44" name="s4-kpi-head-3"/>
          <p:cNvSpPr>
            <a:spLocks noGrp="1"/>
          </p:cNvSpPr>
          <p:nvPr/>
        </p:nvSpPr>
        <p:spPr>
          <a:xfrm>
            <a:off x="9048750" y="47625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09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情景推演采纳率（%）</a:t>
            </a:r>
            <a:endParaRPr sz="1090" b="1">
              <a:solidFill>
                <a:srgbClr val="F2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s4-kpi-body-3"/>
          <p:cNvSpPr>
            <a:spLocks noGrp="1"/>
          </p:cNvSpPr>
          <p:nvPr/>
        </p:nvSpPr>
        <p:spPr>
          <a:xfrm>
            <a:off x="9048750" y="5057775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  <a:defRPr sz="915" b="0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915" b="0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推演进入真实决策</a:t>
            </a:r>
            <a:endParaRPr sz="915" b="0">
              <a:solidFill>
                <a:srgbClr val="08B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s4-foot-v3"/>
          <p:cNvSpPr>
            <a:spLocks noGrp="1"/>
          </p:cNvSpPr>
          <p:nvPr/>
        </p:nvSpPr>
        <p:spPr>
          <a:xfrm>
            <a:off x="704850" y="5715000"/>
            <a:ext cx="10744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4000"/>
              </a:lnSpc>
              <a:buNone/>
              <a:defRPr sz="1125" b="0">
                <a:solidFill>
                  <a:srgbClr val="A8BBC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A8BBC7"/>
                </a:solidFill>
                <a:latin typeface="微软雅黑"/>
                <a:ea typeface="微软雅黑"/>
                <a:cs typeface="微软雅黑"/>
              </a:rPr>
              <a:t>蓝图交付重点：口径统一、流程可执行、结果可追溯、价值可复盘。</a:t>
            </a:r>
            <a:endParaRPr sz="1125" b="0">
              <a:solidFill>
                <a:srgbClr val="A8BBC7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 sz="1400"/>
          </a:p>
        </p:txBody>
      </p:sp>
      <p:pic>
        <p:nvPicPr>
          <p:cNvPr id="111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>
            <a:spLocks noGrp="1"/>
          </p:cNvSpPr>
          <p:nvPr/>
        </p:nvSpPr>
        <p:spPr>
          <a:xfrm>
            <a:off x="711200" y="444500"/>
            <a:ext cx="11543665" cy="4699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88900" tIns="50800" rIns="88900" bIns="50800" anchor="t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淀粉糖生产运营业务现状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VS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未来蓝图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sz="24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经营管理智能辅助决策升级</a:t>
            </a:r>
            <a:endParaRPr sz="2400"/>
          </a:p>
          <a:p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AutoShape 17"/>
          <p:cNvSpPr>
            <a:spLocks noGrp="1"/>
          </p:cNvSpPr>
          <p:nvPr/>
        </p:nvSpPr>
        <p:spPr>
          <a:xfrm>
            <a:off x="3048000" y="1397000"/>
            <a:ext cx="2870200" cy="4826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</a:p>
        </p:txBody>
      </p:sp>
      <p:pic>
        <p:nvPicPr>
          <p:cNvPr id="114" name="Picture 1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38500" y="1651000"/>
            <a:ext cx="304800" cy="304800"/>
          </a:xfrm>
          <a:prstGeom prst="rect">
            <a:avLst/>
          </a:prstGeom>
        </p:spPr>
      </p:pic>
      <p:sp>
        <p:nvSpPr>
          <p:cNvPr id="22" name="AutoShape 19"/>
          <p:cNvSpPr>
            <a:spLocks noGrp="1"/>
          </p:cNvSpPr>
          <p:nvPr/>
        </p:nvSpPr>
        <p:spPr>
          <a:xfrm>
            <a:off x="3619500" y="1625600"/>
            <a:ext cx="2286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现状</a:t>
            </a:r>
            <a:endParaRPr sz="1100"/>
          </a:p>
        </p:txBody>
      </p:sp>
      <p:cxnSp>
        <p:nvCxnSpPr>
          <p:cNvPr id="116" name="Connector 20"/>
          <p:cNvCxnSpPr/>
          <p:nvPr/>
        </p:nvCxnSpPr>
        <p:spPr>
          <a:xfrm rot="-17539">
            <a:off x="3238516" y="2152650"/>
            <a:ext cx="2489200" cy="12700"/>
          </a:xfrm>
          <a:prstGeom prst="straightConnector1">
            <a:avLst/>
          </a:prstGeom>
          <a:ln w="12700" cap="flat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1"/>
          <p:cNvSpPr>
            <a:spLocks noGrp="1"/>
          </p:cNvSpPr>
          <p:nvPr/>
        </p:nvSpPr>
        <p:spPr>
          <a:xfrm>
            <a:off x="3195955" y="2433320"/>
            <a:ext cx="2616200" cy="299339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⽆智能辅助决策系统，当前采⽤“周期性回顾+经验驱动”的经营决策模式：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1.决策时效：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经营分析主要依赖⽉度或周度会议，数据汇总存在⼀定的周期，侧重于对过去⼀段时间业绩的事后复盘。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>
              <a:lnSpc>
                <a:spcPct val="117000"/>
              </a:lnSpc>
              <a:buNone/>
            </a:pP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2.分析深度：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⽬前主要通过报表展示历史统计数据，尚未引⼊多维度的模拟仿真⼯具（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What-if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分析），难以在决策前对不同策略（如排产调整、原料波动）的影响进⾏量化预演。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7" name="AutoShape 24"/>
          <p:cNvSpPr>
            <a:spLocks noGrp="1"/>
          </p:cNvSpPr>
          <p:nvPr/>
        </p:nvSpPr>
        <p:spPr>
          <a:xfrm>
            <a:off x="6045200" y="1397000"/>
            <a:ext cx="2870200" cy="4826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mpd="sng">
            <a:solidFill>
              <a:srgbClr val="3B82F6">
                <a:alpha val="7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</a:p>
        </p:txBody>
      </p:sp>
      <p:pic>
        <p:nvPicPr>
          <p:cNvPr id="119" name="Picture 2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5700" y="1651000"/>
            <a:ext cx="304800" cy="304800"/>
          </a:xfrm>
          <a:prstGeom prst="rect">
            <a:avLst/>
          </a:prstGeom>
        </p:spPr>
      </p:pic>
      <p:sp>
        <p:nvSpPr>
          <p:cNvPr id="29" name="AutoShape 26"/>
          <p:cNvSpPr>
            <a:spLocks noGrp="1"/>
          </p:cNvSpPr>
          <p:nvPr/>
        </p:nvSpPr>
        <p:spPr>
          <a:xfrm>
            <a:off x="6616700" y="1625600"/>
            <a:ext cx="2286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未来</a:t>
            </a:r>
            <a:endParaRPr sz="1100"/>
          </a:p>
        </p:txBody>
      </p:sp>
      <p:cxnSp>
        <p:nvCxnSpPr>
          <p:cNvPr id="121" name="Connector 27"/>
          <p:cNvCxnSpPr/>
          <p:nvPr/>
        </p:nvCxnSpPr>
        <p:spPr>
          <a:xfrm rot="-17539">
            <a:off x="6235716" y="2152650"/>
            <a:ext cx="2489200" cy="12700"/>
          </a:xfrm>
          <a:prstGeom prst="straightConnector1">
            <a:avLst/>
          </a:prstGeom>
          <a:ln w="12700" cap="flat">
            <a:solidFill>
              <a:srgbClr val="3B82F6">
                <a:alpha val="7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1"/>
          <p:cNvSpPr>
            <a:spLocks noGrp="1"/>
          </p:cNvSpPr>
          <p:nvPr/>
        </p:nvSpPr>
        <p:spPr>
          <a:xfrm>
            <a:off x="9042400" y="1397000"/>
            <a:ext cx="2870200" cy="48260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12700" cmpd="sng">
            <a:solidFill>
              <a:srgbClr val="F97316">
                <a:alpha val="8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</a:p>
        </p:txBody>
      </p:sp>
      <p:pic>
        <p:nvPicPr>
          <p:cNvPr id="123" name="Picture 3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32900" y="1651000"/>
            <a:ext cx="304800" cy="304800"/>
          </a:xfrm>
          <a:prstGeom prst="rect">
            <a:avLst/>
          </a:prstGeom>
        </p:spPr>
      </p:pic>
      <p:sp>
        <p:nvSpPr>
          <p:cNvPr id="36" name="AutoShape 33"/>
          <p:cNvSpPr>
            <a:spLocks noGrp="1"/>
          </p:cNvSpPr>
          <p:nvPr/>
        </p:nvSpPr>
        <p:spPr>
          <a:xfrm>
            <a:off x="9613900" y="1625600"/>
            <a:ext cx="2286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EA580C"/>
                </a:solidFill>
                <a:latin typeface="Noto Sans SC"/>
                <a:ea typeface="Noto Sans SC"/>
                <a:cs typeface="Noto Sans SC"/>
              </a:rPr>
              <a:t>关键跃升</a:t>
            </a:r>
            <a:endParaRPr sz="1100"/>
          </a:p>
        </p:txBody>
      </p:sp>
      <p:cxnSp>
        <p:nvCxnSpPr>
          <p:cNvPr id="125" name="Connector 34"/>
          <p:cNvCxnSpPr/>
          <p:nvPr/>
        </p:nvCxnSpPr>
        <p:spPr>
          <a:xfrm rot="-17539">
            <a:off x="9232916" y="2152650"/>
            <a:ext cx="2489200" cy="12700"/>
          </a:xfrm>
          <a:prstGeom prst="straightConnector1">
            <a:avLst/>
          </a:prstGeom>
          <a:ln w="12700" cap="flat">
            <a:solidFill>
              <a:srgbClr val="F97316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AutoShape 2"/>
          <p:cNvSpPr>
            <a:spLocks noGrp="1"/>
          </p:cNvSpPr>
          <p:nvPr/>
        </p:nvSpPr>
        <p:spPr>
          <a:xfrm>
            <a:off x="20955" y="914400"/>
            <a:ext cx="3012440" cy="5871210"/>
          </a:xfrm>
          <a:prstGeom prst="roundRect">
            <a:avLst>
              <a:gd name="adj" fmla="val 0"/>
            </a:avLst>
          </a:prstGeom>
          <a:solidFill>
            <a:srgbClr val="0F172A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</a:p>
        </p:txBody>
      </p:sp>
      <p:sp>
        <p:nvSpPr>
          <p:cNvPr id="74" name="AutoShape 3"/>
          <p:cNvSpPr>
            <a:spLocks noGrp="1"/>
          </p:cNvSpPr>
          <p:nvPr/>
        </p:nvSpPr>
        <p:spPr>
          <a:xfrm>
            <a:off x="1578610" y="5818505"/>
            <a:ext cx="1375410" cy="447675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127000" indent="0" algn="l">
              <a:lnSpc>
                <a:spcPct val="125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19 </a:t>
            </a:r>
            <a:r>
              <a:rPr sz="12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经营管理智能辅助决策</a:t>
            </a:r>
            <a:endParaRPr sz="12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5" name="AutoShape 4"/>
          <p:cNvSpPr>
            <a:spLocks noGrp="1"/>
          </p:cNvSpPr>
          <p:nvPr/>
        </p:nvSpPr>
        <p:spPr>
          <a:xfrm>
            <a:off x="1587500" y="1936750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12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质量追溯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6" name="AutoShape 5"/>
          <p:cNvSpPr>
            <a:spLocks noGrp="1"/>
          </p:cNvSpPr>
          <p:nvPr/>
        </p:nvSpPr>
        <p:spPr>
          <a:xfrm>
            <a:off x="1587500" y="2491105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13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成本追溯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7" name="AutoShape 6"/>
          <p:cNvSpPr>
            <a:spLocks noGrp="1"/>
          </p:cNvSpPr>
          <p:nvPr/>
        </p:nvSpPr>
        <p:spPr>
          <a:xfrm>
            <a:off x="1587500" y="3045460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14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设备运维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8" name="AutoShape 7"/>
          <p:cNvSpPr>
            <a:spLocks noGrp="1"/>
          </p:cNvSpPr>
          <p:nvPr/>
        </p:nvSpPr>
        <p:spPr>
          <a:xfrm>
            <a:off x="1587500" y="3600450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15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能碳管理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9" name="AutoShape 8"/>
          <p:cNvSpPr>
            <a:spLocks noGrp="1"/>
          </p:cNvSpPr>
          <p:nvPr/>
        </p:nvSpPr>
        <p:spPr>
          <a:xfrm>
            <a:off x="1587500" y="4155440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16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横向使能：数据与集成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0" name="AutoShape 9"/>
          <p:cNvSpPr>
            <a:spLocks noGrp="1"/>
          </p:cNvSpPr>
          <p:nvPr/>
        </p:nvSpPr>
        <p:spPr>
          <a:xfrm>
            <a:off x="1587500" y="4709795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127000" indent="0" algn="l">
              <a:lnSpc>
                <a:spcPct val="125000"/>
              </a:lnSpc>
              <a:buNone/>
            </a:pPr>
            <a:r>
              <a:rPr sz="120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17 横向使能：⾃动化分层</a:t>
            </a:r>
            <a:endParaRPr sz="120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3" name="AutoShape 3"/>
          <p:cNvSpPr>
            <a:spLocks noGrp="1"/>
          </p:cNvSpPr>
          <p:nvPr/>
        </p:nvSpPr>
        <p:spPr>
          <a:xfrm>
            <a:off x="109220" y="1382395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01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订单接收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4" name="AutoShape 4"/>
          <p:cNvSpPr>
            <a:spLocks noGrp="1"/>
          </p:cNvSpPr>
          <p:nvPr/>
        </p:nvSpPr>
        <p:spPr>
          <a:xfrm>
            <a:off x="109220" y="1936750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02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原料采购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5" name="AutoShape 5"/>
          <p:cNvSpPr>
            <a:spLocks noGrp="1"/>
          </p:cNvSpPr>
          <p:nvPr/>
        </p:nvSpPr>
        <p:spPr>
          <a:xfrm>
            <a:off x="109220" y="2491105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127000" algn="l">
              <a:lnSpc>
                <a:spcPct val="125000"/>
              </a:lnSpc>
              <a:buClrTx/>
              <a:buSzTx/>
              <a:buFontTx/>
              <a:buNone/>
            </a:pPr>
            <a:r>
              <a:rPr sz="120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03 计划排产</a:t>
            </a:r>
            <a:endParaRPr sz="120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6" name="AutoShape 6"/>
          <p:cNvSpPr>
            <a:spLocks noGrp="1"/>
          </p:cNvSpPr>
          <p:nvPr/>
        </p:nvSpPr>
        <p:spPr>
          <a:xfrm>
            <a:off x="109220" y="3045460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04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调度执⾏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7" name="AutoShape 7"/>
          <p:cNvSpPr>
            <a:spLocks noGrp="1"/>
          </p:cNvSpPr>
          <p:nvPr/>
        </p:nvSpPr>
        <p:spPr>
          <a:xfrm>
            <a:off x="109220" y="3600450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05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原料转运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存储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8" name="AutoShape 8"/>
          <p:cNvSpPr>
            <a:spLocks noGrp="1"/>
          </p:cNvSpPr>
          <p:nvPr/>
        </p:nvSpPr>
        <p:spPr>
          <a:xfrm>
            <a:off x="109220" y="4155440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06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⽣产作业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9" name="AutoShape 9"/>
          <p:cNvSpPr>
            <a:spLocks noGrp="1"/>
          </p:cNvSpPr>
          <p:nvPr/>
        </p:nvSpPr>
        <p:spPr>
          <a:xfrm>
            <a:off x="109220" y="4710430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127000" indent="0" algn="l">
              <a:lnSpc>
                <a:spcPct val="125000"/>
              </a:lnSpc>
              <a:buNone/>
            </a:pPr>
            <a:r>
              <a:rPr sz="120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07 过程暂存(中间品)</a:t>
            </a:r>
            <a:endParaRPr sz="120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0" name="AutoShape 10"/>
          <p:cNvSpPr>
            <a:spLocks noGrp="1"/>
          </p:cNvSpPr>
          <p:nvPr/>
        </p:nvSpPr>
        <p:spPr>
          <a:xfrm>
            <a:off x="109220" y="5264150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08 质量检测分析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1" name="AutoShape 11"/>
          <p:cNvSpPr>
            <a:spLocks noGrp="1"/>
          </p:cNvSpPr>
          <p:nvPr/>
        </p:nvSpPr>
        <p:spPr>
          <a:xfrm>
            <a:off x="109220" y="5818505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09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异常管理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3" name="AutoShape 11"/>
          <p:cNvSpPr>
            <a:spLocks noGrp="1"/>
          </p:cNvSpPr>
          <p:nvPr/>
        </p:nvSpPr>
        <p:spPr>
          <a:xfrm>
            <a:off x="114300" y="6372225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10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成品⼊库仓储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5" name="文本框 84"/>
          <p:cNvSpPr>
            <a:spLocks noGrp="1"/>
          </p:cNvSpPr>
          <p:nvPr/>
        </p:nvSpPr>
        <p:spPr>
          <a:xfrm>
            <a:off x="627380" y="948690"/>
            <a:ext cx="156273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chemeClr val="accent1">
                    <a:lumMod val="60000"/>
                    <a:lumOff val="40000"/>
                  </a:schemeClr>
                </a:solidFill>
              </a:rPr>
              <a:t>对比分析维度</a:t>
            </a:r>
            <a:endParaRPr b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AutoShape 21"/>
          <p:cNvSpPr>
            <a:spLocks noGrp="1"/>
          </p:cNvSpPr>
          <p:nvPr/>
        </p:nvSpPr>
        <p:spPr>
          <a:xfrm>
            <a:off x="6172200" y="2670810"/>
            <a:ext cx="2616200" cy="299339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1.管理驾驶舱：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汇聚CRM、SAP、SCOS、MES、WMS、QMS/LIMS、WMS、TMS、EMS、EAM、PHM、TMS等数据，展示订单履约、产量、库存、质量、能耗、设备和成本指标。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>
              <a:lnSpc>
                <a:spcPct val="117000"/>
              </a:lnSpc>
              <a:buNone/>
            </a:pP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2.智能辅助决策与全局寻优：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结合数据与模型，在排产、采购、订单交付、经济效益分析、库存安全、物流优化、安全管理等场景，系统⾃动输出“异常根因—未来趋势—调整预案”。管理者从“⼈找数据做决策”升级为“AI推送决策⼈确认”，实现全局多⽬标寻优。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>
              <a:lnSpc>
                <a:spcPct val="117000"/>
              </a:lnSpc>
              <a:buNone/>
            </a:pPr>
            <a:endParaRPr sz="1200" b="1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3.模拟推演：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⽀持原料价格波动、产能负荷、能源价格、库存策略、异常停机等场景的“What-if”测算，为排产采购、销售和经营决策提供依据。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AutoShape 21"/>
          <p:cNvSpPr>
            <a:spLocks noGrp="1"/>
          </p:cNvSpPr>
          <p:nvPr/>
        </p:nvSpPr>
        <p:spPr>
          <a:xfrm>
            <a:off x="9168765" y="2433320"/>
            <a:ext cx="2616200" cy="299339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从事后统计与经验粗放管理向事前预演与模型精益智控转变；实现跨⼯序、跨部⻔的分钟级决策响应，推动企业从“被动处置”向“主动预判、系统调控”跨越。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AutoShape 3"/>
          <p:cNvSpPr>
            <a:spLocks noGrp="1"/>
          </p:cNvSpPr>
          <p:nvPr/>
        </p:nvSpPr>
        <p:spPr>
          <a:xfrm>
            <a:off x="1587500" y="1382395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127000" indent="0" algn="l">
              <a:lnSpc>
                <a:spcPct val="125000"/>
              </a:lnSpc>
              <a:buNone/>
            </a:pPr>
            <a:r>
              <a:rPr sz="120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11 </a:t>
            </a:r>
            <a:r>
              <a:rPr sz="120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发货交付与成品出⼚</a:t>
            </a:r>
            <a:endParaRPr sz="120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1" name="AutoShape 10"/>
          <p:cNvSpPr>
            <a:spLocks noGrp="1"/>
          </p:cNvSpPr>
          <p:nvPr/>
        </p:nvSpPr>
        <p:spPr>
          <a:xfrm>
            <a:off x="1587500" y="5264150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18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AI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赋能经营管理与实时⼯艺控制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 sz="1400"/>
          </a:p>
        </p:txBody>
      </p:sp>
      <p:pic>
        <p:nvPicPr>
          <p:cNvPr id="105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>
            <a:spLocks noGrp="1"/>
          </p:cNvSpPr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88900" tIns="50800" rIns="88900" bIns="50800" anchor="t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、智能运营管理平台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总体</a:t>
            </a: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架构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utoShape 5"/>
          <p:cNvSpPr>
            <a:spLocks noGrp="1"/>
          </p:cNvSpPr>
          <p:nvPr/>
        </p:nvSpPr>
        <p:spPr>
          <a:xfrm>
            <a:off x="1016000" y="1473200"/>
            <a:ext cx="13970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mpd="sng">
            <a:solidFill>
              <a:srgbClr val="17556C"/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22" name="AutoShape 6"/>
          <p:cNvSpPr>
            <a:spLocks noGrp="1"/>
          </p:cNvSpPr>
          <p:nvPr/>
        </p:nvSpPr>
        <p:spPr>
          <a:xfrm>
            <a:off x="1066800" y="1701800"/>
            <a:ext cx="12954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b="1" i="0" u="non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经营管理层</a:t>
            </a:r>
            <a:endParaRPr b="1" i="0" u="none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AutoShape 7"/>
          <p:cNvSpPr>
            <a:spLocks noGrp="1"/>
          </p:cNvSpPr>
          <p:nvPr/>
        </p:nvSpPr>
        <p:spPr>
          <a:xfrm>
            <a:off x="2667000" y="1473200"/>
            <a:ext cx="89154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mpd="sng">
            <a:solidFill>
              <a:schemeClr val="accent5"/>
            </a:solidFill>
            <a:prstDash val="solid"/>
          </a:ln>
        </p:spPr>
        <p:txBody>
          <a:bodyPr vert="horz" wrap="square" lIns="63500" tIns="63500" rIns="63500" bIns="6350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24" name="AutoShape 8"/>
          <p:cNvSpPr>
            <a:spLocks noGrp="1"/>
          </p:cNvSpPr>
          <p:nvPr/>
        </p:nvSpPr>
        <p:spPr>
          <a:xfrm>
            <a:off x="4953000" y="1701800"/>
            <a:ext cx="4191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SCOS</a:t>
            </a:r>
            <a:r>
              <a:rPr sz="13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驾驶舱</a:t>
            </a:r>
            <a:endParaRPr sz="13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11" name="Connector 11"/>
          <p:cNvCxnSpPr/>
          <p:nvPr/>
        </p:nvCxnSpPr>
        <p:spPr>
          <a:xfrm rot="5114181">
            <a:off x="5956300" y="2356114"/>
            <a:ext cx="152400" cy="12700"/>
          </a:xfrm>
          <a:prstGeom prst="straightConnector1">
            <a:avLst/>
          </a:prstGeom>
          <a:ln w="38100" cap="flat">
            <a:solidFill>
              <a:srgbClr val="2563EB">
                <a:alpha val="7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28" name="AutoShape 12"/>
          <p:cNvSpPr>
            <a:spLocks noGrp="1"/>
          </p:cNvSpPr>
          <p:nvPr/>
        </p:nvSpPr>
        <p:spPr>
          <a:xfrm>
            <a:off x="1016000" y="2438400"/>
            <a:ext cx="13970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mpd="sng">
            <a:solidFill>
              <a:srgbClr val="17556C"/>
            </a:solidFill>
            <a:prstDash val="solid"/>
          </a:ln>
        </p:spPr>
        <p:txBody>
          <a:bodyPr vert="horz" wrap="square" lIns="63500" tIns="63500" rIns="63500" bIns="6350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29" name="AutoShape 13"/>
          <p:cNvSpPr>
            <a:spLocks noGrp="1"/>
          </p:cNvSpPr>
          <p:nvPr/>
        </p:nvSpPr>
        <p:spPr>
          <a:xfrm>
            <a:off x="1066800" y="2616200"/>
            <a:ext cx="1295400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应用</a:t>
            </a:r>
            <a:r>
              <a:rPr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服务</a:t>
            </a:r>
            <a:r>
              <a:rPr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层</a:t>
            </a:r>
            <a:endParaRPr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0" name="AutoShape 14"/>
          <p:cNvSpPr>
            <a:spLocks noGrp="1"/>
          </p:cNvSpPr>
          <p:nvPr/>
        </p:nvSpPr>
        <p:spPr>
          <a:xfrm>
            <a:off x="2667000" y="2438400"/>
            <a:ext cx="14097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mpd="sng">
            <a:solidFill>
              <a:schemeClr val="accent5"/>
            </a:solidFill>
            <a:prstDash val="solid"/>
          </a:ln>
        </p:spPr>
        <p:txBody>
          <a:bodyPr vert="horz" wrap="square" lIns="63500" tIns="63500" rIns="63500" bIns="6350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31" name="AutoShape 15"/>
          <p:cNvSpPr>
            <a:spLocks noGrp="1"/>
          </p:cNvSpPr>
          <p:nvPr/>
        </p:nvSpPr>
        <p:spPr>
          <a:xfrm>
            <a:off x="2692400" y="2616200"/>
            <a:ext cx="1358900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精益生产排程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2" name="AutoShape 16"/>
          <p:cNvSpPr>
            <a:spLocks noGrp="1"/>
          </p:cNvSpPr>
          <p:nvPr/>
        </p:nvSpPr>
        <p:spPr>
          <a:xfrm>
            <a:off x="4140200" y="2438400"/>
            <a:ext cx="14097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mpd="sng">
            <a:solidFill>
              <a:schemeClr val="accent5"/>
            </a:solidFill>
            <a:prstDash val="solid"/>
          </a:ln>
        </p:spPr>
        <p:txBody>
          <a:bodyPr vert="horz" wrap="square" lIns="63500" tIns="63500" rIns="63500" bIns="6350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33" name="AutoShape 17"/>
          <p:cNvSpPr>
            <a:spLocks noGrp="1"/>
          </p:cNvSpPr>
          <p:nvPr/>
        </p:nvSpPr>
        <p:spPr>
          <a:xfrm>
            <a:off x="4165600" y="2616200"/>
            <a:ext cx="1358900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安全库存优化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4" name="AutoShape 18"/>
          <p:cNvSpPr>
            <a:spLocks noGrp="1"/>
          </p:cNvSpPr>
          <p:nvPr/>
        </p:nvSpPr>
        <p:spPr>
          <a:xfrm>
            <a:off x="5715635" y="2438400"/>
            <a:ext cx="2920365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mpd="sng">
            <a:solidFill>
              <a:schemeClr val="accent5"/>
            </a:solidFill>
            <a:prstDash val="solid"/>
          </a:ln>
        </p:spPr>
        <p:txBody>
          <a:bodyPr vert="horz" wrap="square" lIns="63500" tIns="63500" rIns="63500" bIns="6350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35" name="AutoShape 19"/>
          <p:cNvSpPr>
            <a:spLocks noGrp="1"/>
          </p:cNvSpPr>
          <p:nvPr/>
        </p:nvSpPr>
        <p:spPr>
          <a:xfrm>
            <a:off x="5715635" y="2616200"/>
            <a:ext cx="2818765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采购优化管理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6" name="AutoShape 20"/>
          <p:cNvSpPr>
            <a:spLocks noGrp="1"/>
          </p:cNvSpPr>
          <p:nvPr/>
        </p:nvSpPr>
        <p:spPr>
          <a:xfrm>
            <a:off x="8763000" y="2439035"/>
            <a:ext cx="2818765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mpd="sng">
            <a:solidFill>
              <a:schemeClr val="accent5"/>
            </a:solidFill>
            <a:prstDash val="solid"/>
          </a:ln>
        </p:spPr>
        <p:txBody>
          <a:bodyPr vert="horz" wrap="square" lIns="63500" tIns="63500" rIns="63500" bIns="6350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37" name="AutoShape 21"/>
          <p:cNvSpPr>
            <a:spLocks noGrp="1"/>
          </p:cNvSpPr>
          <p:nvPr/>
        </p:nvSpPr>
        <p:spPr>
          <a:xfrm>
            <a:off x="8997950" y="2616835"/>
            <a:ext cx="2559050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统计与成本核算分析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22" name="Connector 26"/>
          <p:cNvCxnSpPr/>
          <p:nvPr/>
        </p:nvCxnSpPr>
        <p:spPr>
          <a:xfrm rot="5114181">
            <a:off x="5956300" y="3321314"/>
            <a:ext cx="152400" cy="12700"/>
          </a:xfrm>
          <a:prstGeom prst="straightConnector1">
            <a:avLst/>
          </a:prstGeom>
          <a:ln w="38100" cap="flat">
            <a:solidFill>
              <a:srgbClr val="2563EB">
                <a:alpha val="7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43" name="AutoShape 27"/>
          <p:cNvSpPr>
            <a:spLocks noGrp="1"/>
          </p:cNvSpPr>
          <p:nvPr/>
        </p:nvSpPr>
        <p:spPr>
          <a:xfrm>
            <a:off x="1016000" y="3403600"/>
            <a:ext cx="13970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mpd="sng">
            <a:solidFill>
              <a:srgbClr val="17556C"/>
            </a:solidFill>
            <a:prstDash val="solid"/>
          </a:ln>
        </p:spPr>
        <p:txBody>
          <a:bodyPr vert="horz" wrap="square" lIns="63500" tIns="63500" rIns="63500" bIns="6350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44" name="AutoShape 28"/>
          <p:cNvSpPr>
            <a:spLocks noGrp="1"/>
          </p:cNvSpPr>
          <p:nvPr/>
        </p:nvSpPr>
        <p:spPr>
          <a:xfrm>
            <a:off x="1066800" y="3581400"/>
            <a:ext cx="1295400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优化决策层</a:t>
            </a:r>
            <a:endParaRPr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5" name="AutoShape 29"/>
          <p:cNvSpPr>
            <a:spLocks noGrp="1"/>
          </p:cNvSpPr>
          <p:nvPr/>
        </p:nvSpPr>
        <p:spPr>
          <a:xfrm>
            <a:off x="2667000" y="3403600"/>
            <a:ext cx="29210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mpd="sng">
            <a:solidFill>
              <a:schemeClr val="accent5"/>
            </a:solidFill>
            <a:prstDash val="solid"/>
          </a:ln>
        </p:spPr>
        <p:txBody>
          <a:bodyPr vert="horz" wrap="square" lIns="63500" tIns="63500" rIns="63500" bIns="6350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46" name="AutoShape 30"/>
          <p:cNvSpPr>
            <a:spLocks noGrp="1"/>
          </p:cNvSpPr>
          <p:nvPr/>
        </p:nvSpPr>
        <p:spPr>
          <a:xfrm>
            <a:off x="2768600" y="3581400"/>
            <a:ext cx="27178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优化引擎 </a:t>
            </a:r>
            <a:endParaRPr sz="1300" b="1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7" name="AutoShape 31"/>
          <p:cNvSpPr>
            <a:spLocks noGrp="1"/>
          </p:cNvSpPr>
          <p:nvPr/>
        </p:nvSpPr>
        <p:spPr>
          <a:xfrm>
            <a:off x="5715000" y="3403600"/>
            <a:ext cx="29210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mpd="sng">
            <a:solidFill>
              <a:schemeClr val="accent5"/>
            </a:solidFill>
            <a:prstDash val="solid"/>
          </a:ln>
        </p:spPr>
        <p:txBody>
          <a:bodyPr vert="horz" wrap="square" lIns="63500" tIns="63500" rIns="63500" bIns="6350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48" name="AutoShape 32"/>
          <p:cNvSpPr>
            <a:spLocks noGrp="1"/>
          </p:cNvSpPr>
          <p:nvPr/>
        </p:nvSpPr>
        <p:spPr>
          <a:xfrm>
            <a:off x="5816600" y="3581400"/>
            <a:ext cx="2717800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需求预测模型</a:t>
            </a:r>
            <a:endParaRPr sz="13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9" name="AutoShape 33"/>
          <p:cNvSpPr>
            <a:spLocks noGrp="1"/>
          </p:cNvSpPr>
          <p:nvPr/>
        </p:nvSpPr>
        <p:spPr>
          <a:xfrm>
            <a:off x="8763000" y="3403600"/>
            <a:ext cx="2818765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mpd="sng">
            <a:solidFill>
              <a:schemeClr val="accent5"/>
            </a:solidFill>
            <a:prstDash val="solid"/>
          </a:ln>
        </p:spPr>
        <p:txBody>
          <a:bodyPr vert="horz" wrap="square" lIns="63500" tIns="63500" rIns="63500" bIns="6350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50" name="AutoShape 34"/>
          <p:cNvSpPr>
            <a:spLocks noGrp="1"/>
          </p:cNvSpPr>
          <p:nvPr/>
        </p:nvSpPr>
        <p:spPr>
          <a:xfrm>
            <a:off x="8864600" y="3581400"/>
            <a:ext cx="2717800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规则引擎</a:t>
            </a:r>
            <a:endParaRPr sz="13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31" name="Connector 35"/>
          <p:cNvCxnSpPr/>
          <p:nvPr/>
        </p:nvCxnSpPr>
        <p:spPr>
          <a:xfrm rot="5114181">
            <a:off x="5956300" y="4286514"/>
            <a:ext cx="152400" cy="12700"/>
          </a:xfrm>
          <a:prstGeom prst="straightConnector1">
            <a:avLst/>
          </a:prstGeom>
          <a:ln w="38100" cap="flat">
            <a:solidFill>
              <a:srgbClr val="2563EB">
                <a:alpha val="7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52" name="AutoShape 36"/>
          <p:cNvSpPr>
            <a:spLocks noGrp="1"/>
          </p:cNvSpPr>
          <p:nvPr/>
        </p:nvSpPr>
        <p:spPr>
          <a:xfrm>
            <a:off x="1016000" y="4368800"/>
            <a:ext cx="13970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mpd="sng">
            <a:solidFill>
              <a:srgbClr val="17556C"/>
            </a:solidFill>
            <a:prstDash val="solid"/>
          </a:ln>
        </p:spPr>
        <p:txBody>
          <a:bodyPr vert="horz" wrap="square" lIns="63500" tIns="63500" rIns="63500" bIns="6350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53" name="AutoShape 37"/>
          <p:cNvSpPr>
            <a:spLocks noGrp="1"/>
          </p:cNvSpPr>
          <p:nvPr/>
        </p:nvSpPr>
        <p:spPr>
          <a:xfrm>
            <a:off x="1066800" y="4546600"/>
            <a:ext cx="1295400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数据层</a:t>
            </a:r>
            <a:endParaRPr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4" name="AutoShape 38"/>
          <p:cNvSpPr>
            <a:spLocks noGrp="1"/>
          </p:cNvSpPr>
          <p:nvPr/>
        </p:nvSpPr>
        <p:spPr>
          <a:xfrm>
            <a:off x="2667000" y="4368800"/>
            <a:ext cx="8889365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mpd="sng">
            <a:solidFill>
              <a:schemeClr val="accent5"/>
            </a:solidFill>
            <a:prstDash val="solid"/>
          </a:ln>
        </p:spPr>
        <p:txBody>
          <a:bodyPr vert="horz" wrap="square" lIns="63500" tIns="63500" rIns="63500" bIns="6350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55" name="AutoShape 39"/>
          <p:cNvSpPr>
            <a:spLocks noGrp="1"/>
          </p:cNvSpPr>
          <p:nvPr/>
        </p:nvSpPr>
        <p:spPr>
          <a:xfrm>
            <a:off x="2768600" y="4546600"/>
            <a:ext cx="8710295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数据中台：主数据　·　业务数据　·　数据仓库</a:t>
            </a:r>
            <a:endParaRPr sz="13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36" name="Connector 40"/>
          <p:cNvCxnSpPr/>
          <p:nvPr/>
        </p:nvCxnSpPr>
        <p:spPr>
          <a:xfrm rot="5114181">
            <a:off x="5956300" y="5251714"/>
            <a:ext cx="152400" cy="12700"/>
          </a:xfrm>
          <a:prstGeom prst="straightConnector1">
            <a:avLst/>
          </a:prstGeom>
          <a:ln w="38100" cap="flat">
            <a:solidFill>
              <a:srgbClr val="2563EB">
                <a:alpha val="7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57" name="AutoShape 41"/>
          <p:cNvSpPr>
            <a:spLocks noGrp="1"/>
          </p:cNvSpPr>
          <p:nvPr/>
        </p:nvSpPr>
        <p:spPr>
          <a:xfrm>
            <a:off x="1016000" y="5334000"/>
            <a:ext cx="13970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mpd="sng">
            <a:solidFill>
              <a:srgbClr val="17556C"/>
            </a:solidFill>
            <a:prstDash val="solid"/>
          </a:ln>
        </p:spPr>
        <p:txBody>
          <a:bodyPr vert="horz" wrap="square" lIns="63500" tIns="63500" rIns="63500" bIns="6350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58" name="AutoShape 42"/>
          <p:cNvSpPr>
            <a:spLocks noGrp="1"/>
          </p:cNvSpPr>
          <p:nvPr/>
        </p:nvSpPr>
        <p:spPr>
          <a:xfrm>
            <a:off x="1066800" y="5511800"/>
            <a:ext cx="1295400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集成层</a:t>
            </a:r>
            <a:endParaRPr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9" name="AutoShape 43"/>
          <p:cNvSpPr>
            <a:spLocks noGrp="1"/>
          </p:cNvSpPr>
          <p:nvPr/>
        </p:nvSpPr>
        <p:spPr>
          <a:xfrm>
            <a:off x="2667000" y="5334000"/>
            <a:ext cx="17018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mpd="sng">
            <a:solidFill>
              <a:schemeClr val="accent5"/>
            </a:solidFill>
            <a:prstDash val="solid"/>
          </a:ln>
        </p:spPr>
        <p:txBody>
          <a:bodyPr vert="horz" wrap="square" lIns="63500" tIns="63500" rIns="63500" bIns="6350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60" name="AutoShape 44"/>
          <p:cNvSpPr>
            <a:spLocks noGrp="1"/>
          </p:cNvSpPr>
          <p:nvPr/>
        </p:nvSpPr>
        <p:spPr>
          <a:xfrm>
            <a:off x="2692400" y="5511800"/>
            <a:ext cx="1651000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SAP </a:t>
            </a:r>
            <a:endParaRPr sz="1300" b="1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1" name="AutoShape 45"/>
          <p:cNvSpPr>
            <a:spLocks noGrp="1"/>
          </p:cNvSpPr>
          <p:nvPr/>
        </p:nvSpPr>
        <p:spPr>
          <a:xfrm>
            <a:off x="4432300" y="5334000"/>
            <a:ext cx="17018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mpd="sng">
            <a:solidFill>
              <a:schemeClr val="accent5"/>
            </a:solidFill>
            <a:prstDash val="solid"/>
          </a:ln>
        </p:spPr>
        <p:txBody>
          <a:bodyPr vert="horz" wrap="square" lIns="63500" tIns="63500" rIns="63500" bIns="6350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62" name="AutoShape 46"/>
          <p:cNvSpPr>
            <a:spLocks noGrp="1"/>
          </p:cNvSpPr>
          <p:nvPr/>
        </p:nvSpPr>
        <p:spPr>
          <a:xfrm>
            <a:off x="4457700" y="5511800"/>
            <a:ext cx="1651000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MES</a:t>
            </a:r>
            <a:endParaRPr sz="1300" b="1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3" name="AutoShape 47"/>
          <p:cNvSpPr>
            <a:spLocks noGrp="1"/>
          </p:cNvSpPr>
          <p:nvPr/>
        </p:nvSpPr>
        <p:spPr>
          <a:xfrm>
            <a:off x="6197600" y="5334000"/>
            <a:ext cx="17018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mpd="sng">
            <a:solidFill>
              <a:schemeClr val="accent5"/>
            </a:solidFill>
            <a:prstDash val="solid"/>
          </a:ln>
        </p:spPr>
        <p:txBody>
          <a:bodyPr vert="horz" wrap="square" lIns="63500" tIns="63500" rIns="63500" bIns="6350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64" name="AutoShape 48"/>
          <p:cNvSpPr>
            <a:spLocks noGrp="1"/>
          </p:cNvSpPr>
          <p:nvPr/>
        </p:nvSpPr>
        <p:spPr>
          <a:xfrm>
            <a:off x="6223000" y="5511800"/>
            <a:ext cx="1651000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WMS</a:t>
            </a:r>
            <a:endParaRPr sz="1300" b="1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5" name="AutoShape 49"/>
          <p:cNvSpPr>
            <a:spLocks noGrp="1"/>
          </p:cNvSpPr>
          <p:nvPr/>
        </p:nvSpPr>
        <p:spPr>
          <a:xfrm>
            <a:off x="7962900" y="5334000"/>
            <a:ext cx="17018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mpd="sng">
            <a:solidFill>
              <a:schemeClr val="accent5"/>
            </a:solidFill>
            <a:prstDash val="solid"/>
          </a:ln>
        </p:spPr>
        <p:txBody>
          <a:bodyPr vert="horz" wrap="square" lIns="63500" tIns="63500" rIns="63500" bIns="6350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66" name="AutoShape 50"/>
          <p:cNvSpPr>
            <a:spLocks noGrp="1"/>
          </p:cNvSpPr>
          <p:nvPr/>
        </p:nvSpPr>
        <p:spPr>
          <a:xfrm>
            <a:off x="7988300" y="5511800"/>
            <a:ext cx="1651000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TMS</a:t>
            </a:r>
            <a:endParaRPr sz="1300" b="1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7" name="AutoShape 51"/>
          <p:cNvSpPr>
            <a:spLocks noGrp="1"/>
          </p:cNvSpPr>
          <p:nvPr/>
        </p:nvSpPr>
        <p:spPr>
          <a:xfrm>
            <a:off x="9728200" y="5334000"/>
            <a:ext cx="1854835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mpd="sng">
            <a:solidFill>
              <a:schemeClr val="accent5"/>
            </a:solidFill>
            <a:prstDash val="solid"/>
          </a:ln>
        </p:spPr>
        <p:txBody>
          <a:bodyPr vert="horz" wrap="square" lIns="63500" tIns="63500" rIns="63500" bIns="63500" anchor="ctr">
            <a:noAutofit/>
          </a:bodyPr>
          <a:lstStyle/>
          <a:p>
            <a:pPr lvl="0" algn="ctr">
              <a:buClrTx/>
              <a:buSzTx/>
              <a:buFontTx/>
              <a:buNone/>
            </a:pPr>
          </a:p>
        </p:txBody>
      </p:sp>
      <p:sp>
        <p:nvSpPr>
          <p:cNvPr id="68" name="AutoShape 52"/>
          <p:cNvSpPr>
            <a:spLocks noGrp="1"/>
          </p:cNvSpPr>
          <p:nvPr/>
        </p:nvSpPr>
        <p:spPr>
          <a:xfrm>
            <a:off x="9753600" y="5511800"/>
            <a:ext cx="1829435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CRM</a:t>
            </a: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等其他系统</a:t>
            </a:r>
            <a:endParaRPr sz="1300" b="1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 sz="1400"/>
          </a:p>
        </p:txBody>
      </p:sp>
      <p:pic>
        <p:nvPicPr>
          <p:cNvPr id="71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>
            <a:spLocks noGrp="1"/>
          </p:cNvSpPr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88900" tIns="50800" rIns="88900" bIns="50800" anchor="t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模型算法驱动生产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精益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排程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7700" y="106680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把交付优先级、库存补货、产能设备与原辅包到货约束汇聚到统一排程，形成上下游一致的时间承诺。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19125" y="16192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多约束汇聚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19125" y="1895475"/>
            <a:ext cx="18097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666750" y="2047875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09182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66115" y="2095500"/>
            <a:ext cx="1524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订单与需求预测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90575" y="2409825"/>
            <a:ext cx="1276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优先级/交期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右箭头 28"/>
          <p:cNvSpPr>
            <a:spLocks noGrp="1"/>
          </p:cNvSpPr>
          <p:nvPr/>
        </p:nvSpPr>
        <p:spPr>
          <a:xfrm>
            <a:off x="2209800" y="2238375"/>
            <a:ext cx="619125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30" name="圆角矩形 29"/>
          <p:cNvSpPr>
            <a:spLocks noGrp="1"/>
          </p:cNvSpPr>
          <p:nvPr/>
        </p:nvSpPr>
        <p:spPr>
          <a:xfrm>
            <a:off x="666750" y="2828925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091820"/>
          </a:solidFill>
          <a:ln w="19050">
            <a:solidFill>
              <a:srgbClr val="23D4F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66750" y="28765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BOM/</a:t>
            </a: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工艺路线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11835" y="3190875"/>
            <a:ext cx="135509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产品结构和生产步骤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右箭头 32"/>
          <p:cNvSpPr>
            <a:spLocks noGrp="1"/>
          </p:cNvSpPr>
          <p:nvPr/>
        </p:nvSpPr>
        <p:spPr>
          <a:xfrm>
            <a:off x="2209800" y="3019425"/>
            <a:ext cx="619125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666750" y="3609975"/>
            <a:ext cx="1524000" cy="876935"/>
          </a:xfrm>
          <a:prstGeom prst="roundRect">
            <a:avLst>
              <a:gd name="adj" fmla="val 13333"/>
            </a:avLst>
          </a:prstGeom>
          <a:solidFill>
            <a:srgbClr val="091820"/>
          </a:solidFill>
          <a:ln w="19050">
            <a:solidFill>
              <a:srgbClr val="FFB348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62000" y="36766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资源</a:t>
            </a: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状态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90575" y="4093845"/>
            <a:ext cx="1276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设备、模具、人力等关键资源的当前可用性与产能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右箭头 36"/>
          <p:cNvSpPr>
            <a:spLocks noGrp="1"/>
          </p:cNvSpPr>
          <p:nvPr/>
        </p:nvSpPr>
        <p:spPr>
          <a:xfrm>
            <a:off x="2209800" y="3800475"/>
            <a:ext cx="619125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42" name="圆角矩形 41"/>
          <p:cNvSpPr>
            <a:spLocks noGrp="1"/>
          </p:cNvSpPr>
          <p:nvPr/>
        </p:nvSpPr>
        <p:spPr>
          <a:xfrm>
            <a:off x="666750" y="4675505"/>
            <a:ext cx="1524000" cy="860425"/>
          </a:xfrm>
          <a:prstGeom prst="roundRect">
            <a:avLst>
              <a:gd name="adj" fmla="val 13333"/>
            </a:avLst>
          </a:prstGeom>
          <a:solidFill>
            <a:srgbClr val="091820"/>
          </a:solidFill>
          <a:ln w="19050">
            <a:solidFill>
              <a:srgbClr val="53D38A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762000" y="474218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库存与采购在途信息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90575" y="5220335"/>
            <a:ext cx="1276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当前可用物料及预计到货的采购订单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右箭头 44"/>
          <p:cNvSpPr>
            <a:spLocks noGrp="1"/>
          </p:cNvSpPr>
          <p:nvPr/>
        </p:nvSpPr>
        <p:spPr>
          <a:xfrm>
            <a:off x="2209800" y="4866005"/>
            <a:ext cx="619125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46" name="六边形 45"/>
          <p:cNvSpPr>
            <a:spLocks noGrp="1"/>
          </p:cNvSpPr>
          <p:nvPr/>
        </p:nvSpPr>
        <p:spPr>
          <a:xfrm>
            <a:off x="3048000" y="2333625"/>
            <a:ext cx="2381250" cy="2381250"/>
          </a:xfrm>
          <a:prstGeom prst="hexagon">
            <a:avLst/>
          </a:prstGeom>
          <a:solidFill>
            <a:srgbClr val="082B39"/>
          </a:solidFill>
          <a:ln w="28575">
            <a:solidFill>
              <a:srgbClr val="23D4FF"/>
            </a:solidFill>
            <a:prstDash val="solid"/>
          </a:ln>
        </p:spPr>
        <p:txBody>
          <a:bodyPr/>
          <a:lstStyle/>
          <a:p/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3381375" y="278130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约束排程引擎</a:t>
            </a:r>
            <a:endParaRPr sz="18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3429000" y="3286125"/>
            <a:ext cx="1619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需求合并与优先级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产能负荷平衡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瓶颈/冲突识别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计划版本与锁定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右箭头 48"/>
          <p:cNvSpPr>
            <a:spLocks noGrp="1"/>
          </p:cNvSpPr>
          <p:nvPr/>
        </p:nvSpPr>
        <p:spPr>
          <a:xfrm>
            <a:off x="5619750" y="3352800"/>
            <a:ext cx="523875" cy="228600"/>
          </a:xfrm>
          <a:prstGeom prst="rightArrow">
            <a:avLst/>
          </a:prstGeom>
          <a:solidFill>
            <a:srgbClr val="23D4FF"/>
          </a:solidFill>
          <a:ln w="0">
            <a:solidFill>
              <a:srgbClr val="23D4FF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6381750" y="16192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计划执行泳道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6381750" y="1895475"/>
            <a:ext cx="209550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52" name="圆角矩形 51"/>
          <p:cNvSpPr>
            <a:spLocks noGrp="1"/>
          </p:cNvSpPr>
          <p:nvPr/>
        </p:nvSpPr>
        <p:spPr>
          <a:xfrm>
            <a:off x="6381750" y="2047875"/>
            <a:ext cx="4857750" cy="590550"/>
          </a:xfrm>
          <a:prstGeom prst="roundRect">
            <a:avLst>
              <a:gd name="adj" fmla="val 12903"/>
            </a:avLst>
          </a:prstGeom>
          <a:solidFill>
            <a:srgbClr val="09232E"/>
          </a:solidFill>
          <a:ln w="14288">
            <a:solidFill>
              <a:srgbClr val="00AEEF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6534150" y="2124075"/>
            <a:ext cx="1085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0AEE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0AEEF"/>
                </a:solidFill>
                <a:latin typeface="微软雅黑"/>
                <a:ea typeface="微软雅黑"/>
                <a:cs typeface="微软雅黑"/>
              </a:rPr>
              <a:t>详细的生产作业计划</a:t>
            </a:r>
            <a:endParaRPr sz="1275" b="1">
              <a:solidFill>
                <a:srgbClr val="00AEE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7620000" y="2124075"/>
            <a:ext cx="342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明确各工序、设备、班次的具体任务与时间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6381750" y="2790825"/>
            <a:ext cx="4857750" cy="590550"/>
          </a:xfrm>
          <a:prstGeom prst="roundRect">
            <a:avLst>
              <a:gd name="adj" fmla="val 12903"/>
            </a:avLst>
          </a:prstGeom>
          <a:solidFill>
            <a:srgbClr val="09232E"/>
          </a:solidFill>
          <a:ln w="14288">
            <a:solidFill>
              <a:srgbClr val="23D4FF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6534150" y="2867025"/>
            <a:ext cx="95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23D4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3D4FF"/>
                </a:solidFill>
                <a:latin typeface="微软雅黑"/>
                <a:ea typeface="微软雅黑"/>
                <a:cs typeface="微软雅黑"/>
              </a:rPr>
              <a:t>可承诺量（</a:t>
            </a:r>
            <a:r>
              <a:rPr sz="1275" b="1">
                <a:solidFill>
                  <a:srgbClr val="23D4FF"/>
                </a:solidFill>
                <a:latin typeface="微软雅黑"/>
                <a:ea typeface="微软雅黑"/>
                <a:cs typeface="微软雅黑"/>
              </a:rPr>
              <a:t>ATP）</a:t>
            </a:r>
            <a:endParaRPr sz="1275" b="1">
              <a:solidFill>
                <a:srgbClr val="23D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7620000" y="2867025"/>
            <a:ext cx="36957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向销售端提供可靠的、基于实际产能和物料的交付日期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6381750" y="3533775"/>
            <a:ext cx="4857750" cy="590550"/>
          </a:xfrm>
          <a:prstGeom prst="roundRect">
            <a:avLst>
              <a:gd name="adj" fmla="val 12903"/>
            </a:avLst>
          </a:prstGeom>
          <a:solidFill>
            <a:srgbClr val="09232E"/>
          </a:solidFill>
          <a:ln w="14288">
            <a:solidFill>
              <a:srgbClr val="53D38A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6534150" y="3609975"/>
            <a:ext cx="95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53D38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53D38A"/>
                </a:solidFill>
                <a:latin typeface="微软雅黑"/>
                <a:ea typeface="微软雅黑"/>
                <a:cs typeface="微软雅黑"/>
              </a:rPr>
              <a:t>计划模拟与预警</a:t>
            </a:r>
            <a:endParaRPr sz="1275" b="1">
              <a:solidFill>
                <a:srgbClr val="53D3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7620000" y="3609975"/>
            <a:ext cx="353123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模拟不同策略下的产出和交付结果，并对潜在的交期风险进行预警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圆角矩形 60"/>
          <p:cNvSpPr>
            <a:spLocks noGrp="1"/>
          </p:cNvSpPr>
          <p:nvPr/>
        </p:nvSpPr>
        <p:spPr>
          <a:xfrm>
            <a:off x="6381750" y="4276725"/>
            <a:ext cx="4857750" cy="590550"/>
          </a:xfrm>
          <a:prstGeom prst="roundRect">
            <a:avLst>
              <a:gd name="adj" fmla="val 12903"/>
            </a:avLst>
          </a:prstGeom>
          <a:solidFill>
            <a:srgbClr val="09232E"/>
          </a:solidFill>
          <a:ln w="14288">
            <a:solidFill>
              <a:srgbClr val="FFB348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6534150" y="4352925"/>
            <a:ext cx="95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B348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B348"/>
                </a:solidFill>
                <a:latin typeface="微软雅黑"/>
                <a:ea typeface="微软雅黑"/>
                <a:cs typeface="微软雅黑"/>
              </a:rPr>
              <a:t>异常</a:t>
            </a:r>
            <a:r>
              <a:rPr sz="1275" b="1">
                <a:solidFill>
                  <a:srgbClr val="FFB348"/>
                </a:solidFill>
                <a:latin typeface="微软雅黑"/>
                <a:ea typeface="微软雅黑"/>
                <a:cs typeface="微软雅黑"/>
              </a:rPr>
              <a:t>状况自行</a:t>
            </a:r>
            <a:r>
              <a:rPr sz="1275" b="1">
                <a:solidFill>
                  <a:srgbClr val="FFB348"/>
                </a:solidFill>
                <a:latin typeface="微软雅黑"/>
                <a:ea typeface="微软雅黑"/>
                <a:cs typeface="微软雅黑"/>
              </a:rPr>
              <a:t>调整</a:t>
            </a:r>
            <a:endParaRPr sz="1275" b="1">
              <a:solidFill>
                <a:srgbClr val="FFB3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7620000" y="4352925"/>
            <a:ext cx="342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需求波动、资源瓶颈、原</a:t>
            </a: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辅料到货准时性与质量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左箭头 63"/>
          <p:cNvSpPr>
            <a:spLocks noGrp="1"/>
          </p:cNvSpPr>
          <p:nvPr/>
        </p:nvSpPr>
        <p:spPr>
          <a:xfrm>
            <a:off x="3429000" y="5381625"/>
            <a:ext cx="7334250" cy="285750"/>
          </a:xfrm>
          <a:prstGeom prst="leftArrow">
            <a:avLst/>
          </a:prstGeom>
          <a:solidFill>
            <a:srgbClr val="17485A"/>
          </a:solidFill>
          <a:ln w="0">
            <a:solidFill>
              <a:srgbClr val="17485A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4762500" y="5343525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实际产量 / 完工时间 / 设备状态 / 物料消耗 / 订单变化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圆角矩形 65"/>
          <p:cNvSpPr>
            <a:spLocks noGrp="1"/>
          </p:cNvSpPr>
          <p:nvPr/>
        </p:nvSpPr>
        <p:spPr>
          <a:xfrm>
            <a:off x="2428875" y="5857875"/>
            <a:ext cx="7524750" cy="495300"/>
          </a:xfrm>
          <a:prstGeom prst="roundRect">
            <a:avLst>
              <a:gd name="adj" fmla="val 15385"/>
            </a:avLst>
          </a:prstGeom>
          <a:solidFill>
            <a:srgbClr val="0B222D"/>
          </a:solidFill>
          <a:ln w="14288">
            <a:solidFill>
              <a:srgbClr val="23D4FF"/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2571750" y="5915025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23D4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3D4FF"/>
                </a:solidFill>
                <a:latin typeface="微软雅黑"/>
                <a:ea typeface="微软雅黑"/>
                <a:cs typeface="微软雅黑"/>
              </a:rPr>
              <a:t>协同价值</a:t>
            </a:r>
            <a:endParaRPr sz="1350" b="1">
              <a:solidFill>
                <a:srgbClr val="23D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2571750" y="6200775"/>
            <a:ext cx="723900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提前暴露产能、物料和交期冲突，提升计划可执行性，减少临时协调与被动救火。</a:t>
            </a:r>
            <a:endParaRPr sz="10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  <a:p>
            <a:endParaRPr sz="10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 sz="1400"/>
          </a:p>
        </p:txBody>
      </p:sp>
      <p:pic>
        <p:nvPicPr>
          <p:cNvPr id="100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>
            <a:spLocks noGrp="1"/>
          </p:cNvSpPr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88900" tIns="50800" rIns="88900" bIns="50800" anchor="t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安全库存水位智能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优化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90550" y="15811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业务输入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90550" y="1857375"/>
            <a:ext cx="16192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000375" y="15811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模型与规则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000375" y="1857375"/>
            <a:ext cx="18097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619875" y="15811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方案输出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619875" y="1857375"/>
            <a:ext cx="16192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239250" y="1581150"/>
            <a:ext cx="1857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确认与执行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239250" y="1857375"/>
            <a:ext cx="1857375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44" name="圆角矩形 43"/>
          <p:cNvSpPr>
            <a:spLocks noGrp="1"/>
          </p:cNvSpPr>
          <p:nvPr/>
        </p:nvSpPr>
        <p:spPr>
          <a:xfrm>
            <a:off x="6667500" y="2019300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00AEEF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734175" y="2028825"/>
            <a:ext cx="1914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安全库存 / s / S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6667500" y="2524125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734175" y="2533650"/>
            <a:ext cx="1914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补货日期与数量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6667500" y="3028950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6734175" y="3038475"/>
            <a:ext cx="1914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预计库存水位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6667500" y="3533775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6734175" y="3543300"/>
            <a:ext cx="1914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缺货/容量风险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9286875" y="2019300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00AEEF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9353550" y="2028825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计划员确认发布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9286875" y="2524125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02832"/>
            </a:solidFill>
            <a:prstDash val="solid"/>
          </a:ln>
        </p:spPr>
        <p:txBody>
          <a:bodyPr/>
          <a:lstStyle/>
          <a:p/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9353550" y="2533650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生产排程承接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圆角矩形 55"/>
          <p:cNvSpPr>
            <a:spLocks noGrp="1"/>
          </p:cNvSpPr>
          <p:nvPr/>
        </p:nvSpPr>
        <p:spPr>
          <a:xfrm>
            <a:off x="9286875" y="3028950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  <p:txBody>
          <a:bodyPr/>
          <a:lstStyle/>
          <a:p/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9353550" y="3038475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生产入库执行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9286875" y="3533775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9353550" y="3543300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驾驶舱预警跟踪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右箭头 59"/>
          <p:cNvSpPr>
            <a:spLocks noGrp="1"/>
          </p:cNvSpPr>
          <p:nvPr/>
        </p:nvSpPr>
        <p:spPr>
          <a:xfrm>
            <a:off x="2667000" y="2962275"/>
            <a:ext cx="457200" cy="2095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61" name="右箭头 60"/>
          <p:cNvSpPr>
            <a:spLocks noGrp="1"/>
          </p:cNvSpPr>
          <p:nvPr/>
        </p:nvSpPr>
        <p:spPr>
          <a:xfrm>
            <a:off x="6048375" y="2962275"/>
            <a:ext cx="457200" cy="209550"/>
          </a:xfrm>
          <a:prstGeom prst="rightArrow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62" name="右箭头 61"/>
          <p:cNvSpPr>
            <a:spLocks noGrp="1"/>
          </p:cNvSpPr>
          <p:nvPr/>
        </p:nvSpPr>
        <p:spPr>
          <a:xfrm>
            <a:off x="8810625" y="2962275"/>
            <a:ext cx="361950" cy="2095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63" name="椭圆 62"/>
          <p:cNvSpPr>
            <a:spLocks noGrp="1"/>
          </p:cNvSpPr>
          <p:nvPr/>
        </p:nvSpPr>
        <p:spPr>
          <a:xfrm>
            <a:off x="3352800" y="2171700"/>
            <a:ext cx="2286000" cy="2286000"/>
          </a:xfrm>
          <a:prstGeom prst="ellipse">
            <a:avLst/>
          </a:prstGeom>
          <a:solidFill>
            <a:srgbClr val="082833"/>
          </a:solidFill>
          <a:ln w="28575">
            <a:solidFill>
              <a:srgbClr val="00AEEF"/>
            </a:solidFill>
            <a:prstDash val="solid"/>
          </a:ln>
        </p:spPr>
        <p:txBody>
          <a:bodyPr/>
          <a:lstStyle/>
          <a:p/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3638550" y="255270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动态库存策略</a:t>
            </a:r>
            <a:endParaRPr sz="18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3571875" y="3067050"/>
            <a:ext cx="18573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(R,s,S) 参数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逐日库存推演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共享库容与罐位兼容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7天锁定与异常重算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下箭头 65"/>
          <p:cNvSpPr>
            <a:spLocks noGrp="1"/>
          </p:cNvSpPr>
          <p:nvPr/>
        </p:nvSpPr>
        <p:spPr>
          <a:xfrm>
            <a:off x="10862945" y="5067300"/>
            <a:ext cx="323850" cy="523875"/>
          </a:xfrm>
          <a:prstGeom prst="downArrow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67" name="左箭头 66"/>
          <p:cNvSpPr>
            <a:spLocks noGrp="1"/>
          </p:cNvSpPr>
          <p:nvPr/>
        </p:nvSpPr>
        <p:spPr>
          <a:xfrm>
            <a:off x="2381250" y="4762500"/>
            <a:ext cx="8096250" cy="304800"/>
          </a:xfrm>
          <a:prstGeom prst="leftArrow">
            <a:avLst/>
          </a:prstGeom>
          <a:solidFill>
            <a:srgbClr val="17485A"/>
          </a:solidFill>
          <a:ln w="0">
            <a:solidFill>
              <a:srgbClr val="17485A"/>
            </a:solidFill>
            <a:prstDash val="solid"/>
          </a:ln>
        </p:spPr>
        <p:txBody>
          <a:bodyPr/>
          <a:lstStyle/>
          <a:p/>
        </p:txBody>
      </p:sp>
      <p:sp>
        <p:nvSpPr>
          <p:cNvPr id="68" name="上箭头 67"/>
          <p:cNvSpPr>
            <a:spLocks noGrp="1"/>
          </p:cNvSpPr>
          <p:nvPr/>
        </p:nvSpPr>
        <p:spPr>
          <a:xfrm>
            <a:off x="1009015" y="5067300"/>
            <a:ext cx="323850" cy="523875"/>
          </a:xfrm>
          <a:prstGeom prst="upArrow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3143250" y="4724400"/>
            <a:ext cx="657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实际出货 / 实际入库 / 偏差与预警 / 参数效果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4" name="圆角矩形 93"/>
          <p:cNvSpPr>
            <a:spLocks noGrp="1"/>
          </p:cNvSpPr>
          <p:nvPr/>
        </p:nvSpPr>
        <p:spPr>
          <a:xfrm>
            <a:off x="1571625" y="5381625"/>
            <a:ext cx="9048750" cy="666750"/>
          </a:xfrm>
          <a:prstGeom prst="roundRect">
            <a:avLst>
              <a:gd name="adj" fmla="val 11429"/>
            </a:avLst>
          </a:prstGeom>
          <a:solidFill>
            <a:srgbClr val="0B222D"/>
          </a:solidFill>
          <a:ln w="14288">
            <a:solidFill>
              <a:srgbClr val="00AEEF"/>
            </a:solidFill>
            <a:prstDash val="solid"/>
          </a:ln>
        </p:spPr>
        <p:txBody>
          <a:bodyPr/>
          <a:lstStyle/>
          <a:p/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1714500" y="5438775"/>
            <a:ext cx="876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00AEE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AEEF"/>
                </a:solidFill>
                <a:latin typeface="微软雅黑"/>
                <a:ea typeface="微软雅黑"/>
                <a:cs typeface="微软雅黑"/>
              </a:rPr>
              <a:t>以服务水平牵引库存结构优化</a:t>
            </a:r>
            <a:endParaRPr sz="1350" b="1">
              <a:solidFill>
                <a:srgbClr val="00AEE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1714500" y="5724525"/>
            <a:ext cx="876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降低缺货与呆滞风险，提升库存周转和订单保障能力，让库存从静态经验值变为动态经营参数。</a:t>
            </a:r>
            <a:endParaRPr sz="10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647700" y="1066800"/>
            <a:ext cx="10810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把需求变化、库存状态与生产补充能力统一到逐日库存轨迹中，在保障交付的同时控制资金占用和库容风险。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619125" y="2019300"/>
            <a:ext cx="1981200" cy="532646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00AEEF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85800" y="2027050"/>
            <a:ext cx="1847850" cy="524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chemeClr val="accent1">
                    <a:lumMod val="20000"/>
                    <a:lumOff val="80000"/>
                  </a:schemeClr>
                </a:solidFill>
                <a:latin typeface="微软雅黑"/>
                <a:ea typeface="微软雅黑"/>
                <a:cs typeface="微软雅黑"/>
              </a:rPr>
              <a:t>需求预测与历史数据</a:t>
            </a:r>
            <a:endParaRPr sz="1090" b="1">
              <a:solidFill>
                <a:schemeClr val="accent1">
                  <a:lumMod val="20000"/>
                  <a:lumOff val="80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用于预测未来消耗量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19125" y="2718435"/>
            <a:ext cx="1981200" cy="532646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00AEEF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2726184"/>
            <a:ext cx="1847850" cy="524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提前期与补货规则</a:t>
            </a:r>
            <a:endParaRPr sz="1090" b="0">
              <a:solidFill>
                <a:schemeClr val="accent2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采购、制造及运输的提前期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19125" y="3411220"/>
            <a:ext cx="1981200" cy="532646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00AEEF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3418969"/>
            <a:ext cx="1847850" cy="524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>
                <a:solidFill>
                  <a:schemeClr val="accent5">
                    <a:lumMod val="20000"/>
                    <a:lumOff val="80000"/>
                  </a:schemeClr>
                </a:solidFill>
                <a:latin typeface="微软雅黑"/>
                <a:ea typeface="微软雅黑"/>
                <a:cs typeface="微软雅黑"/>
              </a:rPr>
              <a:t>服务水平目标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企业希望达到的库存满足率（如95%）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13410" y="4131310"/>
            <a:ext cx="1981200" cy="532646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00AEEF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0085" y="4139059"/>
            <a:ext cx="1847850" cy="524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>
                <a:solidFill>
                  <a:schemeClr val="accent6">
                    <a:lumMod val="20000"/>
                    <a:lumOff val="80000"/>
                  </a:schemeClr>
                </a:solidFill>
                <a:latin typeface="微软雅黑"/>
                <a:ea typeface="微软雅黑"/>
                <a:cs typeface="微软雅黑"/>
              </a:rPr>
              <a:t>成本参数</a:t>
            </a:r>
            <a:endParaRPr sz="1090">
              <a:solidFill>
                <a:schemeClr val="accent6">
                  <a:lumMod val="20000"/>
                  <a:lumOff val="80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包括库存持有成本、订货成本、缺货成本等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 sz="1400"/>
          </a:p>
        </p:txBody>
      </p:sp>
      <p:pic>
        <p:nvPicPr>
          <p:cNvPr id="99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>
            <a:spLocks noGrp="1"/>
          </p:cNvSpPr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88900" tIns="50800" rIns="88900" bIns="50800" anchor="t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数据驱动采购决策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优化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7700" y="1066800"/>
            <a:ext cx="10810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以上游已发布原材料需求为唯一需求口径，在满足供应、质量和到货约束的前提下优化供应商组合与综合采购成本。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90550" y="15811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业务输入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90550" y="1857375"/>
            <a:ext cx="16192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000375" y="15811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模型与规则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000375" y="1857375"/>
            <a:ext cx="18097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619875" y="15811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方案输出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619875" y="1857375"/>
            <a:ext cx="16192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239250" y="1581150"/>
            <a:ext cx="1857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确认与执行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239250" y="1857375"/>
            <a:ext cx="1857375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619125" y="2019300"/>
            <a:ext cx="1981200" cy="60071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53D38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85800" y="2028825"/>
            <a:ext cx="1847850" cy="5911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chemeClr val="accent6">
                    <a:lumMod val="20000"/>
                    <a:lumOff val="80000"/>
                  </a:schemeClr>
                </a:solidFill>
                <a:latin typeface="微软雅黑"/>
                <a:ea typeface="微软雅黑"/>
                <a:cs typeface="微软雅黑"/>
              </a:rPr>
              <a:t>物料需求计划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由生产计划直接驱动的原材料和零部件需求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6667500" y="2019300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53D38A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734175" y="2028825"/>
            <a:ext cx="1914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月度采购总量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6667500" y="2524125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734175" y="2533650"/>
            <a:ext cx="1914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供应商分配方案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6667500" y="3028950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6734175" y="3038475"/>
            <a:ext cx="1914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建议到货日期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6667500" y="3533775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6734175" y="3543300"/>
            <a:ext cx="1914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锁价/合同建议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9286875" y="2019300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53D38A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9353550" y="2028825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业务确认与审批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9286875" y="2524125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9353550" y="2533650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E采 / SAP下单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圆角矩形 55"/>
          <p:cNvSpPr>
            <a:spLocks noGrp="1"/>
          </p:cNvSpPr>
          <p:nvPr/>
        </p:nvSpPr>
        <p:spPr>
          <a:xfrm>
            <a:off x="9286875" y="3028950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9353550" y="3038475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供应商发货到厂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9286875" y="3533775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9353550" y="3543300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质检与订单更新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右箭头 59"/>
          <p:cNvSpPr>
            <a:spLocks noGrp="1"/>
          </p:cNvSpPr>
          <p:nvPr/>
        </p:nvSpPr>
        <p:spPr>
          <a:xfrm>
            <a:off x="2667000" y="2962275"/>
            <a:ext cx="457200" cy="2095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61" name="右箭头 60"/>
          <p:cNvSpPr>
            <a:spLocks noGrp="1"/>
          </p:cNvSpPr>
          <p:nvPr/>
        </p:nvSpPr>
        <p:spPr>
          <a:xfrm>
            <a:off x="6048375" y="2962275"/>
            <a:ext cx="457200" cy="209550"/>
          </a:xfrm>
          <a:prstGeom prst="rightArrow">
            <a:avLst/>
          </a:prstGeom>
          <a:solidFill>
            <a:srgbClr val="53D38A"/>
          </a:solidFill>
          <a:ln w="0">
            <a:solidFill>
              <a:srgbClr val="53D38A"/>
            </a:solidFill>
            <a:prstDash val="solid"/>
          </a:ln>
        </p:spPr>
      </p:sp>
      <p:sp>
        <p:nvSpPr>
          <p:cNvPr id="62" name="右箭头 61"/>
          <p:cNvSpPr>
            <a:spLocks noGrp="1"/>
          </p:cNvSpPr>
          <p:nvPr/>
        </p:nvSpPr>
        <p:spPr>
          <a:xfrm>
            <a:off x="8810625" y="2962275"/>
            <a:ext cx="361950" cy="2095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63" name="椭圆 62"/>
          <p:cNvSpPr>
            <a:spLocks noGrp="1"/>
          </p:cNvSpPr>
          <p:nvPr/>
        </p:nvSpPr>
        <p:spPr>
          <a:xfrm>
            <a:off x="3352800" y="2171700"/>
            <a:ext cx="2286000" cy="2286000"/>
          </a:xfrm>
          <a:prstGeom prst="ellipse">
            <a:avLst/>
          </a:prstGeom>
          <a:solidFill>
            <a:srgbClr val="082833"/>
          </a:solidFill>
          <a:ln w="28575">
            <a:solidFill>
              <a:srgbClr val="53D38A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3638550" y="255270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采购组合优化</a:t>
            </a:r>
            <a:endParaRPr sz="18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3571875" y="3067050"/>
            <a:ext cx="18573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分期待采购需求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供应商准入与评分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综合成本最优化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到货可行性校验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下箭头 65"/>
          <p:cNvSpPr>
            <a:spLocks noGrp="1"/>
          </p:cNvSpPr>
          <p:nvPr/>
        </p:nvSpPr>
        <p:spPr>
          <a:xfrm>
            <a:off x="10287000" y="4095750"/>
            <a:ext cx="323850" cy="523875"/>
          </a:xfrm>
          <a:prstGeom prst="downArrow">
            <a:avLst/>
          </a:prstGeom>
          <a:solidFill>
            <a:srgbClr val="53D38A"/>
          </a:solidFill>
          <a:ln w="0">
            <a:solidFill>
              <a:srgbClr val="53D38A"/>
            </a:solidFill>
            <a:prstDash val="solid"/>
          </a:ln>
        </p:spPr>
      </p:sp>
      <p:sp>
        <p:nvSpPr>
          <p:cNvPr id="67" name="左箭头 66"/>
          <p:cNvSpPr>
            <a:spLocks noGrp="1"/>
          </p:cNvSpPr>
          <p:nvPr/>
        </p:nvSpPr>
        <p:spPr>
          <a:xfrm>
            <a:off x="2381250" y="4762500"/>
            <a:ext cx="8096250" cy="304800"/>
          </a:xfrm>
          <a:prstGeom prst="leftArrow">
            <a:avLst/>
          </a:prstGeom>
          <a:solidFill>
            <a:srgbClr val="17485A"/>
          </a:solidFill>
          <a:ln w="0">
            <a:solidFill>
              <a:srgbClr val="17485A"/>
            </a:solidFill>
            <a:prstDash val="solid"/>
          </a:ln>
        </p:spPr>
      </p:sp>
      <p:sp>
        <p:nvSpPr>
          <p:cNvPr id="68" name="上箭头 67"/>
          <p:cNvSpPr>
            <a:spLocks noGrp="1"/>
          </p:cNvSpPr>
          <p:nvPr/>
        </p:nvSpPr>
        <p:spPr>
          <a:xfrm>
            <a:off x="1181100" y="4238625"/>
            <a:ext cx="323850" cy="523875"/>
          </a:xfrm>
          <a:prstGeom prst="upArrow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3143250" y="4724400"/>
            <a:ext cx="657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实际价格 / 到货数量与日期 / 质量 / 供应商履约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4" name="圆角矩形 93"/>
          <p:cNvSpPr>
            <a:spLocks noGrp="1"/>
          </p:cNvSpPr>
          <p:nvPr/>
        </p:nvSpPr>
        <p:spPr>
          <a:xfrm>
            <a:off x="1571625" y="5381625"/>
            <a:ext cx="9048750" cy="666750"/>
          </a:xfrm>
          <a:prstGeom prst="roundRect">
            <a:avLst>
              <a:gd name="adj" fmla="val 11429"/>
            </a:avLst>
          </a:prstGeom>
          <a:solidFill>
            <a:srgbClr val="0B222D"/>
          </a:solidFill>
          <a:ln w="14288">
            <a:solidFill>
              <a:srgbClr val="53D38A"/>
            </a:solidFill>
            <a:prstDash val="solid"/>
          </a:ln>
        </p:spPr>
      </p:sp>
      <p:sp>
        <p:nvSpPr>
          <p:cNvPr id="95" name="矩形 94"/>
          <p:cNvSpPr>
            <a:spLocks noGrp="1"/>
          </p:cNvSpPr>
          <p:nvPr/>
        </p:nvSpPr>
        <p:spPr>
          <a:xfrm>
            <a:off x="1714500" y="5438775"/>
            <a:ext cx="876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53D38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3D38A"/>
                </a:solidFill>
                <a:latin typeface="微软雅黑"/>
                <a:ea typeface="微软雅黑"/>
                <a:cs typeface="微软雅黑"/>
              </a:rPr>
              <a:t>从单价采购升级为总成本与供应安全协同优化</a:t>
            </a:r>
            <a:endParaRPr sz="1350" b="1">
              <a:solidFill>
                <a:srgbClr val="53D3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1714500" y="5724525"/>
            <a:ext cx="876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减少重复采购和缺口风险，提升多供应商组合决策效率，并为供应中断提供可解释的备选方案。</a:t>
            </a:r>
            <a:endParaRPr sz="10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14045" y="2745740"/>
            <a:ext cx="1981200" cy="60071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53D38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80720" y="2917825"/>
            <a:ext cx="1847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chemeClr val="accent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库存水位信息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实时库存数据，用于精准计算净需求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08965" y="3482340"/>
            <a:ext cx="1981200" cy="60071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53D38A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89915" y="3654425"/>
            <a:ext cx="200533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chemeClr val="accent4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供应商画像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包括供应商的交货表现、质量水平、历史价格和合同条款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 sz="1400"/>
          </a:p>
        </p:txBody>
      </p:sp>
      <p:pic>
        <p:nvPicPr>
          <p:cNvPr id="48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>
            <a:spLocks noGrp="1"/>
          </p:cNvSpPr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88900" tIns="50800" rIns="88900" bIns="50800" anchor="t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全自动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统计与成本核算分析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10668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FFFFFF"/>
                </a:solidFill>
              </a:rPr>
              <a:t>成本分摊—批次价值链与多维利润分析</a:t>
            </a:r>
            <a:endParaRPr b="1">
              <a:solidFill>
                <a:srgbClr val="FFFFFF"/>
              </a:solidFill>
            </a:endParaRPr>
          </a:p>
          <a:p>
            <a:pPr algn="l">
              <a:buNone/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成本沿实物流和批次链逐级归集、分摊与传递，最终穿透到销售订单、客户和产品经营结果。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19125" y="16192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成本形成链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1895475"/>
            <a:ext cx="18097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619125" y="2095500"/>
            <a:ext cx="1952625" cy="933450"/>
          </a:xfrm>
          <a:prstGeom prst="roundRect">
            <a:avLst>
              <a:gd name="adj" fmla="val 8163"/>
            </a:avLst>
          </a:prstGeom>
          <a:solidFill>
            <a:srgbClr val="09182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14375" y="2162175"/>
            <a:ext cx="1762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采购入厂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2457450"/>
            <a:ext cx="17049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采购价/运费/入库费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右箭头 12"/>
          <p:cNvSpPr>
            <a:spLocks noGrp="1"/>
          </p:cNvSpPr>
          <p:nvPr/>
        </p:nvSpPr>
        <p:spPr>
          <a:xfrm>
            <a:off x="2571750" y="2428875"/>
            <a:ext cx="381000" cy="190500"/>
          </a:xfrm>
          <a:prstGeom prst="rightArrow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2952750" y="2095500"/>
            <a:ext cx="1952625" cy="933450"/>
          </a:xfrm>
          <a:prstGeom prst="roundRect">
            <a:avLst>
              <a:gd name="adj" fmla="val 8163"/>
            </a:avLst>
          </a:prstGeom>
          <a:solidFill>
            <a:srgbClr val="091820"/>
          </a:solidFill>
          <a:ln w="19050">
            <a:solidFill>
              <a:srgbClr val="23D4F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048000" y="2162175"/>
            <a:ext cx="1762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仓储投料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076575" y="2457450"/>
            <a:ext cx="17049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移库/装卸/人工费用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右箭头 16"/>
          <p:cNvSpPr>
            <a:spLocks noGrp="1"/>
          </p:cNvSpPr>
          <p:nvPr/>
        </p:nvSpPr>
        <p:spPr>
          <a:xfrm>
            <a:off x="4905375" y="2428875"/>
            <a:ext cx="381000" cy="190500"/>
          </a:xfrm>
          <a:prstGeom prst="rightArrow">
            <a:avLst/>
          </a:prstGeom>
          <a:solidFill>
            <a:srgbClr val="23D4FF"/>
          </a:solidFill>
          <a:ln w="0">
            <a:solidFill>
              <a:srgbClr val="23D4FF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5286375" y="2095500"/>
            <a:ext cx="1952625" cy="933450"/>
          </a:xfrm>
          <a:prstGeom prst="roundRect">
            <a:avLst>
              <a:gd name="adj" fmla="val 8163"/>
            </a:avLst>
          </a:prstGeom>
          <a:solidFill>
            <a:srgbClr val="091820"/>
          </a:solidFill>
          <a:ln w="19050">
            <a:solidFill>
              <a:srgbClr val="53D38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81625" y="2162175"/>
            <a:ext cx="1762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生产加工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410200" y="2457450"/>
            <a:ext cx="17049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投料批次/能源/制造费用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右箭头 20"/>
          <p:cNvSpPr>
            <a:spLocks noGrp="1"/>
          </p:cNvSpPr>
          <p:nvPr/>
        </p:nvSpPr>
        <p:spPr>
          <a:xfrm>
            <a:off x="7239000" y="2428875"/>
            <a:ext cx="381000" cy="190500"/>
          </a:xfrm>
          <a:prstGeom prst="rightArrow">
            <a:avLst/>
          </a:prstGeom>
          <a:solidFill>
            <a:srgbClr val="53D38A"/>
          </a:solidFill>
          <a:ln w="0">
            <a:solidFill>
              <a:srgbClr val="53D38A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7620000" y="2095500"/>
            <a:ext cx="1952625" cy="933450"/>
          </a:xfrm>
          <a:prstGeom prst="roundRect">
            <a:avLst>
              <a:gd name="adj" fmla="val 8163"/>
            </a:avLst>
          </a:prstGeom>
          <a:solidFill>
            <a:srgbClr val="091820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715250" y="2162175"/>
            <a:ext cx="1762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订单交付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743825" y="2457450"/>
            <a:ext cx="17049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包装/运输/销售订单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下箭头 24"/>
          <p:cNvSpPr>
            <a:spLocks noGrp="1"/>
          </p:cNvSpPr>
          <p:nvPr/>
        </p:nvSpPr>
        <p:spPr>
          <a:xfrm>
            <a:off x="5000625" y="3190875"/>
            <a:ext cx="342900" cy="495300"/>
          </a:xfrm>
          <a:prstGeom prst="downArrow">
            <a:avLst/>
          </a:prstGeom>
          <a:solidFill>
            <a:srgbClr val="FFF200"/>
          </a:solidFill>
          <a:ln w="0">
            <a:solidFill>
              <a:srgbClr val="FFF200"/>
            </a:solidFill>
            <a:prstDash val="solid"/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3143250" y="3762375"/>
            <a:ext cx="4048125" cy="1047750"/>
          </a:xfrm>
          <a:prstGeom prst="roundRect">
            <a:avLst>
              <a:gd name="adj" fmla="val 7273"/>
            </a:avLst>
          </a:prstGeom>
          <a:solidFill>
            <a:srgbClr val="0B2833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429000" y="4069715"/>
            <a:ext cx="3476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批次成本引擎</a:t>
            </a:r>
            <a:endParaRPr sz="2800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381375" y="4286250"/>
            <a:ext cx="3571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右箭头 28"/>
          <p:cNvSpPr>
            <a:spLocks noGrp="1"/>
          </p:cNvSpPr>
          <p:nvPr/>
        </p:nvSpPr>
        <p:spPr>
          <a:xfrm>
            <a:off x="7334250" y="4171950"/>
            <a:ext cx="523875" cy="209550"/>
          </a:xfrm>
          <a:prstGeom prst="rightArrow">
            <a:avLst/>
          </a:prstGeom>
          <a:solidFill>
            <a:srgbClr val="FFF200"/>
          </a:solidFill>
          <a:ln w="0">
            <a:solidFill>
              <a:srgbClr val="FFF200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048625" y="3381375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价值分析树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048625" y="3657600"/>
            <a:ext cx="171450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8096250" y="3810000"/>
            <a:ext cx="14763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F200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162925" y="3819525"/>
            <a:ext cx="13430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产品利润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9763125" y="3810000"/>
            <a:ext cx="14763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F200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829800" y="3819525"/>
            <a:ext cx="13430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客户利润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8096250" y="4381500"/>
            <a:ext cx="14763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F200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162925" y="4391025"/>
            <a:ext cx="13430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供应商贡献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9763125" y="4381500"/>
            <a:ext cx="14763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F200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829800" y="4391025"/>
            <a:ext cx="13430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销售订单利润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8096250" y="4953000"/>
            <a:ext cx="3190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B348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162925" y="4962525"/>
            <a:ext cx="3057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成本差异追溯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666875" y="5191125"/>
            <a:ext cx="885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财务复核与规则版本管理贯穿归集、分摊和发布全过程</a:t>
            </a:r>
            <a:endParaRPr sz="112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2428875" y="5715000"/>
            <a:ext cx="7524750" cy="571500"/>
          </a:xfrm>
          <a:prstGeom prst="roundRect">
            <a:avLst>
              <a:gd name="adj" fmla="val 13333"/>
            </a:avLst>
          </a:prstGeom>
          <a:solidFill>
            <a:srgbClr val="0B222D"/>
          </a:solidFill>
          <a:ln w="14288">
            <a:solidFill>
              <a:srgbClr val="FFF200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2571750" y="57721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经营价值</a:t>
            </a:r>
            <a:endParaRPr sz="1350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571750" y="60579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让供应链决策看见真实成本和利润，为采购、排程与库存策略提供统一价值尺度。</a:t>
            </a:r>
            <a:endParaRPr sz="10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  <a:p>
            <a:endParaRPr sz="10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 sz="1400"/>
          </a:p>
        </p:txBody>
      </p:sp>
      <p:pic>
        <p:nvPicPr>
          <p:cNvPr id="70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>
            <a:spLocks noGrp="1"/>
          </p:cNvSpPr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88900" tIns="50800" rIns="88900" bIns="50800" anchor="t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智慧运营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驾驶舱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106680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以统一态势为中心，向外连接指标监测、异常处置、情景推演和正式业务调整，形成整齐可追踪的管理闭环。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4429125" y="2095500"/>
            <a:ext cx="3333750" cy="3333750"/>
          </a:xfrm>
          <a:prstGeom prst="ellipse">
            <a:avLst/>
          </a:prstGeom>
          <a:solidFill>
            <a:srgbClr val="071F2A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5000625" y="2667000"/>
            <a:ext cx="2190750" cy="2190750"/>
          </a:xfrm>
          <a:prstGeom prst="ellipse">
            <a:avLst/>
          </a:prstGeom>
          <a:solidFill>
            <a:srgbClr val="0A3442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191125" y="31242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供应链态势中枢</a:t>
            </a:r>
            <a:endParaRPr sz="18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219700" y="3667125"/>
            <a:ext cx="17621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KPI · 地图 · 专题视图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红黄绿健康度 · 影响链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19125" y="16192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运营闭环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19125" y="1895475"/>
            <a:ext cx="16192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620250" y="16192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决策闭环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620250" y="1895475"/>
            <a:ext cx="16192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666750" y="20955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62000" y="21621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汇聚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90575" y="24574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跨模块结果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2095500" y="2276475"/>
            <a:ext cx="457200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666750" y="27813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62000" y="28479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识别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90575" y="31432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异常与预警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右箭头 22"/>
          <p:cNvSpPr>
            <a:spLocks noGrp="1"/>
          </p:cNvSpPr>
          <p:nvPr/>
        </p:nvSpPr>
        <p:spPr>
          <a:xfrm>
            <a:off x="2095500" y="2962275"/>
            <a:ext cx="457200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666750" y="34671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62000" y="35337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钻取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90575" y="38290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明细与根因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右箭头 26"/>
          <p:cNvSpPr>
            <a:spLocks noGrp="1"/>
          </p:cNvSpPr>
          <p:nvPr/>
        </p:nvSpPr>
        <p:spPr>
          <a:xfrm>
            <a:off x="2095500" y="3648075"/>
            <a:ext cx="457200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666750" y="41529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62000" y="42195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处置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90575" y="45148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派发与跟踪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右箭头 30"/>
          <p:cNvSpPr>
            <a:spLocks noGrp="1"/>
          </p:cNvSpPr>
          <p:nvPr/>
        </p:nvSpPr>
        <p:spPr>
          <a:xfrm>
            <a:off x="2095500" y="4333875"/>
            <a:ext cx="457200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666750" y="48387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62000" y="49053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验证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90575" y="52006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恢复后关闭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右箭头 34"/>
          <p:cNvSpPr>
            <a:spLocks noGrp="1"/>
          </p:cNvSpPr>
          <p:nvPr/>
        </p:nvSpPr>
        <p:spPr>
          <a:xfrm>
            <a:off x="2095500" y="5019675"/>
            <a:ext cx="457200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36" name="左箭头 35"/>
          <p:cNvSpPr>
            <a:spLocks noGrp="1"/>
          </p:cNvSpPr>
          <p:nvPr/>
        </p:nvSpPr>
        <p:spPr>
          <a:xfrm>
            <a:off x="9620250" y="2276475"/>
            <a:ext cx="457200" cy="171450"/>
          </a:xfrm>
          <a:prstGeom prst="lef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37" name="圆角矩形 36"/>
          <p:cNvSpPr>
            <a:spLocks noGrp="1"/>
          </p:cNvSpPr>
          <p:nvPr/>
        </p:nvSpPr>
        <p:spPr>
          <a:xfrm>
            <a:off x="10096500" y="20955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0191750" y="21621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设定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0220325" y="24574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情景参数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左箭头 39"/>
          <p:cNvSpPr>
            <a:spLocks noGrp="1"/>
          </p:cNvSpPr>
          <p:nvPr/>
        </p:nvSpPr>
        <p:spPr>
          <a:xfrm>
            <a:off x="9620250" y="2962275"/>
            <a:ext cx="457200" cy="171450"/>
          </a:xfrm>
          <a:prstGeom prst="lef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41" name="圆角矩形 40"/>
          <p:cNvSpPr>
            <a:spLocks noGrp="1"/>
          </p:cNvSpPr>
          <p:nvPr/>
        </p:nvSpPr>
        <p:spPr>
          <a:xfrm>
            <a:off x="10096500" y="27813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0191750" y="28479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冻结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0220325" y="31432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基线快照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左箭头 43"/>
          <p:cNvSpPr>
            <a:spLocks noGrp="1"/>
          </p:cNvSpPr>
          <p:nvPr/>
        </p:nvSpPr>
        <p:spPr>
          <a:xfrm>
            <a:off x="9620250" y="3648075"/>
            <a:ext cx="457200" cy="171450"/>
          </a:xfrm>
          <a:prstGeom prst="lef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45" name="圆角矩形 44"/>
          <p:cNvSpPr>
            <a:spLocks noGrp="1"/>
          </p:cNvSpPr>
          <p:nvPr/>
        </p:nvSpPr>
        <p:spPr>
          <a:xfrm>
            <a:off x="10096500" y="34671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10191750" y="35337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编排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0220325" y="38290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专业模型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左箭头 47"/>
          <p:cNvSpPr>
            <a:spLocks noGrp="1"/>
          </p:cNvSpPr>
          <p:nvPr/>
        </p:nvSpPr>
        <p:spPr>
          <a:xfrm>
            <a:off x="9620250" y="4333875"/>
            <a:ext cx="457200" cy="171450"/>
          </a:xfrm>
          <a:prstGeom prst="lef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49" name="圆角矩形 48"/>
          <p:cNvSpPr>
            <a:spLocks noGrp="1"/>
          </p:cNvSpPr>
          <p:nvPr/>
        </p:nvSpPr>
        <p:spPr>
          <a:xfrm>
            <a:off x="10096500" y="41529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0191750" y="42195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对比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0220325" y="45148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成本/服务/风险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左箭头 51"/>
          <p:cNvSpPr>
            <a:spLocks noGrp="1"/>
          </p:cNvSpPr>
          <p:nvPr/>
        </p:nvSpPr>
        <p:spPr>
          <a:xfrm>
            <a:off x="9620250" y="5019675"/>
            <a:ext cx="457200" cy="171450"/>
          </a:xfrm>
          <a:prstGeom prst="lef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53" name="圆角矩形 52"/>
          <p:cNvSpPr>
            <a:spLocks noGrp="1"/>
          </p:cNvSpPr>
          <p:nvPr/>
        </p:nvSpPr>
        <p:spPr>
          <a:xfrm>
            <a:off x="10096500" y="48387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0191750" y="49053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采纳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10220325" y="52006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正式调整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圆角矩形 55"/>
          <p:cNvSpPr>
            <a:spLocks noGrp="1"/>
          </p:cNvSpPr>
          <p:nvPr/>
        </p:nvSpPr>
        <p:spPr>
          <a:xfrm>
            <a:off x="3493770" y="2238375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00AEEF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3560445" y="2247900"/>
            <a:ext cx="1295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库存健康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7347585" y="2238375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53D38A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7414260" y="2247900"/>
            <a:ext cx="1295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交付达成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圆角矩形 59"/>
          <p:cNvSpPr>
            <a:spLocks noGrp="1"/>
          </p:cNvSpPr>
          <p:nvPr/>
        </p:nvSpPr>
        <p:spPr>
          <a:xfrm>
            <a:off x="3242945" y="4676775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B348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3309620" y="4686300"/>
            <a:ext cx="1295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采购执行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圆角矩形 61"/>
          <p:cNvSpPr>
            <a:spLocks noGrp="1"/>
          </p:cNvSpPr>
          <p:nvPr/>
        </p:nvSpPr>
        <p:spPr>
          <a:xfrm>
            <a:off x="7553325" y="466725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23D4FF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7620000" y="4676775"/>
            <a:ext cx="1295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产能负荷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左箭头 63"/>
          <p:cNvSpPr>
            <a:spLocks noGrp="1"/>
          </p:cNvSpPr>
          <p:nvPr/>
        </p:nvSpPr>
        <p:spPr>
          <a:xfrm>
            <a:off x="3333750" y="5715000"/>
            <a:ext cx="5524500" cy="285750"/>
          </a:xfrm>
          <a:prstGeom prst="leftArrow">
            <a:avLst/>
          </a:prstGeom>
          <a:solidFill>
            <a:srgbClr val="17485A"/>
          </a:solidFill>
          <a:ln w="0">
            <a:solidFill>
              <a:srgbClr val="17485A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3714750" y="56769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正式执行结果回流态势监测；新问题进入沙盘评估并驱动下一轮改进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3333750" y="6191250"/>
            <a:ext cx="552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看全局  ·  找异常  ·  做推演  ·  促协同  ·  跟闭环</a:t>
            </a:r>
            <a:endParaRPr sz="1350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2" name="图片 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35" y="875030"/>
            <a:ext cx="9561195" cy="50488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圆角矩形 5"/>
          <p:cNvSpPr>
            <a:spLocks noGrp="1"/>
          </p:cNvSpPr>
          <p:nvPr/>
        </p:nvSpPr>
        <p:spPr>
          <a:xfrm>
            <a:off x="309880" y="5946140"/>
            <a:ext cx="11640820" cy="809625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4284345" y="4942205"/>
            <a:ext cx="7202170" cy="808990"/>
          </a:xfrm>
          <a:prstGeom prst="roundRect">
            <a:avLst>
              <a:gd name="adj" fmla="val 14286"/>
            </a:avLst>
          </a:prstGeom>
          <a:solidFill>
            <a:schemeClr val="accent1">
              <a:lumMod val="50000"/>
            </a:schemeClr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40" name="圆角矩形 39"/>
          <p:cNvSpPr>
            <a:spLocks noGrp="1"/>
          </p:cNvSpPr>
          <p:nvPr/>
        </p:nvSpPr>
        <p:spPr>
          <a:xfrm>
            <a:off x="9368155" y="1405255"/>
            <a:ext cx="2081530" cy="2418080"/>
          </a:xfrm>
          <a:prstGeom prst="roundRect">
            <a:avLst>
              <a:gd name="adj" fmla="val 14286"/>
            </a:avLst>
          </a:prstGeom>
          <a:solidFill>
            <a:schemeClr val="accent1">
              <a:lumMod val="50000"/>
            </a:schemeClr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39" name="圆角矩形 38"/>
          <p:cNvSpPr>
            <a:spLocks noGrp="1"/>
          </p:cNvSpPr>
          <p:nvPr/>
        </p:nvSpPr>
        <p:spPr>
          <a:xfrm>
            <a:off x="6833235" y="1412875"/>
            <a:ext cx="2081530" cy="2418080"/>
          </a:xfrm>
          <a:prstGeom prst="roundRect">
            <a:avLst>
              <a:gd name="adj" fmla="val 14286"/>
            </a:avLst>
          </a:prstGeom>
          <a:solidFill>
            <a:schemeClr val="accent1">
              <a:lumMod val="50000"/>
            </a:schemeClr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38" name="圆角矩形 37"/>
          <p:cNvSpPr>
            <a:spLocks noGrp="1"/>
          </p:cNvSpPr>
          <p:nvPr/>
        </p:nvSpPr>
        <p:spPr>
          <a:xfrm>
            <a:off x="4321175" y="1412240"/>
            <a:ext cx="2081530" cy="2418080"/>
          </a:xfrm>
          <a:prstGeom prst="roundRect">
            <a:avLst>
              <a:gd name="adj" fmla="val 14286"/>
            </a:avLst>
          </a:prstGeom>
          <a:solidFill>
            <a:schemeClr val="accent1">
              <a:lumMod val="50000"/>
            </a:schemeClr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932815" y="3823335"/>
            <a:ext cx="2382520" cy="94361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36" name="圆角矩形 35"/>
          <p:cNvSpPr>
            <a:spLocks noGrp="1"/>
          </p:cNvSpPr>
          <p:nvPr/>
        </p:nvSpPr>
        <p:spPr>
          <a:xfrm>
            <a:off x="930910" y="1191895"/>
            <a:ext cx="2382520" cy="94361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2" name="AutoShape 2"/>
          <p:cNvSpPr>
            <a:spLocks noGrp="1"/>
          </p:cNvSpPr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 sz="1400"/>
          </a:p>
        </p:txBody>
      </p:sp>
      <p:pic>
        <p:nvPicPr>
          <p:cNvPr id="239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>
            <a:spLocks noGrp="1"/>
          </p:cNvSpPr>
          <p:nvPr/>
        </p:nvSpPr>
        <p:spPr>
          <a:xfrm>
            <a:off x="711200" y="444500"/>
            <a:ext cx="11344910" cy="4699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88900" tIns="50800" rIns="88900" bIns="50800" anchor="t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模型数据驱动下的经营决策升级</a:t>
            </a:r>
            <a:endParaRPr sz="2400" b="1" i="0" u="none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828040" y="5946140"/>
            <a:ext cx="5302885" cy="8102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indent="0" algn="l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业务对象：生产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采购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销售</a:t>
            </a:r>
            <a:b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</a:b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业务范围：物料流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信息流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资金流</a:t>
            </a:r>
            <a:endParaRPr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文本框 41"/>
          <p:cNvSpPr>
            <a:spLocks noGrp="1"/>
          </p:cNvSpPr>
          <p:nvPr/>
        </p:nvSpPr>
        <p:spPr>
          <a:xfrm>
            <a:off x="6318250" y="5946140"/>
            <a:ext cx="5302885" cy="8102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indent="0" algn="l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业务环节：需求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计划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排产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执行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报工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跟踪</a:t>
            </a:r>
            <a:b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</a:b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业务管理：订单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生产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仓储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发货</a:t>
            </a:r>
            <a:endParaRPr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3" name="文本框 132"/>
          <p:cNvSpPr>
            <a:spLocks noGrp="1"/>
          </p:cNvSpPr>
          <p:nvPr/>
        </p:nvSpPr>
        <p:spPr>
          <a:xfrm>
            <a:off x="4131310" y="4942205"/>
            <a:ext cx="7202170" cy="80962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每批、每类产品、每个车次产品的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利润是多少？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工厂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每月每周每天每个工序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的成本是多少？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4" name="文本框 133"/>
          <p:cNvSpPr>
            <a:spLocks noGrp="1"/>
          </p:cNvSpPr>
          <p:nvPr/>
        </p:nvSpPr>
        <p:spPr>
          <a:xfrm>
            <a:off x="5513110" y="4635500"/>
            <a:ext cx="95821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  <a:buNone/>
            </a:pPr>
            <a:r>
              <a:rPr sz="1600" b="1">
                <a:ln w="15875"/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物料流</a:t>
            </a:r>
            <a:endParaRPr sz="1600" b="1">
              <a:ln w="15875"/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5" name="文本框 134"/>
          <p:cNvSpPr>
            <a:spLocks noGrp="1"/>
          </p:cNvSpPr>
          <p:nvPr/>
        </p:nvSpPr>
        <p:spPr>
          <a:xfrm>
            <a:off x="10590570" y="4635500"/>
            <a:ext cx="90551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  <a:buNone/>
            </a:pPr>
            <a:r>
              <a:rPr sz="1600" b="1">
                <a:ln w="15875"/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资金流</a:t>
            </a:r>
            <a:endParaRPr sz="1600" b="1">
              <a:ln w="15875"/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6" name="文本框 135"/>
          <p:cNvSpPr>
            <a:spLocks noGrp="1"/>
          </p:cNvSpPr>
          <p:nvPr/>
        </p:nvSpPr>
        <p:spPr>
          <a:xfrm>
            <a:off x="8051840" y="4635500"/>
            <a:ext cx="95821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  <a:buNone/>
            </a:pPr>
            <a:r>
              <a:rPr sz="1600" b="1">
                <a:ln w="15875"/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信息流</a:t>
            </a:r>
            <a:endParaRPr sz="1600" b="1">
              <a:ln w="15875"/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47" name="直接箭头连接符 137"/>
          <p:cNvCxnSpPr/>
          <p:nvPr/>
        </p:nvCxnSpPr>
        <p:spPr>
          <a:xfrm>
            <a:off x="4342765" y="4804410"/>
            <a:ext cx="1115695" cy="0"/>
          </a:xfrm>
          <a:prstGeom prst="straightConnector1">
            <a:avLst/>
          </a:prstGeom>
          <a:ln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直接箭头连接符 139"/>
          <p:cNvCxnSpPr/>
          <p:nvPr/>
        </p:nvCxnSpPr>
        <p:spPr>
          <a:xfrm>
            <a:off x="6780900" y="4788853"/>
            <a:ext cx="1116000" cy="0"/>
          </a:xfrm>
          <a:prstGeom prst="straightConnector1">
            <a:avLst/>
          </a:prstGeom>
          <a:ln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直接箭头连接符 140"/>
          <p:cNvCxnSpPr/>
          <p:nvPr/>
        </p:nvCxnSpPr>
        <p:spPr>
          <a:xfrm>
            <a:off x="9254860" y="4809173"/>
            <a:ext cx="1116000" cy="0"/>
          </a:xfrm>
          <a:prstGeom prst="straightConnector1">
            <a:avLst/>
          </a:prstGeom>
          <a:ln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Plan text.txt"/>
          <p:cNvSpPr>
            <a:spLocks noGrp="1"/>
          </p:cNvSpPr>
          <p:nvPr/>
        </p:nvSpPr>
        <p:spPr>
          <a:xfrm>
            <a:off x="932815" y="1191895"/>
            <a:ext cx="2383790" cy="94297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90204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原料怎么采购？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90204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供应商如何选择？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90204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客户如何分级？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Plan text.txt"/>
          <p:cNvSpPr>
            <a:spLocks noGrp="1"/>
          </p:cNvSpPr>
          <p:nvPr/>
        </p:nvSpPr>
        <p:spPr>
          <a:xfrm>
            <a:off x="930910" y="2166620"/>
            <a:ext cx="2383155" cy="165671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90204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产供销运如何平衡优化？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90204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生产模式如何选择？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90204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订单如何满足？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90204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交期如何保障？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90204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如何执行生产？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90204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紧急事件如何应对？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Plan text.txt"/>
          <p:cNvSpPr>
            <a:spLocks noGrp="1"/>
          </p:cNvSpPr>
          <p:nvPr/>
        </p:nvSpPr>
        <p:spPr>
          <a:xfrm>
            <a:off x="930910" y="4812030"/>
            <a:ext cx="2384425" cy="66929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marL="285750" lvl="0" indent="-285750" algn="l">
              <a:lnSpc>
                <a:spcPct val="100000"/>
              </a:lnSpc>
              <a:buClrTx/>
              <a:buSzTx/>
              <a:buFont typeface="Arial" panose="020B0604020202090204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供应链如何跟踪？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 marL="285750" lvl="0" indent="-285750" algn="l">
              <a:lnSpc>
                <a:spcPct val="100000"/>
              </a:lnSpc>
              <a:buClrTx/>
              <a:buSzTx/>
              <a:buFont typeface="Arial" panose="020B0604020202090204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信息如何共享？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Plan text.txt"/>
          <p:cNvSpPr>
            <a:spLocks noGrp="1"/>
          </p:cNvSpPr>
          <p:nvPr/>
        </p:nvSpPr>
        <p:spPr>
          <a:xfrm>
            <a:off x="929005" y="3830955"/>
            <a:ext cx="2384425" cy="92519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90204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库存如何优化？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90204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运输成本如何控制？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90204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仓库网络怎么设计？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utoShape 7"/>
          <p:cNvSpPr>
            <a:spLocks noGrp="1"/>
          </p:cNvSpPr>
          <p:nvPr/>
        </p:nvSpPr>
        <p:spPr>
          <a:xfrm>
            <a:off x="4453890" y="1565910"/>
            <a:ext cx="281940" cy="333375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F58220"/>
                </a:solidFill>
                <a:latin typeface="Noto Sans SC"/>
                <a:ea typeface="Noto Sans SC"/>
                <a:cs typeface="Noto Sans SC"/>
              </a:rPr>
              <a:t>01</a:t>
            </a:r>
            <a:endParaRPr sz="1100"/>
          </a:p>
        </p:txBody>
      </p:sp>
      <p:sp>
        <p:nvSpPr>
          <p:cNvPr id="18" name="AutoShape 8"/>
          <p:cNvSpPr>
            <a:spLocks noGrp="1"/>
          </p:cNvSpPr>
          <p:nvPr/>
        </p:nvSpPr>
        <p:spPr>
          <a:xfrm>
            <a:off x="4719320" y="1540510"/>
            <a:ext cx="1160145" cy="35941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数据基座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256" name="Pictur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5670" y="1540510"/>
            <a:ext cx="215265" cy="333375"/>
          </a:xfrm>
          <a:prstGeom prst="rect">
            <a:avLst/>
          </a:prstGeom>
        </p:spPr>
      </p:pic>
      <p:cxnSp>
        <p:nvCxnSpPr>
          <p:cNvPr id="257" name="Connector 10"/>
          <p:cNvCxnSpPr/>
          <p:nvPr/>
        </p:nvCxnSpPr>
        <p:spPr>
          <a:xfrm rot="21584515">
            <a:off x="4437380" y="2021205"/>
            <a:ext cx="1840230" cy="12700"/>
          </a:xfrm>
          <a:prstGeom prst="straightConnector1">
            <a:avLst/>
          </a:prstGeom>
          <a:ln w="12700" cap="flat">
            <a:solidFill>
              <a:srgbClr val="D8E0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11"/>
          <p:cNvSpPr>
            <a:spLocks noGrp="1"/>
          </p:cNvSpPr>
          <p:nvPr/>
        </p:nvSpPr>
        <p:spPr>
          <a:xfrm>
            <a:off x="4437380" y="2207260"/>
            <a:ext cx="1840230" cy="1487805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统一数据服务层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标准 API</a:t>
            </a:r>
            <a:endParaRPr sz="1100">
              <a:solidFill>
                <a:schemeClr val="bg1"/>
              </a:solidFill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实时数据平台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事件订阅</a:t>
            </a:r>
            <a:endParaRPr sz="12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外部数据接入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价格/天气/路况</a:t>
            </a:r>
            <a:endParaRPr sz="12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关键运营 KPI 延迟</a:t>
            </a:r>
            <a:r>
              <a:rPr sz="12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200" b="1" i="0" u="none">
                <a:solidFill>
                  <a:srgbClr val="F58220"/>
                </a:solidFill>
                <a:latin typeface="Noto Sans SC"/>
                <a:ea typeface="Noto Sans SC"/>
                <a:cs typeface="Noto Sans SC"/>
              </a:rPr>
              <a:t>≤ 5s</a:t>
            </a:r>
            <a:endParaRPr sz="1200" b="1" i="0" u="none">
              <a:solidFill>
                <a:srgbClr val="F5822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AutoShape 13"/>
          <p:cNvSpPr>
            <a:spLocks noGrp="1"/>
          </p:cNvSpPr>
          <p:nvPr/>
        </p:nvSpPr>
        <p:spPr>
          <a:xfrm>
            <a:off x="6981825" y="1565910"/>
            <a:ext cx="281940" cy="333375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F58220"/>
                </a:solidFill>
                <a:latin typeface="Noto Sans SC"/>
                <a:ea typeface="Noto Sans SC"/>
                <a:cs typeface="Noto Sans SC"/>
              </a:rPr>
              <a:t>02</a:t>
            </a:r>
            <a:endParaRPr sz="1100"/>
          </a:p>
        </p:txBody>
      </p:sp>
      <p:sp>
        <p:nvSpPr>
          <p:cNvPr id="24" name="AutoShape 14"/>
          <p:cNvSpPr>
            <a:spLocks noGrp="1"/>
          </p:cNvSpPr>
          <p:nvPr/>
        </p:nvSpPr>
        <p:spPr>
          <a:xfrm>
            <a:off x="7247255" y="1540510"/>
            <a:ext cx="1160145" cy="35941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模型中枢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261" name="Picture 1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23605" y="1540510"/>
            <a:ext cx="215265" cy="333375"/>
          </a:xfrm>
          <a:prstGeom prst="rect">
            <a:avLst/>
          </a:prstGeom>
        </p:spPr>
      </p:pic>
      <p:cxnSp>
        <p:nvCxnSpPr>
          <p:cNvPr id="262" name="Connector 16"/>
          <p:cNvCxnSpPr/>
          <p:nvPr/>
        </p:nvCxnSpPr>
        <p:spPr>
          <a:xfrm rot="21584515">
            <a:off x="6965315" y="2021205"/>
            <a:ext cx="1840230" cy="12700"/>
          </a:xfrm>
          <a:prstGeom prst="straightConnector1">
            <a:avLst/>
          </a:prstGeom>
          <a:ln w="12700" cap="flat">
            <a:solidFill>
              <a:srgbClr val="D8E0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17"/>
          <p:cNvSpPr>
            <a:spLocks noGrp="1"/>
          </p:cNvSpPr>
          <p:nvPr/>
        </p:nvSpPr>
        <p:spPr>
          <a:xfrm>
            <a:off x="6965315" y="2207260"/>
            <a:ext cx="1840230" cy="1487805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数学优化求解器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多目标建模</a:t>
            </a:r>
            <a:endParaRPr sz="1100">
              <a:solidFill>
                <a:schemeClr val="bg1"/>
              </a:solidFill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模型服务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预测/情景模拟</a:t>
            </a:r>
            <a:endParaRPr sz="12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模型资产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精益排程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/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采购优化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/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库存优化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/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成本核算模型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</a:t>
            </a:r>
            <a:endParaRPr sz="12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72h 详细排程求解</a:t>
            </a:r>
            <a:r>
              <a:rPr sz="12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200" b="1" i="0" u="none">
                <a:solidFill>
                  <a:srgbClr val="F58220"/>
                </a:solidFill>
                <a:latin typeface="Noto Sans SC"/>
                <a:ea typeface="Noto Sans SC"/>
                <a:cs typeface="Noto Sans SC"/>
              </a:rPr>
              <a:t>≤ 5min</a:t>
            </a:r>
            <a:endParaRPr sz="1200" b="1" i="0" u="none">
              <a:solidFill>
                <a:srgbClr val="F5822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9" name="AutoShape 19"/>
          <p:cNvSpPr>
            <a:spLocks noGrp="1"/>
          </p:cNvSpPr>
          <p:nvPr/>
        </p:nvSpPr>
        <p:spPr>
          <a:xfrm>
            <a:off x="9509760" y="1565910"/>
            <a:ext cx="281940" cy="333375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F58220"/>
                </a:solidFill>
                <a:latin typeface="Noto Sans SC"/>
                <a:ea typeface="Noto Sans SC"/>
                <a:cs typeface="Noto Sans SC"/>
              </a:rPr>
              <a:t>03</a:t>
            </a:r>
            <a:endParaRPr sz="1100"/>
          </a:p>
        </p:txBody>
      </p:sp>
      <p:sp>
        <p:nvSpPr>
          <p:cNvPr id="30" name="AutoShape 20"/>
          <p:cNvSpPr>
            <a:spLocks noGrp="1"/>
          </p:cNvSpPr>
          <p:nvPr/>
        </p:nvSpPr>
        <p:spPr>
          <a:xfrm>
            <a:off x="9775190" y="1540510"/>
            <a:ext cx="1160145" cy="35941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决策应用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266" name="Picture 21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51540" y="1540510"/>
            <a:ext cx="215265" cy="333375"/>
          </a:xfrm>
          <a:prstGeom prst="rect">
            <a:avLst/>
          </a:prstGeom>
        </p:spPr>
      </p:pic>
      <p:cxnSp>
        <p:nvCxnSpPr>
          <p:cNvPr id="267" name="Connector 22"/>
          <p:cNvCxnSpPr/>
          <p:nvPr/>
        </p:nvCxnSpPr>
        <p:spPr>
          <a:xfrm rot="21584515">
            <a:off x="9493250" y="2021205"/>
            <a:ext cx="1840230" cy="12700"/>
          </a:xfrm>
          <a:prstGeom prst="straightConnector1">
            <a:avLst/>
          </a:prstGeom>
          <a:ln w="12700" cap="flat">
            <a:solidFill>
              <a:srgbClr val="D8E0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23"/>
          <p:cNvSpPr>
            <a:spLocks noGrp="1"/>
          </p:cNvSpPr>
          <p:nvPr/>
        </p:nvSpPr>
        <p:spPr>
          <a:xfrm>
            <a:off x="9493250" y="2207260"/>
            <a:ext cx="1840230" cy="1487805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采购决策优化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总拥有成本最优</a:t>
            </a:r>
            <a:endParaRPr sz="1100">
              <a:solidFill>
                <a:schemeClr val="bg1"/>
              </a:solidFill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精益生产排程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安全库存</a:t>
            </a:r>
            <a:endParaRPr sz="12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全程追溯协同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驾驶舱</a:t>
            </a:r>
            <a:endParaRPr sz="12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数据—模型—应用—反馈</a:t>
            </a:r>
            <a:r>
              <a:rPr sz="12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200" b="1" i="0" u="none">
                <a:solidFill>
                  <a:srgbClr val="F58220"/>
                </a:solidFill>
                <a:latin typeface="Noto Sans SC"/>
                <a:ea typeface="Noto Sans SC"/>
                <a:cs typeface="Noto Sans SC"/>
              </a:rPr>
              <a:t>闭环迭代</a:t>
            </a:r>
            <a:endParaRPr sz="1200" b="1" i="0" u="none">
              <a:solidFill>
                <a:srgbClr val="F58220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269" name="Connector 24"/>
          <p:cNvCxnSpPr/>
          <p:nvPr/>
        </p:nvCxnSpPr>
        <p:spPr>
          <a:xfrm rot="21532602">
            <a:off x="6410325" y="2662555"/>
            <a:ext cx="422910" cy="12700"/>
          </a:xfrm>
          <a:prstGeom prst="straightConnector1">
            <a:avLst/>
          </a:prstGeom>
          <a:ln w="25400" cap="flat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270" name="Connector 25"/>
          <p:cNvCxnSpPr/>
          <p:nvPr/>
        </p:nvCxnSpPr>
        <p:spPr>
          <a:xfrm rot="21532602">
            <a:off x="8938260" y="2662555"/>
            <a:ext cx="422910" cy="12700"/>
          </a:xfrm>
          <a:prstGeom prst="straightConnector1">
            <a:avLst/>
          </a:prstGeom>
          <a:ln w="25400" cap="flat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46" name="矩形 45"/>
          <p:cNvSpPr>
            <a:spLocks noGrp="1"/>
          </p:cNvSpPr>
          <p:nvPr/>
        </p:nvSpPr>
        <p:spPr>
          <a:xfrm>
            <a:off x="807720" y="1035050"/>
            <a:ext cx="2667000" cy="4483100"/>
          </a:xfrm>
          <a:prstGeom prst="rect">
            <a:avLst/>
          </a:prstGeom>
          <a:noFill/>
          <a:ln w="28575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814070" y="927100"/>
            <a:ext cx="2662555" cy="4662170"/>
          </a:xfrm>
          <a:prstGeom prst="roundRect">
            <a:avLst>
              <a:gd name="adj" fmla="val 14286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AEEF"/>
            </a:solidFill>
            <a:prstDash val="solid"/>
          </a:ln>
        </p:spPr>
      </p:sp>
      <p:cxnSp>
        <p:nvCxnSpPr>
          <p:cNvPr id="273" name="Connector 26"/>
          <p:cNvCxnSpPr/>
          <p:nvPr/>
        </p:nvCxnSpPr>
        <p:spPr>
          <a:xfrm rot="5340734">
            <a:off x="10557257" y="4184210"/>
            <a:ext cx="582287" cy="8206"/>
          </a:xfrm>
          <a:prstGeom prst="straightConnector1">
            <a:avLst/>
          </a:prstGeom>
          <a:ln w="25400" cap="flat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74" name="Connector 27"/>
          <p:cNvCxnSpPr/>
          <p:nvPr/>
        </p:nvCxnSpPr>
        <p:spPr>
          <a:xfrm rot="10794364">
            <a:off x="4724340" y="4422189"/>
            <a:ext cx="6124060" cy="8206"/>
          </a:xfrm>
          <a:prstGeom prst="straightConnector1">
            <a:avLst/>
          </a:prstGeom>
          <a:ln w="25400" cap="flat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75" name="Connector 28"/>
          <p:cNvCxnSpPr/>
          <p:nvPr/>
        </p:nvCxnSpPr>
        <p:spPr>
          <a:xfrm rot="-5459265">
            <a:off x="4433196" y="4184210"/>
            <a:ext cx="582287" cy="8206"/>
          </a:xfrm>
          <a:prstGeom prst="straightConnector1">
            <a:avLst/>
          </a:prstGeom>
          <a:ln w="25400" cap="flat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53" name="AutoShape 29"/>
          <p:cNvSpPr>
            <a:spLocks noGrp="1"/>
          </p:cNvSpPr>
          <p:nvPr/>
        </p:nvSpPr>
        <p:spPr>
          <a:xfrm>
            <a:off x="6079490" y="4187825"/>
            <a:ext cx="3695700" cy="180975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1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执行数据回流 · 持续校准模型，驱动经营决策持续升级</a:t>
            </a:r>
            <a:endParaRPr sz="11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5505450" y="5962015"/>
            <a:ext cx="0" cy="812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 sz="1400"/>
          </a:p>
        </p:txBody>
      </p:sp>
      <p:pic>
        <p:nvPicPr>
          <p:cNvPr id="78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>
            <a:spLocks noGrp="1"/>
          </p:cNvSpPr>
          <p:nvPr/>
        </p:nvSpPr>
        <p:spPr>
          <a:xfrm>
            <a:off x="711200" y="444500"/>
            <a:ext cx="11344910" cy="4699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88900" tIns="50800" rIns="88900" bIns="50800" anchor="t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平台驱动的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管理角色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转变</a:t>
            </a:r>
            <a:endParaRPr sz="2400" b="1" i="0" u="none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0" name="图片 47"/>
          <p:cNvPicPr>
            <a:picLocks noChangeAspect="1"/>
          </p:cNvPicPr>
          <p:nvPr/>
        </p:nvPicPr>
        <p:blipFill>
          <a:blip r:embed="rId2"/>
          <a:srcRect l="367" t="25287" r="-719" b="7741"/>
          <a:stretch>
            <a:fillRect/>
          </a:stretch>
        </p:blipFill>
        <p:spPr>
          <a:xfrm>
            <a:off x="227965" y="1619885"/>
            <a:ext cx="3610610" cy="3819525"/>
          </a:xfrm>
          <a:prstGeom prst="rect">
            <a:avLst/>
          </a:prstGeom>
        </p:spPr>
      </p:pic>
      <p:pic>
        <p:nvPicPr>
          <p:cNvPr id="81" name="图片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655" y="995045"/>
            <a:ext cx="2530475" cy="1418590"/>
          </a:xfrm>
          <a:prstGeom prst="ellipse">
            <a:avLst/>
          </a:prstGeom>
        </p:spPr>
      </p:pic>
      <p:pic>
        <p:nvPicPr>
          <p:cNvPr id="82" name="图片 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310" y="2822575"/>
            <a:ext cx="2944495" cy="1633855"/>
          </a:xfrm>
          <a:prstGeom prst="ellipse">
            <a:avLst/>
          </a:prstGeom>
        </p:spPr>
      </p:pic>
      <p:pic>
        <p:nvPicPr>
          <p:cNvPr id="83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920" y="4924425"/>
            <a:ext cx="2569210" cy="1431925"/>
          </a:xfrm>
          <a:prstGeom prst="ellipse">
            <a:avLst/>
          </a:prstGeom>
        </p:spPr>
      </p:pic>
      <p:pic>
        <p:nvPicPr>
          <p:cNvPr id="84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0715" y="4924425"/>
            <a:ext cx="2525395" cy="1426845"/>
          </a:xfrm>
          <a:prstGeom prst="ellipse">
            <a:avLst/>
          </a:prstGeom>
        </p:spPr>
      </p:pic>
      <p:pic>
        <p:nvPicPr>
          <p:cNvPr id="85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245" y="995045"/>
            <a:ext cx="2662555" cy="1458595"/>
          </a:xfrm>
          <a:prstGeom prst="ellipse">
            <a:avLst/>
          </a:prstGeom>
        </p:spPr>
      </p:pic>
      <p:cxnSp>
        <p:nvCxnSpPr>
          <p:cNvPr id="86" name="直接连接符 7"/>
          <p:cNvCxnSpPr>
            <a:stCxn id="52" idx="5"/>
            <a:endCxn id="53" idx="1"/>
          </p:cNvCxnSpPr>
          <p:nvPr/>
        </p:nvCxnSpPr>
        <p:spPr>
          <a:xfrm>
            <a:off x="6638290" y="2205990"/>
            <a:ext cx="591185" cy="855980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7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0910" y="2644775"/>
            <a:ext cx="1299210" cy="1142365"/>
          </a:xfrm>
          <a:prstGeom prst="rect">
            <a:avLst/>
          </a:prstGeom>
        </p:spPr>
      </p:pic>
      <p:sp>
        <p:nvSpPr>
          <p:cNvPr id="15" name="文本框 14"/>
          <p:cNvSpPr>
            <a:spLocks noGrp="1"/>
          </p:cNvSpPr>
          <p:nvPr/>
        </p:nvSpPr>
        <p:spPr>
          <a:xfrm>
            <a:off x="10029190" y="2534285"/>
            <a:ext cx="1701800" cy="7607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从"找料"变</a:t>
            </a:r>
            <a:r>
              <a:rPr sz="1000" b="1">
                <a:ln w="15875"/>
                <a:solidFill>
                  <a:srgbClr val="92D050"/>
                </a:solidFill>
              </a:rPr>
              <a:t>"审料"</a:t>
            </a:r>
            <a:endParaRPr sz="1000" b="1">
              <a:ln w="15875"/>
              <a:solidFill>
                <a:srgbClr val="92D050"/>
              </a:solidFill>
            </a:endParaRPr>
          </a:p>
          <a:p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从"追单"变</a:t>
            </a:r>
            <a:r>
              <a:rPr sz="1000" b="1">
                <a:ln w="15875"/>
                <a:solidFill>
                  <a:srgbClr val="92D050"/>
                </a:solidFill>
              </a:rPr>
              <a:t>"管异常" </a:t>
            </a:r>
            <a:endParaRPr sz="1000" b="1">
              <a:ln w="15875"/>
              <a:solidFill>
                <a:srgbClr val="92D050"/>
              </a:solidFill>
            </a:endParaRPr>
          </a:p>
          <a:p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从"建档案"变</a:t>
            </a:r>
            <a:r>
              <a:rPr sz="1000" b="1">
                <a:ln w="15875"/>
                <a:solidFill>
                  <a:srgbClr val="92D050"/>
                </a:solidFill>
              </a:rPr>
              <a:t>"做评估"</a:t>
            </a:r>
            <a:endParaRPr sz="1000">
              <a:ln w="15875"/>
              <a:solidFill>
                <a:srgbClr val="92D050"/>
              </a:solidFill>
            </a:endParaRPr>
          </a:p>
          <a:p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从"手工对账"变</a:t>
            </a:r>
            <a:r>
              <a:rPr sz="1000" b="1">
                <a:ln w="15875"/>
                <a:solidFill>
                  <a:srgbClr val="92D050"/>
                </a:solidFill>
              </a:rPr>
              <a:t>"看报告</a:t>
            </a:r>
            <a:r>
              <a:rPr sz="1000">
                <a:ln w="15875"/>
                <a:solidFill>
                  <a:srgbClr val="92D050"/>
                </a:solidFill>
              </a:rPr>
              <a:t>"</a:t>
            </a:r>
            <a:endParaRPr sz="1000">
              <a:ln w="15875"/>
              <a:solidFill>
                <a:srgbClr val="92D050"/>
              </a:solidFill>
            </a:endParaRPr>
          </a:p>
          <a:p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从"到处询价"变</a:t>
            </a:r>
            <a:r>
              <a:rPr sz="1000" b="1">
                <a:ln w="15875"/>
                <a:solidFill>
                  <a:srgbClr val="92D050"/>
                </a:solidFill>
              </a:rPr>
              <a:t>"谈战略" </a:t>
            </a:r>
            <a:endParaRPr sz="1000" b="1">
              <a:ln w="15875"/>
              <a:solidFill>
                <a:srgbClr val="92D050"/>
              </a:solidFill>
            </a:endParaRPr>
          </a:p>
        </p:txBody>
      </p:sp>
      <p:sp>
        <p:nvSpPr>
          <p:cNvPr id="20" name="环形箭头 19"/>
          <p:cNvSpPr>
            <a:spLocks noGrp="1"/>
          </p:cNvSpPr>
          <p:nvPr/>
        </p:nvSpPr>
        <p:spPr>
          <a:xfrm>
            <a:off x="3178810" y="3761105"/>
            <a:ext cx="1760855" cy="1540510"/>
          </a:xfrm>
          <a:prstGeom prst="circularArrow">
            <a:avLst>
              <a:gd name="adj1" fmla="val 11627"/>
              <a:gd name="adj2" fmla="val 1557486"/>
              <a:gd name="adj3" fmla="val 20811465"/>
              <a:gd name="adj4" fmla="val 15736096"/>
              <a:gd name="adj5" fmla="val 125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2" name="环形箭头 21"/>
          <p:cNvSpPr>
            <a:spLocks noGrp="1"/>
          </p:cNvSpPr>
          <p:nvPr/>
        </p:nvSpPr>
        <p:spPr>
          <a:xfrm flipV="1">
            <a:off x="3265170" y="1932305"/>
            <a:ext cx="1588770" cy="1616710"/>
          </a:xfrm>
          <a:prstGeom prst="circularArrow">
            <a:avLst>
              <a:gd name="adj1" fmla="val 11627"/>
              <a:gd name="adj2" fmla="val 1557486"/>
              <a:gd name="adj3" fmla="val 20811465"/>
              <a:gd name="adj4" fmla="val 15736096"/>
              <a:gd name="adj5" fmla="val 125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3" name="右箭头 22"/>
          <p:cNvSpPr>
            <a:spLocks noGrp="1"/>
          </p:cNvSpPr>
          <p:nvPr/>
        </p:nvSpPr>
        <p:spPr>
          <a:xfrm>
            <a:off x="3970655" y="3429000"/>
            <a:ext cx="969010" cy="38989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环形箭头 23"/>
          <p:cNvSpPr>
            <a:spLocks noGrp="1"/>
          </p:cNvSpPr>
          <p:nvPr/>
        </p:nvSpPr>
        <p:spPr>
          <a:xfrm>
            <a:off x="3178810" y="3787140"/>
            <a:ext cx="1760855" cy="1540510"/>
          </a:xfrm>
          <a:prstGeom prst="circularArrow">
            <a:avLst>
              <a:gd name="adj1" fmla="val 11627"/>
              <a:gd name="adj2" fmla="val 1557486"/>
              <a:gd name="adj3" fmla="val 20811465"/>
              <a:gd name="adj4" fmla="val 15736096"/>
              <a:gd name="adj5" fmla="val 12500"/>
            </a:avLst>
          </a:prstGeom>
          <a:gradFill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5" name="环形箭头 24"/>
          <p:cNvSpPr>
            <a:spLocks noGrp="1"/>
          </p:cNvSpPr>
          <p:nvPr/>
        </p:nvSpPr>
        <p:spPr>
          <a:xfrm flipV="1">
            <a:off x="3265170" y="1958340"/>
            <a:ext cx="1588770" cy="1616710"/>
          </a:xfrm>
          <a:prstGeom prst="circularArrow">
            <a:avLst>
              <a:gd name="adj1" fmla="val 11627"/>
              <a:gd name="adj2" fmla="val 1557486"/>
              <a:gd name="adj3" fmla="val 20811465"/>
              <a:gd name="adj4" fmla="val 15736096"/>
              <a:gd name="adj5" fmla="val 12500"/>
            </a:avLst>
          </a:prstGeom>
          <a:gradFill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6" name="右箭头 25"/>
          <p:cNvSpPr>
            <a:spLocks noGrp="1"/>
          </p:cNvSpPr>
          <p:nvPr/>
        </p:nvSpPr>
        <p:spPr>
          <a:xfrm>
            <a:off x="3970655" y="3455035"/>
            <a:ext cx="969010" cy="389890"/>
          </a:xfrm>
          <a:prstGeom prst="rightArrow">
            <a:avLst/>
          </a:prstGeom>
          <a:gradFill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" name="文本框 26"/>
          <p:cNvSpPr>
            <a:spLocks noGrp="1"/>
          </p:cNvSpPr>
          <p:nvPr/>
        </p:nvSpPr>
        <p:spPr>
          <a:xfrm>
            <a:off x="4954270" y="2489835"/>
            <a:ext cx="1743075" cy="7607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从"接电话"变</a:t>
            </a:r>
            <a:r>
              <a:rPr sz="1000" b="1">
                <a:ln w="15875"/>
                <a:solidFill>
                  <a:srgbClr val="92D050"/>
                </a:solidFill>
              </a:rPr>
              <a:t>"看推送"</a:t>
            </a:r>
            <a:endParaRPr sz="1000">
              <a:ln w="15875"/>
              <a:solidFill>
                <a:srgbClr val="92D050"/>
              </a:solidFill>
            </a:endParaRPr>
          </a:p>
          <a:p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从"催进度"变"</a:t>
            </a:r>
            <a:r>
              <a:rPr sz="1000" b="1">
                <a:ln w="15875"/>
                <a:solidFill>
                  <a:srgbClr val="92D050"/>
                </a:solidFill>
              </a:rPr>
              <a:t>看节点"</a:t>
            </a:r>
            <a:endParaRPr sz="1000">
              <a:ln w="15875"/>
              <a:solidFill>
                <a:srgbClr val="92D050"/>
              </a:solidFill>
            </a:endParaRPr>
          </a:p>
          <a:p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从"做报价"变</a:t>
            </a:r>
            <a:r>
              <a:rPr sz="1000" b="1">
                <a:ln w="15875"/>
                <a:solidFill>
                  <a:srgbClr val="92D050"/>
                </a:solidFill>
              </a:rPr>
              <a:t>"审报价"</a:t>
            </a:r>
            <a:endParaRPr sz="1000">
              <a:ln w="15875"/>
              <a:solidFill>
                <a:srgbClr val="92D050"/>
              </a:solidFill>
            </a:endParaRPr>
          </a:p>
          <a:p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从"跑客户"变</a:t>
            </a:r>
            <a:r>
              <a:rPr sz="1000" b="1">
                <a:ln w="15875"/>
                <a:solidFill>
                  <a:srgbClr val="92D050"/>
                </a:solidFill>
              </a:rPr>
              <a:t>"做客户经营"</a:t>
            </a:r>
            <a:endParaRPr sz="1000">
              <a:ln w="15875"/>
              <a:solidFill>
                <a:srgbClr val="92D050"/>
              </a:solidFill>
            </a:endParaRPr>
          </a:p>
          <a:p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从"凭经验"变</a:t>
            </a:r>
            <a:r>
              <a:rPr sz="1000" b="1">
                <a:ln w="15875"/>
                <a:solidFill>
                  <a:srgbClr val="92D050"/>
                </a:solidFill>
              </a:rPr>
              <a:t>"看预测" </a:t>
            </a:r>
            <a:endParaRPr sz="1000" b="1">
              <a:ln w="15875"/>
              <a:solidFill>
                <a:srgbClr val="92D050"/>
              </a:solidFill>
            </a:endParaRPr>
          </a:p>
        </p:txBody>
      </p:sp>
      <p:sp>
        <p:nvSpPr>
          <p:cNvPr id="28" name="文本框 27"/>
          <p:cNvSpPr>
            <a:spLocks noGrp="1"/>
          </p:cNvSpPr>
          <p:nvPr/>
        </p:nvSpPr>
        <p:spPr>
          <a:xfrm>
            <a:off x="4933950" y="4089400"/>
            <a:ext cx="1743075" cy="7607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从"编计划"变</a:t>
            </a:r>
            <a:r>
              <a:rPr sz="1000" b="1">
                <a:ln w="15875"/>
                <a:solidFill>
                  <a:srgbClr val="92D050"/>
                </a:solidFill>
              </a:rPr>
              <a:t>"审计划"</a:t>
            </a:r>
            <a:endParaRPr sz="1000">
              <a:ln w="15875"/>
              <a:solidFill>
                <a:srgbClr val="92D050"/>
              </a:solidFill>
            </a:endParaRPr>
          </a:p>
          <a:p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从"盯现场"变</a:t>
            </a:r>
            <a:r>
              <a:rPr sz="1000" b="1">
                <a:ln w="15875"/>
                <a:solidFill>
                  <a:srgbClr val="92D050"/>
                </a:solidFill>
              </a:rPr>
              <a:t>"看大屏"</a:t>
            </a:r>
            <a:endParaRPr sz="1000">
              <a:ln w="15875"/>
              <a:solidFill>
                <a:srgbClr val="92D050"/>
              </a:solidFill>
            </a:endParaRPr>
          </a:p>
          <a:p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从"天天开会"变</a:t>
            </a:r>
            <a:r>
              <a:rPr sz="1000" b="1">
                <a:ln w="15875"/>
                <a:solidFill>
                  <a:srgbClr val="92D050"/>
                </a:solidFill>
              </a:rPr>
              <a:t>"开异常会"</a:t>
            </a:r>
            <a:r>
              <a:rPr sz="1000">
                <a:ln w="15875"/>
                <a:solidFill>
                  <a:srgbClr val="92D050"/>
                </a:solidFill>
              </a:rPr>
              <a:t> </a:t>
            </a:r>
            <a:endParaRPr sz="1000">
              <a:ln w="15875"/>
              <a:solidFill>
                <a:srgbClr val="92D050"/>
              </a:solidFill>
            </a:endParaRPr>
          </a:p>
          <a:p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从"手排插单"变</a:t>
            </a:r>
            <a:r>
              <a:rPr sz="1000" b="1">
                <a:ln w="15875"/>
                <a:solidFill>
                  <a:srgbClr val="92D050"/>
                </a:solidFill>
              </a:rPr>
              <a:t>"一键重排"</a:t>
            </a:r>
            <a:endParaRPr sz="1000">
              <a:ln w="15875"/>
              <a:solidFill>
                <a:srgbClr val="92D050"/>
              </a:solidFill>
            </a:endParaRPr>
          </a:p>
          <a:p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从"算账"变</a:t>
            </a:r>
            <a:r>
              <a:rPr sz="1000" b="1">
                <a:ln w="15875"/>
                <a:solidFill>
                  <a:srgbClr val="92D050"/>
                </a:solidFill>
              </a:rPr>
              <a:t>"看 </a:t>
            </a:r>
            <a:r>
              <a:rPr sz="1000" b="1">
                <a:ln w="15875"/>
                <a:solidFill>
                  <a:srgbClr val="92D050"/>
                </a:solidFill>
              </a:rPr>
              <a:t>KPI"</a:t>
            </a:r>
            <a:r>
              <a:rPr sz="1000" b="1">
                <a:ln w="15875"/>
                <a:solidFill>
                  <a:srgbClr val="92D050"/>
                </a:solidFill>
              </a:rPr>
              <a:t> </a:t>
            </a:r>
            <a:endParaRPr sz="1000" b="1">
              <a:ln w="15875"/>
              <a:solidFill>
                <a:srgbClr val="92D050"/>
              </a:solidFill>
            </a:endParaRPr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10050780" y="4114165"/>
            <a:ext cx="1845945" cy="7607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从"找货"变</a:t>
            </a:r>
            <a:r>
              <a:rPr sz="1000" b="1">
                <a:ln w="15875"/>
                <a:solidFill>
                  <a:srgbClr val="92D050"/>
                </a:solidFill>
              </a:rPr>
              <a:t>"看任务"</a:t>
            </a:r>
            <a:endParaRPr sz="1000" b="1">
              <a:ln w="15875"/>
              <a:solidFill>
                <a:srgbClr val="92D050"/>
              </a:solidFill>
            </a:endParaRPr>
          </a:p>
          <a:p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从"人工盘点"变</a:t>
            </a:r>
            <a:r>
              <a:rPr sz="1000" b="1">
                <a:ln w="15875"/>
                <a:solidFill>
                  <a:srgbClr val="92D050"/>
                </a:solidFill>
              </a:rPr>
              <a:t>"审盘点"</a:t>
            </a:r>
            <a:endParaRPr sz="1000">
              <a:ln w="15875"/>
              <a:solidFill>
                <a:srgbClr val="92D050"/>
              </a:solidFill>
            </a:endParaRPr>
          </a:p>
          <a:p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从"杂乱排队"变</a:t>
            </a:r>
            <a:r>
              <a:rPr sz="1000" b="1">
                <a:ln w="15875"/>
                <a:solidFill>
                  <a:srgbClr val="92D050"/>
                </a:solidFill>
              </a:rPr>
              <a:t>"自动调度"</a:t>
            </a:r>
            <a:r>
              <a:rPr sz="1000">
                <a:ln w="15875"/>
                <a:solidFill>
                  <a:srgbClr val="92D050"/>
                </a:solidFill>
              </a:rPr>
              <a:t> </a:t>
            </a:r>
            <a:endParaRPr sz="1000">
              <a:ln w="15875"/>
              <a:solidFill>
                <a:srgbClr val="92D050"/>
              </a:solidFill>
            </a:endParaR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7331075" y="4678680"/>
            <a:ext cx="2065020" cy="7607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从"看报表"变</a:t>
            </a:r>
            <a:r>
              <a:rPr sz="1000" b="1">
                <a:ln w="15875"/>
                <a:solidFill>
                  <a:srgbClr val="92D050"/>
                </a:solidFill>
              </a:rPr>
              <a:t>"看驾驶舱"</a:t>
            </a:r>
            <a:endParaRPr sz="1000">
              <a:ln w="15875"/>
              <a:solidFill>
                <a:srgbClr val="92D050"/>
              </a:solidFill>
            </a:endParaRPr>
          </a:p>
          <a:p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从"逐项审批"变</a:t>
            </a:r>
            <a:r>
              <a:rPr sz="1000" b="1">
                <a:ln w="15875"/>
                <a:solidFill>
                  <a:srgbClr val="92D050"/>
                </a:solidFill>
              </a:rPr>
              <a:t>"批例外" </a:t>
            </a:r>
            <a:endParaRPr sz="1000" b="1">
              <a:ln w="15875"/>
              <a:solidFill>
                <a:srgbClr val="92D050"/>
              </a:solidFill>
            </a:endParaRPr>
          </a:p>
          <a:p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从"凭经验排兵"变</a:t>
            </a:r>
            <a:r>
              <a:rPr sz="1000" b="1">
                <a:ln w="15875"/>
                <a:solidFill>
                  <a:srgbClr val="92D050"/>
                </a:solidFill>
              </a:rPr>
              <a:t>"看智能建议"</a:t>
            </a:r>
            <a:endParaRPr sz="1000" b="1">
              <a:ln w="15875"/>
              <a:solidFill>
                <a:srgbClr val="92D050"/>
              </a:solidFill>
            </a:endParaRPr>
          </a:p>
          <a:p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从"盯数字"变</a:t>
            </a:r>
            <a:r>
              <a:rPr sz="1000" b="1">
                <a:ln w="15875"/>
                <a:solidFill>
                  <a:srgbClr val="92D050"/>
                </a:solidFill>
              </a:rPr>
              <a:t>"盯异常" </a:t>
            </a:r>
            <a:endParaRPr sz="1000">
              <a:ln w="15875"/>
              <a:solidFill>
                <a:srgbClr val="92D050"/>
              </a:solidFill>
            </a:endParaRPr>
          </a:p>
          <a:p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从"管执行"变</a:t>
            </a:r>
            <a:r>
              <a:rPr sz="1000" b="1">
                <a:ln w="15875"/>
                <a:solidFill>
                  <a:srgbClr val="92D050"/>
                </a:solidFill>
              </a:rPr>
              <a:t>"管变革" </a:t>
            </a:r>
            <a:endParaRPr sz="1000" b="1">
              <a:ln w="15875"/>
              <a:solidFill>
                <a:srgbClr val="92D050"/>
              </a:solidFill>
            </a:endParaRPr>
          </a:p>
        </p:txBody>
      </p:sp>
      <p:cxnSp>
        <p:nvCxnSpPr>
          <p:cNvPr id="99" name="直接连接符 32"/>
          <p:cNvCxnSpPr>
            <a:endCxn id="53" idx="7"/>
          </p:cNvCxnSpPr>
          <p:nvPr/>
        </p:nvCxnSpPr>
        <p:spPr>
          <a:xfrm flipH="1">
            <a:off x="9311640" y="2412365"/>
            <a:ext cx="814070" cy="649605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直接连接符 33"/>
          <p:cNvCxnSpPr>
            <a:stCxn id="5" idx="7"/>
            <a:endCxn id="53" idx="3"/>
          </p:cNvCxnSpPr>
          <p:nvPr/>
        </p:nvCxnSpPr>
        <p:spPr>
          <a:xfrm flipV="1">
            <a:off x="6632575" y="4217035"/>
            <a:ext cx="596900" cy="916940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1" name="直接连接符 34"/>
          <p:cNvCxnSpPr>
            <a:stCxn id="6" idx="1"/>
            <a:endCxn id="53" idx="5"/>
          </p:cNvCxnSpPr>
          <p:nvPr/>
        </p:nvCxnSpPr>
        <p:spPr>
          <a:xfrm flipH="1" flipV="1">
            <a:off x="9311640" y="4217035"/>
            <a:ext cx="588645" cy="916305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pic>
        <p:nvPicPr>
          <p:cNvPr id="19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385300" y="268605"/>
            <a:ext cx="2336800" cy="2286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pic>
        <p:nvPicPr>
          <p:cNvPr id="20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30" y="268605"/>
            <a:ext cx="1282065" cy="582930"/>
          </a:xfrm>
          <a:prstGeom prst="rect">
            <a:avLst/>
          </a:prstGeom>
        </p:spPr>
      </p:pic>
      <p:sp>
        <p:nvSpPr>
          <p:cNvPr id="5" name="矩形: 圆角 72"/>
          <p:cNvSpPr>
            <a:spLocks noGrp="1"/>
          </p:cNvSpPr>
          <p:nvPr/>
        </p:nvSpPr>
        <p:spPr>
          <a:xfrm>
            <a:off x="1012825" y="1132840"/>
            <a:ext cx="8515350" cy="598805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604020202090204"/>
                <a:ea typeface="Arial Bold" panose="020B0604020202090204"/>
                <a:cs typeface="Arial Bold" panose="020B0604020202090204"/>
              </a:rPr>
              <a:t>共同</a:t>
            </a:r>
            <a:r>
              <a:rPr sz="2400" b="1" i="0" u="none" cap="none" spc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604020202090204"/>
                <a:ea typeface="Arial Bold" panose="020B0604020202090204"/>
                <a:cs typeface="Arial Bold" panose="020B0604020202090204"/>
              </a:rPr>
              <a:t>愿景</a:t>
            </a:r>
            <a:endParaRPr sz="2400" b="1" i="0" u="none" kern="0" cap="none" spc="0" baseline="0">
              <a:ln>
                <a:noFill/>
              </a:ln>
              <a:solidFill>
                <a:schemeClr val="accent3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old" panose="020B0604020202090204"/>
              <a:ea typeface="Arial Bold" panose="020B0604020202090204"/>
              <a:cs typeface="Arial Bold" panose="020B0604020202090204"/>
            </a:endParaRPr>
          </a:p>
        </p:txBody>
      </p:sp>
      <p:sp>
        <p:nvSpPr>
          <p:cNvPr id="8" name="矩形: 圆角 73"/>
          <p:cNvSpPr>
            <a:spLocks noGrp="1"/>
          </p:cNvSpPr>
          <p:nvPr/>
        </p:nvSpPr>
        <p:spPr>
          <a:xfrm>
            <a:off x="1012825" y="1694815"/>
            <a:ext cx="8515350" cy="598805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defTabSz="91440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 spc="0">
                <a:ln>
                  <a:noFill/>
                </a:ln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建行业首个</a:t>
            </a:r>
            <a:r>
              <a:rPr sz="1800" b="1" i="0" u="none" cap="none" spc="0">
                <a:ln>
                  <a:noFill/>
                </a:ln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AI</a:t>
            </a:r>
            <a:r>
              <a:rPr sz="1800" b="1" i="0" u="none" cap="none" spc="0">
                <a:ln>
                  <a:noFill/>
                </a:ln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全流程标杆，创智慧工厂+智能实验室融合范式。</a:t>
            </a:r>
            <a:endParaRPr sz="1800" b="1" i="0" u="none" kern="0" cap="none" spc="0" baseline="0">
              <a:ln>
                <a:noFill/>
              </a:ln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: 圆角 75"/>
          <p:cNvSpPr>
            <a:spLocks noGrp="1"/>
          </p:cNvSpPr>
          <p:nvPr/>
        </p:nvSpPr>
        <p:spPr>
          <a:xfrm>
            <a:off x="1012825" y="3380740"/>
            <a:ext cx="8514080" cy="598805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协同</a:t>
            </a:r>
            <a:r>
              <a:rPr sz="2400" b="1" i="0" u="none" cap="none" spc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价值观</a:t>
            </a:r>
            <a:endParaRPr sz="2400" b="1" i="0" u="none" kern="0" cap="none" spc="0" baseline="0">
              <a:ln>
                <a:noFill/>
              </a:ln>
              <a:solidFill>
                <a:schemeClr val="accent3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: 圆角 76"/>
          <p:cNvSpPr>
            <a:spLocks noGrp="1"/>
          </p:cNvSpPr>
          <p:nvPr/>
        </p:nvSpPr>
        <p:spPr>
          <a:xfrm>
            <a:off x="1012825" y="3942715"/>
            <a:ext cx="8514080" cy="598805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="1" i="0" u="none" cap="none" spc="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安全零事故、进度零失控、质量零妥协、沟通零障碍、知识零保留</a:t>
            </a:r>
            <a:endParaRPr b="1" i="0" u="none" kern="0" cap="none" spc="0" baseline="0"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: 圆角 78"/>
          <p:cNvSpPr>
            <a:spLocks noGrp="1"/>
          </p:cNvSpPr>
          <p:nvPr/>
        </p:nvSpPr>
        <p:spPr>
          <a:xfrm>
            <a:off x="1012825" y="2256790"/>
            <a:ext cx="8515350" cy="598805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txBody>
          <a:bodyPr anchor="ctr"/>
          <a:lstStyle/>
          <a:p>
            <a:pPr marL="0" marR="0" lv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604020202090204"/>
                <a:ea typeface="Arial Bold" panose="020B0604020202090204"/>
                <a:cs typeface="Arial Bold" panose="020B0604020202090204"/>
              </a:rPr>
              <a:t>初心</a:t>
            </a:r>
            <a:r>
              <a:rPr sz="2400" b="1" i="0" u="none" cap="none" spc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604020202090204"/>
                <a:ea typeface="Arial Bold" panose="020B0604020202090204"/>
                <a:cs typeface="Arial Bold" panose="020B0604020202090204"/>
              </a:rPr>
              <a:t>使命</a:t>
            </a:r>
            <a:endParaRPr sz="2400" b="1" i="0" u="none" kern="0" cap="none" spc="0" baseline="0">
              <a:ln>
                <a:noFill/>
              </a:ln>
              <a:solidFill>
                <a:schemeClr val="accent3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old" panose="020B0604020202090204"/>
              <a:ea typeface="Arial Bold" panose="020B0604020202090204"/>
              <a:cs typeface="Arial Bold" panose="020B0604020202090204"/>
            </a:endParaRPr>
          </a:p>
        </p:txBody>
      </p:sp>
      <p:sp>
        <p:nvSpPr>
          <p:cNvPr id="14" name="矩形: 圆角 79"/>
          <p:cNvSpPr>
            <a:spLocks noGrp="1"/>
          </p:cNvSpPr>
          <p:nvPr/>
        </p:nvSpPr>
        <p:spPr>
          <a:xfrm>
            <a:off x="1012825" y="2818765"/>
            <a:ext cx="8515350" cy="598805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defTabSz="91440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 spc="0">
                <a:ln>
                  <a:noFill/>
                </a:ln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让工艺更精准、让质量更可控、让运营更高效、让人员更轻松</a:t>
            </a:r>
            <a:endParaRPr sz="1800" b="1" i="0" u="none" kern="0" cap="none" spc="0" baseline="0">
              <a:ln>
                <a:noFill/>
              </a:ln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主题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569E5"/>
      </a:accent1>
      <a:accent2>
        <a:srgbClr val="1969CC"/>
      </a:accent2>
      <a:accent3>
        <a:srgbClr val="00E8D8"/>
      </a:accent3>
      <a:accent4>
        <a:srgbClr val="1FC0B5"/>
      </a:accent4>
      <a:accent5>
        <a:srgbClr val="000000"/>
      </a:accent5>
      <a:accent6>
        <a:srgbClr val="0C0B0B"/>
      </a:accent6>
      <a:hlink>
        <a:srgbClr val="FF0042"/>
      </a:hlink>
      <a:folHlink>
        <a:srgbClr val="787878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6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6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4716</Words>
  <Application>WPS 表格</Application>
  <PresentationFormat>Converted Presentation</PresentationFormat>
  <Paragraphs>679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14</vt:i4>
      </vt:variant>
      <vt:variant>
        <vt:lpstr>幻灯片标题</vt:lpstr>
      </vt:variant>
      <vt:variant>
        <vt:i4>14</vt:i4>
      </vt:variant>
    </vt:vector>
  </HeadingPairs>
  <TitlesOfParts>
    <vt:vector size="48" baseType="lpstr">
      <vt:lpstr>Arial</vt:lpstr>
      <vt:lpstr>宋体</vt:lpstr>
      <vt:lpstr>Wingdings</vt:lpstr>
      <vt:lpstr>Arial</vt:lpstr>
      <vt:lpstr>微软雅黑</vt:lpstr>
      <vt:lpstr>方正雅意黑 GB18030L2</vt:lpstr>
      <vt:lpstr>黑体</vt:lpstr>
      <vt:lpstr>Noto Sans SC</vt:lpstr>
      <vt:lpstr>Arial Bold</vt:lpstr>
      <vt:lpstr>微软雅黑</vt:lpstr>
      <vt:lpstr>宋体</vt:lpstr>
      <vt:lpstr>Arial Unicode MS</vt:lpstr>
      <vt:lpstr>汉仪书宋二KW</vt:lpstr>
      <vt:lpstr>Calibri</vt:lpstr>
      <vt:lpstr>Helvetica Neue</vt:lpstr>
      <vt:lpstr>冬青黑体简体中文</vt:lpstr>
      <vt:lpstr>Arial Bold</vt:lpstr>
      <vt:lpstr>Noto Sans SC</vt:lpstr>
      <vt:lpstr>微软雅黑</vt:lpstr>
      <vt:lpstr>苹方-简</vt:lpstr>
      <vt:lpstr>默认主题</vt:lpstr>
      <vt:lpstr>11_默认主题</vt:lpstr>
      <vt:lpstr>2_主题1</vt:lpstr>
      <vt:lpstr>18_默认主题</vt:lpstr>
      <vt:lpstr>19_默认主题</vt:lpstr>
      <vt:lpstr>20_默认主题</vt:lpstr>
      <vt:lpstr>21_默认主题</vt:lpstr>
      <vt:lpstr>24_默认主题</vt:lpstr>
      <vt:lpstr>64_默认主题</vt:lpstr>
      <vt:lpstr>65_默认主题</vt:lpstr>
      <vt:lpstr>14_默认主题</vt:lpstr>
      <vt:lpstr>1_默认主题</vt:lpstr>
      <vt:lpstr>2_默认主题</vt:lpstr>
      <vt:lpstr>3_默认主题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郭子豪</cp:lastModifiedBy>
  <cp:revision>1</cp:revision>
  <dcterms:created xsi:type="dcterms:W3CDTF">2026-09-02T03:17:49Z</dcterms:created>
  <dcterms:modified xsi:type="dcterms:W3CDTF">2026-09-02T03:17:49Z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926056A450A14AC25D95976AD76457DA_42</vt:lpwstr>
  </property>
  <property fmtid="{D5CDD505-2E9C-101B-9397-08002B2CF9AE}" pid="3" name="KSOProductBuildVer">
    <vt:lpwstr>2052-12.1.26055.26055</vt:lpwstr>
  </property>
</Properties>
</file>