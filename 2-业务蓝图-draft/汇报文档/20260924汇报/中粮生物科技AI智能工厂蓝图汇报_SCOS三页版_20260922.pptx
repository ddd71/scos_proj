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zihaoguo/Desktop/中控/scos_proj/1-wiki-资料沉淀/调研报告/上海融氏调研报告在线版.xlsx、/Users/zihaoguo/Desktop/中控/scos_proj/1-wiki-资料沉淀/调研报告/中粮成都调研报告在线版.xlsx、/Users/zihaoguo/Desktop/中控/scos_proj/1-wiki-资料沉淀/调研报告/中粮武汉调研报告在线版.xlsx，排产计划、原料采购、经营辅助决策、数据集成工作表。蓝图：/Users/zihaoguo/Desktop/中控/scos_proj/3-业务蓝图-终态/SCOS_中粮太仓项目研发模块蓝图方案v0.9.docx，2.2.1–2.2.5。现状与未来对应不同工厂。顶部工厂全景及模块图标由 OpenAI imagegen 生成，为概念示意，不代表三厂真实厂区照片。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来源：/Users/zihaoguo/Desktop/中控/scos_proj/3-业务蓝图-终态/SCOS_中粮太仓项目研发模块蓝图方案v0.9.docx，2.2.1–2.2.5。框架示意：库存、采购、要货、成本四类业务引擎均向驾驶舱贡献指标，驾驶舱还汇聚产销经营指标。计划建议仍需人员评审和确认。成本分摊保持月度频率，供不同角色进行多维分析与批次异常溯源。四张模块场景图片与模块图标由 OpenAI imagegen 生成，为概念示意，不代表三厂真实设备照片。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/Users/zihaoguo/Desktop/中控/scos_proj/3-业务蓝图-终态/SCOS_中粮太仓项目研发模块蓝图方案v0.9.docx，库存、采购、要货、成本分摊、驾驶舱模块。页面所有百分比均为演示用初步测算假设，由用户授权估算，非调研报告中的既有数据，非蓝图明确承诺值，非验收目标。建议基线定义：例行计划/报表、跟催、核对、方案编制、异常定位、成本溯源按人工耗时或次数记录；成品平均库存天数按期末平均成品库存/同期日均发货计算；原料综合采购成本须固定品种结构、质量与运费口径；加急/滞留费用包括紧急运输与仓储滞期，按实际财务口径确认。收益分类图标由 OpenAI imagegen 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9000"/>
            </a:srgbClr>
          </a:solidFill>
          <a:ln w="0">
            <a:noFill/>
            <a:prstDash val="solid"/>
          </a:ln>
        </p:spPr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7891"/>
            <a:ext cx="657225" cy="55579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90575" y="428625"/>
            <a:ext cx="971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625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0575" y="105727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现状与未来：</a:t>
            </a:r>
            <a:r>
              <a:rPr lang="zh-CN"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从人工</a:t>
            </a:r>
            <a:r>
              <a:rPr lang="zh-CN"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串联到</a:t>
            </a: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算法驱动的</a:t>
            </a:r>
            <a:r>
              <a:rPr lang="zh-CN"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供应链优化</a:t>
            </a:r>
            <a:r>
              <a:rPr lang="zh-CN"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</a:t>
            </a:r>
            <a:endParaRPr lang="zh-CN"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33525"/>
            <a:ext cx="10629900" cy="9525"/>
          </a:xfrm>
          <a:prstGeom prst="rect">
            <a:avLst/>
          </a:prstGeom>
          <a:solidFill>
            <a:srgbClr val="FFFFFF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57225" y="17430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217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29375" y="17430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endParaRPr sz="217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2209800"/>
            <a:ext cx="5295900" cy="3971925"/>
          </a:xfrm>
          <a:prstGeom prst="roundRect">
            <a:avLst>
              <a:gd name="adj" fmla="val 3357"/>
            </a:avLst>
          </a:prstGeom>
          <a:solidFill>
            <a:srgbClr val="1A1D23">
              <a:alpha val="94000"/>
            </a:srgbClr>
          </a:solidFill>
          <a:ln w="9525">
            <a:solidFill>
              <a:srgbClr val="575C6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0" y="2209800"/>
            <a:ext cx="5295900" cy="3971925"/>
          </a:xfrm>
          <a:prstGeom prst="roundRect">
            <a:avLst>
              <a:gd name="adj" fmla="val 3357"/>
            </a:avLst>
          </a:prstGeom>
          <a:solidFill>
            <a:srgbClr val="1A1D23">
              <a:alpha val="94000"/>
            </a:srgbClr>
          </a:solidFill>
          <a:ln w="9525">
            <a:solidFill>
              <a:srgbClr val="2D6BCA"/>
            </a:solidFill>
            <a:prstDash val="solid"/>
          </a:ln>
        </p:spPr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3"/>
          <a:srcRect t="25604" b="25604"/>
          <a:stretch>
            <a:fillRect/>
          </a:stretch>
        </p:blipFill>
        <p:spPr>
          <a:xfrm>
            <a:off x="628650" y="2228850"/>
            <a:ext cx="5257800" cy="962025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628650" y="2228850"/>
            <a:ext cx="5257800" cy="962025"/>
          </a:xfrm>
          <a:prstGeom prst="rect">
            <a:avLst/>
          </a:prstGeom>
          <a:solidFill>
            <a:srgbClr val="0B111A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8675" y="2343150"/>
            <a:ext cx="4781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人工串联，数据散落在不同工具</a:t>
            </a:r>
            <a:endParaRPr sz="14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8675" y="2714625"/>
            <a:ext cx="1371600" cy="295275"/>
          </a:xfrm>
          <a:prstGeom prst="roundRect">
            <a:avLst>
              <a:gd name="adj" fmla="val 19355"/>
            </a:avLst>
          </a:prstGeom>
          <a:solidFill>
            <a:srgbClr val="353941">
              <a:alpha val="92000"/>
            </a:srgbClr>
          </a:solidFill>
          <a:ln w="9525">
            <a:solidFill>
              <a:srgbClr val="6C737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6775" y="2733675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 / 台账</a:t>
            </a:r>
            <a:endParaRPr sz="109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571750" y="2714625"/>
            <a:ext cx="1371600" cy="295275"/>
          </a:xfrm>
          <a:prstGeom prst="roundRect">
            <a:avLst>
              <a:gd name="adj" fmla="val 19355"/>
            </a:avLst>
          </a:prstGeom>
          <a:solidFill>
            <a:srgbClr val="353941">
              <a:alpha val="92000"/>
            </a:srgbClr>
          </a:solidFill>
          <a:ln w="9525">
            <a:solidFill>
              <a:srgbClr val="6C737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609850" y="2733675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Excel</a:t>
            </a:r>
            <a:endParaRPr sz="109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314825" y="2714625"/>
            <a:ext cx="1371600" cy="295275"/>
          </a:xfrm>
          <a:prstGeom prst="roundRect">
            <a:avLst>
              <a:gd name="adj" fmla="val 19355"/>
            </a:avLst>
          </a:prstGeom>
          <a:solidFill>
            <a:srgbClr val="353941">
              <a:alpha val="92000"/>
            </a:srgbClr>
          </a:solidFill>
          <a:ln w="9525">
            <a:solidFill>
              <a:srgbClr val="6C737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52925" y="2733675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 / 电话</a:t>
            </a:r>
            <a:endParaRPr sz="109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38375" y="2857500"/>
            <a:ext cx="171450" cy="28575"/>
          </a:xfrm>
          <a:prstGeom prst="rect">
            <a:avLst/>
          </a:prstGeom>
          <a:solidFill>
            <a:srgbClr val="888F98"/>
          </a:solidFill>
          <a:ln w="0">
            <a:noFill/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 rot="5400000">
            <a:off x="2400300" y="2800350"/>
            <a:ext cx="133350" cy="142875"/>
          </a:xfrm>
          <a:prstGeom prst="triangle">
            <a:avLst/>
          </a:prstGeom>
          <a:solidFill>
            <a:srgbClr val="888F98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981450" y="2857500"/>
            <a:ext cx="171450" cy="28575"/>
          </a:xfrm>
          <a:prstGeom prst="rect">
            <a:avLst/>
          </a:prstGeom>
          <a:solidFill>
            <a:srgbClr val="888F98"/>
          </a:solidFill>
          <a:ln w="0">
            <a:noFill/>
            <a:prstDash val="solid"/>
          </a:ln>
        </p:spPr>
      </p:sp>
      <p:sp>
        <p:nvSpPr>
          <p:cNvPr id="23" name="等腰三角形 22"/>
          <p:cNvSpPr>
            <a:spLocks noGrp="1"/>
          </p:cNvSpPr>
          <p:nvPr/>
        </p:nvSpPr>
        <p:spPr>
          <a:xfrm rot="5400000">
            <a:off x="4143375" y="2800350"/>
            <a:ext cx="133350" cy="142875"/>
          </a:xfrm>
          <a:prstGeom prst="triangle">
            <a:avLst/>
          </a:prstGeom>
          <a:solidFill>
            <a:srgbClr val="888F98"/>
          </a:solidFill>
          <a:ln w="0">
            <a:noFill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90575" y="3143250"/>
            <a:ext cx="1571625" cy="2724150"/>
          </a:xfrm>
          <a:prstGeom prst="roundRect">
            <a:avLst>
              <a:gd name="adj" fmla="val 5455"/>
            </a:avLst>
          </a:prstGeom>
          <a:solidFill>
            <a:srgbClr val="282B32">
              <a:alpha val="89000"/>
            </a:srgbClr>
          </a:solidFill>
          <a:ln w="9525">
            <a:solidFill>
              <a:srgbClr val="50545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4875" y="31718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142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04875" y="3505200"/>
            <a:ext cx="1343025" cy="9525"/>
          </a:xfrm>
          <a:prstGeom prst="rect">
            <a:avLst/>
          </a:prstGeom>
          <a:solidFill>
            <a:srgbClr val="777C8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5350" y="36004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36004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果糖月排，麦芽日排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39814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40195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38250" y="40195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2人，易购/SAP未通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44005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95350" y="44386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44386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Excel日报、微信通知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48196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95350" y="48577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38250" y="48577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月度费用按产量分摊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52387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52768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38250" y="52768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仅报表，无驾驶舱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2466975" y="3143250"/>
            <a:ext cx="1571625" cy="2724150"/>
          </a:xfrm>
          <a:prstGeom prst="roundRect">
            <a:avLst>
              <a:gd name="adj" fmla="val 5455"/>
            </a:avLst>
          </a:prstGeom>
          <a:solidFill>
            <a:srgbClr val="282B32">
              <a:alpha val="89000"/>
            </a:srgbClr>
          </a:solidFill>
          <a:ln w="9525">
            <a:solidFill>
              <a:srgbClr val="50545C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581275" y="31718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142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581275" y="3505200"/>
            <a:ext cx="1343025" cy="9525"/>
          </a:xfrm>
          <a:prstGeom prst="rect">
            <a:avLst/>
          </a:prstGeom>
          <a:solidFill>
            <a:srgbClr val="777C85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71750" y="36004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14650" y="36004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SAP月计划，日手排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571750" y="39814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571750" y="40195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914650" y="40195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3人，淀粉线下询比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571750" y="44005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571750" y="44386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914650" y="44386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铁路发货表人工跟踪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571750" y="48196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2571750" y="48577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914650" y="48577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SAP导出Excel汇总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571750" y="52387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571750" y="52768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914650" y="52768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SAP/Excel经营分析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4143375" y="3143250"/>
            <a:ext cx="1571625" cy="2724150"/>
          </a:xfrm>
          <a:prstGeom prst="roundRect">
            <a:avLst>
              <a:gd name="adj" fmla="val 5455"/>
            </a:avLst>
          </a:prstGeom>
          <a:solidFill>
            <a:srgbClr val="282B32">
              <a:alpha val="89000"/>
            </a:srgbClr>
          </a:solidFill>
          <a:ln w="9525">
            <a:solidFill>
              <a:srgbClr val="50545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257675" y="31718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142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257675" y="3505200"/>
            <a:ext cx="1343025" cy="9525"/>
          </a:xfrm>
          <a:prstGeom prst="rect">
            <a:avLst/>
          </a:prstGeom>
          <a:solidFill>
            <a:srgbClr val="777C85"/>
          </a:solidFill>
          <a:ln w="0">
            <a:noFill/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248150" y="36004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591050" y="36004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Excel→SAP，罐存转产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248150" y="39814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248150" y="40195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591050" y="40195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3人，船运70%–80%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4248150" y="44005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4248150" y="44386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4591050" y="44386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船运提前15–20天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4248150" y="48196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4248150" y="48577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4591050" y="48577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SAP订单成本再算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248150" y="5238750"/>
            <a:ext cx="1352550" cy="9525"/>
          </a:xfrm>
          <a:prstGeom prst="rect">
            <a:avLst/>
          </a:prstGeom>
          <a:solidFill>
            <a:srgbClr val="4C5058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4248150" y="5276850"/>
            <a:ext cx="323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591050" y="5276850"/>
            <a:ext cx="1009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SAP/Excel，DCS人工取数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5953125" y="4143375"/>
            <a:ext cx="161925" cy="2857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76" name="等腰三角形 75"/>
          <p:cNvSpPr>
            <a:spLocks noGrp="1"/>
          </p:cNvSpPr>
          <p:nvPr/>
        </p:nvSpPr>
        <p:spPr>
          <a:xfrm rot="5400000">
            <a:off x="6105525" y="4086225"/>
            <a:ext cx="133350" cy="142875"/>
          </a:xfrm>
          <a:prstGeom prst="triangle">
            <a:avLst/>
          </a:prstGeom>
          <a:solidFill>
            <a:srgbClr val="FFE16D"/>
          </a:solidFill>
          <a:ln w="0">
            <a:noFill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534150" y="234315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SCOS：模型测算 + 人工复核</a:t>
            </a:r>
            <a:endParaRPr sz="157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534150" y="2752725"/>
            <a:ext cx="4781550" cy="9525"/>
          </a:xfrm>
          <a:prstGeom prst="rect">
            <a:avLst/>
          </a:prstGeom>
          <a:solidFill>
            <a:srgbClr val="63727F"/>
          </a:solidFill>
          <a:ln w="0">
            <a:noFill/>
            <a:prstDash val="solid"/>
          </a:ln>
        </p:spPr>
      </p:sp>
      <p:pic>
        <p:nvPicPr>
          <p:cNvPr id="183" name="图片 1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943225"/>
            <a:ext cx="371475" cy="371475"/>
          </a:xfrm>
          <a:prstGeom prst="rect">
            <a:avLst/>
          </a:prstGeom>
        </p:spPr>
      </p:pic>
      <p:sp>
        <p:nvSpPr>
          <p:cNvPr id="80" name="矩形 79"/>
          <p:cNvSpPr>
            <a:spLocks noGrp="1"/>
          </p:cNvSpPr>
          <p:nvPr/>
        </p:nvSpPr>
        <p:spPr>
          <a:xfrm>
            <a:off x="6953250" y="2924175"/>
            <a:ext cx="7810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7781925" y="2876550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 (R,s,S) + 罐容 / 锁定期约束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781925" y="3124200"/>
            <a:ext cx="3486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月策略、4周补货、日度缺货与超容预警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553200" y="3400425"/>
            <a:ext cx="4762500" cy="9525"/>
          </a:xfrm>
          <a:prstGeom prst="rect">
            <a:avLst/>
          </a:prstGeom>
          <a:solidFill>
            <a:srgbClr val="59616A">
              <a:alpha val="85000"/>
            </a:srgbClr>
          </a:solidFill>
          <a:ln w="0">
            <a:noFill/>
            <a:prstDash val="solid"/>
          </a:ln>
        </p:spPr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505200"/>
            <a:ext cx="371475" cy="371475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6953250" y="3486150"/>
            <a:ext cx="7810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781925" y="3438525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综合成本 + 供货 / 交期多目标寻优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781925" y="3686175"/>
            <a:ext cx="3486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推荐供方、采购量、到货日期及备选方案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553200" y="3962400"/>
            <a:ext cx="4762500" cy="9525"/>
          </a:xfrm>
          <a:prstGeom prst="rect">
            <a:avLst/>
          </a:prstGeom>
          <a:solidFill>
            <a:srgbClr val="59616A">
              <a:alpha val="85000"/>
            </a:srgbClr>
          </a:solidFill>
          <a:ln w="0">
            <a:noFill/>
            <a:prstDash val="solid"/>
          </a:ln>
        </p:spPr>
      </p:sp>
      <p:pic>
        <p:nvPicPr>
          <p:cNvPr id="193" name="图片 1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067175"/>
            <a:ext cx="371475" cy="371475"/>
          </a:xfrm>
          <a:prstGeom prst="rect">
            <a:avLst/>
          </a:prstGeom>
        </p:spPr>
      </p:pic>
      <p:sp>
        <p:nvSpPr>
          <p:cNvPr id="90" name="矩形 89"/>
          <p:cNvSpPr>
            <a:spLocks noGrp="1"/>
          </p:cNvSpPr>
          <p:nvPr/>
        </p:nvSpPr>
        <p:spPr>
          <a:xfrm>
            <a:off x="6953250" y="4048125"/>
            <a:ext cx="7810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7781925" y="4000500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 + 合同余额 + 在途滚动联算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781925" y="4248150"/>
            <a:ext cx="3486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每日要货建议、延期与缺口提前识别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553200" y="4524375"/>
            <a:ext cx="4762500" cy="9525"/>
          </a:xfrm>
          <a:prstGeom prst="rect">
            <a:avLst/>
          </a:prstGeom>
          <a:solidFill>
            <a:srgbClr val="59616A">
              <a:alpha val="85000"/>
            </a:srgbClr>
          </a:solidFill>
          <a:ln w="0">
            <a:noFill/>
            <a:prstDash val="solid"/>
          </a:ln>
        </p:spPr>
      </p:sp>
      <p:pic>
        <p:nvPicPr>
          <p:cNvPr id="198" name="图片 1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4629150"/>
            <a:ext cx="371475" cy="371475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6953250" y="4610100"/>
            <a:ext cx="7810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7781925" y="4562475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月度批次谱系 + 动因分摊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7781925" y="4810125"/>
            <a:ext cx="3486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生产 / 销售 / 采购分角色分析与溯源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6553200" y="5086350"/>
            <a:ext cx="4762500" cy="9525"/>
          </a:xfrm>
          <a:prstGeom prst="rect">
            <a:avLst/>
          </a:prstGeom>
          <a:solidFill>
            <a:srgbClr val="59616A">
              <a:alpha val="85000"/>
            </a:srgbClr>
          </a:solidFill>
          <a:ln w="0">
            <a:noFill/>
            <a:prstDash val="solid"/>
          </a:ln>
        </p:spPr>
      </p:sp>
      <p:pic>
        <p:nvPicPr>
          <p:cNvPr id="203" name="图片 2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5191125"/>
            <a:ext cx="371475" cy="371475"/>
          </a:xfrm>
          <a:prstGeom prst="rect">
            <a:avLst/>
          </a:prstGeom>
        </p:spPr>
      </p:pic>
      <p:sp>
        <p:nvSpPr>
          <p:cNvPr id="100" name="矩形 99"/>
          <p:cNvSpPr>
            <a:spLocks noGrp="1"/>
          </p:cNvSpPr>
          <p:nvPr/>
        </p:nvSpPr>
        <p:spPr>
          <a:xfrm>
            <a:off x="6953250" y="5172075"/>
            <a:ext cx="7810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7781925" y="5124450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 + 规则预警 + 情景推演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7781925" y="5372100"/>
            <a:ext cx="3486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统一展示、业务下钻、责任派发与闭环</a:t>
            </a:r>
            <a:endParaRPr sz="109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6543675" y="5743575"/>
            <a:ext cx="4772025" cy="323850"/>
          </a:xfrm>
          <a:prstGeom prst="roundRect">
            <a:avLst>
              <a:gd name="adj" fmla="val 20588"/>
            </a:avLst>
          </a:prstGeom>
          <a:solidFill>
            <a:srgbClr val="403D24">
              <a:alpha val="85000"/>
            </a:srgbClr>
          </a:solidFill>
          <a:ln w="9525">
            <a:solidFill>
              <a:srgbClr val="9A8D34"/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6686550" y="5753100"/>
            <a:ext cx="4505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系统给建议、持续预警；人员聚焦审批与异常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4" name="图片 83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9000"/>
            </a:srgbClr>
          </a:solidFill>
          <a:ln w="0">
            <a:noFill/>
            <a:prstDash val="solid"/>
          </a:ln>
        </p:spPr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7891"/>
            <a:ext cx="657225" cy="55579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90575" y="428625"/>
            <a:ext cx="971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625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0575" y="105727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详细建设方案：四类引擎协同，驾驶舱汇聚全指标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33525"/>
            <a:ext cx="10629900" cy="9525"/>
          </a:xfrm>
          <a:prstGeom prst="rect">
            <a:avLst/>
          </a:prstGeom>
          <a:solidFill>
            <a:srgbClr val="FFFFFF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95325" y="1743075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业务数据</a:t>
            </a:r>
            <a:endParaRPr sz="142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2085975"/>
            <a:ext cx="2533650" cy="447675"/>
          </a:xfrm>
          <a:prstGeom prst="roundRect">
            <a:avLst>
              <a:gd name="adj" fmla="val 17021"/>
            </a:avLst>
          </a:prstGeom>
          <a:solidFill>
            <a:srgbClr val="242B35">
              <a:alpha val="96000"/>
            </a:srgbClr>
          </a:solidFill>
          <a:ln w="9525">
            <a:solidFill>
              <a:srgbClr val="4F6A8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14375" y="2095500"/>
            <a:ext cx="57150" cy="4286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6775" y="2143125"/>
            <a:ext cx="2305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 · 出货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457575" y="2085975"/>
            <a:ext cx="2533650" cy="447675"/>
          </a:xfrm>
          <a:prstGeom prst="roundRect">
            <a:avLst>
              <a:gd name="adj" fmla="val 17021"/>
            </a:avLst>
          </a:prstGeom>
          <a:solidFill>
            <a:srgbClr val="242B35">
              <a:alpha val="96000"/>
            </a:srgbClr>
          </a:solidFill>
          <a:ln w="9525">
            <a:solidFill>
              <a:srgbClr val="4F6A8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67100" y="2095500"/>
            <a:ext cx="57150" cy="42862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19500" y="2143125"/>
            <a:ext cx="2305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 · 质检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10300" y="2085975"/>
            <a:ext cx="2533650" cy="447675"/>
          </a:xfrm>
          <a:prstGeom prst="roundRect">
            <a:avLst>
              <a:gd name="adj" fmla="val 17021"/>
            </a:avLst>
          </a:prstGeom>
          <a:solidFill>
            <a:srgbClr val="242B35">
              <a:alpha val="96000"/>
            </a:srgbClr>
          </a:solidFill>
          <a:ln w="9525">
            <a:solidFill>
              <a:srgbClr val="4F6A8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19825" y="2095500"/>
            <a:ext cx="57150" cy="42862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72225" y="2143125"/>
            <a:ext cx="2305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排产 · 产能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963025" y="2085975"/>
            <a:ext cx="2533650" cy="447675"/>
          </a:xfrm>
          <a:prstGeom prst="roundRect">
            <a:avLst>
              <a:gd name="adj" fmla="val 17021"/>
            </a:avLst>
          </a:prstGeom>
          <a:solidFill>
            <a:srgbClr val="242B35">
              <a:alpha val="96000"/>
            </a:srgbClr>
          </a:solidFill>
          <a:ln w="9525">
            <a:solidFill>
              <a:srgbClr val="4F6A8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72550" y="2095500"/>
            <a:ext cx="57150" cy="4286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124950" y="2143125"/>
            <a:ext cx="2305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4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 · 报价 · 在途</a:t>
            </a:r>
            <a:endParaRPr sz="124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04850" y="2676525"/>
            <a:ext cx="10791825" cy="428625"/>
          </a:xfrm>
          <a:prstGeom prst="roundRect">
            <a:avLst>
              <a:gd name="adj" fmla="val 17778"/>
            </a:avLst>
          </a:prstGeom>
          <a:solidFill>
            <a:srgbClr val="102C43">
              <a:alpha val="96000"/>
            </a:srgbClr>
          </a:solidFill>
          <a:ln w="14288">
            <a:solidFill>
              <a:srgbClr val="2B9B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2714625"/>
            <a:ext cx="2190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统一数据服务</a:t>
            </a:r>
            <a:endParaRPr sz="1425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809875" y="2724150"/>
            <a:ext cx="842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主数据 · 订单 / 库存 / 生产 / 采购事实 · 口径统一 · 数据回写</a:t>
            </a:r>
            <a:endParaRPr sz="1200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04850" y="3286125"/>
            <a:ext cx="2533650" cy="1666875"/>
          </a:xfrm>
          <a:prstGeom prst="roundRect">
            <a:avLst>
              <a:gd name="adj" fmla="val 6286"/>
            </a:avLst>
          </a:prstGeom>
          <a:solidFill>
            <a:srgbClr val="1D2530">
              <a:alpha val="98000"/>
            </a:srgbClr>
          </a:solidFill>
          <a:ln w="14288">
            <a:solidFill>
              <a:srgbClr val="6DC7F3"/>
            </a:solidFill>
            <a:prstDash val="solid"/>
          </a:ln>
        </p:spPr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rcRect t="26862" b="26862"/>
          <a:stretch>
            <a:fillRect/>
          </a:stretch>
        </p:blipFill>
        <p:spPr>
          <a:xfrm>
            <a:off x="800100" y="3352800"/>
            <a:ext cx="2343150" cy="6096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800100" y="3352800"/>
            <a:ext cx="2343150" cy="609600"/>
          </a:xfrm>
          <a:prstGeom prst="rect">
            <a:avLst/>
          </a:prstGeom>
          <a:solidFill>
            <a:srgbClr val="07111B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4850" y="3286125"/>
            <a:ext cx="2533650" cy="476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66775" y="3476625"/>
            <a:ext cx="371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425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76350" y="3448050"/>
            <a:ext cx="13620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6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6775" y="4000500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 (R,s,S)</a:t>
            </a:r>
            <a:endParaRPr sz="1350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4276725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罐容 / 锁定期约束</a:t>
            </a:r>
            <a:endParaRPr sz="1165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19150" y="4543425"/>
            <a:ext cx="2305050" cy="323850"/>
          </a:xfrm>
          <a:prstGeom prst="roundRect">
            <a:avLst>
              <a:gd name="adj" fmla="val 17647"/>
            </a:avLst>
          </a:prstGeom>
          <a:solidFill>
            <a:srgbClr val="293542">
              <a:alpha val="95000"/>
            </a:srgbClr>
          </a:solidFill>
          <a:ln w="9525">
            <a:solidFill>
              <a:srgbClr val="50617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85825" y="4572000"/>
            <a:ext cx="2171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月策略 → 4周补货 → 日预警</a:t>
            </a:r>
            <a:endParaRPr sz="111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962150" y="4962525"/>
            <a:ext cx="19050" cy="285750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 rot="10800000">
            <a:off x="1905000" y="5181600"/>
            <a:ext cx="133350" cy="123825"/>
          </a:xfrm>
          <a:prstGeom prst="triangle">
            <a:avLst/>
          </a:prstGeom>
          <a:solidFill>
            <a:srgbClr val="6DC7F3"/>
          </a:solidFill>
          <a:ln w="0">
            <a:noFill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3457575" y="3286125"/>
            <a:ext cx="2533650" cy="1666875"/>
          </a:xfrm>
          <a:prstGeom prst="roundRect">
            <a:avLst>
              <a:gd name="adj" fmla="val 6286"/>
            </a:avLst>
          </a:prstGeom>
          <a:solidFill>
            <a:srgbClr val="1D2530">
              <a:alpha val="98000"/>
            </a:srgbClr>
          </a:solidFill>
          <a:ln w="14288">
            <a:solidFill>
              <a:srgbClr val="FFE16D"/>
            </a:solidFill>
            <a:prstDash val="solid"/>
          </a:ln>
        </p:spPr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4"/>
          <a:srcRect t="26862" b="26862"/>
          <a:stretch>
            <a:fillRect/>
          </a:stretch>
        </p:blipFill>
        <p:spPr>
          <a:xfrm>
            <a:off x="3552825" y="3352800"/>
            <a:ext cx="2343150" cy="609600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3552825" y="3352800"/>
            <a:ext cx="2343150" cy="609600"/>
          </a:xfrm>
          <a:prstGeom prst="rect">
            <a:avLst/>
          </a:prstGeom>
          <a:solidFill>
            <a:srgbClr val="07111B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457575" y="3286125"/>
            <a:ext cx="2533650" cy="4762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3619500" y="3476625"/>
            <a:ext cx="371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42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029075" y="3448050"/>
            <a:ext cx="13620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6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619500" y="4000500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多目标寻优</a:t>
            </a:r>
            <a:endParaRPr sz="13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619500" y="4276725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 / 供货 / 交期权衡</a:t>
            </a:r>
            <a:endParaRPr sz="1165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3571875" y="4543425"/>
            <a:ext cx="2305050" cy="323850"/>
          </a:xfrm>
          <a:prstGeom prst="roundRect">
            <a:avLst>
              <a:gd name="adj" fmla="val 17647"/>
            </a:avLst>
          </a:prstGeom>
          <a:solidFill>
            <a:srgbClr val="293542">
              <a:alpha val="95000"/>
            </a:srgbClr>
          </a:solidFill>
          <a:ln w="9525">
            <a:solidFill>
              <a:srgbClr val="506174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638550" y="4572000"/>
            <a:ext cx="2171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供方 → 数量 → 到货建议</a:t>
            </a:r>
            <a:endParaRPr sz="111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714875" y="4962525"/>
            <a:ext cx="19050" cy="285750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48" name="等腰三角形 47"/>
          <p:cNvSpPr>
            <a:spLocks noGrp="1"/>
          </p:cNvSpPr>
          <p:nvPr/>
        </p:nvSpPr>
        <p:spPr>
          <a:xfrm rot="10800000">
            <a:off x="4657725" y="5181600"/>
            <a:ext cx="133350" cy="123825"/>
          </a:xfrm>
          <a:prstGeom prst="triangle">
            <a:avLst/>
          </a:prstGeom>
          <a:solidFill>
            <a:srgbClr val="FFE16D"/>
          </a:solidFill>
          <a:ln w="0">
            <a:noFill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6210300" y="3286125"/>
            <a:ext cx="2533650" cy="1666875"/>
          </a:xfrm>
          <a:prstGeom prst="roundRect">
            <a:avLst>
              <a:gd name="adj" fmla="val 6286"/>
            </a:avLst>
          </a:prstGeom>
          <a:solidFill>
            <a:srgbClr val="1D2530">
              <a:alpha val="98000"/>
            </a:srgbClr>
          </a:solidFill>
          <a:ln w="14288">
            <a:solidFill>
              <a:srgbClr val="9FE5BF"/>
            </a:solidFill>
            <a:prstDash val="solid"/>
          </a:ln>
        </p:spPr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5"/>
          <a:srcRect t="26911" b="26911"/>
          <a:stretch>
            <a:fillRect/>
          </a:stretch>
        </p:blipFill>
        <p:spPr>
          <a:xfrm>
            <a:off x="6305550" y="3352800"/>
            <a:ext cx="2343150" cy="609600"/>
          </a:xfrm>
          <a:prstGeom prst="rect">
            <a:avLst/>
          </a:prstGeom>
        </p:spPr>
      </p:pic>
      <p:sp>
        <p:nvSpPr>
          <p:cNvPr id="51" name="矩形 50"/>
          <p:cNvSpPr>
            <a:spLocks noGrp="1"/>
          </p:cNvSpPr>
          <p:nvPr/>
        </p:nvSpPr>
        <p:spPr>
          <a:xfrm>
            <a:off x="6305550" y="3352800"/>
            <a:ext cx="2343150" cy="609600"/>
          </a:xfrm>
          <a:prstGeom prst="rect">
            <a:avLst/>
          </a:prstGeom>
          <a:solidFill>
            <a:srgbClr val="07111B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10300" y="3286125"/>
            <a:ext cx="2533650" cy="4762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372225" y="3476625"/>
            <a:ext cx="371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425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781800" y="3448050"/>
            <a:ext cx="13620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6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372225" y="4000500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滚动联算</a:t>
            </a:r>
            <a:endParaRPr sz="1350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372225" y="4276725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 / 合同余额 / 在途</a:t>
            </a:r>
            <a:endParaRPr sz="1165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6324600" y="4543425"/>
            <a:ext cx="2305050" cy="323850"/>
          </a:xfrm>
          <a:prstGeom prst="roundRect">
            <a:avLst>
              <a:gd name="adj" fmla="val 17647"/>
            </a:avLst>
          </a:prstGeom>
          <a:solidFill>
            <a:srgbClr val="293542">
              <a:alpha val="95000"/>
            </a:srgbClr>
          </a:solidFill>
          <a:ln w="9525">
            <a:solidFill>
              <a:srgbClr val="506174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391275" y="4572000"/>
            <a:ext cx="2171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日要货 → 缺口调整 → 确认</a:t>
            </a:r>
            <a:endParaRPr sz="111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467600" y="4962525"/>
            <a:ext cx="19050" cy="285750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61" name="等腰三角形 60"/>
          <p:cNvSpPr>
            <a:spLocks noGrp="1"/>
          </p:cNvSpPr>
          <p:nvPr/>
        </p:nvSpPr>
        <p:spPr>
          <a:xfrm rot="10800000">
            <a:off x="7410450" y="5181600"/>
            <a:ext cx="133350" cy="123825"/>
          </a:xfrm>
          <a:prstGeom prst="triangle">
            <a:avLst/>
          </a:prstGeom>
          <a:solidFill>
            <a:srgbClr val="9FE5BF"/>
          </a:solidFill>
          <a:ln w="0">
            <a:noFill/>
          </a:ln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8963025" y="3286125"/>
            <a:ext cx="2533650" cy="1666875"/>
          </a:xfrm>
          <a:prstGeom prst="roundRect">
            <a:avLst>
              <a:gd name="adj" fmla="val 6286"/>
            </a:avLst>
          </a:prstGeom>
          <a:solidFill>
            <a:srgbClr val="1D2530">
              <a:alpha val="98000"/>
            </a:srgbClr>
          </a:solidFill>
          <a:ln w="14288">
            <a:solidFill>
              <a:srgbClr val="BFA8F6"/>
            </a:solidFill>
            <a:prstDash val="solid"/>
          </a:ln>
        </p:spPr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6"/>
          <a:srcRect t="26911" b="26911"/>
          <a:stretch>
            <a:fillRect/>
          </a:stretch>
        </p:blipFill>
        <p:spPr>
          <a:xfrm>
            <a:off x="9058275" y="3352800"/>
            <a:ext cx="2343150" cy="609600"/>
          </a:xfrm>
          <a:prstGeom prst="rect">
            <a:avLst/>
          </a:prstGeom>
        </p:spPr>
      </p:pic>
      <p:sp>
        <p:nvSpPr>
          <p:cNvPr id="64" name="矩形 63"/>
          <p:cNvSpPr>
            <a:spLocks noGrp="1"/>
          </p:cNvSpPr>
          <p:nvPr/>
        </p:nvSpPr>
        <p:spPr>
          <a:xfrm>
            <a:off x="9058275" y="3352800"/>
            <a:ext cx="2343150" cy="609600"/>
          </a:xfrm>
          <a:prstGeom prst="rect">
            <a:avLst/>
          </a:prstGeom>
          <a:solidFill>
            <a:srgbClr val="07111B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963025" y="3286125"/>
            <a:ext cx="2533650" cy="47625"/>
          </a:xfrm>
          <a:prstGeom prst="rect">
            <a:avLst/>
          </a:prstGeom>
          <a:solidFill>
            <a:srgbClr val="BFA8F6"/>
          </a:solidFill>
          <a:ln w="0">
            <a:noFill/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124950" y="3476625"/>
            <a:ext cx="371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BFA8F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BFA8F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425" b="1">
              <a:solidFill>
                <a:srgbClr val="BFA8F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9534525" y="3448050"/>
            <a:ext cx="13620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6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124950" y="4000500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BFA8F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BFA8F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批次谱系 + 动因</a:t>
            </a:r>
            <a:endParaRPr sz="1350" b="1">
              <a:solidFill>
                <a:srgbClr val="BFA8F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124950" y="4276725"/>
            <a:ext cx="2181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0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月度分摊 / 角色化视图</a:t>
            </a:r>
            <a:endParaRPr sz="1165" b="0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077325" y="4543425"/>
            <a:ext cx="2305050" cy="323850"/>
          </a:xfrm>
          <a:prstGeom prst="roundRect">
            <a:avLst>
              <a:gd name="adj" fmla="val 17647"/>
            </a:avLst>
          </a:prstGeom>
          <a:solidFill>
            <a:srgbClr val="293542">
              <a:alpha val="95000"/>
            </a:srgbClr>
          </a:solidFill>
          <a:ln w="9525">
            <a:solidFill>
              <a:srgbClr val="50617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144000" y="4572000"/>
            <a:ext cx="2171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1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多维分析 → 异常溯源</a:t>
            </a:r>
            <a:endParaRPr sz="111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220325" y="4962525"/>
            <a:ext cx="19050" cy="285750"/>
          </a:xfrm>
          <a:prstGeom prst="rect">
            <a:avLst/>
          </a:prstGeom>
          <a:solidFill>
            <a:srgbClr val="BFA8F6"/>
          </a:solidFill>
          <a:ln w="0">
            <a:noFill/>
            <a:prstDash val="solid"/>
          </a:ln>
        </p:spPr>
      </p:sp>
      <p:sp>
        <p:nvSpPr>
          <p:cNvPr id="74" name="等腰三角形 73"/>
          <p:cNvSpPr>
            <a:spLocks noGrp="1"/>
          </p:cNvSpPr>
          <p:nvPr/>
        </p:nvSpPr>
        <p:spPr>
          <a:xfrm rot="10800000">
            <a:off x="10163175" y="5181600"/>
            <a:ext cx="133350" cy="123825"/>
          </a:xfrm>
          <a:prstGeom prst="triangle">
            <a:avLst/>
          </a:prstGeom>
          <a:solidFill>
            <a:srgbClr val="BFA8F6"/>
          </a:solidFill>
          <a:ln w="0">
            <a:noFill/>
          </a:ln>
        </p:spPr>
      </p:sp>
      <p:sp>
        <p:nvSpPr>
          <p:cNvPr id="75" name="圆角矩形 74"/>
          <p:cNvSpPr>
            <a:spLocks noGrp="1"/>
          </p:cNvSpPr>
          <p:nvPr/>
        </p:nvSpPr>
        <p:spPr>
          <a:xfrm>
            <a:off x="704850" y="5391150"/>
            <a:ext cx="10791825" cy="895350"/>
          </a:xfrm>
          <a:prstGeom prst="roundRect">
            <a:avLst>
              <a:gd name="adj" fmla="val 12766"/>
            </a:avLst>
          </a:prstGeom>
          <a:solidFill>
            <a:srgbClr val="0E2B42">
              <a:alpha val="97000"/>
            </a:srgbClr>
          </a:solidFill>
          <a:ln w="19050">
            <a:solidFill>
              <a:srgbClr val="2B9BD6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04850" y="5391150"/>
            <a:ext cx="10791825" cy="76200"/>
          </a:xfrm>
          <a:prstGeom prst="rect">
            <a:avLst/>
          </a:prstGeom>
          <a:solidFill>
            <a:srgbClr val="1D86C0"/>
          </a:solidFill>
          <a:ln w="0">
            <a:noFill/>
            <a:prstDash val="solid"/>
          </a:ln>
        </p:spPr>
      </p:sp>
      <p:pic>
        <p:nvPicPr>
          <p:cNvPr id="160" name="图片 1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5505450"/>
            <a:ext cx="352425" cy="352425"/>
          </a:xfrm>
          <a:prstGeom prst="rect">
            <a:avLst/>
          </a:prstGeom>
        </p:spPr>
      </p:pic>
      <p:sp>
        <p:nvSpPr>
          <p:cNvPr id="78" name="矩形 77"/>
          <p:cNvSpPr>
            <a:spLocks noGrp="1"/>
          </p:cNvSpPr>
          <p:nvPr/>
        </p:nvSpPr>
        <p:spPr>
          <a:xfrm>
            <a:off x="1304925" y="552450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2676525" y="552450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四类业务模块及产销经营指标统一汇聚展示</a:t>
            </a:r>
            <a:endParaRPr sz="1575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14400" y="5867400"/>
            <a:ext cx="10382250" cy="9525"/>
          </a:xfrm>
          <a:prstGeom prst="rect">
            <a:avLst/>
          </a:prstGeom>
          <a:solidFill>
            <a:srgbClr val="5C859E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14400" y="5953125"/>
            <a:ext cx="6286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 / 采购 / 要货 / 批次成本 / 产销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915150" y="5953125"/>
            <a:ext cx="428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分级预警  ·  业务下钻  ·  责任闭环  ·  情景推演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790575" y="6381750"/>
            <a:ext cx="106203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BCC5C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执行回传：订单、到货、库存与产出状态更新后，驱动下一轮滚动测算</a:t>
            </a:r>
            <a:endParaRPr sz="1090" b="1">
              <a:solidFill>
                <a:srgbClr val="BCC5C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" name="图片 70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9000"/>
            </a:srgbClr>
          </a:solidFill>
          <a:ln w="0">
            <a:noFill/>
            <a:prstDash val="solid"/>
          </a:ln>
        </p:spPr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7891"/>
            <a:ext cx="657225" cy="55579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90575" y="428625"/>
            <a:ext cx="971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625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625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0575" y="105727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关键跃升：人力、效率与成本的预期改善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33525"/>
            <a:ext cx="10629900" cy="9525"/>
          </a:xfrm>
          <a:prstGeom prst="rect">
            <a:avLst/>
          </a:prstGeom>
          <a:solidFill>
            <a:srgbClr val="FFFFFF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001125" y="1685925"/>
            <a:ext cx="2505075" cy="276225"/>
          </a:xfrm>
          <a:prstGeom prst="roundRect">
            <a:avLst>
              <a:gd name="adj" fmla="val 20690"/>
            </a:avLst>
          </a:prstGeom>
          <a:solidFill>
            <a:srgbClr val="463D1B">
              <a:alpha val="91000"/>
            </a:srgbClr>
          </a:solidFill>
          <a:ln w="9525">
            <a:solidFill>
              <a:srgbClr val="B69C3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096375" y="1704975"/>
            <a:ext cx="2324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初步测算假设 · 待验证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8650" y="2047875"/>
            <a:ext cx="3314700" cy="3914775"/>
          </a:xfrm>
          <a:prstGeom prst="roundRect">
            <a:avLst>
              <a:gd name="adj" fmla="val 4310"/>
            </a:avLst>
          </a:prstGeom>
          <a:solidFill>
            <a:srgbClr val="1B2028">
              <a:alpha val="97000"/>
            </a:srgbClr>
          </a:solidFill>
          <a:ln w="19050">
            <a:solidFill>
              <a:srgbClr val="6DC7F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219325"/>
            <a:ext cx="523875" cy="52387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28675" y="2276475"/>
            <a:ext cx="5048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575" b="1">
              <a:solidFill>
                <a:srgbClr val="08111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76375" y="2190750"/>
            <a:ext cx="1790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减少人力投入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190750"/>
            <a:ext cx="523875" cy="523875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866775" y="2828925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重复操作自动化</a:t>
            </a:r>
            <a:endParaRPr sz="1275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6775" y="3162300"/>
            <a:ext cx="2847975" cy="9525"/>
          </a:xfrm>
          <a:prstGeom prst="rect">
            <a:avLst/>
          </a:prstGeom>
          <a:solidFill>
            <a:srgbClr val="67707A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3352800"/>
            <a:ext cx="38100" cy="5048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00125" y="32956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例行计划 / 报表工时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0125" y="35623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↓30–40%</a:t>
            </a:r>
            <a:endParaRPr sz="2100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01955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57250" y="4171950"/>
            <a:ext cx="38100" cy="5048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0125" y="411480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采购与要货跟催工时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" y="438150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↓40–50%</a:t>
            </a:r>
            <a:endParaRPr sz="2100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" y="483870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991100"/>
            <a:ext cx="38100" cy="504825"/>
          </a:xfrm>
          <a:prstGeom prst="rect">
            <a:avLst/>
          </a:prstGeom>
          <a:solidFill>
            <a:srgbClr val="6DC7F3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0125" y="49339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跨系统人工核对次数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00125" y="52006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↓50–70%</a:t>
            </a:r>
            <a:endParaRPr sz="2100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" y="5667375"/>
            <a:ext cx="2857500" cy="238125"/>
          </a:xfrm>
          <a:prstGeom prst="rect">
            <a:avLst/>
          </a:prstGeom>
          <a:solidFill>
            <a:srgbClr val="25313B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5676900"/>
            <a:ext cx="27432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6DC7F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自动取数 · 模型测算 · 规则派发</a:t>
            </a:r>
            <a:endParaRPr sz="1050" b="1">
              <a:solidFill>
                <a:srgbClr val="6DC7F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438650" y="2047875"/>
            <a:ext cx="3314700" cy="3914775"/>
          </a:xfrm>
          <a:prstGeom prst="roundRect">
            <a:avLst>
              <a:gd name="adj" fmla="val 4310"/>
            </a:avLst>
          </a:prstGeom>
          <a:solidFill>
            <a:srgbClr val="1B2028">
              <a:alpha val="97000"/>
            </a:srgbClr>
          </a:solidFill>
          <a:ln w="19050">
            <a:solidFill>
              <a:srgbClr val="FFE16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29150" y="2219325"/>
            <a:ext cx="523875" cy="52387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38675" y="2276475"/>
            <a:ext cx="5048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575" b="1">
              <a:solidFill>
                <a:srgbClr val="08111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86375" y="2190750"/>
            <a:ext cx="1790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提升业务效率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185" y="2191385"/>
            <a:ext cx="523240" cy="52324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4676775" y="2828925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计划与异常链路缩短</a:t>
            </a:r>
            <a:endParaRPr sz="127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676775" y="3162300"/>
            <a:ext cx="2847975" cy="9525"/>
          </a:xfrm>
          <a:prstGeom prst="rect">
            <a:avLst/>
          </a:prstGeom>
          <a:solidFill>
            <a:srgbClr val="67707A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667250" y="3352800"/>
            <a:ext cx="38100" cy="50482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810125" y="32956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采购方案编制时长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810125" y="35623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↓50–70%</a:t>
            </a:r>
            <a:endParaRPr sz="210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76775" y="401955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667250" y="4171950"/>
            <a:ext cx="38100" cy="50482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810125" y="411480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异常派发与定位时长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10125" y="438150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↓60–80%</a:t>
            </a:r>
            <a:endParaRPr sz="210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76775" y="483870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667250" y="4991100"/>
            <a:ext cx="38100" cy="504825"/>
          </a:xfrm>
          <a:prstGeom prst="rect">
            <a:avLst/>
          </a:prstGeom>
          <a:solidFill>
            <a:srgbClr val="FFE16D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810125" y="49339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批次成本溯源时长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810125" y="52006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↓60–80%</a:t>
            </a:r>
            <a:endParaRPr sz="210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667250" y="5667375"/>
            <a:ext cx="2857500" cy="238125"/>
          </a:xfrm>
          <a:prstGeom prst="rect">
            <a:avLst/>
          </a:prstGeom>
          <a:solidFill>
            <a:srgbClr val="25313B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724400" y="5676900"/>
            <a:ext cx="27432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滚动计算 · 异常定位 · 批次下钻</a:t>
            </a:r>
            <a:endParaRPr sz="1050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248650" y="2047875"/>
            <a:ext cx="3314700" cy="3914775"/>
          </a:xfrm>
          <a:prstGeom prst="roundRect">
            <a:avLst>
              <a:gd name="adj" fmla="val 4310"/>
            </a:avLst>
          </a:prstGeom>
          <a:solidFill>
            <a:srgbClr val="1B2028">
              <a:alpha val="97000"/>
            </a:srgbClr>
          </a:solidFill>
          <a:ln w="19050">
            <a:solidFill>
              <a:srgbClr val="9FE5B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439150" y="2219325"/>
            <a:ext cx="523875" cy="52387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448675" y="2276475"/>
            <a:ext cx="5048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08111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575" b="1">
              <a:solidFill>
                <a:srgbClr val="08111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096375" y="2190750"/>
            <a:ext cx="1790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降低运营成本</a:t>
            </a:r>
            <a:endParaRPr sz="18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9930" y="2183130"/>
            <a:ext cx="531495" cy="531495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8486775" y="2828925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库存与供给持续优化</a:t>
            </a:r>
            <a:endParaRPr sz="1275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486775" y="3162300"/>
            <a:ext cx="2847975" cy="9525"/>
          </a:xfrm>
          <a:prstGeom prst="rect">
            <a:avLst/>
          </a:prstGeom>
          <a:solidFill>
            <a:srgbClr val="67707A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477250" y="3352800"/>
            <a:ext cx="38100" cy="50482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620125" y="32956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成品平均库存天数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620125" y="35623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↓10–15%</a:t>
            </a:r>
            <a:endParaRPr sz="2100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486775" y="401955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477250" y="4171950"/>
            <a:ext cx="38100" cy="50482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620125" y="411480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原料综合采购成本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620125" y="438150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↓1–2%</a:t>
            </a:r>
            <a:endParaRPr sz="2100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486775" y="4838700"/>
            <a:ext cx="2838450" cy="9525"/>
          </a:xfrm>
          <a:prstGeom prst="rect">
            <a:avLst/>
          </a:prstGeom>
          <a:solidFill>
            <a:srgbClr val="4D5762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477250" y="4991100"/>
            <a:ext cx="38100" cy="504825"/>
          </a:xfrm>
          <a:prstGeom prst="rect">
            <a:avLst/>
          </a:prstGeom>
          <a:solidFill>
            <a:srgbClr val="9FE5BF"/>
          </a:solidFill>
          <a:ln w="0">
            <a:noFill/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620125" y="4933950"/>
            <a:ext cx="2724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加急 / 滞留相关费用</a:t>
            </a:r>
            <a:endParaRPr sz="120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620125" y="5200650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↓10–20%</a:t>
            </a:r>
            <a:endParaRPr sz="2100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477250" y="5667375"/>
            <a:ext cx="2857500" cy="238125"/>
          </a:xfrm>
          <a:prstGeom prst="rect">
            <a:avLst/>
          </a:prstGeom>
          <a:solidFill>
            <a:srgbClr val="25313B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8534400" y="5676900"/>
            <a:ext cx="27432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9FE5B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目标库存 · 综合成本 · 到货协同</a:t>
            </a:r>
            <a:endParaRPr sz="1050" b="1">
              <a:solidFill>
                <a:srgbClr val="9FE5B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28650" y="6105525"/>
            <a:ext cx="10934700" cy="352425"/>
          </a:xfrm>
          <a:prstGeom prst="roundRect">
            <a:avLst>
              <a:gd name="adj" fmla="val 18919"/>
            </a:avLst>
          </a:prstGeom>
          <a:solidFill>
            <a:srgbClr val="403D24">
              <a:alpha val="80000"/>
            </a:srgbClr>
          </a:solidFill>
          <a:ln w="9525">
            <a:solidFill>
              <a:srgbClr val="8D8132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33425" y="6143625"/>
            <a:ext cx="10725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FE1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以上区间仅为方案测算假设，待三厂基线与试运行数据校准；不代表现状实绩或验收目标</a:t>
            </a:r>
            <a:endParaRPr sz="1165" b="1">
              <a:solidFill>
                <a:srgbClr val="FFE1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表格</Application>
  <PresentationFormat>Converted Presentation</PresentationFormat>
  <Paragraphs>252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Songti SC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3</cp:revision>
  <dcterms:created xsi:type="dcterms:W3CDTF">2026-09-23T06:38:27Z</dcterms:created>
  <dcterms:modified xsi:type="dcterms:W3CDTF">2026-09-23T06:38:27Z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410FFF204302C1A7B699B26A0BA8DE96_42</vt:lpwstr>
  </property>
  <property fmtid="{D5CDD505-2E9C-101B-9397-08002B2CF9AE}" pid="3" name="KSOProductBuildVer">
    <vt:lpwstr>2052-12.1.26055.26055</vt:lpwstr>
  </property>
</Properties>
</file>