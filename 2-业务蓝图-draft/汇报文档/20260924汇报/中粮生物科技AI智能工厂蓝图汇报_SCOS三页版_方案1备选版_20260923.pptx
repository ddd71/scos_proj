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79f2cb475e422f" /><Relationship Type="http://schemas.openxmlformats.org/officeDocument/2006/relationships/extended-properties" Target="/docProps/app.xml" Id="R2cca8472c91b47b0" /><Relationship Type="http://schemas.openxmlformats.org/officeDocument/2006/relationships/officeDocument" Target="/ppt/presentation.xml" Id="R8b96b26d4088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be389d97b44a8"/>
  </p:sldMasterIdLst>
  <p:notesMasterIdLst>
    <p:notesMasterId xmlns:r="http://schemas.openxmlformats.org/officeDocument/2006/relationships" r:id="R327af9790a8b4dbd"/>
  </p:notesMasterIdLst>
  <p:sldIdLst>
    <p:sldId xmlns:r="http://schemas.openxmlformats.org/officeDocument/2006/relationships" id="256" r:id="R134d0c6af0e447b1"/>
    <p:sldId xmlns:r="http://schemas.openxmlformats.org/officeDocument/2006/relationships" id="257" r:id="Redf94a2fa1a7427f"/>
    <p:sldId xmlns:r="http://schemas.openxmlformats.org/officeDocument/2006/relationships" id="258" r:id="Rb255a578d01f4b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b176d2ece4081" /><Relationship Type="http://schemas.openxmlformats.org/officeDocument/2006/relationships/slideMaster" Target="/ppt/slideMasters/slideMaster1.xml" Id="R960be389d97b44a8" /><Relationship Type="http://schemas.openxmlformats.org/officeDocument/2006/relationships/notesMaster" Target="/ppt/notesMasters/notesMaster1.xml" Id="R327af9790a8b4dbd" /><Relationship Type="http://schemas.openxmlformats.org/officeDocument/2006/relationships/presProps" Target="/ppt/presProps.xml" Id="R29f139de096643a1" /><Relationship Type="http://schemas.openxmlformats.org/officeDocument/2006/relationships/tableStyles" Target="/ppt/tableStyles.xml" Id="R78ca57eeff0b421f" /><Relationship Type="http://schemas.openxmlformats.org/officeDocument/2006/relationships/slide" Target="/ppt/slides/slide1.xml" Id="R134d0c6af0e447b1" /><Relationship Type="http://schemas.openxmlformats.org/officeDocument/2006/relationships/slide" Target="/ppt/slides/slide2.xml" Id="Redf94a2fa1a7427f" /><Relationship Type="http://schemas.openxmlformats.org/officeDocument/2006/relationships/slide" Target="/ppt/slides/slide3.xml" Id="Rb255a578d01f4b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b759bddd8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6cd017e5464001" /><Relationship Type="http://schemas.openxmlformats.org/officeDocument/2006/relationships/notesMaster" Target="/ppt/notesMasters/notesMaster1.xml" Id="R7c2b6f8a14c341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f87f8e495c4fff" /><Relationship Type="http://schemas.openxmlformats.org/officeDocument/2006/relationships/notesMaster" Target="/ppt/notesMasters/notesMaster1.xml" Id="Re9fecb137b054b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a5fa83cc1427f" /><Relationship Type="http://schemas.openxmlformats.org/officeDocument/2006/relationships/notesMaster" Target="/ppt/notesMasters/notesMaster1.xml" Id="Rede20e6ee8aa46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调研来源：</a:t>
            </a:r>
          </a:p>
          <a:p xmlns:a="http://schemas.openxmlformats.org/drawingml/2006/main">
            <a:r>
              <a:t>/Users/zihaoguo/Desktop/中控/scos_proj/1-wiki-资料沉淀/调研报告/上海融氏调研报告在线版.xlsx，工作表“一、订单接收”“七、成品入库”“十六、经营辅助决策”“十七、原料采购”。</a:t>
            </a:r>
          </a:p>
          <a:p xmlns:a="http://schemas.openxmlformats.org/drawingml/2006/main">
            <a:r>
              <a:t>/Users/zihaoguo/Desktop/中控/scos_proj/1-wiki-资料沉淀/调研报告/中粮成都调研报告在线版.xlsx，同名工作表。</a:t>
            </a:r>
          </a:p>
          <a:p xmlns:a="http://schemas.openxmlformats.org/drawingml/2006/main">
            <a:r>
              <a:t>/Users/zihaoguo/Desktop/中控/scos_proj/1-wiki-资料沉淀/调研报告/中粮武汉调研报告在线版.xlsx，同名工作表。</a:t>
            </a:r>
          </a:p>
          <a:p xmlns:a="http://schemas.openxmlformats.org/drawingml/2006/main">
            <a:r>
              <a:t>蓝图来源：/Users/zihaoguo/Desktop/中控/scos_proj/3-业务蓝图-终态/SCOS_中粮太仓项目研发模块蓝图方案v0.9.docx。三厂现状与太仓蓝图为不同工厂、不同阶段，不作为实施前后实绩对比。</a:t>
            </a:r>
          </a:p>
          <a:p xmlns:a="http://schemas.openxmlformats.org/drawingml/2006/main">
            <a:r>
              <a:t>页面工厂和算法图片由OpenAI imagegen生成，为概念示意，不代表三厂真实厂区或系统界面。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蓝图来源：/Users/zihaoguo/Desktop/中控/scos_proj/3-业务蓝图-终态/SCOS_中粮太仓项目研发模块蓝图方案v0.9.docx。SCOS不包含需求预测；库存优化使用已发布出货计划和订单。成本分摊继续按月运行。三张架构图片由OpenAI imagegen生成，为概念示意。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蓝图依据：/Users/zihaoguo/Desktop/中控/scos_proj/3-业务蓝图-终态/SCOS_中粮太仓项目研发模块蓝图方案v0.9.docx。所有目标值为用户授权的方案阶段估算，需根据三厂基线和试运行数据校准。图标由OpenAI imagegen生成。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5cb25df00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a40864fb92413d" /><Relationship Type="http://schemas.openxmlformats.org/officeDocument/2006/relationships/slideLayout" Target="/ppt/slideLayouts/slideLayout1.xml" Id="R0b8d2464ebe7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8d2464ebe7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1e79e7fa740d3" /><Relationship Type="http://schemas.openxmlformats.org/officeDocument/2006/relationships/image" Target="/ppt/media/image.png" Id="R356ccd3393bd42cf" /><Relationship Type="http://schemas.openxmlformats.org/officeDocument/2006/relationships/image" Target="/ppt/media/image2.png" Id="R5a04d2cf0ea941d3" /><Relationship Type="http://schemas.openxmlformats.org/officeDocument/2006/relationships/image" Target="/ppt/media/image3.png" Id="R211ae3c1e9824917" /><Relationship Type="http://schemas.openxmlformats.org/officeDocument/2006/relationships/image" Target="/ppt/media/image4.png" Id="R29af899e7851420d" /><Relationship Type="http://schemas.openxmlformats.org/officeDocument/2006/relationships/image" Target="/ppt/media/image5.png" Id="R09dd391872fc4d87" /><Relationship Type="http://schemas.openxmlformats.org/officeDocument/2006/relationships/image" Target="/ppt/media/image6.png" Id="Ra309f3e22f194f46" /><Relationship Type="http://schemas.openxmlformats.org/officeDocument/2006/relationships/image" Target="/ppt/media/image7.png" Id="R21105d3d644b410a" /><Relationship Type="http://schemas.openxmlformats.org/officeDocument/2006/relationships/image" Target="/ppt/media/image8.png" Id="Rdca6ed5fc9ec4412" /><Relationship Type="http://schemas.openxmlformats.org/officeDocument/2006/relationships/image" Target="/ppt/media/image9.png" Id="R6c1053a503be4edd" /><Relationship Type="http://schemas.openxmlformats.org/officeDocument/2006/relationships/notesSlide" Target="/ppt/notesSlides/notesSlide1.xml" Id="Re26798bcc0dd49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024ec142b4e9d" /><Relationship Type="http://schemas.openxmlformats.org/officeDocument/2006/relationships/image" Target="/ppt/media/image10.png" Id="Rdfe0a5af3b7649f0" /><Relationship Type="http://schemas.openxmlformats.org/officeDocument/2006/relationships/image" Target="/ppt/media/image11.png" Id="Rb83c6ff1882545b4" /><Relationship Type="http://schemas.openxmlformats.org/officeDocument/2006/relationships/image" Target="/ppt/media/image12.png" Id="R440ef6a9d5a74f7f" /><Relationship Type="http://schemas.openxmlformats.org/officeDocument/2006/relationships/image" Target="/ppt/media/image13.png" Id="Rf1ce80f34a2848ef" /><Relationship Type="http://schemas.openxmlformats.org/officeDocument/2006/relationships/image" Target="/ppt/media/image14.png" Id="R73a46ec1233f4d4b" /><Relationship Type="http://schemas.openxmlformats.org/officeDocument/2006/relationships/image" Target="/ppt/media/image15.png" Id="Rbe60986317484b3c" /><Relationship Type="http://schemas.openxmlformats.org/officeDocument/2006/relationships/image" Target="/ppt/media/image16.png" Id="R2b23f855d87146f8" /><Relationship Type="http://schemas.openxmlformats.org/officeDocument/2006/relationships/image" Target="/ppt/media/image17.png" Id="Rbc10a280fe424bd3" /><Relationship Type="http://schemas.openxmlformats.org/officeDocument/2006/relationships/image" Target="/ppt/media/image18.png" Id="R107b057ced8044cc" /><Relationship Type="http://schemas.openxmlformats.org/officeDocument/2006/relationships/image" Target="/ppt/media/image19.png" Id="Rfd240bea6f414c01" /><Relationship Type="http://schemas.openxmlformats.org/officeDocument/2006/relationships/notesSlide" Target="/ppt/notesSlides/notesSlide2.xml" Id="R90a51e01e7b34e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b7ced8ab04243" /><Relationship Type="http://schemas.openxmlformats.org/officeDocument/2006/relationships/image" Target="/ppt/media/image20.png" Id="R932a969d6a714be4" /><Relationship Type="http://schemas.openxmlformats.org/officeDocument/2006/relationships/image" Target="/ppt/media/image21.png" Id="Rbf211933bff84a6c" /><Relationship Type="http://schemas.openxmlformats.org/officeDocument/2006/relationships/image" Target="/ppt/media/image22.png" Id="Rd581936832e143b0" /><Relationship Type="http://schemas.openxmlformats.org/officeDocument/2006/relationships/image" Target="/ppt/media/image23.png" Id="R16862b42a69848c7" /><Relationship Type="http://schemas.openxmlformats.org/officeDocument/2006/relationships/image" Target="/ppt/media/image24.png" Id="R33ca5d7ad03b43ba" /><Relationship Type="http://schemas.openxmlformats.org/officeDocument/2006/relationships/image" Target="/ppt/media/image25.png" Id="Ra5c9e1dc35094e7d" /><Relationship Type="http://schemas.openxmlformats.org/officeDocument/2006/relationships/image" Target="/ppt/media/image26.png" Id="Rcfecc0ec6c1b4fbb" /><Relationship Type="http://schemas.openxmlformats.org/officeDocument/2006/relationships/image" Target="/ppt/media/image27.png" Id="Rf92a66f1e57145d2" /><Relationship Type="http://schemas.openxmlformats.org/officeDocument/2006/relationships/image" Target="/ppt/media/image28.png" Id="Rb829d56619ec4224" /><Relationship Type="http://schemas.openxmlformats.org/officeDocument/2006/relationships/image" Target="/ppt/media/image29.png" Id="R5c6b1a6a46ca4cd1" /><Relationship Type="http://schemas.openxmlformats.org/officeDocument/2006/relationships/notesSlide" Target="/ppt/notesSlides/notesSlide3.xml" Id="R87dc74d0a7714c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ccd3393bd42cf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E83E2-0B0E-4C33-BC94-6F75DA02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4d2cf0ea941d3"/>
          <a:stretch xmlns:a="http://schemas.openxmlformats.org/drawingml/2006/main"/>
        </p:blipFill>
        <p:spPr>
          <a:xfrm xmlns:a="http://schemas.openxmlformats.org/drawingml/2006/main">
            <a:off x="476250" y="281521"/>
            <a:ext cx="685800" cy="57995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E6C72-0C41-4681-BBC3-437297D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defRPr>
            </a:pPr>
            <a:r>
              <a: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rPr>
              <a:t>行业现状与未来蓝图对比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9A6D7-C659-49B2-A80A-128AB53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— 01  三厂现状与智能协同蓝图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64E3F-B0F0-4D91-8FA9-BF15905F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57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DE1F7-D655-4069-9DD9-137F4C93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现状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6B915-02D1-4205-9DB9-3ECE8022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21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未来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AD6DC-398A-4CB6-AE4A-FDF02241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52575"/>
            <a:ext cx="5372100" cy="4772025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15191F">
              <a:alpha val="94000"/>
            </a:srgbClr>
          </a:solidFill>
          <a:ln xmlns:a="http://schemas.openxmlformats.org/drawingml/2006/main" w="9525">
            <a:solidFill>
              <a:srgbClr val="4148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B007C-5BA8-4E9C-A0B6-C77059EA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334000" cy="4772025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0B1D31">
              <a:alpha val="96000"/>
            </a:srgbClr>
          </a:solidFill>
          <a:ln xmlns:a="http://schemas.openxmlformats.org/drawingml/2006/main" w="14288">
            <a:solidFill>
              <a:srgbClr val="176EAA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ae3c1e9824917"/>
          <a:srcRect xmlns:a="http://schemas.openxmlformats.org/drawingml/2006/main" l="0" t="25000" r="0" b="2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" y="1571625"/>
            <a:ext cx="5334000" cy="1000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4C4FF-C82E-4A65-8100-21F17DA0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533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02EF5-3423-471D-8DC9-94CDEAB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人工计划、线下协同、分散报表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BA82A-499F-4192-A332-710828A1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订单、库存、采购、成本与经营指标未形成闭环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7B61-1B4B-43AA-A625-1A02036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49720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930">
              <a:alpha val="96000"/>
            </a:srgbClr>
          </a:solidFill>
          <a:ln xmlns:a="http://schemas.openxmlformats.org/drawingml/2006/main" w="9525">
            <a:solidFill>
              <a:srgbClr val="4C5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139E4-E047-4E7A-B6AF-1AA5613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6702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融氏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0037C-A589-4F65-B9EF-6B629932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479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4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3DB63-99AB-442D-8385-935F5E5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19400"/>
            <a:ext cx="365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销售6人  审批3至5天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BB398-1C13-4BBF-8397-B495CB8E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14675"/>
            <a:ext cx="365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采购2人  原料价格影响约70%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8E76D-251E-4604-9A13-D3C2EE4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49720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930">
              <a:alpha val="96000"/>
            </a:srgbClr>
          </a:solidFill>
          <a:ln xmlns:a="http://schemas.openxmlformats.org/drawingml/2006/main" w="9525">
            <a:solidFill>
              <a:srgbClr val="4C5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AD44D-A862-4B1A-B392-A01DF2F1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6237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成都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47063-36F6-4CF7-AB95-EEDCC265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433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4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DE4B9-46AE-42E2-8790-425F02C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14750"/>
            <a:ext cx="365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业务量增至3倍  审批最长17天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1B96B-5AA8-4B06-A67D-101BFB0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0025"/>
            <a:ext cx="365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采购3人  原料库实用800至1000吨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3210F-1DC3-40BC-ADB6-B27E239A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49720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930">
              <a:alpha val="96000"/>
            </a:srgbClr>
          </a:solidFill>
          <a:ln xmlns:a="http://schemas.openxmlformats.org/drawingml/2006/main" w="9525">
            <a:solidFill>
              <a:srgbClr val="4C53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DB0FA-CCFA-4DF4-800B-6CF4E4C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5772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武汉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FBDFC-9A56-48F3-A6F3-CCA4A75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386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4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24380-7B9A-4E0D-8352-F7F41A3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0100"/>
            <a:ext cx="365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销售约8人  船运提前15至20天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68FB4-3B24-4A6A-9A81-71550442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05375"/>
            <a:ext cx="365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采购3人  财务6人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0E02D-BDAA-44DF-83FD-8E3FCEB5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4972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321D1A">
              <a:alpha val="88000"/>
            </a:srgbClr>
          </a:solidFill>
          <a:ln xmlns:a="http://schemas.openxmlformats.org/drawingml/2006/main" w="9525">
            <a:solidFill>
              <a:srgbClr val="7F3B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BB766-6404-4A43-9688-BB75A3F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A5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06A57"/>
                </a:solidFill>
                <a:latin typeface="Hiragino Sans GB"/>
                <a:ea typeface="Hiragino Sans GB"/>
                <a:cs typeface="Hiragino Sans GB"/>
              </a:rPr>
              <a:t>共性痛点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1F815D-3B85-4934-87D3-3591F2D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6578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人工录入  链路断点  经验决策  异常滞后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A4981-29AD-4F3F-8D58-10B11C7E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57350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算法模型驱动的五模块协同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f899e7851420d"/>
          <a:srcRect xmlns:a="http://schemas.openxmlformats.org/drawingml/2006/main" l="0" t="644" r="0" b="6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2057400"/>
            <a:ext cx="2571750" cy="1428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74A37-2422-4437-A6F3-D29E4D8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2571750" cy="142875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A8C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C28CF7-F68B-4D3F-91F7-A8EEF04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19450"/>
            <a:ext cx="2095500" cy="295275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122F48">
              <a:alpha val="96000"/>
            </a:srgbClr>
          </a:solidFill>
          <a:ln xmlns:a="http://schemas.openxmlformats.org/drawingml/2006/main" w="9525">
            <a:solidFill>
              <a:srgbClr val="2A8C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303371-A121-496D-90D2-AB5C2D8C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2480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模型建议 · 人工确认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8F29F6-72DA-4373-B5D8-E84D9B57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43125"/>
            <a:ext cx="1257300" cy="914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83B">
              <a:alpha val="98000"/>
            </a:srgbClr>
          </a:solidFill>
          <a:ln xmlns:a="http://schemas.openxmlformats.org/drawingml/2006/main" w="11430">
            <a:solidFill>
              <a:srgbClr val="2388BC"/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d391872fc4d87"/>
          <a:stretch xmlns:a="http://schemas.openxmlformats.org/drawingml/2006/main"/>
        </p:blipFill>
        <p:spPr>
          <a:xfrm xmlns:a="http://schemas.openxmlformats.org/drawingml/2006/main">
            <a:off x="6648450" y="2276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0C8B05-FED1-447E-9EAC-8BA1287F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383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库存优化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6228E3-0D22-444A-A56E-39E280A5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5747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动态库存模型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6D7B11-D153-4677-9D42-006DC67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143125"/>
            <a:ext cx="1257300" cy="914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83B">
              <a:alpha val="98000"/>
            </a:srgbClr>
          </a:solidFill>
          <a:ln xmlns:a="http://schemas.openxmlformats.org/drawingml/2006/main" w="11430">
            <a:solidFill>
              <a:srgbClr val="2388BC"/>
            </a:solidFill>
            <a:prstDash val="solid"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9f3e22f194f46"/>
          <a:stretch xmlns:a="http://schemas.openxmlformats.org/drawingml/2006/main"/>
        </p:blipFill>
        <p:spPr>
          <a:xfrm xmlns:a="http://schemas.openxmlformats.org/drawingml/2006/main">
            <a:off x="10458450" y="2276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13E4C5-A0EA-4139-ACE2-27F81D41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2383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采购优化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081530-CEE3-46F3-B33D-BBFB1B1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5747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多目标采购模型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534FEC-9A3F-498B-8CCF-B589CAE2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67125"/>
            <a:ext cx="1257300" cy="914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83B">
              <a:alpha val="98000"/>
            </a:srgbClr>
          </a:solidFill>
          <a:ln xmlns:a="http://schemas.openxmlformats.org/drawingml/2006/main" w="11430">
            <a:solidFill>
              <a:srgbClr val="2388BC"/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05d3d644b410a"/>
          <a:stretch xmlns:a="http://schemas.openxmlformats.org/drawingml/2006/main"/>
        </p:blipFill>
        <p:spPr>
          <a:xfrm xmlns:a="http://schemas.openxmlformats.org/drawingml/2006/main">
            <a:off x="6648450" y="3800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CB6049-067F-42D0-AB17-917E220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623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要货计划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523EC0-6318-4674-8605-D86D29F7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18147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日度滚动优化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334C76-5945-41B4-B16E-7002E41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667125"/>
            <a:ext cx="1257300" cy="914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83B">
              <a:alpha val="98000"/>
            </a:srgbClr>
          </a:solidFill>
          <a:ln xmlns:a="http://schemas.openxmlformats.org/drawingml/2006/main" w="11430">
            <a:solidFill>
              <a:srgbClr val="2388BC"/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6ed5fc9ec4412"/>
          <a:stretch xmlns:a="http://schemas.openxmlformats.org/drawingml/2006/main"/>
        </p:blipFill>
        <p:spPr>
          <a:xfrm xmlns:a="http://schemas.openxmlformats.org/drawingml/2006/main">
            <a:off x="10458450" y="3800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3E8752-BAA1-4EB9-951A-7E44351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7623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3B62D5-11F8-44EC-A53F-EC53CED7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18147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月度规则引擎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9E08C3-BE36-4CAC-ABA4-7462E12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38650"/>
            <a:ext cx="1257300" cy="914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83B">
              <a:alpha val="98000"/>
            </a:srgbClr>
          </a:solidFill>
          <a:ln xmlns:a="http://schemas.openxmlformats.org/drawingml/2006/main" w="11430">
            <a:solidFill>
              <a:srgbClr val="2388BC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053a503be4edd"/>
          <a:stretch xmlns:a="http://schemas.openxmlformats.org/drawingml/2006/main"/>
        </p:blipFill>
        <p:spPr>
          <a:xfrm xmlns:a="http://schemas.openxmlformats.org/drawingml/2006/main">
            <a:off x="8553450" y="45720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02FB16-6F69-4862-A715-544C3C5E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339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3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895760-B570-4BB6-803A-D4FFE8A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953000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全指标与预警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49C9A4-22B0-4BD2-96CE-896EEC18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90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79011F-D08A-4F80-9DA7-8D5D4F9D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25336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741A8E-7016-452C-89C0-839F9D4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590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C5ECEF-BE2E-4638-BC29-77FBA69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20325" y="25336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C8B4EC-A503-4032-954C-F9DB31B5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861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370156-4471-4109-BB7E-56A2ADA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153275" y="35242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276F8E-2990-4A02-98E4-3CB29FC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0861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111959-4913-453D-A6F6-57BC43AF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44225" y="35242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EC5307-D845-49FB-BD49-1FF36026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E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4EB028-B232-4E69-BE16-BAE301F1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29700" y="42767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CE5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4A68DB-779B-4F5D-9B6E-8063EDE5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534025"/>
            <a:ext cx="48291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B351D">
              <a:alpha val="91000"/>
            </a:srgbClr>
          </a:solidFill>
          <a:ln xmlns:a="http://schemas.openxmlformats.org/drawingml/2006/main" w="9525">
            <a:solidFill>
              <a:srgbClr val="98822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B399F2-4755-494D-B858-CC475104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29275"/>
            <a:ext cx="88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核心优势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132303-07F0-4830-8F6E-0B79060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6197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自动协同   批次追溯   全局可视   预警闭环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CF8A3E-6C78-44BD-B55E-D266348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959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53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SCOS使用已发布需求数据，不包含需求预测</a:t>
            </a:r>
          </a:p>
        </p:txBody>
      </p:sp>
    </p:spTree>
    <p:extLst>
      <p:ext uri="{BB962C8B-B14F-4D97-AF65-F5344CB8AC3E}">
        <p14:creationId xmlns:p14="http://schemas.microsoft.com/office/powerpoint/2010/main" val="1892257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0a5af3b7649f0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6BF85-E3CB-4FFB-AEE3-A006CF0D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c6ff1882545b4"/>
          <a:stretch xmlns:a="http://schemas.openxmlformats.org/drawingml/2006/main"/>
        </p:blipFill>
        <p:spPr>
          <a:xfrm xmlns:a="http://schemas.openxmlformats.org/drawingml/2006/main">
            <a:off x="476250" y="281521"/>
            <a:ext cx="685800" cy="57995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53869-B34A-4DAA-84EF-604217C1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defRPr>
            </a:pPr>
            <a:r>
              <a: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rPr>
              <a:t>行业现状与未来蓝图对比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EB529-639A-4F58-B42D-4A2F7D63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— 02  五模块协同建设方案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E397D-E030-4B8E-AD6F-71BCEC6F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57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94739-5B2B-4DCB-B7E6-CD55F2F0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3825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A25">
              <a:alpha val="97000"/>
            </a:srgbClr>
          </a:solidFill>
          <a:ln xmlns:a="http://schemas.openxmlformats.org/drawingml/2006/main" w="11430">
            <a:solidFill>
              <a:srgbClr val="1F73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72FF3-2B97-4299-A924-D7973F5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239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ef6a9d5a74f7f"/>
          <a:stretch xmlns:a="http://schemas.openxmlformats.org/drawingml/2006/main"/>
        </p:blipFill>
        <p:spPr>
          <a:xfrm xmlns:a="http://schemas.openxmlformats.org/drawingml/2006/main">
            <a:off x="2171700" y="1333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BC537-D4A9-4A6C-B6C0-EDDF55E8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1A6B3-3445-4601-83E1-51D98C4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动态库存优化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266FC-9129-4CAF-A429-0DF92DA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月策略与4周补货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F81FE-99CA-451B-B1EF-BFC7296A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23825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A25">
              <a:alpha val="97000"/>
            </a:srgbClr>
          </a:solidFill>
          <a:ln xmlns:a="http://schemas.openxmlformats.org/drawingml/2006/main" w="11430">
            <a:solidFill>
              <a:srgbClr val="1F73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46834-EAFA-4644-B998-FDE553DA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3239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e80f34a2848ef"/>
          <a:stretch xmlns:a="http://schemas.openxmlformats.org/drawingml/2006/main"/>
        </p:blipFill>
        <p:spPr>
          <a:xfrm xmlns:a="http://schemas.openxmlformats.org/drawingml/2006/main">
            <a:off x="4381500" y="1333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C9BD4-70B4-4FAE-B9C3-D7283A48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23CCB-13F0-4948-A219-E933A82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采购多目标优化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1DB80-A898-4A4B-8964-85231A17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供方、数量与到货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0063F-ADEC-42F1-B444-3D13B06E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23825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A25">
              <a:alpha val="97000"/>
            </a:srgbClr>
          </a:solidFill>
          <a:ln xmlns:a="http://schemas.openxmlformats.org/drawingml/2006/main" w="11430">
            <a:solidFill>
              <a:srgbClr val="1F73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9D7E4-E1A6-495A-9500-FA14536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239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46ec1233f4d4b"/>
          <a:stretch xmlns:a="http://schemas.openxmlformats.org/drawingml/2006/main"/>
        </p:blipFill>
        <p:spPr>
          <a:xfrm xmlns:a="http://schemas.openxmlformats.org/drawingml/2006/main">
            <a:off x="6591300" y="1333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885CB-C5F0-427F-9F00-0F5054C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D4D04-8959-4F9E-A3AE-D7A64AB4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859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要货滚动优化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C704F-672C-4F7A-824B-37141E9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日度计划与缺口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05D12-A048-4B1C-B4EA-1DE1A8E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23825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A25">
              <a:alpha val="97000"/>
            </a:srgbClr>
          </a:solidFill>
          <a:ln xmlns:a="http://schemas.openxmlformats.org/drawingml/2006/main" w="11430">
            <a:solidFill>
              <a:srgbClr val="1F739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0A011-6746-4DC6-88C8-61E9FCDD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3239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0986317484b3c"/>
          <a:stretch xmlns:a="http://schemas.openxmlformats.org/drawingml/2006/main"/>
        </p:blipFill>
        <p:spPr>
          <a:xfrm xmlns:a="http://schemas.openxmlformats.org/drawingml/2006/main">
            <a:off x="8801100" y="1333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7B947-2539-48F1-9427-4AB945D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2D8555-5CA1-482E-B75C-DF72BC4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成本分摊规则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0B238-EC37-4DFE-A2B0-AF783EDC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574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月度分摊与批次溯源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4B2F-3875-4E5E-BAAD-EC2A12D7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238250"/>
            <a:ext cx="20764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A25">
              <a:alpha val="97000"/>
            </a:srgbClr>
          </a:solidFill>
          <a:ln xmlns:a="http://schemas.openxmlformats.org/drawingml/2006/main" w="11430">
            <a:solidFill>
              <a:srgbClr val="1F73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40ADA-8ADA-4F12-9AAE-FAECAA3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3239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3f855d87146f8"/>
          <a:stretch xmlns:a="http://schemas.openxmlformats.org/drawingml/2006/main"/>
        </p:blipFill>
        <p:spPr>
          <a:xfrm xmlns:a="http://schemas.openxmlformats.org/drawingml/2006/main">
            <a:off x="11010900" y="1333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99F2FB-A1F8-4AFD-9855-0366B07B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FFD14-3457-449D-A98F-A04A5DCB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6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异常检测与预警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91700-9B43-49FB-ADC5-8DB6D413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8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全指标汇聚与闭环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78A961-EA90-405B-A4AF-CF705AD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81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数据与决策闭环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92903-7E0A-4014-99DC-510C8D5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860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E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0F4B98-2F75-4942-B5F2-FF2D9E5F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29146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0B2A3C">
              <a:alpha val="95000"/>
            </a:srgbClr>
          </a:solidFill>
          <a:ln xmlns:a="http://schemas.openxmlformats.org/drawingml/2006/main" w="11430">
            <a:solidFill>
              <a:srgbClr val="46B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BD570-E02F-45EC-A24F-198D247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337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数据汇聚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0a280fe424bd3"/>
          <a:srcRect xmlns:a="http://schemas.openxmlformats.org/drawingml/2006/main" l="0" t="3547" r="0" b="3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3419475"/>
            <a:ext cx="2914650" cy="15240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7C4885-A7E9-4DC1-8FD0-71DB361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2914650" cy="1524000"/>
          </a:xfrm>
          <a:prstGeom xmlns:a="http://schemas.openxmlformats.org/drawingml/2006/main" prst="roundRect">
            <a:avLst>
              <a:gd name="adj" fmla="val 562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6BD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C51DCC-5D63-4993-95C0-579D2BD4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0150"/>
            <a:ext cx="2724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SAP / WMS / MES</a:t>
            </a:r>
          </a:p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CRM / SRM / TMS</a:t>
            </a:r>
          </a:p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QMS / LIMS / 实时数据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FC25FC-E016-4CE4-80CF-A388D1B1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76550"/>
            <a:ext cx="29146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0B2A3C">
              <a:alpha val="95000"/>
            </a:srgbClr>
          </a:solidFill>
          <a:ln xmlns:a="http://schemas.openxmlformats.org/drawingml/2006/main" w="11430">
            <a:solidFill>
              <a:srgbClr val="F6CE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AC6EC1-4737-4EA7-8870-19E6B04C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337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算法模型与规则引擎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b057ced8044cc"/>
          <a:srcRect xmlns:a="http://schemas.openxmlformats.org/drawingml/2006/main" l="0" t="3547" r="0" b="3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8675" y="3419475"/>
            <a:ext cx="2914650" cy="15240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CEF1A1-5A53-40BD-8A98-813B32A6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19475"/>
            <a:ext cx="2914650" cy="1524000"/>
          </a:xfrm>
          <a:prstGeom xmlns:a="http://schemas.openxmlformats.org/drawingml/2006/main" prst="roundRect">
            <a:avLst>
              <a:gd name="adj" fmla="val 562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F6CE5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326CA4-A2DA-40F1-9E52-B9BEC1E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10150"/>
            <a:ext cx="2724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库存、采购、要货模型</a:t>
            </a:r>
          </a:p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成本分摊与预警规则</a:t>
            </a:r>
          </a:p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版本、参数、调整可追溯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FF09A1-CC93-49DA-8F3C-49F41AF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76550"/>
            <a:ext cx="29146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0B2A3C">
              <a:alpha val="95000"/>
            </a:srgbClr>
          </a:solidFill>
          <a:ln xmlns:a="http://schemas.openxmlformats.org/drawingml/2006/main" w="11430">
            <a:solidFill>
              <a:srgbClr val="46BD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AB00ED-B7E4-482F-8A3D-7282928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337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40bea6f414c01"/>
          <a:srcRect xmlns:a="http://schemas.openxmlformats.org/drawingml/2006/main" l="0" t="3547" r="0" b="3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8225" y="3419475"/>
            <a:ext cx="2914650" cy="15240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A27A12-F863-4209-8D18-401705FA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19475"/>
            <a:ext cx="2914650" cy="1524000"/>
          </a:xfrm>
          <a:prstGeom xmlns:a="http://schemas.openxmlformats.org/drawingml/2006/main" prst="roundRect">
            <a:avLst>
              <a:gd name="adj" fmla="val 562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46BD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006F81-25A0-46F4-9AAB-2D31378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010150"/>
            <a:ext cx="2724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汇聚全部模块指标</a:t>
            </a:r>
          </a:p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异常钻取、责任派发</a:t>
            </a:r>
          </a:p>
          <a:p xmlns:a="http://schemas.openxmlformats.org/drawingml/2006/main">
            <a:pPr algn="ctr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处置验证与闭环跟踪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F69F1D-5A51-4604-8A2E-1CF558B9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086FC6-DCCE-442B-879C-79B35601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10075" y="40386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BDF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14CA5B-1BC0-4C16-BC23-4BAB36A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90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业务数据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CE546C-5BB8-4680-AE4D-DE7A81B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9575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E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45B6A5-C365-4B55-BE5E-D70BCCE8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29625" y="40386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CE5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9FA6C8-2A32-48E1-8EB5-27FCCE32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结果与指标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BD0D21-FEAC-422B-B869-E63721F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8212C">
              <a:alpha val="95000"/>
            </a:srgbClr>
          </a:solidFill>
          <a:ln xmlns:a="http://schemas.openxmlformats.org/drawingml/2006/main" w="9525">
            <a:solidFill>
              <a:srgbClr val="385A7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B14FD6-18FB-4AF5-B935-FE9D375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86450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执行反馈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FE4B5A-C487-4409-B60E-94BB6B1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67400"/>
            <a:ext cx="9801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订单、到货、库存、质检与产出状态回传，驱动库存、采购和要货下一轮滚动计算</a:t>
            </a:r>
          </a:p>
        </p:txBody>
      </p:sp>
    </p:spTree>
    <p:extLst>
      <p:ext uri="{BB962C8B-B14F-4D97-AF65-F5344CB8AC3E}">
        <p14:creationId xmlns:p14="http://schemas.microsoft.com/office/powerpoint/2010/main" val="1900370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a969d6a714be4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94209-19B3-4BC2-B6AD-B8045FD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11933bff84a6c"/>
          <a:stretch xmlns:a="http://schemas.openxmlformats.org/drawingml/2006/main"/>
        </p:blipFill>
        <p:spPr>
          <a:xfrm xmlns:a="http://schemas.openxmlformats.org/drawingml/2006/main">
            <a:off x="476250" y="281521"/>
            <a:ext cx="685800" cy="57995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09C24-01D1-4D29-A880-3DB3CC2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defRPr>
            </a:pPr>
            <a:r>
              <a:rPr sz="2550" b="0">
                <a:solidFill>
                  <a:srgbClr val="FFFF00"/>
                </a:solidFill>
                <a:latin typeface="Songti SC"/>
                <a:ea typeface="Songti SC"/>
                <a:cs typeface="Songti SC"/>
              </a:rPr>
              <a:t>行业现状与未来蓝图对比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205C2-F6A6-45D2-9516-CD62B2EC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F5F7FA"/>
                </a:solidFill>
                <a:latin typeface="Songti SC"/>
                <a:ea typeface="Songti SC"/>
                <a:cs typeface="Songti SC"/>
              </a:rPr>
              <a:t>— 03  减人、提效、降本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AD43B-F2F1-4A3D-A910-56E25172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572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072BA-4358-491F-AC1D-7D77F229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171575"/>
            <a:ext cx="254317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03717">
              <a:alpha val="92000"/>
            </a:srgbClr>
          </a:solidFill>
          <a:ln xmlns:a="http://schemas.openxmlformats.org/drawingml/2006/main" w="9525">
            <a:solidFill>
              <a:srgbClr val="A187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20BF8-8CE0-4D6E-A299-7AD20570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906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初步预期区间 · 待基线校准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68F6C-A077-4204-8201-0890D3A7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00200"/>
            <a:ext cx="3467100" cy="3438525"/>
          </a:xfrm>
          <a:prstGeom xmlns:a="http://schemas.openxmlformats.org/drawingml/2006/main" prst="roundRect">
            <a:avLst>
              <a:gd name="adj" fmla="val 3324"/>
            </a:avLst>
          </a:prstGeom>
          <a:solidFill xmlns:a="http://schemas.openxmlformats.org/drawingml/2006/main">
            <a:srgbClr val="151B24">
              <a:alpha val="97000"/>
            </a:srgbClr>
          </a:solidFill>
          <a:ln xmlns:a="http://schemas.openxmlformats.org/drawingml/2006/main" w="14288">
            <a:solidFill>
              <a:srgbClr val="46B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B39A3-F0F6-4FB9-86AD-8EBCFF5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3727D-83B2-4F0B-8FCE-39721E38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减少人工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1936832e143b0"/>
          <a:stretch xmlns:a="http://schemas.openxmlformats.org/drawingml/2006/main"/>
        </p:blipFill>
        <p:spPr>
          <a:xfrm xmlns:a="http://schemas.openxmlformats.org/drawingml/2006/main">
            <a:off x="3200400" y="17145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D4296-8660-4432-9922-CF53011B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860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系统替代重复录入和数据整理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C01BF-91E6-4D0F-82C8-53FD4A30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76550"/>
            <a:ext cx="3086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10283A">
              <a:alpha val="95000"/>
            </a:srgbClr>
          </a:solidFill>
          <a:ln xmlns:a="http://schemas.openxmlformats.org/drawingml/2006/main" w="9525">
            <a:solidFill>
              <a:srgbClr val="315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67DF7-13E9-4ABA-8E2F-E8DC311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手工录入及整理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24B4D-CEBB-4AD8-8D43-44C0D48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减少40%至60%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245B3-ACCD-4986-913D-37D14091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43325"/>
            <a:ext cx="3086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10283A">
              <a:alpha val="95000"/>
            </a:srgbClr>
          </a:solidFill>
          <a:ln xmlns:a="http://schemas.openxmlformats.org/drawingml/2006/main" w="9525">
            <a:solidFill>
              <a:srgbClr val="315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4ACE8-B168-4D79-9AC1-57965A5D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重复报表制作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43D9B-3136-4FC3-8845-782AA3A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67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6BDF2"/>
                </a:solidFill>
                <a:latin typeface="Hiragino Sans GB"/>
                <a:ea typeface="Hiragino Sans GB"/>
                <a:cs typeface="Hiragino Sans GB"/>
              </a:rPr>
              <a:t>减少50%至70%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0B170-B5DA-4362-9708-89433691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48200"/>
            <a:ext cx="3086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6ECAC-12A0-4F02-AF5F-B67F2877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990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采购催单跟踪工时减少30%至50%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8BF40-60EF-4613-A2BF-FD88AFF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3467100" cy="3438525"/>
          </a:xfrm>
          <a:prstGeom xmlns:a="http://schemas.openxmlformats.org/drawingml/2006/main" prst="roundRect">
            <a:avLst>
              <a:gd name="adj" fmla="val 3324"/>
            </a:avLst>
          </a:prstGeom>
          <a:solidFill xmlns:a="http://schemas.openxmlformats.org/drawingml/2006/main">
            <a:srgbClr val="151B24">
              <a:alpha val="97000"/>
            </a:srgbClr>
          </a:solidFill>
          <a:ln xmlns:a="http://schemas.openxmlformats.org/drawingml/2006/main" w="14288">
            <a:solidFill>
              <a:srgbClr val="F6CE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F1F31-42D8-4315-9983-B46A277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05E42-DA33-4455-BE8B-0D4F3B8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14500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提升效率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62b42a69848c7"/>
          <a:stretch xmlns:a="http://schemas.openxmlformats.org/drawingml/2006/main"/>
        </p:blipFill>
        <p:spPr>
          <a:xfrm xmlns:a="http://schemas.openxmlformats.org/drawingml/2006/main">
            <a:off x="6981825" y="17145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BCA77-BED9-4B73-AC31-D7B90A2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滚动计算缩短计划和异常链路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C3E40-3A6B-4AD0-A0D6-2B3079D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86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10283A">
              <a:alpha val="95000"/>
            </a:srgbClr>
          </a:solidFill>
          <a:ln xmlns:a="http://schemas.openxmlformats.org/drawingml/2006/main" w="9525">
            <a:solidFill>
              <a:srgbClr val="315D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707F74-D270-4542-9EE0-4A1B2EF4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计划编制调整周期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E7507-AAA0-4487-84DC-F74B2EC6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缩短50%至70%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998B0-3668-4E79-BA08-0AA49A07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43325"/>
            <a:ext cx="3086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10283A">
              <a:alpha val="95000"/>
            </a:srgbClr>
          </a:solidFill>
          <a:ln xmlns:a="http://schemas.openxmlformats.org/drawingml/2006/main" w="9525">
            <a:solidFill>
              <a:srgbClr val="315D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ED24F6-D863-4E8F-9E31-798224A5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952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异常响应时间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9252C7-0294-4E74-BEF5-BCBF4392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缩短60%至80%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EB916-8F64-4837-8056-B59162D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3086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C3B2D7-754C-448C-AD33-5C465A7F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67250"/>
            <a:ext cx="2990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成本异常定位时间缩短70%至90%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D888E1-309C-49C6-9CC3-8216AB3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00200"/>
            <a:ext cx="3467100" cy="3438525"/>
          </a:xfrm>
          <a:prstGeom xmlns:a="http://schemas.openxmlformats.org/drawingml/2006/main" prst="roundRect">
            <a:avLst>
              <a:gd name="adj" fmla="val 3324"/>
            </a:avLst>
          </a:prstGeom>
          <a:solidFill xmlns:a="http://schemas.openxmlformats.org/drawingml/2006/main">
            <a:srgbClr val="151B24">
              <a:alpha val="97000"/>
            </a:srgbClr>
          </a:solidFill>
          <a:ln xmlns:a="http://schemas.openxmlformats.org/drawingml/2006/main" w="14288">
            <a:solidFill>
              <a:srgbClr val="61D2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10DE8A-1674-4F13-BDB0-462F7CE7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57E785-7794-4DAA-BE8D-A400459D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14500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降低成本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a5d7ad03b43ba"/>
          <a:stretch xmlns:a="http://schemas.openxmlformats.org/drawingml/2006/main"/>
        </p:blipFill>
        <p:spPr>
          <a:xfrm xmlns:a="http://schemas.openxmlformats.org/drawingml/2006/main">
            <a:off x="10763250" y="17145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152E4D-5B30-428A-A23D-18479292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优化库存结构、采购组合和到货节奏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E1D04E-8E87-4F1D-81C8-236EDDBA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3086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10283A">
              <a:alpha val="95000"/>
            </a:srgbClr>
          </a:solidFill>
          <a:ln xmlns:a="http://schemas.openxmlformats.org/drawingml/2006/main" w="9525">
            <a:solidFill>
              <a:srgbClr val="315D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54CEF1-2819-4122-99BF-987E23C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527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库存资金占用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9AA4AA-9CD6-45B7-A82A-6AB3606E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0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降低3%至8%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D1E02E-3858-4D08-8F2F-4D36B41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3086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10283A">
              <a:alpha val="95000"/>
            </a:srgbClr>
          </a:solidFill>
          <a:ln xmlns:a="http://schemas.openxmlformats.org/drawingml/2006/main" w="9525">
            <a:solidFill>
              <a:srgbClr val="315D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D35C79-C444-4D9E-B4C0-2BA22A90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1952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呆滞库存金额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14ED98-E39B-4BCB-8E11-B0B074DD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67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61D28B"/>
                </a:solidFill>
                <a:latin typeface="Hiragino Sans GB"/>
                <a:ea typeface="Hiragino Sans GB"/>
                <a:cs typeface="Hiragino Sans GB"/>
              </a:rPr>
              <a:t>降低10%至20%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3C0704-FF5F-4F97-AEFE-C1722F9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086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531E9B-D909-4D9C-809E-123171E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2990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原料综合采购成本降低1%至3%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16DC05-BDBB-4585-9BCB-EF9AE686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五模块协同支撑价值落地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4E0925-1DBF-4367-ABB9-E39E595F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07645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02033">
              <a:alpha val="96000"/>
            </a:srgbClr>
          </a:solidFill>
          <a:ln xmlns:a="http://schemas.openxmlformats.org/drawingml/2006/main" w="9525">
            <a:solidFill>
              <a:srgbClr val="2D6B93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9e1dc35094e7d"/>
          <a:stretch xmlns:a="http://schemas.openxmlformats.org/drawingml/2006/main"/>
        </p:blipFill>
        <p:spPr>
          <a:xfrm xmlns:a="http://schemas.openxmlformats.org/drawingml/2006/main">
            <a:off x="685800" y="5695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B9F236-CD82-4974-9025-753E5E4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00700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库存优化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8780DD-F72A-4A7A-9570-19AE8DD9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38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库存与呆滞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7DCB6-2256-4F42-8394-00E5E3F0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43550"/>
            <a:ext cx="207645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02033">
              <a:alpha val="96000"/>
            </a:srgbClr>
          </a:solidFill>
          <a:ln xmlns:a="http://schemas.openxmlformats.org/drawingml/2006/main" w="9525">
            <a:solidFill>
              <a:srgbClr val="2D6B93"/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cc0ec6c1b4fbb"/>
          <a:stretch xmlns:a="http://schemas.openxmlformats.org/drawingml/2006/main"/>
        </p:blipFill>
        <p:spPr>
          <a:xfrm xmlns:a="http://schemas.openxmlformats.org/drawingml/2006/main">
            <a:off x="2895600" y="5695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853920-4F94-48BA-B20E-2F4A2E9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00700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采购优化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DCED53-F8CD-4A05-AB21-C6FD2FF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838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寻源与价格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41981A-E6F2-40BE-88E3-5C64C741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43550"/>
            <a:ext cx="207645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02033">
              <a:alpha val="96000"/>
            </a:srgbClr>
          </a:solidFill>
          <a:ln xmlns:a="http://schemas.openxmlformats.org/drawingml/2006/main" w="9525">
            <a:solidFill>
              <a:srgbClr val="2D6B93"/>
            </a:solidFill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a66f1e57145d2"/>
          <a:stretch xmlns:a="http://schemas.openxmlformats.org/drawingml/2006/main"/>
        </p:blipFill>
        <p:spPr>
          <a:xfrm xmlns:a="http://schemas.openxmlformats.org/drawingml/2006/main">
            <a:off x="5105400" y="5695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D6CC9C-F070-4754-852F-D79C6A79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00700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要货计划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39E2F3-8D26-4BA8-9168-79FC19B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38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沟通与等待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259B6E-B01F-4684-B9A6-1CCE4B14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43550"/>
            <a:ext cx="207645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02033">
              <a:alpha val="96000"/>
            </a:srgbClr>
          </a:solidFill>
          <a:ln xmlns:a="http://schemas.openxmlformats.org/drawingml/2006/main" w="9525">
            <a:solidFill>
              <a:srgbClr val="2D6B93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9d56619ec4224"/>
          <a:stretch xmlns:a="http://schemas.openxmlformats.org/drawingml/2006/main"/>
        </p:blipFill>
        <p:spPr>
          <a:xfrm xmlns:a="http://schemas.openxmlformats.org/drawingml/2006/main">
            <a:off x="7315200" y="5695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3B5709-45DF-4A17-9A20-36C31681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600700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成本分摊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2C75DE-42ED-4225-9388-9AC0F89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838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异常与追溯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ECAB60-151F-4139-86F7-BF58866A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43550"/>
            <a:ext cx="207645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02033">
              <a:alpha val="96000"/>
            </a:srgbClr>
          </a:solidFill>
          <a:ln xmlns:a="http://schemas.openxmlformats.org/drawingml/2006/main" w="9525">
            <a:solidFill>
              <a:srgbClr val="2D6B93"/>
            </a:solidFill>
            <a:prstDash val="solid"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b1a6a46ca4cd1"/>
          <a:stretch xmlns:a="http://schemas.openxmlformats.org/drawingml/2006/main"/>
        </p:blipFill>
        <p:spPr>
          <a:xfrm xmlns:a="http://schemas.openxmlformats.org/drawingml/2006/main">
            <a:off x="9525000" y="56959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5B1C55-7BC3-43F7-83BC-F37384CD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600700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65" b="1">
                <a:solidFill>
                  <a:srgbClr val="F5F7FA"/>
                </a:solidFill>
                <a:latin typeface="Hiragino Sans GB"/>
                <a:ea typeface="Hiragino Sans GB"/>
                <a:cs typeface="Hiragino Sans GB"/>
              </a:rPr>
              <a:t>经营驾驶舱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FC0BBE-1B44-4D11-81CE-5D349FEF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838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" b="1">
                <a:solidFill>
                  <a:srgbClr val="F6CE5C"/>
                </a:solidFill>
                <a:latin typeface="Hiragino Sans GB"/>
                <a:ea typeface="Hiragino Sans GB"/>
                <a:cs typeface="Hiragino Sans GB"/>
              </a:rPr>
              <a:t>指标与决策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EB6202-A39D-46DE-883A-04B05D0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20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AFBAC6"/>
                </a:solidFill>
                <a:latin typeface="Hiragino Sans GB"/>
                <a:ea typeface="Hiragino Sans GB"/>
                <a:cs typeface="Hiragino Sans GB"/>
              </a:rPr>
              <a:t>目标值为方案初步预期，不代表当前实绩或最终验收目标</a:t>
            </a:r>
          </a:p>
        </p:txBody>
      </p:sp>
    </p:spTree>
    <p:extLst>
      <p:ext uri="{BB962C8B-B14F-4D97-AF65-F5344CB8AC3E}">
        <p14:creationId xmlns:p14="http://schemas.microsoft.com/office/powerpoint/2010/main" val="1760205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2026-09-23T08:48:45.0310000Z</dcterms:created>
  <dcterms:modified xsi:type="dcterms:W3CDTF">2026-09-23T08:48:45.0310000Z</dcterms:modified>
</coreProperties>
</file>