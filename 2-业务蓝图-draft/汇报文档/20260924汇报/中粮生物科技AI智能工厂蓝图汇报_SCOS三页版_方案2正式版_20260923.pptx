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调研来源：</a:t>
            </a:r>
          </a:p>
          <a:p>
            <a:r>
              <a:t>/Users/zihaoguo/Desktop/中控/scos_proj/1-wiki-资料沉淀/调研报告/上海融氏调研报告在线版.xlsx，工作表“一、订单接收”“七、成品入库”“十六、经营辅助决策”“十七、原料采购”。</a:t>
            </a:r>
          </a:p>
          <a:p>
            <a:r>
              <a:t>/Users/zihaoguo/Desktop/中控/scos_proj/1-wiki-资料沉淀/调研报告/中粮成都调研报告在线版.xlsx，同名工作表。</a:t>
            </a:r>
          </a:p>
          <a:p>
            <a:r>
              <a:t>/Users/zihaoguo/Desktop/中控/scos_proj/1-wiki-资料沉淀/调研报告/中粮武汉调研报告在线版.xlsx，同名工作表。</a:t>
            </a:r>
          </a:p>
          <a:p>
            <a:r>
              <a:t>蓝图来源：/Users/zihaoguo/Desktop/中控/scos_proj/3-业务蓝图-终态/SCOS_中粮太仓项目研发模块蓝图方案v0.9.docx。三厂现状与太仓蓝图为不同工厂、不同阶段，不作为实施前后实绩对比。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来源：/Users/zihaoguo/Desktop/中控/scos_proj/3-业务蓝图-终态/SCOS_中粮太仓项目研发模块蓝图方案v0.9.docx，库存优化、采购优化、要货计划、驾驶舱、成本分摊关键业务流程及智能化场景。SCOS当前范围不包含需求预测。成本分摊按月运行，用于多维分析和批次异常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依据：/Users/zihaoguo/Desktop/中控/scos_proj/3-业务蓝图-终态/SCOS_中粮太仓项目研发模块蓝图方案v0.9.docx。页面目标值为用户授权的方案阶段估算区间，需根据三厂基线和试运行数据校准，不代表当前实绩或最终验收目标。紧急采购及滞留超期费用另建议降低10%至20%，因页面空间未作为主指标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5" name="图片 94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  <a:prstDash val="solid"/>
          </a:ln>
        </p:spPr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01  现状与</a:t>
            </a:r>
            <a:r>
              <a:rPr lang="zh-CN"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未来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蓝图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1200150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7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12001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SCOS未来蓝图</a:t>
            </a:r>
            <a:endParaRPr sz="17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71625"/>
            <a:ext cx="5197475" cy="1343025"/>
          </a:xfrm>
          <a:prstGeom prst="roundRect">
            <a:avLst>
              <a:gd name="adj" fmla="val 7092"/>
            </a:avLst>
          </a:prstGeom>
          <a:solidFill>
            <a:srgbClr val="151A21">
              <a:alpha val="96000"/>
            </a:srgbClr>
          </a:solidFill>
          <a:ln w="9525">
            <a:solidFill>
              <a:srgbClr val="3E465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71625"/>
            <a:ext cx="66675" cy="1343025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6859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165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38275" y="17049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人工录入与线下协同</a:t>
            </a:r>
            <a:r>
              <a:rPr lang="zh-CN"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</a:t>
            </a:r>
            <a:endParaRPr lang="zh-CN"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057400"/>
            <a:ext cx="47625" cy="47625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19812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订单：销售6人；审批3至5天；复杂订单</a:t>
            </a:r>
            <a:r>
              <a:rPr lang="zh-CN" sz="106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</a:t>
            </a:r>
            <a:r>
              <a:rPr sz="106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超过1小时</a:t>
            </a:r>
            <a:endParaRPr sz="106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2247900"/>
            <a:ext cx="47625" cy="47625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21812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库存：SAP与台账并行；安全库存和效期靠人工关注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2438400"/>
            <a:ext cx="47625" cy="47625"/>
          </a:xfrm>
          <a:prstGeom prst="rect">
            <a:avLst/>
          </a:prstGeom>
          <a:solidFill>
            <a:srgbClr val="00B0F0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23812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采购：2人；库存日报</a:t>
            </a:r>
            <a:r>
              <a:rPr lang="zh-CN"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</a:t>
            </a: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编制到货计划，微信通知供应商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2628900"/>
            <a:ext cx="47625" cy="47625"/>
          </a:xfrm>
          <a:prstGeom prst="rect">
            <a:avLst/>
          </a:prstGeom>
          <a:solidFill>
            <a:srgbClr val="7E899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25812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经营：共用费用按月分摊；报表加经验判断，无</a:t>
            </a:r>
            <a:r>
              <a:rPr lang="zh-CN"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lang="zh-CN"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lang="zh-CN"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71500" y="30194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151A21">
              <a:alpha val="96000"/>
            </a:srgbClr>
          </a:solidFill>
          <a:ln w="9525">
            <a:solidFill>
              <a:srgbClr val="3E465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3019425"/>
            <a:ext cx="66675" cy="1343025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1337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16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438275" y="3143250"/>
            <a:ext cx="4070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FF0000"/>
                </a:solidFill>
                <a:sym typeface="+mn-ea"/>
              </a:rPr>
              <a:t>系统部分联动但仍需人工补录</a:t>
            </a:r>
            <a:r>
              <a:rPr lang="zh-CN">
                <a:solidFill>
                  <a:srgbClr val="FF0000"/>
                </a:solidFill>
                <a:sym typeface="+mn-ea"/>
              </a:rPr>
              <a:t>和人工协同</a:t>
            </a:r>
            <a:endParaRPr lang="zh-CN"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3505200"/>
            <a:ext cx="47625" cy="47625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34290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订单：业务量增至3倍，</a:t>
            </a:r>
            <a:r>
              <a:rPr lang="zh-CN"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但</a:t>
            </a: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人员未增</a:t>
            </a:r>
            <a:r>
              <a:rPr lang="zh-CN"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，一人多岗</a:t>
            </a: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；</a:t>
            </a:r>
            <a:r>
              <a:rPr lang="zh-CN"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</a:t>
            </a: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审批最长17天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3695700"/>
            <a:ext cx="47625" cy="47625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5350" y="36290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库存：入库未自动化；批次、库位及多地点库存线下管理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3886200"/>
            <a:ext cx="47625" cy="47625"/>
          </a:xfrm>
          <a:prstGeom prst="rect">
            <a:avLst/>
          </a:prstGeom>
          <a:solidFill>
            <a:srgbClr val="7E8996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95350" y="38290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采购：3人；淀粉线下询价，供应商发货表人工跟踪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1050" y="4076700"/>
            <a:ext cx="47625" cy="47625"/>
          </a:xfrm>
          <a:prstGeom prst="rect">
            <a:avLst/>
          </a:prstGeom>
          <a:solidFill>
            <a:srgbClr val="7E899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350" y="40290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经营：成本按月归集；SAP导出Excel制作分析报表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571500" y="44672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151A21">
              <a:alpha val="96000"/>
            </a:srgbClr>
          </a:solidFill>
          <a:ln w="9525">
            <a:solidFill>
              <a:srgbClr val="3E465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4467225"/>
            <a:ext cx="66675" cy="1343025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2950" y="45815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165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38275" y="46005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系统部分联动但仍需人工补录</a:t>
            </a:r>
            <a:r>
              <a:rPr lang="zh-CN"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和人工</a:t>
            </a:r>
            <a:r>
              <a:rPr lang="zh-CN"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协同</a:t>
            </a:r>
            <a:endParaRPr lang="zh-CN"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81050" y="4953000"/>
            <a:ext cx="47625" cy="47625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95350" y="48768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订单：销售约8人；微信群接单，合同系统和SAP人工录入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81050" y="5143500"/>
            <a:ext cx="47625" cy="47625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95350" y="50768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库存：SAP手工入库；安全库存、效期和FIFO线下管理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81050" y="5334000"/>
            <a:ext cx="47625" cy="47625"/>
          </a:xfrm>
          <a:prstGeom prst="rect">
            <a:avLst/>
          </a:prstGeom>
          <a:solidFill>
            <a:srgbClr val="7E8996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95350" y="52768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采购：3人；船运提前15至20天，微信和Excel跟踪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81050" y="5524500"/>
            <a:ext cx="47625" cy="47625"/>
          </a:xfrm>
          <a:prstGeom prst="rect">
            <a:avLst/>
          </a:prstGeom>
          <a:solidFill>
            <a:srgbClr val="7E8996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95350" y="54768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经营：财务6人；SAP数据二次加工，无</a:t>
            </a:r>
            <a:r>
              <a:rPr lang="zh-CN"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lang="zh-CN" sz="10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lang="zh-CN"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571500" y="5953125"/>
            <a:ext cx="5197475" cy="457200"/>
          </a:xfrm>
          <a:prstGeom prst="roundRect">
            <a:avLst>
              <a:gd name="adj" fmla="val 16667"/>
            </a:avLst>
          </a:prstGeom>
          <a:solidFill>
            <a:srgbClr val="331D1A">
              <a:alpha val="86000"/>
            </a:srgbClr>
          </a:solidFill>
          <a:ln w="9525">
            <a:solidFill>
              <a:srgbClr val="813F34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33425" y="6029325"/>
            <a:ext cx="8858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共性问题</a:t>
            </a:r>
            <a:endParaRPr sz="1275" b="1">
              <a:solidFill>
                <a:srgbClr val="F06A5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55370" y="602107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   线下协同   链路断点   异常滞后   指标分散</a:t>
            </a:r>
            <a:endParaRPr sz="11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981825" y="15621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102236">
              <a:alpha val="97000"/>
            </a:srgbClr>
          </a:solidFill>
          <a:ln w="13335">
            <a:solidFill>
              <a:srgbClr val="1976B5"/>
            </a:solidFill>
            <a:prstDash val="solid"/>
          </a:ln>
        </p:spPr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1733550"/>
            <a:ext cx="361950" cy="361950"/>
          </a:xfrm>
          <a:prstGeom prst="rect">
            <a:avLst/>
          </a:prstGeom>
        </p:spPr>
      </p:pic>
      <p:sp>
        <p:nvSpPr>
          <p:cNvPr id="68" name="矩形 67"/>
          <p:cNvSpPr>
            <a:spLocks noGrp="1"/>
          </p:cNvSpPr>
          <p:nvPr/>
        </p:nvSpPr>
        <p:spPr>
          <a:xfrm>
            <a:off x="7553325" y="16573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610600" y="16383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553325" y="19335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策略、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4周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补货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、日度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监控</a:t>
            </a:r>
            <a:endParaRPr lang="zh-CN"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981825" y="24003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102236">
              <a:alpha val="97000"/>
            </a:srgbClr>
          </a:solidFill>
          <a:ln w="13335">
            <a:solidFill>
              <a:srgbClr val="1976B5"/>
            </a:solidFill>
            <a:prstDash val="solid"/>
          </a:ln>
        </p:spPr>
      </p:sp>
      <p:pic>
        <p:nvPicPr>
          <p:cNvPr id="166" name="图片 1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2571750"/>
            <a:ext cx="361950" cy="3619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7553325" y="24955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610600" y="24765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553325" y="27717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应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方、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数量、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采购订单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达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与到货建议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981825" y="32385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102236">
              <a:alpha val="97000"/>
            </a:srgbClr>
          </a:solidFill>
          <a:ln w="13335">
            <a:solidFill>
              <a:srgbClr val="1976B5"/>
            </a:solidFill>
            <a:prstDash val="solid"/>
          </a:ln>
        </p:spPr>
      </p:sp>
      <p:pic>
        <p:nvPicPr>
          <p:cNvPr id="171" name="图片 1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0" y="3409950"/>
            <a:ext cx="361950" cy="361950"/>
          </a:xfrm>
          <a:prstGeom prst="rect">
            <a:avLst/>
          </a:prstGeom>
        </p:spPr>
      </p:pic>
      <p:sp>
        <p:nvSpPr>
          <p:cNvPr id="78" name="矩形 77"/>
          <p:cNvSpPr>
            <a:spLocks noGrp="1"/>
          </p:cNvSpPr>
          <p:nvPr/>
        </p:nvSpPr>
        <p:spPr>
          <a:xfrm>
            <a:off x="7553325" y="33337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610600" y="33147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553325" y="36099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要货安排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要货计划推送物流、需求缺口与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endParaRPr lang="zh-CN"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981825" y="40767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102236">
              <a:alpha val="97000"/>
            </a:srgbClr>
          </a:solidFill>
          <a:ln w="13335">
            <a:solidFill>
              <a:srgbClr val="1976B5"/>
            </a:solidFill>
            <a:prstDash val="solid"/>
          </a:ln>
        </p:spPr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0" y="4248150"/>
            <a:ext cx="361950" cy="361950"/>
          </a:xfrm>
          <a:prstGeom prst="rect">
            <a:avLst/>
          </a:prstGeom>
        </p:spPr>
      </p:pic>
      <p:sp>
        <p:nvSpPr>
          <p:cNvPr id="83" name="矩形 82"/>
          <p:cNvSpPr>
            <a:spLocks noGrp="1"/>
          </p:cNvSpPr>
          <p:nvPr/>
        </p:nvSpPr>
        <p:spPr>
          <a:xfrm>
            <a:off x="7553325" y="41719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610600" y="41529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553325" y="44481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分摊、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多角色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多维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度成本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生产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批次溯源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981825" y="49149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102236">
              <a:alpha val="97000"/>
            </a:srgbClr>
          </a:solidFill>
          <a:ln w="13335">
            <a:solidFill>
              <a:srgbClr val="1976B5"/>
            </a:solidFill>
            <a:prstDash val="solid"/>
          </a:ln>
        </p:spPr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5086350"/>
            <a:ext cx="361950" cy="361950"/>
          </a:xfrm>
          <a:prstGeom prst="rect">
            <a:avLst/>
          </a:prstGeom>
        </p:spPr>
      </p:pic>
      <p:sp>
        <p:nvSpPr>
          <p:cNvPr id="88" name="矩形 87"/>
          <p:cNvSpPr>
            <a:spLocks noGrp="1"/>
          </p:cNvSpPr>
          <p:nvPr/>
        </p:nvSpPr>
        <p:spPr>
          <a:xfrm>
            <a:off x="7553325" y="50101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8610600" y="49911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553325" y="52863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展示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异常指标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钻取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</a:t>
            </a:r>
            <a:r>
              <a:rPr lang="zh-CN"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调整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闭环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6981825" y="5848350"/>
            <a:ext cx="4629150" cy="561975"/>
          </a:xfrm>
          <a:prstGeom prst="roundRect">
            <a:avLst>
              <a:gd name="adj" fmla="val 13559"/>
            </a:avLst>
          </a:prstGeom>
          <a:solidFill>
            <a:srgbClr val="3B351D">
              <a:alpha val="90000"/>
            </a:srgbClr>
          </a:solidFill>
          <a:ln w="9525">
            <a:solidFill>
              <a:srgbClr val="9A8131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7143750" y="602107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算法生成建议</a:t>
            </a:r>
            <a:endParaRPr sz="11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420100" y="6021070"/>
            <a:ext cx="3028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</a:t>
            </a:r>
            <a:r>
              <a:rPr lang="zh-CN"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</a:t>
            </a: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复核、调整、审批和发布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0" name="右箭头 109"/>
          <p:cNvSpPr/>
          <p:nvPr/>
        </p:nvSpPr>
        <p:spPr>
          <a:xfrm>
            <a:off x="6024245" y="3648075"/>
            <a:ext cx="723900" cy="436880"/>
          </a:xfrm>
          <a:prstGeom prst="rightArrow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2" name="图片 111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  <a:prstDash val="solid"/>
          </a:ln>
        </p:spPr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02  </a:t>
            </a:r>
            <a:r>
              <a:rPr lang="en-US"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SCOS</a:t>
            </a:r>
            <a:r>
              <a:rPr lang="zh-CN" altLang="en-US"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整体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建设方案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71500" y="1219200"/>
            <a:ext cx="11029950" cy="704850"/>
          </a:xfrm>
          <a:prstGeom prst="roundRect">
            <a:avLst>
              <a:gd name="adj" fmla="val 12162"/>
            </a:avLst>
          </a:prstGeom>
          <a:solidFill>
            <a:srgbClr val="0D2B44">
              <a:alpha val="98000"/>
            </a:srgbClr>
          </a:solidFill>
          <a:ln w="14288">
            <a:solidFill>
              <a:srgbClr val="2F93C9"/>
            </a:solidFill>
            <a:prstDash val="solid"/>
          </a:ln>
        </p:spPr>
      </p:sp>
      <p:pic>
        <p:nvPicPr>
          <p:cNvPr id="119" name="图片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381125"/>
            <a:ext cx="381000" cy="3810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19200" y="132397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1609725"/>
            <a:ext cx="143827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汇聚全部模块指标</a:t>
            </a:r>
            <a:endParaRPr sz="1050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956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162332">
              <a:alpha val="95000"/>
            </a:srgbClr>
          </a:solidFill>
          <a:ln w="9525">
            <a:solidFill>
              <a:srgbClr val="3F617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718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库存健康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718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周转与风险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910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162332">
              <a:alpha val="95000"/>
            </a:srgbClr>
          </a:solidFill>
          <a:ln w="9525">
            <a:solidFill>
              <a:srgbClr val="3F617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采购执行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成本与履约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865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162332">
              <a:alpha val="95000"/>
            </a:srgbClr>
          </a:solidFill>
          <a:ln w="9525">
            <a:solidFill>
              <a:srgbClr val="3F617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要货履约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到货与缺口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819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162332">
              <a:alpha val="95000"/>
            </a:srgbClr>
          </a:solidFill>
          <a:ln w="9525">
            <a:solidFill>
              <a:srgbClr val="3F617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581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成本分析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581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结构与异常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774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162332">
              <a:alpha val="95000"/>
            </a:srgbClr>
          </a:solidFill>
          <a:ln w="9525">
            <a:solidFill>
              <a:srgbClr val="3F617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536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经营绩效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536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产销与资金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715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151B24">
              <a:alpha val="98000"/>
            </a:srgbClr>
          </a:solidFill>
          <a:ln w="12383">
            <a:solidFill>
              <a:srgbClr val="2A9ED6"/>
            </a:solidFill>
            <a:prstDash val="solid"/>
          </a:ln>
        </p:spPr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228850"/>
            <a:ext cx="323850" cy="3238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0763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716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668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出货、订单、库存、生产入库、罐容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668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月</a:t>
            </a:r>
            <a:r>
              <a:rPr lang="zh-CN"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库存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策略、</a:t>
            </a:r>
            <a:r>
              <a:rPr lang="zh-CN"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未来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4周</a:t>
            </a:r>
            <a:r>
              <a:rPr lang="zh-CN"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日度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补货、日度校验</a:t>
            </a:r>
            <a:endParaRPr sz="1005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668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SS/s/S、补货量、风险日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27813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151B24">
              <a:alpha val="98000"/>
            </a:srgbClr>
          </a:solidFill>
          <a:ln w="12383">
            <a:solidFill>
              <a:srgbClr val="E3B84F"/>
            </a:solidFill>
            <a:prstDash val="solid"/>
          </a:ln>
        </p:spPr>
      </p:sp>
      <p:pic>
        <p:nvPicPr>
          <p:cNvPr id="151" name="图片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0" y="2132330"/>
            <a:ext cx="323850" cy="3238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32861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5814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146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9146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2766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物料需求、采购承诺、报价、供货能力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9146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9146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2766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供应商组合与综合成本优化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9146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9146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2766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采购量、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采购订单下达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及到货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建议</a:t>
            </a:r>
            <a:endParaRPr lang="zh-CN"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9911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151B24">
              <a:alpha val="98000"/>
            </a:srgbClr>
          </a:solidFill>
          <a:ln w="12383">
            <a:solidFill>
              <a:srgbClr val="4AC990"/>
            </a:solidFill>
            <a:prstDash val="solid"/>
          </a:ln>
        </p:spPr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300" y="2155190"/>
            <a:ext cx="397510" cy="39751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54959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7912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244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1244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4864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日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原料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需求、库存、合同、在途、收货条件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1244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1244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4864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供应商、合同、日期、数量滚动优化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1244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1244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4864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供应商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日要货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量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、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需求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缺口与风险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2009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151B24">
              <a:alpha val="98000"/>
            </a:srgbClr>
          </a:solidFill>
          <a:ln w="12383">
            <a:solidFill>
              <a:srgbClr val="B29AE5"/>
            </a:solidFill>
            <a:prstDash val="solid"/>
          </a:ln>
        </p:spPr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280" y="2181225"/>
            <a:ext cx="323850" cy="323850"/>
          </a:xfrm>
          <a:prstGeom prst="rect">
            <a:avLst/>
          </a:prstGeom>
        </p:spPr>
      </p:pic>
      <p:sp>
        <p:nvSpPr>
          <p:cNvPr id="67" name="矩形 66"/>
          <p:cNvSpPr>
            <a:spLocks noGrp="1"/>
          </p:cNvSpPr>
          <p:nvPr/>
        </p:nvSpPr>
        <p:spPr>
          <a:xfrm>
            <a:off x="77057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010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3342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3342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962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SAP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费用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、MES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工单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、能耗、仓储与运输数据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3342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3342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6962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生成成本</a:t>
            </a: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归集、费用池与批次分摊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3342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3342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76962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多维成本</a:t>
            </a:r>
            <a:r>
              <a:rPr lang="zh-CN"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分析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、批次异常与溯源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94107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151B24">
              <a:alpha val="98000"/>
            </a:srgbClr>
          </a:solidFill>
          <a:ln w="12383">
            <a:solidFill>
              <a:srgbClr val="2A9ED6"/>
            </a:solidFill>
            <a:prstDash val="solid"/>
          </a:ln>
        </p:spPr>
      </p:sp>
      <p:pic>
        <p:nvPicPr>
          <p:cNvPr id="190" name="图片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2228850"/>
            <a:ext cx="323850" cy="323850"/>
          </a:xfrm>
          <a:prstGeom prst="rect">
            <a:avLst/>
          </a:prstGeom>
        </p:spPr>
      </p:pic>
      <p:sp>
        <p:nvSpPr>
          <p:cNvPr id="80" name="矩形 79"/>
          <p:cNvSpPr>
            <a:spLocks noGrp="1"/>
          </p:cNvSpPr>
          <p:nvPr/>
        </p:nvSpPr>
        <p:spPr>
          <a:xfrm>
            <a:off x="99155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2108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5440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5440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9060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各模块结果、业务状态和预警事件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5440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95440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9060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KPI、健康度、异常及影响范围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5440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5440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9060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" panose="020B0300000000000000" charset="-122"/>
              </a:rPr>
              <a:t>态势、钻取、派发与闭环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" panose="020B0300000000000000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71500" y="43719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算法模型与规则引擎</a:t>
            </a:r>
            <a:endParaRPr sz="13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5715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B2717">
              <a:alpha val="90000"/>
            </a:srgbClr>
          </a:solidFill>
          <a:ln w="9525">
            <a:solidFill>
              <a:srgbClr val="8E792D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6477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477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(R,s,S) · 滚动递推 · 罐容约束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7813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B2717">
              <a:alpha val="90000"/>
            </a:srgbClr>
          </a:solidFill>
          <a:ln w="9525">
            <a:solidFill>
              <a:srgbClr val="8E792D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28575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28575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成本 / 供货 / 交期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49911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B2717">
              <a:alpha val="90000"/>
            </a:srgbClr>
          </a:solidFill>
          <a:ln w="9525">
            <a:solidFill>
              <a:srgbClr val="8E792D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50673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0673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合同 / 库存 / 在途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72009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B2717">
              <a:alpha val="90000"/>
            </a:srgbClr>
          </a:solidFill>
          <a:ln w="9525">
            <a:solidFill>
              <a:srgbClr val="8E792D"/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72771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72771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费用池 · 分摊动因 · 规则版本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94107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B2717">
              <a:alpha val="90000"/>
            </a:srgbClr>
          </a:solidFill>
          <a:ln w="9525">
            <a:solidFill>
              <a:srgbClr val="8E792D"/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94869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4869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时序异常 · 阈值 · 分级规则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571500" y="5429250"/>
            <a:ext cx="11029950" cy="323850"/>
          </a:xfrm>
          <a:prstGeom prst="roundRect">
            <a:avLst>
              <a:gd name="adj" fmla="val 17647"/>
            </a:avLst>
          </a:prstGeom>
          <a:solidFill>
            <a:srgbClr val="20252C">
              <a:alpha val="94000"/>
            </a:srgbClr>
          </a:solidFill>
          <a:ln w="9525">
            <a:solidFill>
              <a:srgbClr val="4C5661"/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733425" y="5457825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模型治理：数据版本   模型参数   规则版本   计算结果   人工调整   审批记录</a:t>
            </a:r>
            <a:endParaRPr sz="1065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71500" y="5848350"/>
            <a:ext cx="11029950" cy="495300"/>
          </a:xfrm>
          <a:prstGeom prst="roundRect">
            <a:avLst>
              <a:gd name="adj" fmla="val 13462"/>
            </a:avLst>
          </a:prstGeom>
          <a:solidFill>
            <a:srgbClr val="102235">
              <a:alpha val="96000"/>
            </a:srgbClr>
          </a:solidFill>
          <a:ln w="9525">
            <a:solidFill>
              <a:srgbClr val="2C7FAE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733425" y="5953125"/>
            <a:ext cx="809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数据来源</a:t>
            </a:r>
            <a:endParaRPr sz="12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581150" y="5943600"/>
            <a:ext cx="98012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    WMS    MES    CRM / SRM    TMS    QMS / LIMS    实时数据平台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 l="16" r="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  <a:prstDash val="solid"/>
          </a:ln>
        </p:spPr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03  </a:t>
            </a:r>
            <a:r>
              <a:rPr lang="zh-CN"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关键</a:t>
            </a:r>
            <a:r>
              <a:rPr lang="zh-CN"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跃升</a:t>
            </a:r>
            <a:endParaRPr lang="zh-CN"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171C24">
              <a:alpha val="98000"/>
            </a:srgbClr>
          </a:solidFill>
          <a:ln w="14288">
            <a:solidFill>
              <a:srgbClr val="46BDF2"/>
            </a:solidFill>
            <a:prstDash val="solid"/>
          </a:ln>
        </p:spPr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724025"/>
            <a:ext cx="409575" cy="4095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2573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5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764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减少人工操作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自动采集、自动计算；人员处理审核和异常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录入及数据整理工时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145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减少40%至60%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重复报表制作工时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3145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减少50%至70%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采购催单跟踪工时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145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减少30%至50%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906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954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57450" y="4491038"/>
            <a:ext cx="419100" cy="128588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00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62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28625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171C24">
              <a:alpha val="98000"/>
            </a:srgbClr>
          </a:solidFill>
          <a:ln w="14288">
            <a:solidFill>
              <a:srgbClr val="F6CE5C"/>
            </a:solidFill>
            <a:prstDash val="solid"/>
          </a:ln>
        </p:spPr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724025"/>
            <a:ext cx="409575" cy="409575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497205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39115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提升业务效率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滚动计划、异常派发和批次下钻缩短决策链路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7675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计划编制调整周期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2932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缩短50%至70%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7675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47675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供应与库存异常响应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2932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缩短60%至80%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7675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7675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成本异常定位时间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2932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缩短70%至90%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0540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41020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172200" y="4529614"/>
            <a:ext cx="419100" cy="90011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314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076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0010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171C24">
              <a:alpha val="98000"/>
            </a:srgbClr>
          </a:solidFill>
          <a:ln w="14288">
            <a:solidFill>
              <a:srgbClr val="61D28B"/>
            </a:solidFill>
            <a:prstDash val="solid"/>
          </a:ln>
        </p:spPr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75" y="1724025"/>
            <a:ext cx="409575" cy="409575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86868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50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1059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降低运营成本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915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优化库存结构、供应商组合和到货节奏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1915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库存资金占用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7440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降低3%至</a:t>
            </a:r>
            <a:r>
              <a:rPr lang="en-US"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1915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915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呆滞库存金额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7440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降低10%至20%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1915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1915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原料综合采购成本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7440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</a:t>
            </a:r>
            <a:r>
              <a:rPr lang="en-US"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%至</a:t>
            </a:r>
            <a:r>
              <a:rPr lang="en-US"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8201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1249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886950" y="4393311"/>
            <a:ext cx="419100" cy="226314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029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791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71500" y="50577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五模块价值贡献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5715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141B24">
              <a:alpha val="96000"/>
            </a:srgbClr>
          </a:solidFill>
          <a:ln w="9525">
            <a:solidFill>
              <a:srgbClr val="3C5C75"/>
            </a:solidFill>
            <a:prstDash val="solid"/>
          </a:ln>
        </p:spPr>
      </p:sp>
      <p:pic>
        <p:nvPicPr>
          <p:cNvPr id="155" name="图片 1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543550"/>
            <a:ext cx="323850" cy="323850"/>
          </a:xfrm>
          <a:prstGeom prst="rect">
            <a:avLst/>
          </a:prstGeom>
        </p:spPr>
      </p:pic>
      <p:sp>
        <p:nvSpPr>
          <p:cNvPr id="69" name="矩形 68"/>
          <p:cNvSpPr>
            <a:spLocks noGrp="1"/>
          </p:cNvSpPr>
          <p:nvPr/>
        </p:nvSpPr>
        <p:spPr>
          <a:xfrm>
            <a:off x="10763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763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降低库存与呆滞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27813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141B24">
              <a:alpha val="96000"/>
            </a:srgbClr>
          </a:solidFill>
          <a:ln w="9525">
            <a:solidFill>
              <a:srgbClr val="3C5C75"/>
            </a:solidFill>
            <a:prstDash val="solid"/>
          </a:ln>
        </p:spPr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5543550"/>
            <a:ext cx="323850" cy="3238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32861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规范寻源与价格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49911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141B24">
              <a:alpha val="96000"/>
            </a:srgbClr>
          </a:solidFill>
          <a:ln w="9525">
            <a:solidFill>
              <a:srgbClr val="3C5C75"/>
            </a:solidFill>
            <a:prstDash val="solid"/>
          </a:ln>
        </p:spPr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5543550"/>
            <a:ext cx="323850" cy="323850"/>
          </a:xfrm>
          <a:prstGeom prst="rect">
            <a:avLst/>
          </a:prstGeom>
        </p:spPr>
      </p:pic>
      <p:sp>
        <p:nvSpPr>
          <p:cNvPr id="77" name="矩形 76"/>
          <p:cNvSpPr>
            <a:spLocks noGrp="1"/>
          </p:cNvSpPr>
          <p:nvPr/>
        </p:nvSpPr>
        <p:spPr>
          <a:xfrm>
            <a:off x="54959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54959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减少沟通与等待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72009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141B24">
              <a:alpha val="96000"/>
            </a:srgbClr>
          </a:solidFill>
          <a:ln w="9525">
            <a:solidFill>
              <a:srgbClr val="3C5C75"/>
            </a:solidFill>
            <a:prstDash val="solid"/>
          </a:ln>
        </p:spPr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5543550"/>
            <a:ext cx="323850" cy="323850"/>
          </a:xfrm>
          <a:prstGeom prst="rect">
            <a:avLst/>
          </a:prstGeom>
        </p:spPr>
      </p:pic>
      <p:sp>
        <p:nvSpPr>
          <p:cNvPr id="81" name="矩形 80"/>
          <p:cNvSpPr>
            <a:spLocks noGrp="1"/>
          </p:cNvSpPr>
          <p:nvPr/>
        </p:nvSpPr>
        <p:spPr>
          <a:xfrm>
            <a:off x="77057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7057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批次追溯与异常定位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94107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141B24">
              <a:alpha val="96000"/>
            </a:srgbClr>
          </a:solidFill>
          <a:ln w="9525">
            <a:solidFill>
              <a:srgbClr val="3C5C75"/>
            </a:solidFill>
            <a:prstDash val="solid"/>
          </a:ln>
        </p:spPr>
      </p:sp>
      <p:pic>
        <p:nvPicPr>
          <p:cNvPr id="171" name="图片 1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5543550"/>
            <a:ext cx="323850" cy="323850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99155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9155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统一指标与决策跟踪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1600</Words>
  <Application>WPS 表格</Application>
  <PresentationFormat>Converted Presentation</PresentationFormat>
  <Paragraphs>310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Songti SC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Hiragino Sans GB W6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34</cp:revision>
  <dcterms:created xsi:type="dcterms:W3CDTF">2026-09-23T11:12:53Z</dcterms:created>
  <dcterms:modified xsi:type="dcterms:W3CDTF">2026-09-23T11:12:53Z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B5C3538385EE7659A8AAB36AC11C11A4_42</vt:lpwstr>
  </property>
  <property fmtid="{D5CDD505-2E9C-101B-9397-08002B2CF9AE}" pid="3" name="KSOProductBuildVer">
    <vt:lpwstr>2052-12.1.26055.26055</vt:lpwstr>
  </property>
</Properties>
</file>