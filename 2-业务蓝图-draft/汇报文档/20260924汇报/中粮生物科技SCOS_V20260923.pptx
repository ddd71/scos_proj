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调研来源：</a:t>
            </a:r>
          </a:p>
          <a:p>
            <a:r>
              <a:t>/Users/zihaoguo/Desktop/中控/scos_proj/1-wiki-资料沉淀/调研报告/上海融氏调研报告在线版.xlsx，工作表“一、订单接收”“七、成品入库”“十六、经营辅助决策”“十七、原料采购”。</a:t>
            </a:r>
          </a:p>
          <a:p>
            <a:r>
              <a:t>/Users/zihaoguo/Desktop/中控/scos_proj/1-wiki-资料沉淀/调研报告/中粮成都调研报告在线版.xlsx，同名工作表。</a:t>
            </a:r>
          </a:p>
          <a:p>
            <a:r>
              <a:t>/Users/zihaoguo/Desktop/中控/scos_proj/1-wiki-资料沉淀/调研报告/中粮武汉调研报告在线版.xlsx，同名工作表。</a:t>
            </a:r>
          </a:p>
          <a:p>
            <a:r>
              <a:t>蓝图来源：/Users/zihaoguo/Desktop/中控/scos_proj/3-业务蓝图-终态/SCOS_中粮太仓项目研发模块蓝图方案v0.9.docx。三厂现状与太仓蓝图为不同工厂、不同阶段，不作为实施前后实绩对比。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现状来源：</a:t>
            </a:r>
          </a:p>
          <a:p>
            <a:r>
              <a:t>/Users/zihaoguo/Desktop/中控/scos_proj/1-wiki-资料沉淀/调研报告/上海融氏调研报告在线版.xlsx</a:t>
            </a:r>
          </a:p>
          <a:p>
            <a:r>
              <a:t>/Users/zihaoguo/Desktop/中控/scos_proj/1-wiki-资料沉淀/调研报告/中粮成都调研报告在线版.xlsx</a:t>
            </a:r>
          </a:p>
          <a:p>
            <a:r>
              <a:t>/Users/zihaoguo/Desktop/中控/scos_proj/1-wiki-资料沉淀/调研报告/中粮武汉调研报告在线版.xlsx</a:t>
            </a:r>
          </a:p>
          <a:p>
            <a:r>
              <a:t>蓝图来源：/Users/zihaoguo/Desktop/中控/scos_proj/3-业务蓝图-终态/SCOS_中粮太仓项目研发模块蓝图方案v0.9.docx。</a:t>
            </a:r>
          </a:p>
          <a:p>
            <a:r>
              <a:t>概念图：使用内置图片生成能力制作，确认后保存于 SCOS_V20260923_第一页优化素材/概念图。</a:t>
            </a:r>
          </a:p>
          <a:p>
            <a:r>
              <a:t>说明：三厂调研现状与SCOS蓝图属于不同工厂和不同阶段，本页用于流程与能力对照。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来源：/Users/zihaoguo/Desktop/中控/scos_proj/3-业务蓝图-终态/SCOS_中粮太仓项目研发模块蓝图方案v0.9.docx，库存优化、采购优化、要货计划、驾驶舱、成本分摊关键业务流程及智能化场景。SCOS当前范围不包含需求预测。成本分摊按月运行，用于多维分析和批次异常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依据：/Users/zihaoguo/Desktop/中控/scos_proj/3-业务蓝图-终态/SCOS_中粮太仓项目研发模块蓝图方案v0.9.docx。页面目标值为用户授权的方案阶段估算区间，需根据三厂基线和试运行数据校准，不代表当前实绩或最终验收目标。紧急采购及滞留超期费用另建议降低10%至20%，因页面空间未作为主指标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" name="图片 9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104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01  现状与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未来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蓝图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5CCDF5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1200150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7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12001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SCOS未来蓝图</a:t>
            </a:r>
            <a:endParaRPr sz="17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71625"/>
            <a:ext cx="5197475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71625"/>
            <a:ext cx="66675" cy="13430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6859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165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38275" y="17049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人工录入与线下协同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0574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19812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订单：销售6人；审批3至5天；复杂订单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超过1小时</a:t>
            </a:r>
            <a:endParaRPr sz="106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22479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21812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库存：SAP与台账并行；安全库存和效期靠人工关注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24384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23812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采购：2人；库存日报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编制到货计划，微信通知供应商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26289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25812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经营：共用费用按月分摊；报表加经验判断，无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71500" y="30194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3019425"/>
            <a:ext cx="66675" cy="13430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1337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16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438275" y="3143250"/>
            <a:ext cx="4070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FF0000"/>
                </a:solidFill>
              </a:rPr>
              <a:t>系统部分联动但仍需人工补录</a:t>
            </a:r>
            <a:r>
              <a:rPr>
                <a:solidFill>
                  <a:srgbClr val="FF0000"/>
                </a:solidFill>
              </a:rPr>
              <a:t>和人工协同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35052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34290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订单：业务量增至3倍，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但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人员未增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，一人多岗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；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审批最长17天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36957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5350" y="36290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库存：入库未自动化；批次、库位及多地点库存线下管理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38862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95350" y="38290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采购：3人；淀粉线下询价，供应商发货表人工跟踪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1050" y="40767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350" y="40290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经营：成本按月归集；SAP导出Excel制作分析报表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571500" y="44672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4467225"/>
            <a:ext cx="66675" cy="13430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2950" y="45815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165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38275" y="46005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系统部分联动但仍需人工补录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和人工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协同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81050" y="49530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95350" y="48768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订单：销售约8人；微信群接单，合同系统和SAP人工录入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81050" y="51435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95350" y="50768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库存：SAP手工入库；安全库存、效期和FIFO线下管理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81050" y="53340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95350" y="52768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采购：3人；船运提前15至20天，微信和Excel跟踪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81050" y="55245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95350" y="54768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经营：财务6人；SAP数据二次加工，无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571500" y="5953125"/>
            <a:ext cx="5197475" cy="457200"/>
          </a:xfrm>
          <a:prstGeom prst="roundRect">
            <a:avLst>
              <a:gd name="adj" fmla="val 16667"/>
            </a:avLst>
          </a:prstGeom>
          <a:solidFill>
            <a:srgbClr val="301817">
              <a:alpha val="93000"/>
            </a:srgbClr>
          </a:solidFill>
          <a:ln w="12859">
            <a:solidFill>
              <a:srgbClr val="A34E4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4" name="矩形 63"/>
          <p:cNvSpPr>
            <a:spLocks noGrp="1"/>
          </p:cNvSpPr>
          <p:nvPr/>
        </p:nvSpPr>
        <p:spPr>
          <a:xfrm>
            <a:off x="733425" y="6029325"/>
            <a:ext cx="8858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共性问题</a:t>
            </a:r>
            <a:endParaRPr sz="1275" b="1">
              <a:solidFill>
                <a:srgbClr val="F06A5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55370" y="602107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   线下协同   链路断点   异常滞后   指标分散</a:t>
            </a:r>
            <a:endParaRPr sz="11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981825" y="15621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0" name="图片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1733550"/>
            <a:ext cx="361950" cy="361950"/>
          </a:xfrm>
          <a:prstGeom prst="rect">
            <a:avLst/>
          </a:prstGeom>
        </p:spPr>
      </p:pic>
      <p:sp>
        <p:nvSpPr>
          <p:cNvPr id="68" name="矩形 67"/>
          <p:cNvSpPr>
            <a:spLocks noGrp="1"/>
          </p:cNvSpPr>
          <p:nvPr/>
        </p:nvSpPr>
        <p:spPr>
          <a:xfrm>
            <a:off x="7553325" y="16573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610600" y="16383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553325" y="19335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策略、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4周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补货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监控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981825" y="24003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5" name="图片 1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2571750"/>
            <a:ext cx="361950" cy="3619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7553325" y="24955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610600" y="24765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553325" y="27717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应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方、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数量、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采购订单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达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与到货建议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981825" y="32385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60" name="图片 1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0" y="3409950"/>
            <a:ext cx="361950" cy="361950"/>
          </a:xfrm>
          <a:prstGeom prst="rect">
            <a:avLst/>
          </a:prstGeom>
        </p:spPr>
      </p:pic>
      <p:sp>
        <p:nvSpPr>
          <p:cNvPr id="78" name="矩形 77"/>
          <p:cNvSpPr>
            <a:spLocks noGrp="1"/>
          </p:cNvSpPr>
          <p:nvPr/>
        </p:nvSpPr>
        <p:spPr>
          <a:xfrm>
            <a:off x="7553325" y="33337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610600" y="33147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553325" y="36099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要货安排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要货计划推送物流、需求缺口与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981825" y="40767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65" name="图片 1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0" y="4248150"/>
            <a:ext cx="361950" cy="361950"/>
          </a:xfrm>
          <a:prstGeom prst="rect">
            <a:avLst/>
          </a:prstGeom>
        </p:spPr>
      </p:pic>
      <p:sp>
        <p:nvSpPr>
          <p:cNvPr id="83" name="矩形 82"/>
          <p:cNvSpPr>
            <a:spLocks noGrp="1"/>
          </p:cNvSpPr>
          <p:nvPr/>
        </p:nvSpPr>
        <p:spPr>
          <a:xfrm>
            <a:off x="7553325" y="41719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610600" y="41529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553325" y="44481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分摊、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多角色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多维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度成本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生产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批次溯源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981825" y="49149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0" name="图片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5086350"/>
            <a:ext cx="361950" cy="361950"/>
          </a:xfrm>
          <a:prstGeom prst="rect">
            <a:avLst/>
          </a:prstGeom>
        </p:spPr>
      </p:pic>
      <p:sp>
        <p:nvSpPr>
          <p:cNvPr id="88" name="矩形 87"/>
          <p:cNvSpPr>
            <a:spLocks noGrp="1"/>
          </p:cNvSpPr>
          <p:nvPr/>
        </p:nvSpPr>
        <p:spPr>
          <a:xfrm>
            <a:off x="7553325" y="50101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8610600" y="49911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553325" y="52863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展示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异常指标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钻取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调整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闭环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6981825" y="5848350"/>
            <a:ext cx="4629150" cy="561975"/>
          </a:xfrm>
          <a:prstGeom prst="roundRect">
            <a:avLst>
              <a:gd name="adj" fmla="val 13559"/>
            </a:avLst>
          </a:prstGeom>
          <a:solidFill>
            <a:srgbClr val="251F0B">
              <a:alpha val="95000"/>
            </a:srgbClr>
          </a:solidFill>
          <a:ln w="12859">
            <a:solidFill>
              <a:srgbClr val="C8A63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2" name="矩形 91"/>
          <p:cNvSpPr>
            <a:spLocks noGrp="1"/>
          </p:cNvSpPr>
          <p:nvPr/>
        </p:nvSpPr>
        <p:spPr>
          <a:xfrm>
            <a:off x="7143750" y="602107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算法生成建议</a:t>
            </a:r>
            <a:endParaRPr sz="11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420100" y="6021070"/>
            <a:ext cx="3028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</a:t>
            </a: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</a:t>
            </a: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复核、调整、审批和发布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8"/>
          <a:srcRect l="18000" t="18000" r="18000" b="18000"/>
          <a:stretch>
            <a:fillRect/>
          </a:stretch>
        </p:blipFill>
        <p:spPr>
          <a:xfrm>
            <a:off x="5876925" y="3467100"/>
            <a:ext cx="94297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7" name="背景-数据光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背景遮罩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70D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3" name="左侧氛围光"/>
          <p:cNvSpPr>
            <a:spLocks noGrp="1"/>
          </p:cNvSpPr>
          <p:nvPr/>
        </p:nvSpPr>
        <p:spPr>
          <a:xfrm>
            <a:off x="0" y="762000"/>
            <a:ext cx="6286500" cy="5619750"/>
          </a:xfrm>
          <a:prstGeom prst="ellipse">
            <a:avLst/>
          </a:prstGeom>
          <a:solidFill>
            <a:srgbClr val="0A1C38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4" name="右侧氛围光"/>
          <p:cNvSpPr>
            <a:spLocks noGrp="1"/>
          </p:cNvSpPr>
          <p:nvPr/>
        </p:nvSpPr>
        <p:spPr>
          <a:xfrm>
            <a:off x="7239000" y="857250"/>
            <a:ext cx="4953000" cy="5810250"/>
          </a:xfrm>
          <a:prstGeom prst="ellipse">
            <a:avLst/>
          </a:prstGeom>
          <a:solidFill>
            <a:srgbClr val="063A55">
              <a:alpha val="18000"/>
            </a:srgbClr>
          </a:solidFill>
          <a:ln w="0">
            <a:noFill/>
            <a:prstDash val="solid"/>
          </a:ln>
        </p:spPr>
      </p:sp>
      <p:pic>
        <p:nvPicPr>
          <p:cNvPr id="161" name="标题蓝色标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6200"/>
            <a:ext cx="482632" cy="444532"/>
          </a:xfrm>
          <a:prstGeom prst="rect">
            <a:avLst/>
          </a:prstGeom>
        </p:spPr>
      </p:pic>
      <p:sp>
        <p:nvSpPr>
          <p:cNvPr id="6" name="主标题"/>
          <p:cNvSpPr>
            <a:spLocks noGrp="1"/>
          </p:cNvSpPr>
          <p:nvPr/>
        </p:nvSpPr>
        <p:spPr>
          <a:xfrm>
            <a:off x="558832" y="126968"/>
            <a:ext cx="3492532" cy="3683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FF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325" b="1">
                <a:solidFill>
                  <a:srgbClr val="FFF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325" b="1">
              <a:solidFill>
                <a:srgbClr val="FFF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7" name="副标题"/>
          <p:cNvSpPr>
            <a:spLocks noGrp="1"/>
          </p:cNvSpPr>
          <p:nvPr/>
        </p:nvSpPr>
        <p:spPr>
          <a:xfrm>
            <a:off x="4127468" y="152400"/>
            <a:ext cx="4445032" cy="3174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01  现状诊断与SCOS</a:t>
            </a:r>
            <a:r>
              <a:rPr lang="zh-CN"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未来</a:t>
            </a:r>
            <a:r>
              <a: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蓝图</a:t>
            </a:r>
            <a:endParaRPr sz="1500" b="1">
              <a:solidFill>
                <a:srgbClr val="F2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8" name="标题分隔线"/>
          <p:cNvSpPr>
            <a:spLocks noGrp="1"/>
          </p:cNvSpPr>
          <p:nvPr/>
        </p:nvSpPr>
        <p:spPr>
          <a:xfrm>
            <a:off x="285750" y="615982"/>
            <a:ext cx="11620500" cy="953"/>
          </a:xfrm>
          <a:prstGeom prst="line">
            <a:avLst/>
          </a:prstGeom>
          <a:noFill/>
          <a:ln w="9525">
            <a:solidFill>
              <a:srgbClr val="4B535A"/>
            </a:solidFill>
            <a:prstDash val="solid"/>
          </a:ln>
        </p:spPr>
      </p:sp>
      <p:sp>
        <p:nvSpPr>
          <p:cNvPr id="9" name="现状区标题"/>
          <p:cNvSpPr>
            <a:spLocks noGrp="1"/>
          </p:cNvSpPr>
          <p:nvPr/>
        </p:nvSpPr>
        <p:spPr>
          <a:xfrm>
            <a:off x="266700" y="711232"/>
            <a:ext cx="3302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现状｜三厂业务链路</a:t>
            </a:r>
            <a:endParaRPr sz="15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跃升标识"/>
          <p:cNvSpPr>
            <a:spLocks noGrp="1"/>
          </p:cNvSpPr>
          <p:nvPr/>
        </p:nvSpPr>
        <p:spPr>
          <a:xfrm>
            <a:off x="6222968" y="666750"/>
            <a:ext cx="3492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325" b="1">
                <a:solidFill>
                  <a:srgbClr val="FFD4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FFD4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»</a:t>
            </a:r>
            <a:endParaRPr sz="2325" b="1">
              <a:solidFill>
                <a:srgbClr val="FFD4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未来区标题"/>
          <p:cNvSpPr>
            <a:spLocks noGrp="1"/>
          </p:cNvSpPr>
          <p:nvPr/>
        </p:nvSpPr>
        <p:spPr>
          <a:xfrm>
            <a:off x="6635782" y="711232"/>
            <a:ext cx="50165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D6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FD6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未来｜模型驱动、人工决策、统一经营</a:t>
            </a:r>
            <a:endParaRPr sz="1500" b="1">
              <a:solidFill>
                <a:srgbClr val="FFD6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现状-订单-泳道"/>
          <p:cNvSpPr>
            <a:spLocks noGrp="1"/>
          </p:cNvSpPr>
          <p:nvPr/>
        </p:nvSpPr>
        <p:spPr>
          <a:xfrm>
            <a:off x="254032" y="1016032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13" name="现状-订单-强调线"/>
          <p:cNvSpPr>
            <a:spLocks noGrp="1"/>
          </p:cNvSpPr>
          <p:nvPr/>
        </p:nvSpPr>
        <p:spPr>
          <a:xfrm>
            <a:off x="254032" y="1016032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14" name="现状-订单-标题"/>
          <p:cNvSpPr>
            <a:spLocks noGrp="1"/>
          </p:cNvSpPr>
          <p:nvPr/>
        </p:nvSpPr>
        <p:spPr>
          <a:xfrm>
            <a:off x="412718" y="1206532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订单-融氏-现状卡片"/>
          <p:cNvSpPr>
            <a:spLocks noGrp="1"/>
          </p:cNvSpPr>
          <p:nvPr/>
        </p:nvSpPr>
        <p:spPr>
          <a:xfrm>
            <a:off x="10032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16" name="订单-融氏-标签底"/>
          <p:cNvSpPr>
            <a:spLocks noGrp="1"/>
          </p:cNvSpPr>
          <p:nvPr/>
        </p:nvSpPr>
        <p:spPr>
          <a:xfrm>
            <a:off x="10858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17" name="订单-融氏-标签"/>
          <p:cNvSpPr>
            <a:spLocks noGrp="1"/>
          </p:cNvSpPr>
          <p:nvPr/>
        </p:nvSpPr>
        <p:spPr>
          <a:xfrm>
            <a:off x="10858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订单-融氏-现状"/>
          <p:cNvSpPr>
            <a:spLocks noGrp="1"/>
          </p:cNvSpPr>
          <p:nvPr/>
        </p:nvSpPr>
        <p:spPr>
          <a:xfrm>
            <a:off x="10858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销售6人；审批3至5天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订单-融氏-痛点"/>
          <p:cNvSpPr>
            <a:spLocks noGrp="1"/>
          </p:cNvSpPr>
          <p:nvPr/>
        </p:nvSpPr>
        <p:spPr>
          <a:xfrm>
            <a:off x="10858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复杂订单生成超过1小时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订单-成都-现状卡片"/>
          <p:cNvSpPr>
            <a:spLocks noGrp="1"/>
          </p:cNvSpPr>
          <p:nvPr/>
        </p:nvSpPr>
        <p:spPr>
          <a:xfrm>
            <a:off x="27177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21" name="订单-成都-标签底"/>
          <p:cNvSpPr>
            <a:spLocks noGrp="1"/>
          </p:cNvSpPr>
          <p:nvPr/>
        </p:nvSpPr>
        <p:spPr>
          <a:xfrm>
            <a:off x="28003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22" name="订单-成都-标签"/>
          <p:cNvSpPr>
            <a:spLocks noGrp="1"/>
          </p:cNvSpPr>
          <p:nvPr/>
        </p:nvSpPr>
        <p:spPr>
          <a:xfrm>
            <a:off x="28003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订单-成都-现状"/>
          <p:cNvSpPr>
            <a:spLocks noGrp="1"/>
          </p:cNvSpPr>
          <p:nvPr/>
        </p:nvSpPr>
        <p:spPr>
          <a:xfrm>
            <a:off x="28003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业务量增至3倍，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一人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多岗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订单-成都-痛点"/>
          <p:cNvSpPr>
            <a:spLocks noGrp="1"/>
          </p:cNvSpPr>
          <p:nvPr/>
        </p:nvSpPr>
        <p:spPr>
          <a:xfrm>
            <a:off x="28003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合同审批最长17天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，时间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过长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订单-武汉-现状卡片"/>
          <p:cNvSpPr>
            <a:spLocks noGrp="1"/>
          </p:cNvSpPr>
          <p:nvPr/>
        </p:nvSpPr>
        <p:spPr>
          <a:xfrm>
            <a:off x="44322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26" name="订单-武汉-标签底"/>
          <p:cNvSpPr>
            <a:spLocks noGrp="1"/>
          </p:cNvSpPr>
          <p:nvPr/>
        </p:nvSpPr>
        <p:spPr>
          <a:xfrm>
            <a:off x="45148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27" name="订单-武汉-标签"/>
          <p:cNvSpPr>
            <a:spLocks noGrp="1"/>
          </p:cNvSpPr>
          <p:nvPr/>
        </p:nvSpPr>
        <p:spPr>
          <a:xfrm>
            <a:off x="45148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订单-武汉-现状"/>
          <p:cNvSpPr>
            <a:spLocks noGrp="1"/>
          </p:cNvSpPr>
          <p:nvPr/>
        </p:nvSpPr>
        <p:spPr>
          <a:xfrm>
            <a:off x="45148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销售约8人；微信群接单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订单-武汉-痛点"/>
          <p:cNvSpPr>
            <a:spLocks noGrp="1"/>
          </p:cNvSpPr>
          <p:nvPr/>
        </p:nvSpPr>
        <p:spPr>
          <a:xfrm>
            <a:off x="45148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合同与SAP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</a:t>
            </a: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重复录入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现状-库存-泳道"/>
          <p:cNvSpPr>
            <a:spLocks noGrp="1"/>
          </p:cNvSpPr>
          <p:nvPr/>
        </p:nvSpPr>
        <p:spPr>
          <a:xfrm>
            <a:off x="254032" y="1841468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31" name="现状-库存-强调线"/>
          <p:cNvSpPr>
            <a:spLocks noGrp="1"/>
          </p:cNvSpPr>
          <p:nvPr/>
        </p:nvSpPr>
        <p:spPr>
          <a:xfrm>
            <a:off x="254032" y="1841468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32" name="现状-库存-标题"/>
          <p:cNvSpPr>
            <a:spLocks noGrp="1"/>
          </p:cNvSpPr>
          <p:nvPr/>
        </p:nvSpPr>
        <p:spPr>
          <a:xfrm>
            <a:off x="412718" y="2031968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库存-融氏-现状卡片"/>
          <p:cNvSpPr>
            <a:spLocks noGrp="1"/>
          </p:cNvSpPr>
          <p:nvPr/>
        </p:nvSpPr>
        <p:spPr>
          <a:xfrm>
            <a:off x="10032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34" name="库存-融氏-标签底"/>
          <p:cNvSpPr>
            <a:spLocks noGrp="1"/>
          </p:cNvSpPr>
          <p:nvPr/>
        </p:nvSpPr>
        <p:spPr>
          <a:xfrm>
            <a:off x="10858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35" name="库存-融氏-标签"/>
          <p:cNvSpPr>
            <a:spLocks noGrp="1"/>
          </p:cNvSpPr>
          <p:nvPr/>
        </p:nvSpPr>
        <p:spPr>
          <a:xfrm>
            <a:off x="10858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库存-融氏-现状"/>
          <p:cNvSpPr>
            <a:spLocks noGrp="1"/>
          </p:cNvSpPr>
          <p:nvPr/>
        </p:nvSpPr>
        <p:spPr>
          <a:xfrm>
            <a:off x="10858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SAP与台账并行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，手工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库存-融氏-痛点"/>
          <p:cNvSpPr>
            <a:spLocks noGrp="1"/>
          </p:cNvSpPr>
          <p:nvPr/>
        </p:nvSpPr>
        <p:spPr>
          <a:xfrm>
            <a:off x="10858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安全库存和效期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线下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管理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库存-成都-现状卡片"/>
          <p:cNvSpPr>
            <a:spLocks noGrp="1"/>
          </p:cNvSpPr>
          <p:nvPr/>
        </p:nvSpPr>
        <p:spPr>
          <a:xfrm>
            <a:off x="27177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39" name="库存-成都-标签底"/>
          <p:cNvSpPr>
            <a:spLocks noGrp="1"/>
          </p:cNvSpPr>
          <p:nvPr/>
        </p:nvSpPr>
        <p:spPr>
          <a:xfrm>
            <a:off x="28003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40" name="库存-成都-标签"/>
          <p:cNvSpPr>
            <a:spLocks noGrp="1"/>
          </p:cNvSpPr>
          <p:nvPr/>
        </p:nvSpPr>
        <p:spPr>
          <a:xfrm>
            <a:off x="28003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库存-成都-现状"/>
          <p:cNvSpPr>
            <a:spLocks noGrp="1"/>
          </p:cNvSpPr>
          <p:nvPr/>
        </p:nvSpPr>
        <p:spPr>
          <a:xfrm>
            <a:off x="28003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入库未自动化，</a:t>
            </a:r>
            <a:r>
              <a:rPr lang="en-US" alt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手工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库存-成都-痛点"/>
          <p:cNvSpPr>
            <a:spLocks noGrp="1"/>
          </p:cNvSpPr>
          <p:nvPr/>
        </p:nvSpPr>
        <p:spPr>
          <a:xfrm>
            <a:off x="28003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批次、库位、多地点线下管理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库存-武汉-现状卡片"/>
          <p:cNvSpPr>
            <a:spLocks noGrp="1"/>
          </p:cNvSpPr>
          <p:nvPr/>
        </p:nvSpPr>
        <p:spPr>
          <a:xfrm>
            <a:off x="44322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44" name="库存-武汉-标签底"/>
          <p:cNvSpPr>
            <a:spLocks noGrp="1"/>
          </p:cNvSpPr>
          <p:nvPr/>
        </p:nvSpPr>
        <p:spPr>
          <a:xfrm>
            <a:off x="45148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45" name="库存-武汉-标签"/>
          <p:cNvSpPr>
            <a:spLocks noGrp="1"/>
          </p:cNvSpPr>
          <p:nvPr/>
        </p:nvSpPr>
        <p:spPr>
          <a:xfrm>
            <a:off x="45148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库存-武汉-现状"/>
          <p:cNvSpPr>
            <a:spLocks noGrp="1"/>
          </p:cNvSpPr>
          <p:nvPr/>
        </p:nvSpPr>
        <p:spPr>
          <a:xfrm>
            <a:off x="45148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入库未自动化，</a:t>
            </a: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SAP手工入库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库存-武汉-痛点"/>
          <p:cNvSpPr>
            <a:spLocks noGrp="1"/>
          </p:cNvSpPr>
          <p:nvPr/>
        </p:nvSpPr>
        <p:spPr>
          <a:xfrm>
            <a:off x="45148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安全库存、效期、FIFO线下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管理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现状-采购-泳道"/>
          <p:cNvSpPr>
            <a:spLocks noGrp="1"/>
          </p:cNvSpPr>
          <p:nvPr/>
        </p:nvSpPr>
        <p:spPr>
          <a:xfrm>
            <a:off x="254032" y="2667000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49" name="现状-采购-强调线"/>
          <p:cNvSpPr>
            <a:spLocks noGrp="1"/>
          </p:cNvSpPr>
          <p:nvPr/>
        </p:nvSpPr>
        <p:spPr>
          <a:xfrm>
            <a:off x="254032" y="2667000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50" name="现状-采购-标题"/>
          <p:cNvSpPr>
            <a:spLocks noGrp="1"/>
          </p:cNvSpPr>
          <p:nvPr/>
        </p:nvSpPr>
        <p:spPr>
          <a:xfrm>
            <a:off x="412718" y="2857500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采购-融氏-现状卡片"/>
          <p:cNvSpPr>
            <a:spLocks noGrp="1"/>
          </p:cNvSpPr>
          <p:nvPr/>
        </p:nvSpPr>
        <p:spPr>
          <a:xfrm>
            <a:off x="10032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52" name="采购-融氏-标签底"/>
          <p:cNvSpPr>
            <a:spLocks noGrp="1"/>
          </p:cNvSpPr>
          <p:nvPr/>
        </p:nvSpPr>
        <p:spPr>
          <a:xfrm>
            <a:off x="10858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53" name="采购-融氏-标签"/>
          <p:cNvSpPr>
            <a:spLocks noGrp="1"/>
          </p:cNvSpPr>
          <p:nvPr/>
        </p:nvSpPr>
        <p:spPr>
          <a:xfrm>
            <a:off x="10858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采购-融氏-现状"/>
          <p:cNvSpPr>
            <a:spLocks noGrp="1"/>
          </p:cNvSpPr>
          <p:nvPr/>
        </p:nvSpPr>
        <p:spPr>
          <a:xfrm>
            <a:off x="10858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2人；人工计划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与到货安排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采购-融氏-痛点"/>
          <p:cNvSpPr>
            <a:spLocks noGrp="1"/>
          </p:cNvSpPr>
          <p:nvPr/>
        </p:nvSpPr>
        <p:spPr>
          <a:xfrm>
            <a:off x="10858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微信通知供应商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采购-成都-现状卡片"/>
          <p:cNvSpPr>
            <a:spLocks noGrp="1"/>
          </p:cNvSpPr>
          <p:nvPr/>
        </p:nvSpPr>
        <p:spPr>
          <a:xfrm>
            <a:off x="27177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57" name="采购-成都-标签底"/>
          <p:cNvSpPr>
            <a:spLocks noGrp="1"/>
          </p:cNvSpPr>
          <p:nvPr/>
        </p:nvSpPr>
        <p:spPr>
          <a:xfrm>
            <a:off x="28003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58" name="采购-成都-标签"/>
          <p:cNvSpPr>
            <a:spLocks noGrp="1"/>
          </p:cNvSpPr>
          <p:nvPr/>
        </p:nvSpPr>
        <p:spPr>
          <a:xfrm>
            <a:off x="28003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采购-成都-现状"/>
          <p:cNvSpPr>
            <a:spLocks noGrp="1"/>
          </p:cNvSpPr>
          <p:nvPr/>
        </p:nvSpPr>
        <p:spPr>
          <a:xfrm>
            <a:off x="28003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3人；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人工计划采购与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到货安排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采购-成都-痛点"/>
          <p:cNvSpPr>
            <a:spLocks noGrp="1"/>
          </p:cNvSpPr>
          <p:nvPr/>
        </p:nvSpPr>
        <p:spPr>
          <a:xfrm>
            <a:off x="28003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发货表人工跟踪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采购-武汉-现状卡片"/>
          <p:cNvSpPr>
            <a:spLocks noGrp="1"/>
          </p:cNvSpPr>
          <p:nvPr/>
        </p:nvSpPr>
        <p:spPr>
          <a:xfrm>
            <a:off x="44322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62" name="采购-武汉-标签底"/>
          <p:cNvSpPr>
            <a:spLocks noGrp="1"/>
          </p:cNvSpPr>
          <p:nvPr/>
        </p:nvSpPr>
        <p:spPr>
          <a:xfrm>
            <a:off x="45148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63" name="采购-武汉-标签"/>
          <p:cNvSpPr>
            <a:spLocks noGrp="1"/>
          </p:cNvSpPr>
          <p:nvPr/>
        </p:nvSpPr>
        <p:spPr>
          <a:xfrm>
            <a:off x="45148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4" name="采购-武汉-现状"/>
          <p:cNvSpPr>
            <a:spLocks noGrp="1"/>
          </p:cNvSpPr>
          <p:nvPr/>
        </p:nvSpPr>
        <p:spPr>
          <a:xfrm>
            <a:off x="45148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3人；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人工计划采购与到货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安排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采购-武汉-痛点"/>
          <p:cNvSpPr>
            <a:spLocks noGrp="1"/>
          </p:cNvSpPr>
          <p:nvPr/>
        </p:nvSpPr>
        <p:spPr>
          <a:xfrm>
            <a:off x="45148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微信和Excel跟踪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现状-经营-泳道"/>
          <p:cNvSpPr>
            <a:spLocks noGrp="1"/>
          </p:cNvSpPr>
          <p:nvPr/>
        </p:nvSpPr>
        <p:spPr>
          <a:xfrm>
            <a:off x="254032" y="3492532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67" name="现状-经营-强调线"/>
          <p:cNvSpPr>
            <a:spLocks noGrp="1"/>
          </p:cNvSpPr>
          <p:nvPr/>
        </p:nvSpPr>
        <p:spPr>
          <a:xfrm>
            <a:off x="254032" y="3492532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68" name="现状-经营-标题"/>
          <p:cNvSpPr>
            <a:spLocks noGrp="1"/>
          </p:cNvSpPr>
          <p:nvPr/>
        </p:nvSpPr>
        <p:spPr>
          <a:xfrm>
            <a:off x="412718" y="3683032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经营-融氏-现状卡片"/>
          <p:cNvSpPr>
            <a:spLocks noGrp="1"/>
          </p:cNvSpPr>
          <p:nvPr/>
        </p:nvSpPr>
        <p:spPr>
          <a:xfrm>
            <a:off x="10032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70" name="经营-融氏-标签底"/>
          <p:cNvSpPr>
            <a:spLocks noGrp="1"/>
          </p:cNvSpPr>
          <p:nvPr/>
        </p:nvSpPr>
        <p:spPr>
          <a:xfrm>
            <a:off x="10858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71" name="经营-融氏-标签"/>
          <p:cNvSpPr>
            <a:spLocks noGrp="1"/>
          </p:cNvSpPr>
          <p:nvPr/>
        </p:nvSpPr>
        <p:spPr>
          <a:xfrm>
            <a:off x="10858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2" name="经营-融氏-现状"/>
          <p:cNvSpPr>
            <a:spLocks noGrp="1"/>
          </p:cNvSpPr>
          <p:nvPr/>
        </p:nvSpPr>
        <p:spPr>
          <a:xfrm>
            <a:off x="10858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费用按月分摊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3" name="经营-融氏-痛点"/>
          <p:cNvSpPr>
            <a:spLocks noGrp="1"/>
          </p:cNvSpPr>
          <p:nvPr/>
        </p:nvSpPr>
        <p:spPr>
          <a:xfrm>
            <a:off x="10858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报表加经验判断，无驾驶舱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经营-成都-现状卡片"/>
          <p:cNvSpPr>
            <a:spLocks noGrp="1"/>
          </p:cNvSpPr>
          <p:nvPr/>
        </p:nvSpPr>
        <p:spPr>
          <a:xfrm>
            <a:off x="27177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75" name="经营-成都-标签底"/>
          <p:cNvSpPr>
            <a:spLocks noGrp="1"/>
          </p:cNvSpPr>
          <p:nvPr/>
        </p:nvSpPr>
        <p:spPr>
          <a:xfrm>
            <a:off x="28003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76" name="经营-成都-标签"/>
          <p:cNvSpPr>
            <a:spLocks noGrp="1"/>
          </p:cNvSpPr>
          <p:nvPr/>
        </p:nvSpPr>
        <p:spPr>
          <a:xfrm>
            <a:off x="28003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7" name="经营-成都-现状"/>
          <p:cNvSpPr>
            <a:spLocks noGrp="1"/>
          </p:cNvSpPr>
          <p:nvPr/>
        </p:nvSpPr>
        <p:spPr>
          <a:xfrm>
            <a:off x="28003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ym typeface="+mn-ea"/>
              </a:rPr>
              <a:t>费用按月分摊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经营-成都-痛点"/>
          <p:cNvSpPr>
            <a:spLocks noGrp="1"/>
          </p:cNvSpPr>
          <p:nvPr/>
        </p:nvSpPr>
        <p:spPr>
          <a:xfrm>
            <a:off x="28003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SAP导出Excel分析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无驾驶舱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经营-武汉-现状卡片"/>
          <p:cNvSpPr>
            <a:spLocks noGrp="1"/>
          </p:cNvSpPr>
          <p:nvPr/>
        </p:nvSpPr>
        <p:spPr>
          <a:xfrm>
            <a:off x="44322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80" name="经营-武汉-标签底"/>
          <p:cNvSpPr>
            <a:spLocks noGrp="1"/>
          </p:cNvSpPr>
          <p:nvPr/>
        </p:nvSpPr>
        <p:spPr>
          <a:xfrm>
            <a:off x="45148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81" name="经营-武汉-标签"/>
          <p:cNvSpPr>
            <a:spLocks noGrp="1"/>
          </p:cNvSpPr>
          <p:nvPr/>
        </p:nvSpPr>
        <p:spPr>
          <a:xfrm>
            <a:off x="45148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经营-武汉-现状"/>
          <p:cNvSpPr>
            <a:spLocks noGrp="1"/>
          </p:cNvSpPr>
          <p:nvPr/>
        </p:nvSpPr>
        <p:spPr>
          <a:xfrm>
            <a:off x="45148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财务6人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；</a:t>
            </a:r>
            <a:r>
              <a:rPr>
                <a:sym typeface="+mn-ea"/>
              </a:rPr>
              <a:t>费用按月分摊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经营-武汉-痛点"/>
          <p:cNvSpPr>
            <a:spLocks noGrp="1"/>
          </p:cNvSpPr>
          <p:nvPr/>
        </p:nvSpPr>
        <p:spPr>
          <a:xfrm>
            <a:off x="45148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SAP二次加工，无驾驶舱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共性问题标题"/>
          <p:cNvSpPr>
            <a:spLocks noGrp="1"/>
          </p:cNvSpPr>
          <p:nvPr/>
        </p:nvSpPr>
        <p:spPr>
          <a:xfrm>
            <a:off x="254032" y="4445032"/>
            <a:ext cx="165096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6A5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F6A5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总体共性问题</a:t>
            </a:r>
            <a:endParaRPr sz="1275" b="1">
              <a:solidFill>
                <a:srgbClr val="FF6A5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共性问题-人工录入-卡片"/>
          <p:cNvSpPr>
            <a:spLocks noGrp="1"/>
          </p:cNvSpPr>
          <p:nvPr/>
        </p:nvSpPr>
        <p:spPr>
          <a:xfrm>
            <a:off x="254032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86" name="共性问题-人工录入-图标"/>
          <p:cNvSpPr>
            <a:spLocks noGrp="1"/>
          </p:cNvSpPr>
          <p:nvPr/>
        </p:nvSpPr>
        <p:spPr>
          <a:xfrm>
            <a:off x="342900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87" name="共性问题-人工录入-符号"/>
          <p:cNvSpPr>
            <a:spLocks noGrp="1"/>
          </p:cNvSpPr>
          <p:nvPr/>
        </p:nvSpPr>
        <p:spPr>
          <a:xfrm>
            <a:off x="342900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共性问题-人工录入-标题"/>
          <p:cNvSpPr>
            <a:spLocks noGrp="1"/>
          </p:cNvSpPr>
          <p:nvPr/>
        </p:nvSpPr>
        <p:spPr>
          <a:xfrm>
            <a:off x="584168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9" name="共性问题-人工录入-说明"/>
          <p:cNvSpPr>
            <a:spLocks noGrp="1"/>
          </p:cNvSpPr>
          <p:nvPr/>
        </p:nvSpPr>
        <p:spPr>
          <a:xfrm>
            <a:off x="381000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多套表格反复录入，耗时且易错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共性问题-线下协同-卡片"/>
          <p:cNvSpPr>
            <a:spLocks noGrp="1"/>
          </p:cNvSpPr>
          <p:nvPr/>
        </p:nvSpPr>
        <p:spPr>
          <a:xfrm>
            <a:off x="2286000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91" name="共性问题-线下协同-图标"/>
          <p:cNvSpPr>
            <a:spLocks noGrp="1"/>
          </p:cNvSpPr>
          <p:nvPr/>
        </p:nvSpPr>
        <p:spPr>
          <a:xfrm>
            <a:off x="2374868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92" name="共性问题-线下协同-符号"/>
          <p:cNvSpPr>
            <a:spLocks noGrp="1"/>
          </p:cNvSpPr>
          <p:nvPr/>
        </p:nvSpPr>
        <p:spPr>
          <a:xfrm>
            <a:off x="2374868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共性问题-线下协同-标题"/>
          <p:cNvSpPr>
            <a:spLocks noGrp="1"/>
          </p:cNvSpPr>
          <p:nvPr/>
        </p:nvSpPr>
        <p:spPr>
          <a:xfrm>
            <a:off x="2616232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线下协同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4" name="共性问题-线下协同-说明"/>
          <p:cNvSpPr>
            <a:spLocks noGrp="1"/>
          </p:cNvSpPr>
          <p:nvPr/>
        </p:nvSpPr>
        <p:spPr>
          <a:xfrm>
            <a:off x="2412968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微信、电话和Excel推动，状态难追踪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5" name="共性问题-链路断点-卡片"/>
          <p:cNvSpPr>
            <a:spLocks noGrp="1"/>
          </p:cNvSpPr>
          <p:nvPr/>
        </p:nvSpPr>
        <p:spPr>
          <a:xfrm>
            <a:off x="4317968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96" name="共性问题-链路断点-图标"/>
          <p:cNvSpPr>
            <a:spLocks noGrp="1"/>
          </p:cNvSpPr>
          <p:nvPr/>
        </p:nvSpPr>
        <p:spPr>
          <a:xfrm>
            <a:off x="4406932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97" name="共性问题-链路断点-符号"/>
          <p:cNvSpPr>
            <a:spLocks noGrp="1"/>
          </p:cNvSpPr>
          <p:nvPr/>
        </p:nvSpPr>
        <p:spPr>
          <a:xfrm>
            <a:off x="4406932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共性问题-链路断点-标题"/>
          <p:cNvSpPr>
            <a:spLocks noGrp="1"/>
          </p:cNvSpPr>
          <p:nvPr/>
        </p:nvSpPr>
        <p:spPr>
          <a:xfrm>
            <a:off x="4648200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链路断点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9" name="共性问题-链路断点-说明"/>
          <p:cNvSpPr>
            <a:spLocks noGrp="1"/>
          </p:cNvSpPr>
          <p:nvPr/>
        </p:nvSpPr>
        <p:spPr>
          <a:xfrm>
            <a:off x="4445032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系统间数据未贯通，需要人工接续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0" name="共性问题-经验决策-卡片"/>
          <p:cNvSpPr>
            <a:spLocks noGrp="1"/>
          </p:cNvSpPr>
          <p:nvPr/>
        </p:nvSpPr>
        <p:spPr>
          <a:xfrm>
            <a:off x="254032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01" name="共性问题-经验决策-图标"/>
          <p:cNvSpPr>
            <a:spLocks noGrp="1"/>
          </p:cNvSpPr>
          <p:nvPr/>
        </p:nvSpPr>
        <p:spPr>
          <a:xfrm>
            <a:off x="342900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02" name="共性问题-经验决策-符号"/>
          <p:cNvSpPr>
            <a:spLocks noGrp="1"/>
          </p:cNvSpPr>
          <p:nvPr/>
        </p:nvSpPr>
        <p:spPr>
          <a:xfrm>
            <a:off x="342900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共性问题-经验决策-标题"/>
          <p:cNvSpPr>
            <a:spLocks noGrp="1"/>
          </p:cNvSpPr>
          <p:nvPr/>
        </p:nvSpPr>
        <p:spPr>
          <a:xfrm>
            <a:off x="584168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经验决策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4" name="共性问题-经验决策-说明"/>
          <p:cNvSpPr>
            <a:spLocks noGrp="1"/>
          </p:cNvSpPr>
          <p:nvPr/>
        </p:nvSpPr>
        <p:spPr>
          <a:xfrm>
            <a:off x="381000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计划和判断依赖个人经验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5" name="共性问题-异常滞后-卡片"/>
          <p:cNvSpPr>
            <a:spLocks noGrp="1"/>
          </p:cNvSpPr>
          <p:nvPr/>
        </p:nvSpPr>
        <p:spPr>
          <a:xfrm>
            <a:off x="2286000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06" name="共性问题-异常滞后-图标"/>
          <p:cNvSpPr>
            <a:spLocks noGrp="1"/>
          </p:cNvSpPr>
          <p:nvPr/>
        </p:nvSpPr>
        <p:spPr>
          <a:xfrm>
            <a:off x="2374868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07" name="共性问题-异常滞后-符号"/>
          <p:cNvSpPr>
            <a:spLocks noGrp="1"/>
          </p:cNvSpPr>
          <p:nvPr/>
        </p:nvSpPr>
        <p:spPr>
          <a:xfrm>
            <a:off x="2374868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8" name="共性问题-异常滞后-标题"/>
          <p:cNvSpPr>
            <a:spLocks noGrp="1"/>
          </p:cNvSpPr>
          <p:nvPr/>
        </p:nvSpPr>
        <p:spPr>
          <a:xfrm>
            <a:off x="2616232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异常滞后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9" name="共性问题-异常滞后-说明"/>
          <p:cNvSpPr>
            <a:spLocks noGrp="1"/>
          </p:cNvSpPr>
          <p:nvPr/>
        </p:nvSpPr>
        <p:spPr>
          <a:xfrm>
            <a:off x="2412968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风险发现晚，处置依赖人工催办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0" name="共性问题-指标分散-卡片"/>
          <p:cNvSpPr>
            <a:spLocks noGrp="1"/>
          </p:cNvSpPr>
          <p:nvPr/>
        </p:nvSpPr>
        <p:spPr>
          <a:xfrm>
            <a:off x="4317968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11" name="共性问题-指标分散-图标"/>
          <p:cNvSpPr>
            <a:spLocks noGrp="1"/>
          </p:cNvSpPr>
          <p:nvPr/>
        </p:nvSpPr>
        <p:spPr>
          <a:xfrm>
            <a:off x="4406932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12" name="共性问题-指标分散-符号"/>
          <p:cNvSpPr>
            <a:spLocks noGrp="1"/>
          </p:cNvSpPr>
          <p:nvPr/>
        </p:nvSpPr>
        <p:spPr>
          <a:xfrm>
            <a:off x="4406932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3" name="共性问题-指标分散-标题"/>
          <p:cNvSpPr>
            <a:spLocks noGrp="1"/>
          </p:cNvSpPr>
          <p:nvPr/>
        </p:nvSpPr>
        <p:spPr>
          <a:xfrm>
            <a:off x="4648200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指标分散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4" name="共性问题-指标分散-说明"/>
          <p:cNvSpPr>
            <a:spLocks noGrp="1"/>
          </p:cNvSpPr>
          <p:nvPr/>
        </p:nvSpPr>
        <p:spPr>
          <a:xfrm>
            <a:off x="4445032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口径与报表分散，缺少统一视图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5" name="库存优化-未来模块卡片"/>
          <p:cNvSpPr>
            <a:spLocks noGrp="1"/>
          </p:cNvSpPr>
          <p:nvPr/>
        </p:nvSpPr>
        <p:spPr>
          <a:xfrm>
            <a:off x="6635782" y="1079468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17C8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2" name="库存优化-概念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18" y="1143000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17" name="库存优化-模块标题"/>
          <p:cNvSpPr>
            <a:spLocks noGrp="1"/>
          </p:cNvSpPr>
          <p:nvPr/>
        </p:nvSpPr>
        <p:spPr>
          <a:xfrm>
            <a:off x="6750082" y="184785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7C8F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17C8F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275" b="1">
              <a:solidFill>
                <a:srgbClr val="17C8F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8" name="库存优化-功能1"/>
          <p:cNvSpPr>
            <a:spLocks noGrp="1"/>
          </p:cNvSpPr>
          <p:nvPr/>
        </p:nvSpPr>
        <p:spPr>
          <a:xfrm>
            <a:off x="6750082" y="2082832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000"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动态库存策略、4周</a:t>
            </a:r>
            <a:r>
              <a:rPr lang="zh-CN"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补货建议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9" name="库存优化-功能2"/>
          <p:cNvSpPr>
            <a:spLocks noGrp="1"/>
          </p:cNvSpPr>
          <p:nvPr/>
        </p:nvSpPr>
        <p:spPr>
          <a:xfrm>
            <a:off x="6750082" y="2247900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日度库存风险监控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0" name="库存优化-解决问题底"/>
          <p:cNvSpPr>
            <a:spLocks noGrp="1"/>
          </p:cNvSpPr>
          <p:nvPr/>
        </p:nvSpPr>
        <p:spPr>
          <a:xfrm>
            <a:off x="6724650" y="2438400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17C8F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1" name="库存优化-解决问题"/>
          <p:cNvSpPr>
            <a:spLocks noGrp="1"/>
          </p:cNvSpPr>
          <p:nvPr/>
        </p:nvSpPr>
        <p:spPr>
          <a:xfrm>
            <a:off x="6750082" y="243840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解决：库存计划缺失、效期靠人工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2" name="采购优化-未来模块卡片"/>
          <p:cNvSpPr>
            <a:spLocks noGrp="1"/>
          </p:cNvSpPr>
          <p:nvPr/>
        </p:nvSpPr>
        <p:spPr>
          <a:xfrm>
            <a:off x="10255282" y="1079468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FFD2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9" name="采购优化-概念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718" y="1143000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24" name="采购优化-模块标题"/>
          <p:cNvSpPr>
            <a:spLocks noGrp="1"/>
          </p:cNvSpPr>
          <p:nvPr/>
        </p:nvSpPr>
        <p:spPr>
          <a:xfrm>
            <a:off x="10369582" y="184785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27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5" name="采购优化-功能1"/>
          <p:cNvSpPr>
            <a:spLocks noGrp="1"/>
          </p:cNvSpPr>
          <p:nvPr/>
        </p:nvSpPr>
        <p:spPr>
          <a:xfrm>
            <a:off x="10369582" y="2082832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优化供方、数量、交期与成本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6" name="采购优化-功能2"/>
          <p:cNvSpPr>
            <a:spLocks noGrp="1"/>
          </p:cNvSpPr>
          <p:nvPr/>
        </p:nvSpPr>
        <p:spPr>
          <a:xfrm>
            <a:off x="10369582" y="2247900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自动形成采购建议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7" name="采购优化-解决问题底"/>
          <p:cNvSpPr>
            <a:spLocks noGrp="1"/>
          </p:cNvSpPr>
          <p:nvPr/>
        </p:nvSpPr>
        <p:spPr>
          <a:xfrm>
            <a:off x="10344150" y="2438400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FFD24A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8" name="采购优化-解决问题"/>
          <p:cNvSpPr>
            <a:spLocks noGrp="1"/>
          </p:cNvSpPr>
          <p:nvPr/>
        </p:nvSpPr>
        <p:spPr>
          <a:xfrm>
            <a:off x="10369582" y="243840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解决：线下询价、人工计划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9" name="要货计划-未来模块卡片"/>
          <p:cNvSpPr>
            <a:spLocks noGrp="1"/>
          </p:cNvSpPr>
          <p:nvPr/>
        </p:nvSpPr>
        <p:spPr>
          <a:xfrm>
            <a:off x="6635782" y="4572000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17D78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86" name="要货计划-概念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218" y="4635532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31" name="要货计划-模块标题"/>
          <p:cNvSpPr>
            <a:spLocks noGrp="1"/>
          </p:cNvSpPr>
          <p:nvPr/>
        </p:nvSpPr>
        <p:spPr>
          <a:xfrm>
            <a:off x="6750082" y="534038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27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2" name="要货计划-功能1"/>
          <p:cNvSpPr>
            <a:spLocks noGrp="1"/>
          </p:cNvSpPr>
          <p:nvPr/>
        </p:nvSpPr>
        <p:spPr>
          <a:xfrm>
            <a:off x="6750082" y="5575268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合同、库存、在途生成日度计划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3" name="要货计划-功能2"/>
          <p:cNvSpPr>
            <a:spLocks noGrp="1"/>
          </p:cNvSpPr>
          <p:nvPr/>
        </p:nvSpPr>
        <p:spPr>
          <a:xfrm>
            <a:off x="6750082" y="5740432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缺口预警并推送执行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4" name="要货计划-解决问题底"/>
          <p:cNvSpPr>
            <a:spLocks noGrp="1"/>
          </p:cNvSpPr>
          <p:nvPr/>
        </p:nvSpPr>
        <p:spPr>
          <a:xfrm>
            <a:off x="6724650" y="5930932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17D78B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5" name="要货计划-解决问题"/>
          <p:cNvSpPr>
            <a:spLocks noGrp="1"/>
          </p:cNvSpPr>
          <p:nvPr/>
        </p:nvSpPr>
        <p:spPr>
          <a:xfrm>
            <a:off x="6750082" y="593093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解决：微信通知、到货人工跟踪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6" name="成本分摊-未来模块卡片"/>
          <p:cNvSpPr>
            <a:spLocks noGrp="1"/>
          </p:cNvSpPr>
          <p:nvPr/>
        </p:nvSpPr>
        <p:spPr>
          <a:xfrm>
            <a:off x="10255282" y="4572000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B47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93" name="成本分摊-概念图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718" y="4635532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38" name="成本分摊-模块标题"/>
          <p:cNvSpPr>
            <a:spLocks noGrp="1"/>
          </p:cNvSpPr>
          <p:nvPr/>
        </p:nvSpPr>
        <p:spPr>
          <a:xfrm>
            <a:off x="10369582" y="534038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B47C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B47C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275" b="1">
              <a:solidFill>
                <a:srgbClr val="B47C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9" name="成本分摊-功能1"/>
          <p:cNvSpPr>
            <a:spLocks noGrp="1"/>
          </p:cNvSpPr>
          <p:nvPr/>
        </p:nvSpPr>
        <p:spPr>
          <a:xfrm>
            <a:off x="10369582" y="5575268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月度规则分摊与多维分析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0" name="成本分摊-功能2"/>
          <p:cNvSpPr>
            <a:spLocks noGrp="1"/>
          </p:cNvSpPr>
          <p:nvPr/>
        </p:nvSpPr>
        <p:spPr>
          <a:xfrm>
            <a:off x="10369582" y="5740432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批次异常定位与溯源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1" name="成本分摊-解决问题底"/>
          <p:cNvSpPr>
            <a:spLocks noGrp="1"/>
          </p:cNvSpPr>
          <p:nvPr/>
        </p:nvSpPr>
        <p:spPr>
          <a:xfrm>
            <a:off x="10344150" y="5930932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B47CFF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42" name="成本分摊-解决问题"/>
          <p:cNvSpPr>
            <a:spLocks noGrp="1"/>
          </p:cNvSpPr>
          <p:nvPr/>
        </p:nvSpPr>
        <p:spPr>
          <a:xfrm>
            <a:off x="10369582" y="593093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解决：Excel加工、异常难追溯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3" name="经营驾驶舱-中心卡片"/>
          <p:cNvSpPr>
            <a:spLocks noGrp="1"/>
          </p:cNvSpPr>
          <p:nvPr/>
        </p:nvSpPr>
        <p:spPr>
          <a:xfrm>
            <a:off x="8382000" y="2793968"/>
            <a:ext cx="1714500" cy="1714500"/>
          </a:xfrm>
          <a:prstGeom prst="roundRect">
            <a:avLst>
              <a:gd name="adj" fmla="val 8889"/>
            </a:avLst>
          </a:prstGeom>
          <a:solidFill>
            <a:srgbClr val="071928"/>
          </a:solidFill>
          <a:ln w="19050">
            <a:solidFill>
              <a:srgbClr val="5BE0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300" name="经营驾驶舱-概念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870168"/>
            <a:ext cx="1562100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145" name="经营驾驶舱-标题底"/>
          <p:cNvSpPr>
            <a:spLocks noGrp="1"/>
          </p:cNvSpPr>
          <p:nvPr/>
        </p:nvSpPr>
        <p:spPr>
          <a:xfrm>
            <a:off x="8667750" y="34671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46" name="经营驾驶舱-标题"/>
          <p:cNvSpPr>
            <a:spLocks noGrp="1"/>
          </p:cNvSpPr>
          <p:nvPr/>
        </p:nvSpPr>
        <p:spPr>
          <a:xfrm>
            <a:off x="8667750" y="34671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7" name="经营驾驶舱-功能1"/>
          <p:cNvSpPr>
            <a:spLocks noGrp="1"/>
          </p:cNvSpPr>
          <p:nvPr/>
        </p:nvSpPr>
        <p:spPr>
          <a:xfrm>
            <a:off x="8521732" y="3784568"/>
            <a:ext cx="14351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全指标汇聚、异常钻取</a:t>
            </a:r>
            <a:endParaRPr sz="840" b="0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8" name="经营驾驶舱-功能2"/>
          <p:cNvSpPr>
            <a:spLocks noGrp="1"/>
          </p:cNvSpPr>
          <p:nvPr/>
        </p:nvSpPr>
        <p:spPr>
          <a:xfrm>
            <a:off x="8521732" y="3949732"/>
            <a:ext cx="14351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人工复核形成决策闭环</a:t>
            </a:r>
            <a:endParaRPr sz="840" b="0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9" name="经营驾驶舱-解决问题底"/>
          <p:cNvSpPr>
            <a:spLocks noGrp="1"/>
          </p:cNvSpPr>
          <p:nvPr/>
        </p:nvSpPr>
        <p:spPr>
          <a:xfrm>
            <a:off x="8470868" y="4191000"/>
            <a:ext cx="1536668" cy="215932"/>
          </a:xfrm>
          <a:prstGeom prst="roundRect">
            <a:avLst>
              <a:gd name="adj" fmla="val 26467"/>
            </a:avLst>
          </a:prstGeom>
          <a:solidFill>
            <a:srgbClr val="5BE0FF">
              <a:alpha val="10000"/>
            </a:srgbClr>
          </a:solidFill>
          <a:ln w="6668">
            <a:solidFill>
              <a:srgbClr val="5BE0FF">
                <a:alpha val="55000"/>
              </a:srgbClr>
            </a:solidFill>
            <a:prstDash val="solid"/>
          </a:ln>
        </p:spPr>
      </p:sp>
      <p:sp>
        <p:nvSpPr>
          <p:cNvPr id="150" name="经营驾驶舱-解决问题"/>
          <p:cNvSpPr>
            <a:spLocks noGrp="1"/>
          </p:cNvSpPr>
          <p:nvPr/>
        </p:nvSpPr>
        <p:spPr>
          <a:xfrm>
            <a:off x="8496300" y="4191000"/>
            <a:ext cx="1485900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90" b="1">
                <a:solidFill>
                  <a:srgbClr val="CF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90" b="1">
                <a:solidFill>
                  <a:srgbClr val="CF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解决：指标分散、经验判断、异常滞后</a:t>
            </a:r>
            <a:endParaRPr sz="690" b="1">
              <a:solidFill>
                <a:srgbClr val="CF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1" name="库存优化-驾驶舱连线"/>
          <p:cNvSpPr>
            <a:spLocks noGrp="1"/>
          </p:cNvSpPr>
          <p:nvPr/>
        </p:nvSpPr>
        <p:spPr>
          <a:xfrm>
            <a:off x="8001000" y="2730532"/>
            <a:ext cx="698468" cy="63436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2" name="采购优化-驾驶舱连线"/>
          <p:cNvSpPr>
            <a:spLocks noGrp="1"/>
          </p:cNvSpPr>
          <p:nvPr/>
        </p:nvSpPr>
        <p:spPr>
          <a:xfrm flipV="1">
            <a:off x="9779032" y="2730532"/>
            <a:ext cx="698468" cy="63436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3" name="要货计划-驾驶舱连线"/>
          <p:cNvSpPr>
            <a:spLocks noGrp="1"/>
          </p:cNvSpPr>
          <p:nvPr/>
        </p:nvSpPr>
        <p:spPr>
          <a:xfrm flipV="1">
            <a:off x="8001000" y="4508468"/>
            <a:ext cx="698468" cy="63532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4" name="成本分摊-驾驶舱连线"/>
          <p:cNvSpPr>
            <a:spLocks noGrp="1"/>
          </p:cNvSpPr>
          <p:nvPr/>
        </p:nvSpPr>
        <p:spPr>
          <a:xfrm>
            <a:off x="9779032" y="4508468"/>
            <a:ext cx="698468" cy="63532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5" name="未来流程说明底"/>
          <p:cNvSpPr>
            <a:spLocks noGrp="1"/>
          </p:cNvSpPr>
          <p:nvPr/>
        </p:nvSpPr>
        <p:spPr>
          <a:xfrm>
            <a:off x="6731032" y="6286500"/>
            <a:ext cx="5016532" cy="330232"/>
          </a:xfrm>
          <a:prstGeom prst="roundRect">
            <a:avLst>
              <a:gd name="adj" fmla="val 25959"/>
            </a:avLst>
          </a:prstGeom>
          <a:solidFill>
            <a:srgbClr val="0B2232"/>
          </a:solidFill>
          <a:ln w="9525">
            <a:solidFill>
              <a:srgbClr val="1BAED5"/>
            </a:solidFill>
            <a:prstDash val="solid"/>
          </a:ln>
        </p:spPr>
      </p:sp>
      <p:sp>
        <p:nvSpPr>
          <p:cNvPr id="156" name="未来流程说明"/>
          <p:cNvSpPr>
            <a:spLocks noGrp="1"/>
          </p:cNvSpPr>
          <p:nvPr/>
        </p:nvSpPr>
        <p:spPr>
          <a:xfrm>
            <a:off x="6826282" y="6286500"/>
            <a:ext cx="4826032" cy="3302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5" b="1">
                <a:solidFill>
                  <a:srgbClr val="DFF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25" b="1">
                <a:solidFill>
                  <a:srgbClr val="DFF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系统自动生成建议　　业务人员复核调整　　审批后发布执行</a:t>
            </a:r>
            <a:endParaRPr sz="925" b="1">
              <a:solidFill>
                <a:srgbClr val="DFF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0" name="图片 11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122" name="图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02  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SCOS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整体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建设方案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5CCDF5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71500" y="1219200"/>
            <a:ext cx="11029950" cy="704850"/>
          </a:xfrm>
          <a:prstGeom prst="roundRect">
            <a:avLst>
              <a:gd name="adj" fmla="val 12162"/>
            </a:avLst>
          </a:prstGeom>
          <a:solidFill>
            <a:srgbClr val="061B2A">
              <a:alpha val="95000"/>
            </a:srgbClr>
          </a:solidFill>
          <a:ln w="12859">
            <a:solidFill>
              <a:srgbClr val="1B99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27" name="图片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381125"/>
            <a:ext cx="381000" cy="3810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19200" y="132397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1609725"/>
            <a:ext cx="143827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汇聚全部模块指标</a:t>
            </a:r>
            <a:endParaRPr sz="1050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956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29718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库存健康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718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周转与风险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910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采购执行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成本与履约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865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要货履约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到货与缺口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819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80581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成本分析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581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结构与异常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774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97536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经营绩效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536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产销与资金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715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18AE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46" name="图片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228850"/>
            <a:ext cx="323850" cy="3238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0763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716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668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出货、订单、库存、生产入库、罐容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668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月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库存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策略、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未来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4周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日度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补货、日度校验</a:t>
            </a:r>
            <a:endParaRPr sz="1005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668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SS/s/S、补货量、风险日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27813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E8B93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9" name="图片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0" y="2132330"/>
            <a:ext cx="323850" cy="3238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32861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5814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146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9146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2766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物料需求、采购承诺、报价、供货能力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9146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9146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2766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供应商组合与综合成本优化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9146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9146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2766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采购量、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采购订单下达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及到货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建议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9911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39CF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2" name="图片 1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300" y="2155190"/>
            <a:ext cx="397510" cy="39751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54959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7912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244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1244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4864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原料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需求、库存、合同、在途、收货条件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1244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1244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4864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供应商、合同、日期、数量滚动优化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1244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1244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4864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供应商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日要货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量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需求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缺口与风险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2009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9A83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85" name="图片 1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280" y="2181225"/>
            <a:ext cx="323850" cy="323850"/>
          </a:xfrm>
          <a:prstGeom prst="rect">
            <a:avLst/>
          </a:prstGeom>
        </p:spPr>
      </p:pic>
      <p:sp>
        <p:nvSpPr>
          <p:cNvPr id="67" name="矩形 66"/>
          <p:cNvSpPr>
            <a:spLocks noGrp="1"/>
          </p:cNvSpPr>
          <p:nvPr/>
        </p:nvSpPr>
        <p:spPr>
          <a:xfrm>
            <a:off x="77057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010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3342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3342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962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SAP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费用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、MES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工单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、能耗、仓储与运输数据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3342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3342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6962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生成成本</a:t>
            </a: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归集、费用池与批次分摊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3342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3342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76962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多维成本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分析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、批次异常与溯源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94107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18AE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98" name="图片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2228850"/>
            <a:ext cx="323850" cy="323850"/>
          </a:xfrm>
          <a:prstGeom prst="rect">
            <a:avLst/>
          </a:prstGeom>
        </p:spPr>
      </p:pic>
      <p:sp>
        <p:nvSpPr>
          <p:cNvPr id="80" name="矩形 79"/>
          <p:cNvSpPr>
            <a:spLocks noGrp="1"/>
          </p:cNvSpPr>
          <p:nvPr/>
        </p:nvSpPr>
        <p:spPr>
          <a:xfrm>
            <a:off x="99155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2108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5440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5440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9060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各模块结果、业务状态和预警事件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5440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95440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9060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KPI、健康度、异常及影响范围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5440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5440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9060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态势、钻取、派发与闭环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71500" y="43719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算法模型与规则引擎</a:t>
            </a:r>
            <a:endParaRPr sz="13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5715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3" name="矩形 92"/>
          <p:cNvSpPr>
            <a:spLocks noGrp="1"/>
          </p:cNvSpPr>
          <p:nvPr/>
        </p:nvSpPr>
        <p:spPr>
          <a:xfrm>
            <a:off x="6477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477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(R,s,S) · 滚动递推 · 罐容约束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7813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6" name="矩形 95"/>
          <p:cNvSpPr>
            <a:spLocks noGrp="1"/>
          </p:cNvSpPr>
          <p:nvPr/>
        </p:nvSpPr>
        <p:spPr>
          <a:xfrm>
            <a:off x="28575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28575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成本 / 供货 / 交期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49911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9" name="矩形 98"/>
          <p:cNvSpPr>
            <a:spLocks noGrp="1"/>
          </p:cNvSpPr>
          <p:nvPr/>
        </p:nvSpPr>
        <p:spPr>
          <a:xfrm>
            <a:off x="50673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0673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合同 / 库存 / 在途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72009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2" name="矩形 101"/>
          <p:cNvSpPr>
            <a:spLocks noGrp="1"/>
          </p:cNvSpPr>
          <p:nvPr/>
        </p:nvSpPr>
        <p:spPr>
          <a:xfrm>
            <a:off x="72771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72771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费用池 · 分摊动因 · 规则版本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94107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5" name="矩形 104"/>
          <p:cNvSpPr>
            <a:spLocks noGrp="1"/>
          </p:cNvSpPr>
          <p:nvPr/>
        </p:nvSpPr>
        <p:spPr>
          <a:xfrm>
            <a:off x="94869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4869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时序异常 · 阈值 · 分级规则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571500" y="5429250"/>
            <a:ext cx="11029950" cy="323850"/>
          </a:xfrm>
          <a:prstGeom prst="roundRect">
            <a:avLst>
              <a:gd name="adj" fmla="val 17647"/>
            </a:avLst>
          </a:prstGeom>
          <a:solidFill>
            <a:srgbClr val="111923">
              <a:alpha val="95000"/>
            </a:srgbClr>
          </a:solidFill>
          <a:ln w="12859">
            <a:solidFill>
              <a:srgbClr val="54657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8" name="矩形 107"/>
          <p:cNvSpPr>
            <a:spLocks noGrp="1"/>
          </p:cNvSpPr>
          <p:nvPr/>
        </p:nvSpPr>
        <p:spPr>
          <a:xfrm>
            <a:off x="733425" y="5457825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模型治理：数据版本   模型参数   规则版本   计算结果   人工调整   审批记录</a:t>
            </a:r>
            <a:endParaRPr sz="1065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71500" y="5848350"/>
            <a:ext cx="11029950" cy="495300"/>
          </a:xfrm>
          <a:prstGeom prst="roundRect">
            <a:avLst>
              <a:gd name="adj" fmla="val 13462"/>
            </a:avLst>
          </a:prstGeom>
          <a:solidFill>
            <a:srgbClr val="061B2B">
              <a:alpha val="96000"/>
            </a:srgbClr>
          </a:solidFill>
          <a:ln w="12859">
            <a:solidFill>
              <a:srgbClr val="238F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0" name="矩形 109"/>
          <p:cNvSpPr>
            <a:spLocks noGrp="1"/>
          </p:cNvSpPr>
          <p:nvPr/>
        </p:nvSpPr>
        <p:spPr>
          <a:xfrm>
            <a:off x="733425" y="5953125"/>
            <a:ext cx="809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数据来源</a:t>
            </a:r>
            <a:endParaRPr sz="12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581150" y="5943600"/>
            <a:ext cx="98012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    WMS    MES    CRM / SRM    TMS    QMS / LIMS    实时数据平台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7" name="图片 8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99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03  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关键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跃升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18BF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04" name="图片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724025"/>
            <a:ext cx="409575" cy="4095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2573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5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764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减少人工操作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自动采集、自动计算；人员处理审核和异常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录入及数据整理工时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145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减少40%至60%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重复报表制作工时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3145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减少50%至70%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采购催单跟踪工时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145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减少30%至50%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906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954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57450" y="4491038"/>
            <a:ext cx="419100" cy="128588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00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62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28625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E8BC4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23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724025"/>
            <a:ext cx="409575" cy="409575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497205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39115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提升业务效率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滚动计划、异常派发和批次下钻缩短决策链路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7675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计划编制调整周期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2932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缩短50%至70%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7675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47675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供应与库存异常响应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2932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缩短60%至80%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7675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7675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成本异常定位时间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2932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缩短70%至90%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0540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41020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172200" y="4529614"/>
            <a:ext cx="419100" cy="90011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314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076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0010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39D28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42" name="图片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75" y="1724025"/>
            <a:ext cx="409575" cy="409575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86868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50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1059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降低运营成本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915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优化库存结构、供应商组合和到货节奏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1915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库存资金占用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7440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降低3%至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1915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915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呆滞库存金额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7440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降低10%至20%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1915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1915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原料综合采购成本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7440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%至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8201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1249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886950" y="4393311"/>
            <a:ext cx="419100" cy="226314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029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791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71500" y="50577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五模块价值贡献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5715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2" name="图片 1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543550"/>
            <a:ext cx="323850" cy="323850"/>
          </a:xfrm>
          <a:prstGeom prst="rect">
            <a:avLst/>
          </a:prstGeom>
        </p:spPr>
      </p:pic>
      <p:sp>
        <p:nvSpPr>
          <p:cNvPr id="69" name="矩形 68"/>
          <p:cNvSpPr>
            <a:spLocks noGrp="1"/>
          </p:cNvSpPr>
          <p:nvPr/>
        </p:nvSpPr>
        <p:spPr>
          <a:xfrm>
            <a:off x="10763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763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降低库存与呆滞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27813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6" name="图片 1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5543550"/>
            <a:ext cx="323850" cy="3238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32861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规范寻源与价格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49911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0" name="图片 1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5543550"/>
            <a:ext cx="323850" cy="323850"/>
          </a:xfrm>
          <a:prstGeom prst="rect">
            <a:avLst/>
          </a:prstGeom>
        </p:spPr>
      </p:pic>
      <p:sp>
        <p:nvSpPr>
          <p:cNvPr id="77" name="矩形 76"/>
          <p:cNvSpPr>
            <a:spLocks noGrp="1"/>
          </p:cNvSpPr>
          <p:nvPr/>
        </p:nvSpPr>
        <p:spPr>
          <a:xfrm>
            <a:off x="54959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54959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减少沟通与等待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72009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4" name="图片 1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5543550"/>
            <a:ext cx="323850" cy="323850"/>
          </a:xfrm>
          <a:prstGeom prst="rect">
            <a:avLst/>
          </a:prstGeom>
        </p:spPr>
      </p:pic>
      <p:sp>
        <p:nvSpPr>
          <p:cNvPr id="81" name="矩形 80"/>
          <p:cNvSpPr>
            <a:spLocks noGrp="1"/>
          </p:cNvSpPr>
          <p:nvPr/>
        </p:nvSpPr>
        <p:spPr>
          <a:xfrm>
            <a:off x="77057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7057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批次追溯与异常定位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94107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8" name="图片 1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5543550"/>
            <a:ext cx="323850" cy="323850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99155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9155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统一指标与决策跟踪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表格</Application>
  <PresentationFormat>Converted Presentation</PresentationFormat>
  <Paragraphs>480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Songti SC</vt:lpstr>
      <vt:lpstr>Hiragino Sans GB</vt:lpstr>
      <vt:lpstr>Hiragino Sans GB W6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15</cp:revision>
  <dcterms:created xsi:type="dcterms:W3CDTF">2026-09-24T08:24:53Z</dcterms:created>
  <dcterms:modified xsi:type="dcterms:W3CDTF">2026-09-24T08:24:53Z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8C06F55AA4ECBEA15EDBB46AC4E250B2_42</vt:lpwstr>
  </property>
  <property fmtid="{D5CDD505-2E9C-101B-9397-08002B2CF9AE}" pid="3" name="KSOProductBuildVer">
    <vt:lpwstr>2052-12.1.26055.26055</vt:lpwstr>
  </property>
</Properties>
</file>