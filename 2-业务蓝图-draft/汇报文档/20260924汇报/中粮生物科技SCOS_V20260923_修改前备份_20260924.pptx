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be6a5156ff4931" /><Relationship Type="http://schemas.openxmlformats.org/officeDocument/2006/relationships/extended-properties" Target="/docProps/app.xml" Id="R7dcabf3170284b1d" /><Relationship Type="http://schemas.openxmlformats.org/officeDocument/2006/relationships/officeDocument" Target="/ppt/presentation.xml" Id="Re87b019b73c444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f6b3a3cb2a4553"/>
  </p:sldMasterIdLst>
  <p:notesMasterIdLst>
    <p:notesMasterId xmlns:r="http://schemas.openxmlformats.org/officeDocument/2006/relationships" r:id="R1743c121b7e8454d"/>
  </p:notesMasterIdLst>
  <p:sldIdLst>
    <p:sldId xmlns:r="http://schemas.openxmlformats.org/officeDocument/2006/relationships" id="256" r:id="Rbd41c78ea16b49fe"/>
    <p:sldId xmlns:r="http://schemas.openxmlformats.org/officeDocument/2006/relationships" id="257" r:id="R4e6971dc091d498c"/>
    <p:sldId xmlns:r="http://schemas.openxmlformats.org/officeDocument/2006/relationships" id="258" r:id="Rbcbf3273ad1442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70d9c9861240d5" /><Relationship Type="http://schemas.openxmlformats.org/officeDocument/2006/relationships/slideMaster" Target="/ppt/slideMasters/slideMaster1.xml" Id="R0ef6b3a3cb2a4553" /><Relationship Type="http://schemas.openxmlformats.org/officeDocument/2006/relationships/notesMaster" Target="/ppt/notesMasters/notesMaster1.xml" Id="R1743c121b7e8454d" /><Relationship Type="http://schemas.openxmlformats.org/officeDocument/2006/relationships/presProps" Target="/ppt/presProps.xml" Id="R80b4ab300a204ccb" /><Relationship Type="http://schemas.openxmlformats.org/officeDocument/2006/relationships/viewProps" Target="/ppt/viewProps.xml" Id="R35698ccffbc14e16" /><Relationship Type="http://schemas.openxmlformats.org/officeDocument/2006/relationships/tableStyles" Target="/ppt/tableStyles.xml" Id="R29c7a5f7bb824fc9" /><Relationship Type="http://schemas.openxmlformats.org/officeDocument/2006/relationships/slide" Target="/ppt/slides/slide1.xml" Id="Rbd41c78ea16b49fe" /><Relationship Type="http://schemas.openxmlformats.org/officeDocument/2006/relationships/slide" Target="/ppt/slides/slide2.xml" Id="R4e6971dc091d498c" /><Relationship Type="http://schemas.openxmlformats.org/officeDocument/2006/relationships/slide" Target="/ppt/slides/slide3.xml" Id="Rbcbf3273ad1442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25ff100af544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6745fa2f574284" /><Relationship Type="http://schemas.openxmlformats.org/officeDocument/2006/relationships/notesMaster" Target="/ppt/notesMasters/notesMaster1.xml" Id="Re90505cb5b9c46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2929ca5f4f4524" /><Relationship Type="http://schemas.openxmlformats.org/officeDocument/2006/relationships/notesMaster" Target="/ppt/notesMasters/notesMaster1.xml" Id="R62cdc4d44f8f4e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a4a015e4db42ec" /><Relationship Type="http://schemas.openxmlformats.org/officeDocument/2006/relationships/notesMaster" Target="/ppt/notesMasters/notesMaster1.xml" Id="Rcf9794d0e0b445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调研来源：</a:t>
            </a:r>
          </a:p>
          <a:p xmlns:a="http://schemas.openxmlformats.org/drawingml/2006/main">
            <a:r>
              <a:t>/Users/zihaoguo/Desktop/中控/scos_proj/1-wiki-资料沉淀/调研报告/上海融氏调研报告在线版.xlsx，工作表“一、订单接收”“七、成品入库”“十六、经营辅助决策”“十七、原料采购”。</a:t>
            </a:r>
          </a:p>
          <a:p xmlns:a="http://schemas.openxmlformats.org/drawingml/2006/main">
            <a:r>
              <a:t>/Users/zihaoguo/Desktop/中控/scos_proj/1-wiki-资料沉淀/调研报告/中粮成都调研报告在线版.xlsx，同名工作表。</a:t>
            </a:r>
          </a:p>
          <a:p xmlns:a="http://schemas.openxmlformats.org/drawingml/2006/main">
            <a:r>
              <a:t>/Users/zihaoguo/Desktop/中控/scos_proj/1-wiki-资料沉淀/调研报告/中粮武汉调研报告在线版.xlsx，同名工作表。</a:t>
            </a:r>
          </a:p>
          <a:p xmlns:a="http://schemas.openxmlformats.org/drawingml/2006/main">
            <a:r>
              <a:t>蓝图来源：/Users/zihaoguo/Desktop/中控/scos_proj/3-业务蓝图-终态/SCOS_中粮太仓项目研发模块蓝图方案v0.9.docx。三厂现状与太仓蓝图为不同工厂、不同阶段，不作为实施前后实绩对比。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蓝图来源：/Users/zihaoguo/Desktop/中控/scos_proj/3-业务蓝图-终态/SCOS_中粮太仓项目研发模块蓝图方案v0.9.docx，库存优化、采购优化、要货计划、驾驶舱、成本分摊关键业务流程及智能化场景。SCOS当前范围不包含需求预测。成本分摊按月运行，用于多维分析和批次异常溯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蓝图依据：/Users/zihaoguo/Desktop/中控/scos_proj/3-业务蓝图-终态/SCOS_中粮太仓项目研发模块蓝图方案v0.9.docx。页面目标值为用户授权的方案阶段估算区间，需根据三厂基线和试运行数据校准，不代表当前实绩或最终验收目标。紧急采购及滞留超期费用另建议降低10%至20%，因页面空间未作为主指标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98767a79941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38adfeb84c4dad" /><Relationship Type="http://schemas.openxmlformats.org/officeDocument/2006/relationships/slideLayout" Target="/ppt/slideLayouts/slideLayout1.xml" Id="Rb1bcdee974584fd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bcdee974584f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634ce53794128" /><Relationship Type="http://schemas.openxmlformats.org/officeDocument/2006/relationships/image" Target="/ppt/media/image.png" Id="R28e49bd8926a4610" /><Relationship Type="http://schemas.openxmlformats.org/officeDocument/2006/relationships/image" Target="/ppt/media/image2.png" Id="Rf4fc60aec4354fd2" /><Relationship Type="http://schemas.openxmlformats.org/officeDocument/2006/relationships/image" Target="/ppt/media/image3.png" Id="Rb2093d3032634d4b" /><Relationship Type="http://schemas.openxmlformats.org/officeDocument/2006/relationships/image" Target="/ppt/media/image4.png" Id="R2471b5dd1b70466d" /><Relationship Type="http://schemas.openxmlformats.org/officeDocument/2006/relationships/image" Target="/ppt/media/image5.png" Id="R0504a0bf5f48405e" /><Relationship Type="http://schemas.openxmlformats.org/officeDocument/2006/relationships/image" Target="/ppt/media/image6.png" Id="R7d57542689264cfc" /><Relationship Type="http://schemas.openxmlformats.org/officeDocument/2006/relationships/image" Target="/ppt/media/image7.png" Id="Rb0772358f4ba4def" /><Relationship Type="http://schemas.openxmlformats.org/officeDocument/2006/relationships/image" Target="/ppt/media/image8.png" Id="Rd4d0fa81b92d4fb4" /><Relationship Type="http://schemas.openxmlformats.org/officeDocument/2006/relationships/notesSlide" Target="/ppt/notesSlides/notesSlide1.xml" Id="R92599edcd06548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9ead0b1a94fb5" /><Relationship Type="http://schemas.openxmlformats.org/officeDocument/2006/relationships/image" Target="/ppt/media/image.png" Id="R2c7749a95ea04e5f" /><Relationship Type="http://schemas.openxmlformats.org/officeDocument/2006/relationships/image" Target="/ppt/media/image2.png" Id="Rc37edd2e975b4fab" /><Relationship Type="http://schemas.openxmlformats.org/officeDocument/2006/relationships/image" Target="/ppt/media/image7.png" Id="R199cb3978ace44fa" /><Relationship Type="http://schemas.openxmlformats.org/officeDocument/2006/relationships/image" Target="/ppt/media/image3.png" Id="R7e3138c109144e75" /><Relationship Type="http://schemas.openxmlformats.org/officeDocument/2006/relationships/image" Target="/ppt/media/image4.png" Id="Rc20bcac8cc114c50" /><Relationship Type="http://schemas.openxmlformats.org/officeDocument/2006/relationships/image" Target="/ppt/media/image5.png" Id="R5ff3b7466786412b" /><Relationship Type="http://schemas.openxmlformats.org/officeDocument/2006/relationships/image" Target="/ppt/media/image6.png" Id="R25d0080a32ee4947" /><Relationship Type="http://schemas.openxmlformats.org/officeDocument/2006/relationships/notesSlide" Target="/ppt/notesSlides/notesSlide2.xml" Id="R45c5429ed81b4c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19a1d2d7a41ff" /><Relationship Type="http://schemas.openxmlformats.org/officeDocument/2006/relationships/image" Target="/ppt/media/image.png" Id="R15339e56dce9472c" /><Relationship Type="http://schemas.openxmlformats.org/officeDocument/2006/relationships/image" Target="/ppt/media/image2.png" Id="R7009cd14bdb24339" /><Relationship Type="http://schemas.openxmlformats.org/officeDocument/2006/relationships/image" Target="/ppt/media/image9.png" Id="R0b1293114b3a48b9" /><Relationship Type="http://schemas.openxmlformats.org/officeDocument/2006/relationships/image" Target="/ppt/media/image10.png" Id="R4e455cfd6acc4af5" /><Relationship Type="http://schemas.openxmlformats.org/officeDocument/2006/relationships/image" Target="/ppt/media/image11.png" Id="Reb0b0585be5446fb" /><Relationship Type="http://schemas.openxmlformats.org/officeDocument/2006/relationships/image" Target="/ppt/media/image3.png" Id="R1ead6c7ff749428d" /><Relationship Type="http://schemas.openxmlformats.org/officeDocument/2006/relationships/image" Target="/ppt/media/image4.png" Id="R0f7c8bb1e21b4700" /><Relationship Type="http://schemas.openxmlformats.org/officeDocument/2006/relationships/image" Target="/ppt/media/image5.png" Id="R2baf403a32d54532" /><Relationship Type="http://schemas.openxmlformats.org/officeDocument/2006/relationships/image" Target="/ppt/media/image6.png" Id="Rbd191b64d65643de" /><Relationship Type="http://schemas.openxmlformats.org/officeDocument/2006/relationships/image" Target="/ppt/media/image7.png" Id="R4f6d5f182a6b4ab8" /><Relationship Type="http://schemas.openxmlformats.org/officeDocument/2006/relationships/notesSlide" Target="/ppt/notesSlides/notesSlide3.xml" Id="R6b82b8753e724f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9" name="图片 9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49bd8926a461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A118BD6-64B6-47FF-ACD4-F2816942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1" name="图片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c60aec4354f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81521"/>
            <a:ext cx="685800" cy="579958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8E443EC-27FF-46A4-A968-914755CA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FFF00"/>
                </a:solidFill>
                <a:latin typeface="Songti SC"/>
                <a:ea typeface="Songti SC"/>
                <a:cs typeface="Songti SC"/>
              </a:defRPr>
            </a:pPr>
            <a:r>
              <a:rPr sz="2550" b="0">
                <a:solidFill>
                  <a:srgbClr val="FFFF00"/>
                </a:solidFill>
                <a:latin typeface="Songti SC"/>
                <a:ea typeface="Songti SC"/>
                <a:cs typeface="Songti SC"/>
              </a:rPr>
              <a:t>行业现状与未来蓝图对比</a:t>
            </a:r>
            <a:endParaRPr sz="2550" b="0">
              <a:solidFill>
                <a:srgbClr val="FFFF0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AE03ED0-5B52-4905-890C-53CAF13A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defRPr>
            </a:pPr>
            <a:r>
              <a: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rPr>
              <a:t>— 01  现状与</a:t>
            </a:r>
            <a:r>
              <a: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rPr>
              <a:t>未来</a:t>
            </a:r>
            <a:r>
              <a: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rPr>
              <a:t>蓝图</a:t>
            </a:r>
            <a:endParaRPr sz="1875" b="1">
              <a:solidFill>
                <a:srgbClr val="F5F7FA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CDE0116-A953-49A6-89EF-558B6655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0572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DF5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26684F4-A902-4FDF-8556-61BE5B8F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200150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现状</a:t>
            </a:r>
            <a:endParaRPr sz="172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3312E2B-0F8D-4945-BE58-A613A8BF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2001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SCOS未来蓝图</a:t>
            </a:r>
            <a:endParaRPr sz="1725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531B755A-F998-4671-A5F3-87572CF9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197475" cy="1343025"/>
          </a:xfrm>
          <a:prstGeom xmlns:a="http://schemas.openxmlformats.org/drawingml/2006/main" prst="roundRect">
            <a:avLst>
              <a:gd name="adj" fmla="val 7092"/>
            </a:avLst>
          </a:prstGeom>
          <a:solidFill xmlns:a="http://schemas.openxmlformats.org/drawingml/2006/main">
            <a:srgbClr val="0A131E">
              <a:alpha val="95000"/>
            </a:srgbClr>
          </a:solidFill>
          <a:ln xmlns:a="http://schemas.openxmlformats.org/drawingml/2006/main" w="12859">
            <a:solidFill>
              <a:srgbClr val="41556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9A11F2B-200D-4104-948D-411B5E2A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66675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C8F4"/>
          </a:solidFill>
          <a:ln xmlns:a="http://schemas.openxmlformats.org/drawingml/2006/main" w="0">
            <a:solidFill>
              <a:srgbClr val="12C8F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A68E0C0-A765-4690-9FFF-435E9087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融氏</a:t>
            </a:r>
            <a:endParaRPr sz="1650" b="1">
              <a:solidFill>
                <a:srgbClr val="46BD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17E1CAC-2B23-4B5F-A211-D0757DBC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049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90" b="1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90" b="1">
                <a:solidFill>
                  <a:srgbClr val="FF0000"/>
                </a:solidFill>
                <a:latin typeface="Hiragino Sans GB"/>
                <a:ea typeface="Hiragino Sans GB"/>
                <a:cs typeface="Hiragino Sans GB"/>
              </a:rPr>
              <a:t>人工录入与线下协同</a:t>
            </a:r>
            <a:r>
              <a:rPr sz="1090" b="1">
                <a:solidFill>
                  <a:srgbClr val="FF0000"/>
                </a:solidFill>
                <a:latin typeface="Hiragino Sans GB"/>
                <a:ea typeface="Hiragino Sans GB"/>
                <a:cs typeface="Hiragino Sans GB"/>
              </a:rPr>
              <a:t>等</a:t>
            </a:r>
            <a:endParaRPr sz="1090" b="1">
              <a:solidFill>
                <a:srgbClr val="FF00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4EC186F-EBA8-4575-9C31-ABF03595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C8F4"/>
          </a:solidFill>
          <a:ln xmlns:a="http://schemas.openxmlformats.org/drawingml/2006/main" w="0">
            <a:solidFill>
              <a:srgbClr val="12C8F4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AE60926-9DE0-431B-A037-8936996F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546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订单：销售6人；审批3至5天；复杂订单</a:t>
            </a: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生成</a:t>
            </a: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超过1小时</a:t>
            </a:r>
            <a:endParaRPr sz="1065" b="0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63F6F49-32F1-4059-A2A5-50353162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C8F4"/>
          </a:solidFill>
          <a:ln xmlns:a="http://schemas.openxmlformats.org/drawingml/2006/main" w="0">
            <a:solidFill>
              <a:srgbClr val="12C8F4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49D905A-EF85-4632-93D6-8DA4DCFD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546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库存：SAP与台账并行；安全库存和效期靠人工关注</a:t>
            </a:r>
            <a:endParaRPr sz="1065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8F94F62-877F-41FB-BC83-5382E188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C8F4"/>
          </a:solidFill>
          <a:ln xmlns:a="http://schemas.openxmlformats.org/drawingml/2006/main" w="0">
            <a:solidFill>
              <a:srgbClr val="12C8F4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4946ACB-B306-4B2E-9AA8-9242E9B3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546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采购：2人；库存日报</a:t>
            </a: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人工</a:t>
            </a: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编制到货计划，微信通知供应商</a:t>
            </a:r>
            <a:endParaRPr sz="1065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E66C01F-AB11-41D7-B3CC-E018F292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C8F4"/>
          </a:solidFill>
          <a:ln xmlns:a="http://schemas.openxmlformats.org/drawingml/2006/main" w="0">
            <a:solidFill>
              <a:srgbClr val="12C8F4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DF7C65E-A33B-45A7-A278-670F5A6F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546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经营：共用费用按月分摊；报表加经验判断，无</a:t>
            </a: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经营</a:t>
            </a: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驾驶舱</a:t>
            </a: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辅助</a:t>
            </a:r>
            <a:endParaRPr sz="1065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B8509338-1E19-4F9B-9CCE-0D247AC7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19425"/>
            <a:ext cx="5196840" cy="1343025"/>
          </a:xfrm>
          <a:prstGeom xmlns:a="http://schemas.openxmlformats.org/drawingml/2006/main" prst="roundRect">
            <a:avLst>
              <a:gd name="adj" fmla="val 7092"/>
            </a:avLst>
          </a:prstGeom>
          <a:solidFill xmlns:a="http://schemas.openxmlformats.org/drawingml/2006/main">
            <a:srgbClr val="0A131E">
              <a:alpha val="95000"/>
            </a:srgbClr>
          </a:solidFill>
          <a:ln xmlns:a="http://schemas.openxmlformats.org/drawingml/2006/main" w="12859">
            <a:solidFill>
              <a:srgbClr val="41556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494065C-763F-44B6-98F9-90BAD65C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19425"/>
            <a:ext cx="66675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E"/>
          </a:solidFill>
          <a:ln xmlns:a="http://schemas.openxmlformats.org/drawingml/2006/main" w="0">
            <a:solidFill>
              <a:srgbClr val="FFD24E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A326B3C-256E-4A87-974A-B04A0E9F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3372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成都</a:t>
            </a:r>
            <a:endParaRPr sz="1650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BDC1C4DE-A1E4-4442-8678-EBAA6E36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43250"/>
            <a:ext cx="4070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90" b="1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>
                <a:solidFill>
                  <a:srgbClr val="FF0000"/>
                </a:solidFill>
              </a:rPr>
              <a:t>系统部分联动但仍需人工补录</a:t>
            </a:r>
            <a:r>
              <a:rPr>
                <a:solidFill>
                  <a:srgbClr val="FF0000"/>
                </a:solidFill>
              </a:rPr>
              <a:t>和人工协同</a:t>
            </a:r>
            <a:endParaRPr sz="1090" b="1">
              <a:solidFill>
                <a:srgbClr val="FF00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6BB63596-8FD8-4ECD-9406-A281EF01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E"/>
          </a:solidFill>
          <a:ln xmlns:a="http://schemas.openxmlformats.org/drawingml/2006/main" w="0">
            <a:solidFill>
              <a:srgbClr val="FFD24E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730DCC1-E9B0-4AC8-A578-2D20ABC0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546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订单：业务量增至3倍，</a:t>
            </a: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但</a:t>
            </a: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人员未增</a:t>
            </a: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，一人多岗</a:t>
            </a: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；</a:t>
            </a: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合同</a:t>
            </a: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审批最长17天</a:t>
            </a:r>
            <a:endParaRPr sz="106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AE00699C-59C1-4BD4-9BA8-489D66D5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E"/>
          </a:solidFill>
          <a:ln xmlns:a="http://schemas.openxmlformats.org/drawingml/2006/main" w="0">
            <a:solidFill>
              <a:srgbClr val="FFD24E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F6822397-8010-41D0-81D4-FF449D55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29025"/>
            <a:ext cx="546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库存：入库未自动化；批次、库位及多地点库存线下管理</a:t>
            </a:r>
            <a:endParaRPr sz="1065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DE2A406-8F93-4E6C-B012-03D6D306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E"/>
          </a:solidFill>
          <a:ln xmlns:a="http://schemas.openxmlformats.org/drawingml/2006/main" w="0">
            <a:solidFill>
              <a:srgbClr val="FFD24E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4F366296-C0DA-4B27-AEAD-854A5197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546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采购：3人；淀粉线下询价，供应商发货表人工跟踪</a:t>
            </a:r>
            <a:endParaRPr sz="1065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8099022A-2DC1-48DC-8DBD-ECC7D429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E"/>
          </a:solidFill>
          <a:ln xmlns:a="http://schemas.openxmlformats.org/drawingml/2006/main" w="0">
            <a:solidFill>
              <a:srgbClr val="FFD24E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818D72E6-00B4-456E-BBDC-398F4D9B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29075"/>
            <a:ext cx="546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经营：成本按月归集；SAP导出Excel制作分析报表</a:t>
            </a:r>
            <a:endParaRPr sz="1065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4BD4E465-5D7E-45C7-8A28-F4C638A7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5196840" cy="1343025"/>
          </a:xfrm>
          <a:prstGeom xmlns:a="http://schemas.openxmlformats.org/drawingml/2006/main" prst="roundRect">
            <a:avLst>
              <a:gd name="adj" fmla="val 7092"/>
            </a:avLst>
          </a:prstGeom>
          <a:solidFill xmlns:a="http://schemas.openxmlformats.org/drawingml/2006/main">
            <a:srgbClr val="0A131E">
              <a:alpha val="95000"/>
            </a:srgbClr>
          </a:solidFill>
          <a:ln xmlns:a="http://schemas.openxmlformats.org/drawingml/2006/main" w="12859">
            <a:solidFill>
              <a:srgbClr val="41556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A49F3BD3-286B-472D-9763-4C674DF6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66675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D91"/>
          </a:solidFill>
          <a:ln xmlns:a="http://schemas.openxmlformats.org/drawingml/2006/main" w="0">
            <a:solidFill>
              <a:srgbClr val="32DD91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02AFA94-6F0A-4573-ACFD-F3CA60FB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rPr>
              <a:t>武汉</a:t>
            </a:r>
            <a:endParaRPr sz="1650" b="1">
              <a:solidFill>
                <a:srgbClr val="61D2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55284D2C-AC47-404B-BEF1-46C945C3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6005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90" b="1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90" b="1">
                <a:solidFill>
                  <a:srgbClr val="FF0000"/>
                </a:solidFill>
                <a:latin typeface="Hiragino Sans GB"/>
                <a:ea typeface="Hiragino Sans GB"/>
                <a:cs typeface="Hiragino Sans GB"/>
              </a:rPr>
              <a:t>系统部分联动但仍需人工补录</a:t>
            </a:r>
            <a:r>
              <a:rPr sz="1090" b="1">
                <a:solidFill>
                  <a:srgbClr val="FF0000"/>
                </a:solidFill>
                <a:latin typeface="Hiragino Sans GB"/>
                <a:ea typeface="Hiragino Sans GB"/>
                <a:cs typeface="Hiragino Sans GB"/>
              </a:rPr>
              <a:t>和人工</a:t>
            </a:r>
            <a:r>
              <a:rPr sz="1090" b="1">
                <a:solidFill>
                  <a:srgbClr val="FF0000"/>
                </a:solidFill>
                <a:latin typeface="Hiragino Sans GB"/>
                <a:ea typeface="Hiragino Sans GB"/>
                <a:cs typeface="Hiragino Sans GB"/>
              </a:rPr>
              <a:t>协同</a:t>
            </a:r>
            <a:endParaRPr sz="1090" b="1">
              <a:solidFill>
                <a:srgbClr val="FF00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E2F5D291-6774-4C92-B9B1-3FCBDA2D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D91"/>
          </a:solidFill>
          <a:ln xmlns:a="http://schemas.openxmlformats.org/drawingml/2006/main" w="0">
            <a:solidFill>
              <a:srgbClr val="32DD91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1CDE0813-183E-483F-ADA8-B76A493C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546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订单：销售约8人；微信群接单，合同系统和SAP人工录入</a:t>
            </a:r>
            <a:endParaRPr sz="106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5B51086E-7235-41DD-8C4A-2D8B67FD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D91"/>
          </a:solidFill>
          <a:ln xmlns:a="http://schemas.openxmlformats.org/drawingml/2006/main" w="0">
            <a:solidFill>
              <a:srgbClr val="32DD91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3F047C6E-0AE8-4136-B6D2-296304A5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76825"/>
            <a:ext cx="546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库存：SAP手工入库；安全库存、效期和FIFO线下管理</a:t>
            </a:r>
            <a:endParaRPr sz="1065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993AAD59-EFB1-4B85-A3E0-7015FC0D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D91"/>
          </a:solidFill>
          <a:ln xmlns:a="http://schemas.openxmlformats.org/drawingml/2006/main" w="0">
            <a:solidFill>
              <a:srgbClr val="32DD91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E677A6B8-38B3-4363-BBE2-581002B9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546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采购：3人；船运提前15至20天，微信和Excel跟踪</a:t>
            </a:r>
            <a:endParaRPr sz="1065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9AF466EF-2F70-4EAB-819E-74B65ABD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D91"/>
          </a:solidFill>
          <a:ln xmlns:a="http://schemas.openxmlformats.org/drawingml/2006/main" w="0">
            <a:solidFill>
              <a:srgbClr val="32DD91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CA8680F5-C1E9-4F99-91C0-4D5872A7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76875"/>
            <a:ext cx="546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经营：财务6人；SAP数据二次加工，无</a:t>
            </a: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经营</a:t>
            </a: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驾驶舱</a:t>
            </a:r>
            <a:r>
              <a:rPr sz="1065" b="0">
                <a:solidFill>
                  <a:srgbClr val="B7C3D0"/>
                </a:solidFill>
                <a:latin typeface="Hiragino Sans GB"/>
                <a:ea typeface="Hiragino Sans GB"/>
                <a:cs typeface="Hiragino Sans GB"/>
              </a:rPr>
              <a:t>辅助</a:t>
            </a:r>
            <a:endParaRPr sz="1065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7AB7F4D6-008D-42C0-92E9-74E46B7B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51974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01817">
              <a:alpha val="93000"/>
            </a:srgbClr>
          </a:solidFill>
          <a:ln xmlns:a="http://schemas.openxmlformats.org/drawingml/2006/main" w="12859">
            <a:solidFill>
              <a:srgbClr val="A34E4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D4C9015D-2EC6-43D3-BB38-E6844DED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293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06A5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06A57"/>
                </a:solidFill>
                <a:latin typeface="Hiragino Sans GB"/>
                <a:ea typeface="Hiragino Sans GB"/>
                <a:cs typeface="Hiragino Sans GB"/>
              </a:rPr>
              <a:t>共性问题</a:t>
            </a:r>
            <a:endParaRPr sz="1275" b="1">
              <a:solidFill>
                <a:srgbClr val="F06A5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462D1D15-18DB-4711-8055-CE64B18B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602107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人工录入   线下协同   链路断点   异常滞后   指标分散</a:t>
            </a:r>
            <a:endParaRPr sz="116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3F0B1263-F33E-4BF3-BB17-2A06263A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562100"/>
            <a:ext cx="4629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61827">
              <a:alpha val="95000"/>
            </a:srgbClr>
          </a:solidFill>
          <a:ln xmlns:a="http://schemas.openxmlformats.org/drawingml/2006/main" w="12859">
            <a:solidFill>
              <a:srgbClr val="199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67" name="图片 1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93d3032634d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5650" y="1733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39737414-40F3-466E-9205-94905FC2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573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库存优化</a:t>
            </a:r>
            <a:endParaRPr sz="131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E8D9E1E9-C359-49DC-8285-C7F58D2A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38300"/>
            <a:ext cx="2838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动态库存优化模型</a:t>
            </a:r>
            <a:endParaRPr sz="1165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61D97778-A5A1-42C4-B245-0D7BC37F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33575"/>
            <a:ext cx="3829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月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库存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策略、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未来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4周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日度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补货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建议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、日度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库存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风险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监控</a:t>
            </a:r>
            <a:endParaRPr sz="1090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圆角矩形 70">
            <a:extLst xmlns:a="http://schemas.openxmlformats.org/drawingml/2006/main">
              <a:ext uri="{FF2B5EF4-FFF2-40B4-BE49-F238E27FC236}">
                <a16:creationId xmlns:a16="http://schemas.microsoft.com/office/drawing/2014/main" id="{059D9437-E5A0-41AD-93EC-C286C345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400300"/>
            <a:ext cx="4629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61827">
              <a:alpha val="95000"/>
            </a:srgbClr>
          </a:solidFill>
          <a:ln xmlns:a="http://schemas.openxmlformats.org/drawingml/2006/main" w="12859">
            <a:solidFill>
              <a:srgbClr val="199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72" name="图片 16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1b5dd1b7046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5650" y="25717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07E5E033-B7B5-470D-AEA4-CD5FE66C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955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采购优化</a:t>
            </a:r>
            <a:endParaRPr sz="131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F6C767DC-2FEF-4602-AA2D-19A9C28B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76500"/>
            <a:ext cx="2838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采购多目标优化模型</a:t>
            </a:r>
            <a:endParaRPr sz="1165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6F32441D-49A7-498B-96E2-4AB54B7C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71775"/>
            <a:ext cx="3829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供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应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方、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采购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数量、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采购订单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下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达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与到货建议</a:t>
            </a:r>
            <a:endParaRPr sz="1090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圆角矩形 75">
            <a:extLst xmlns:a="http://schemas.openxmlformats.org/drawingml/2006/main">
              <a:ext uri="{FF2B5EF4-FFF2-40B4-BE49-F238E27FC236}">
                <a16:creationId xmlns:a16="http://schemas.microsoft.com/office/drawing/2014/main" id="{2EEE0F72-432C-47F4-981E-A3497A4A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238500"/>
            <a:ext cx="4629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61827">
              <a:alpha val="95000"/>
            </a:srgbClr>
          </a:solidFill>
          <a:ln xmlns:a="http://schemas.openxmlformats.org/drawingml/2006/main" w="12859">
            <a:solidFill>
              <a:srgbClr val="199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77" name="图片 1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4a0bf5f4840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5650" y="34099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5D25EF8C-50C0-458B-8049-2E8164A9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337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要货计划</a:t>
            </a:r>
            <a:endParaRPr sz="131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C84732A7-8872-43C7-AFF9-C67A3264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14700"/>
            <a:ext cx="2838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要货滚动优化模型</a:t>
            </a:r>
            <a:endParaRPr sz="1165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59497701-347D-4FC3-9D46-9FDB3C70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09975"/>
            <a:ext cx="3829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供应商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日度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要货安排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、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要货计划推送物流、需求缺口与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风险</a:t>
            </a:r>
            <a:endParaRPr sz="1090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圆角矩形 80">
            <a:extLst xmlns:a="http://schemas.openxmlformats.org/drawingml/2006/main">
              <a:ext uri="{FF2B5EF4-FFF2-40B4-BE49-F238E27FC236}">
                <a16:creationId xmlns:a16="http://schemas.microsoft.com/office/drawing/2014/main" id="{6B80D8D1-6A8A-41FD-9929-20EB3A3D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76700"/>
            <a:ext cx="4629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61827">
              <a:alpha val="95000"/>
            </a:srgbClr>
          </a:solidFill>
          <a:ln xmlns:a="http://schemas.openxmlformats.org/drawingml/2006/main" w="12859">
            <a:solidFill>
              <a:srgbClr val="199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82" name="图片 17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7542689264c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5650" y="424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AB713557-6767-4AAF-940C-925B9516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1719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成本分摊</a:t>
            </a:r>
            <a:endParaRPr sz="131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F82E0A7E-EBCF-42F5-808E-9DFB9F64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52900"/>
            <a:ext cx="2838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成本分摊规则引擎</a:t>
            </a:r>
            <a:endParaRPr sz="1165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AE16A71E-E37F-45D3-8851-C3C40CD5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48175"/>
            <a:ext cx="3829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月度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费用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分摊、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多角色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多维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度成本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分析、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生产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批次溯源</a:t>
            </a:r>
            <a:endParaRPr sz="1090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6" name="圆角矩形 85">
            <a:extLst xmlns:a="http://schemas.openxmlformats.org/drawingml/2006/main">
              <a:ext uri="{FF2B5EF4-FFF2-40B4-BE49-F238E27FC236}">
                <a16:creationId xmlns:a16="http://schemas.microsoft.com/office/drawing/2014/main" id="{3770467E-01F5-4B37-950F-41494594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914900"/>
            <a:ext cx="4629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61827">
              <a:alpha val="95000"/>
            </a:srgbClr>
          </a:solidFill>
          <a:ln xmlns:a="http://schemas.openxmlformats.org/drawingml/2006/main" w="12859">
            <a:solidFill>
              <a:srgbClr val="199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87" name="图片 18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72358f4ba4d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5650" y="50863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C8E49A06-0111-43FA-8DD8-0EDFAB78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0101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经营驾驶舱</a:t>
            </a:r>
            <a:endParaRPr sz="131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0E2FEEBE-7065-46ED-9BE0-6F22BB88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91100"/>
            <a:ext cx="2838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异常检测与预警规则</a:t>
            </a:r>
            <a:endParaRPr sz="1165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47BD7D46-66CE-48A1-982D-C142A44C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286375"/>
            <a:ext cx="3829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全指标汇聚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展示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、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异常指标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钻取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分析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与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调整</a:t>
            </a:r>
            <a:r>
              <a:rPr sz="109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闭环</a:t>
            </a:r>
            <a:endParaRPr sz="1090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圆角矩形 90">
            <a:extLst xmlns:a="http://schemas.openxmlformats.org/drawingml/2006/main">
              <a:ext uri="{FF2B5EF4-FFF2-40B4-BE49-F238E27FC236}">
                <a16:creationId xmlns:a16="http://schemas.microsoft.com/office/drawing/2014/main" id="{4672E3EE-B870-4059-9590-15417E65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848350"/>
            <a:ext cx="4629150" cy="561975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251F0B">
              <a:alpha val="95000"/>
            </a:srgbClr>
          </a:solidFill>
          <a:ln xmlns:a="http://schemas.openxmlformats.org/drawingml/2006/main" w="12859">
            <a:solidFill>
              <a:srgbClr val="C8A6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818E4876-86A9-42D1-803A-F7CC112F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02107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算法生成建议</a:t>
            </a:r>
            <a:endParaRPr sz="1125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FDF644AC-C80A-41B9-A91F-0BC32A0B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02107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业务</a:t>
            </a:r>
            <a:r>
              <a: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人员</a:t>
            </a:r>
            <a:r>
              <a: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复核、调整、审批和发布</a:t>
            </a:r>
            <a:endParaRPr sz="112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0fa81b92d4fb4"/>
          <a:srcRect xmlns:a="http://schemas.openxmlformats.org/drawingml/2006/main" l="18000" t="18000" r="18000" b="18000"/>
          <a:stretch xmlns:a="http://schemas.openxmlformats.org/drawingml/2006/main"/>
        </p:blipFill>
        <p:spPr>
          <a:xfrm xmlns:a="http://schemas.openxmlformats.org/drawingml/2006/main">
            <a:off x="5876925" y="3467100"/>
            <a:ext cx="942975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59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0" name="图片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749a95ea04e5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DFD0348-806D-40DF-8A1A-2B451BED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2" name="图片 1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edd2e975b4f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81521"/>
            <a:ext cx="685800" cy="579958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256D612-56B0-4789-AA74-F8A0830C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FFF00"/>
                </a:solidFill>
                <a:latin typeface="Songti SC"/>
                <a:ea typeface="Songti SC"/>
                <a:cs typeface="Songti SC"/>
              </a:defRPr>
            </a:pPr>
            <a:r>
              <a:rPr sz="2550" b="0">
                <a:solidFill>
                  <a:srgbClr val="FFFF00"/>
                </a:solidFill>
                <a:latin typeface="Songti SC"/>
                <a:ea typeface="Songti SC"/>
                <a:cs typeface="Songti SC"/>
              </a:rPr>
              <a:t>行业现状与未来蓝图对比</a:t>
            </a:r>
            <a:endParaRPr sz="2550" b="0">
              <a:solidFill>
                <a:srgbClr val="FFFF0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5D7C873-CC19-44B8-A4FE-501A9933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defRPr>
            </a:pPr>
            <a:r>
              <a: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rPr>
              <a:t>— 02  </a:t>
            </a:r>
            <a:r>
              <a: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rPr>
              <a:t>SCOS</a:t>
            </a:r>
            <a:r>
              <a: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rPr>
              <a:t>整体</a:t>
            </a:r>
            <a:r>
              <a: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rPr>
              <a:t>建设方案</a:t>
            </a:r>
            <a:endParaRPr sz="1875" b="1">
              <a:solidFill>
                <a:srgbClr val="F5F7FA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8A26944-2CB1-493B-9D2A-0488B71B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0572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DF5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301462F3-02BD-4CDB-97C9-1C3292AC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102995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061B2A">
              <a:alpha val="95000"/>
            </a:srgbClr>
          </a:solidFill>
          <a:ln xmlns:a="http://schemas.openxmlformats.org/drawingml/2006/main" w="12859">
            <a:solidFill>
              <a:srgbClr val="1B99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27" name="图片 1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cb3978ace44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3811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2709016-738C-4016-8E06-2DBAF645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23975"/>
            <a:ext cx="1438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经营驾驶舱</a:t>
            </a:r>
            <a:endParaRPr sz="1500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CDB6358-FCAD-4286-866D-9EF32787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09725"/>
            <a:ext cx="14382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汇聚全部模块指标</a:t>
            </a:r>
            <a:endParaRPr sz="1050" b="1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4DFA43D8-D734-461F-849B-602C37A5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352550"/>
            <a:ext cx="1533525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132">
              <a:alpha val="96000"/>
            </a:srgbClr>
          </a:solidFill>
          <a:ln xmlns:a="http://schemas.openxmlformats.org/drawingml/2006/main" w="12859">
            <a:solidFill>
              <a:srgbClr val="335D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39F9F0-2055-459A-AFA9-ACE4D194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3811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库存健康</a:t>
            </a:r>
            <a:endParaRPr sz="112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E83603E-AA6F-4D1B-B697-ED129F5A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571625"/>
            <a:ext cx="1381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4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4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周转与风险</a:t>
            </a:r>
            <a:endParaRPr sz="940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ED9B1D1B-6D1C-4B6C-8130-8DC9544F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52550"/>
            <a:ext cx="1533525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132">
              <a:alpha val="96000"/>
            </a:srgbClr>
          </a:solidFill>
          <a:ln xmlns:a="http://schemas.openxmlformats.org/drawingml/2006/main" w="12859">
            <a:solidFill>
              <a:srgbClr val="335D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99BAC66-ED1D-41D6-9048-B704BB80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3811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采购执行</a:t>
            </a:r>
            <a:endParaRPr sz="112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A3A35F2-7A6E-47BF-8C17-3703FCA0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71625"/>
            <a:ext cx="1381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4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4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成本与履约</a:t>
            </a:r>
            <a:endParaRPr sz="940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7EE6C40E-6A20-4518-B80F-22D48560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1533525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132">
              <a:alpha val="96000"/>
            </a:srgbClr>
          </a:solidFill>
          <a:ln xmlns:a="http://schemas.openxmlformats.org/drawingml/2006/main" w="12859">
            <a:solidFill>
              <a:srgbClr val="335D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3B62F21-441C-4111-8951-3E59A848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3811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要货履约</a:t>
            </a:r>
            <a:endParaRPr sz="112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E98B274-081D-481B-BB0E-495FED7D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71625"/>
            <a:ext cx="1381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4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4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到货与缺口</a:t>
            </a:r>
            <a:endParaRPr sz="940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71A34F6B-51A7-48A9-822E-23217F90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52550"/>
            <a:ext cx="1533525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132">
              <a:alpha val="96000"/>
            </a:srgbClr>
          </a:solidFill>
          <a:ln xmlns:a="http://schemas.openxmlformats.org/drawingml/2006/main" w="12859">
            <a:solidFill>
              <a:srgbClr val="335D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8B3B838-28F4-4454-9B69-8AB64A4E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811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成本分析</a:t>
            </a:r>
            <a:endParaRPr sz="112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1E4F78C-539F-4F99-BA85-88C0B327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71625"/>
            <a:ext cx="1381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4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4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结构与异常</a:t>
            </a:r>
            <a:endParaRPr sz="940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2FB66577-6DDD-4DCA-86F7-FF2C5D2D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352550"/>
            <a:ext cx="1533525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132">
              <a:alpha val="96000"/>
            </a:srgbClr>
          </a:solidFill>
          <a:ln xmlns:a="http://schemas.openxmlformats.org/drawingml/2006/main" w="12859">
            <a:solidFill>
              <a:srgbClr val="335D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752DB8C-A87E-4C01-9630-DA0DB772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811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经营绩效</a:t>
            </a:r>
            <a:endParaRPr sz="112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924EE88-8DA6-4E51-B020-03E61A68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71625"/>
            <a:ext cx="1381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4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4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产销与资金</a:t>
            </a:r>
            <a:endParaRPr sz="940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97DFD6CA-FF9B-408A-B3AF-341E6B0E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076450" cy="2152650"/>
          </a:xfrm>
          <a:prstGeom xmlns:a="http://schemas.openxmlformats.org/drawingml/2006/main" prst="roundRect">
            <a:avLst>
              <a:gd name="adj" fmla="val 4128"/>
            </a:avLst>
          </a:prstGeom>
          <a:solidFill xmlns:a="http://schemas.openxmlformats.org/drawingml/2006/main">
            <a:srgbClr val="091621">
              <a:alpha val="96000"/>
            </a:srgbClr>
          </a:solidFill>
          <a:ln xmlns:a="http://schemas.openxmlformats.org/drawingml/2006/main" w="12859">
            <a:solidFill>
              <a:srgbClr val="18AE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46" name="图片 1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138c109144e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228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DDFF2C7-32F5-4C6F-8D2E-E9FD5364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2193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E89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7E8996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1200" b="1">
              <a:solidFill>
                <a:srgbClr val="7E89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A6C1AAF-BC81-4483-8160-7F9C96A6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0027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库存优化</a:t>
            </a:r>
            <a:endParaRPr sz="1350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BC02E6E8-D59B-40BB-8862-079ED7D9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98603322-4827-457B-9CD1-9C2C16DD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输入</a:t>
            </a:r>
            <a:endParaRPr sz="1000" b="1">
              <a:solidFill>
                <a:srgbClr val="46BD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3325FB9-2CF8-47BA-A6AA-8AF9EA67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76525"/>
            <a:ext cx="143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出货、订单、库存、生产入库、罐容</a:t>
            </a:r>
            <a:endParaRPr sz="1005" b="1">
              <a:solidFill>
                <a:schemeClr val="bg1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FE77C1A-C483-4895-83D9-4B25F55C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062574E4-589E-4AA4-938F-642850EB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计算</a:t>
            </a:r>
            <a:endParaRPr sz="1000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3F935A82-2C14-412B-96C5-28C3A582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143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5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月</a:t>
            </a:r>
            <a:r>
              <a:rPr sz="1005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库存</a:t>
            </a:r>
            <a:r>
              <a:rPr sz="1005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策略、</a:t>
            </a:r>
            <a:r>
              <a:rPr sz="1005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未来</a:t>
            </a:r>
            <a:r>
              <a:rPr sz="1005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4周</a:t>
            </a:r>
            <a:r>
              <a:rPr sz="1005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日度</a:t>
            </a:r>
            <a:r>
              <a:rPr sz="1005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补货、日度校验</a:t>
            </a:r>
            <a:endParaRPr sz="1005">
              <a:solidFill>
                <a:schemeClr val="bg1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89900C6-BB59-48D9-B686-F7F58E28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33729578-385E-4B68-9632-31FA2AA2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输出</a:t>
            </a:r>
            <a:endParaRPr sz="1000" b="1">
              <a:solidFill>
                <a:srgbClr val="46BD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9CE2E19A-515D-4EAE-B3C7-F2FD7AB1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143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SS/s/S、补货量、风险日</a:t>
            </a:r>
            <a:endParaRPr sz="1005" b="1">
              <a:solidFill>
                <a:schemeClr val="bg1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550BC9DD-DB88-4DAB-99FE-91184351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95500"/>
            <a:ext cx="2076450" cy="2152650"/>
          </a:xfrm>
          <a:prstGeom xmlns:a="http://schemas.openxmlformats.org/drawingml/2006/main" prst="roundRect">
            <a:avLst>
              <a:gd name="adj" fmla="val 4128"/>
            </a:avLst>
          </a:prstGeom>
          <a:solidFill xmlns:a="http://schemas.openxmlformats.org/drawingml/2006/main">
            <a:srgbClr val="091621">
              <a:alpha val="96000"/>
            </a:srgbClr>
          </a:solidFill>
          <a:ln xmlns:a="http://schemas.openxmlformats.org/drawingml/2006/main" w="12859">
            <a:solidFill>
              <a:srgbClr val="E8B93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59" name="图片 1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bcac8cc114c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213233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07720C1-CC39-4A0E-9E63-E43725AA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193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E89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7E8996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1200" b="1">
              <a:solidFill>
                <a:srgbClr val="7E89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F44C3DF5-D09D-4927-B00D-C7675A1B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0027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采购优化</a:t>
            </a:r>
            <a:endParaRPr sz="1350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C18EB555-1FA8-4D4F-A61F-3E714ABF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098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42E32CF-EF5F-4A3A-A39E-750DCF79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955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输入</a:t>
            </a:r>
            <a:endParaRPr sz="1000" b="1">
              <a:solidFill>
                <a:srgbClr val="46BD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1E4DB226-FAF0-4860-BD51-BCC510F5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76525"/>
            <a:ext cx="143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物料需求、采购承诺、报价、供货能力</a:t>
            </a:r>
            <a:endParaRPr sz="1005" b="1">
              <a:solidFill>
                <a:schemeClr val="bg1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66E2C8C0-DDA0-4021-B265-2D08374A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146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AF38372-E077-4214-A9C8-8A39CA7E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计算</a:t>
            </a:r>
            <a:endParaRPr sz="1000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DD059F7B-D888-4D2B-8B08-F29396B5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62300"/>
            <a:ext cx="143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供应商组合与综合成本优化</a:t>
            </a:r>
            <a:endParaRPr sz="100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30A4647-509C-4D2D-856D-0E071BD4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004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4C200CF6-44D9-4AA4-8259-EA9E9F3E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6712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输出</a:t>
            </a:r>
            <a:endParaRPr sz="1000" b="1">
              <a:solidFill>
                <a:srgbClr val="46BD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32CCFEC3-50E3-4F41-8331-4DA167DA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48075"/>
            <a:ext cx="143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采购量、</a:t>
            </a: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采购订单下达</a:t>
            </a: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及到货</a:t>
            </a: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建议</a:t>
            </a:r>
            <a:endParaRPr sz="1005" b="1">
              <a:solidFill>
                <a:schemeClr val="bg1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68FFF7FA-511B-4636-923C-35D9EF02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2076450" cy="2152650"/>
          </a:xfrm>
          <a:prstGeom xmlns:a="http://schemas.openxmlformats.org/drawingml/2006/main" prst="roundRect">
            <a:avLst>
              <a:gd name="adj" fmla="val 4128"/>
            </a:avLst>
          </a:prstGeom>
          <a:solidFill xmlns:a="http://schemas.openxmlformats.org/drawingml/2006/main">
            <a:srgbClr val="091621">
              <a:alpha val="96000"/>
            </a:srgbClr>
          </a:solidFill>
          <a:ln xmlns:a="http://schemas.openxmlformats.org/drawingml/2006/main" w="12859">
            <a:solidFill>
              <a:srgbClr val="39CF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72" name="图片 16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3b746678641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7300" y="2155190"/>
            <a:ext cx="397510" cy="397510"/>
          </a:xfrm>
          <a:prstGeom xmlns:a="http://schemas.openxmlformats.org/drawingml/2006/main" prst="rect">
            <a:avLst/>
          </a:prstGeom>
        </p:spPr>
      </p:pic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41BCFC1A-1C69-4C54-B108-0585E679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2193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E89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7E8996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1200" b="1">
              <a:solidFill>
                <a:srgbClr val="7E89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B0810C72-4C3C-4455-880E-FB367E9A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027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要货计划</a:t>
            </a:r>
            <a:endParaRPr sz="1350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AFB5BEFF-F253-4696-A82E-55420BA7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098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67E993C4-FF85-4C52-B10B-4703D37A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955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输入</a:t>
            </a:r>
            <a:endParaRPr sz="1000" b="1">
              <a:solidFill>
                <a:srgbClr val="46BD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C7B5B95-BABC-48A7-A9C4-3022ABF5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76525"/>
            <a:ext cx="143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日</a:t>
            </a: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原料</a:t>
            </a: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需求、库存、合同、在途、收货条件</a:t>
            </a:r>
            <a:endParaRPr sz="1005" b="1">
              <a:solidFill>
                <a:schemeClr val="bg1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E17160F-2C86-461F-B8FC-67DBDEEE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146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9BD45D0F-C83F-488B-800A-0B7A99CC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81350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计算</a:t>
            </a:r>
            <a:endParaRPr sz="1000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9CD4CF4-38F3-4ABC-A1A9-968DEEBC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62300"/>
            <a:ext cx="143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供应商、合同、日期、数量滚动优化</a:t>
            </a:r>
            <a:endParaRPr sz="100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8ABD6433-1F40-4D17-BF05-5C28B366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00FAD4D9-2D21-486A-886B-DAA063D0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6712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输出</a:t>
            </a:r>
            <a:endParaRPr sz="1000" b="1">
              <a:solidFill>
                <a:srgbClr val="46BD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DD273452-9879-4E2F-8A3B-49006C11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48075"/>
            <a:ext cx="143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供应商</a:t>
            </a: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日要货</a:t>
            </a: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量</a:t>
            </a: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、</a:t>
            </a: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需求</a:t>
            </a: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缺口与风险</a:t>
            </a:r>
            <a:endParaRPr sz="1005" b="1">
              <a:solidFill>
                <a:schemeClr val="bg1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65" name="圆角矩形 64">
            <a:extLst xmlns:a="http://schemas.openxmlformats.org/drawingml/2006/main">
              <a:ext uri="{FF2B5EF4-FFF2-40B4-BE49-F238E27FC236}">
                <a16:creationId xmlns:a16="http://schemas.microsoft.com/office/drawing/2014/main" id="{7004E906-F202-4979-AA4F-AE939AF1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95500"/>
            <a:ext cx="2076450" cy="2152650"/>
          </a:xfrm>
          <a:prstGeom xmlns:a="http://schemas.openxmlformats.org/drawingml/2006/main" prst="roundRect">
            <a:avLst>
              <a:gd name="adj" fmla="val 4128"/>
            </a:avLst>
          </a:prstGeom>
          <a:solidFill xmlns:a="http://schemas.openxmlformats.org/drawingml/2006/main">
            <a:srgbClr val="091621">
              <a:alpha val="96000"/>
            </a:srgbClr>
          </a:solidFill>
          <a:ln xmlns:a="http://schemas.openxmlformats.org/drawingml/2006/main" w="12859">
            <a:solidFill>
              <a:srgbClr val="9A83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85" name="图片 17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0080a32ee49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20280" y="21812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72BEB13E-7625-4E38-B47C-C9F97363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193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E89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7E8996"/>
                </a:solidFill>
                <a:latin typeface="Hiragino Sans GB"/>
                <a:ea typeface="Hiragino Sans GB"/>
                <a:cs typeface="Hiragino Sans GB"/>
              </a:rPr>
              <a:t>04</a:t>
            </a:r>
            <a:endParaRPr sz="1200" b="1">
              <a:solidFill>
                <a:srgbClr val="7E89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4E49E8B3-8BE3-4EDA-BB16-E469AC09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027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成本分摊</a:t>
            </a:r>
            <a:endParaRPr sz="1350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A0A5E9BF-066C-4DE0-AFC9-C251CC83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098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C36B7478-0F6B-4F5F-A34F-FE93A97F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955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输入</a:t>
            </a:r>
            <a:endParaRPr sz="1000" b="1">
              <a:solidFill>
                <a:srgbClr val="46BD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6D68A6A0-00FB-4C70-B07F-2F976C00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76525"/>
            <a:ext cx="143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SAP</a:t>
            </a: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费用</a:t>
            </a: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、MES</a:t>
            </a: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工单</a:t>
            </a: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、能耗、仓储与运输数据</a:t>
            </a:r>
            <a:endParaRPr sz="1005" b="1">
              <a:solidFill>
                <a:schemeClr val="bg1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2ABF09AC-32A5-4B3B-B1A9-BEE3AB5B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146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5B7FE67C-C73A-4CF4-A549-91C810DE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计算</a:t>
            </a:r>
            <a:endParaRPr sz="1000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FA159BC2-7946-42A0-8BEA-7C803BCD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62300"/>
            <a:ext cx="143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生成成本</a:t>
            </a:r>
            <a:r>
              <a:rPr sz="100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归集、费用池与批次分摊</a:t>
            </a:r>
            <a:endParaRPr sz="100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7C4A4A99-E1D3-4A76-BAFE-4D1696B6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B6A8D77F-3271-4F3D-B315-B952D08C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6712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输出</a:t>
            </a:r>
            <a:endParaRPr sz="1000" b="1">
              <a:solidFill>
                <a:srgbClr val="46BD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706A851F-2F94-4084-B4FE-B08B2BC6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48075"/>
            <a:ext cx="143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多维成本</a:t>
            </a: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分析</a:t>
            </a: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、批次异常与溯源</a:t>
            </a:r>
            <a:endParaRPr sz="1005" b="1">
              <a:solidFill>
                <a:schemeClr val="bg1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507C3976-5830-43F4-B4E0-6AE786FB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2076450" cy="2152650"/>
          </a:xfrm>
          <a:prstGeom xmlns:a="http://schemas.openxmlformats.org/drawingml/2006/main" prst="roundRect">
            <a:avLst>
              <a:gd name="adj" fmla="val 4128"/>
            </a:avLst>
          </a:prstGeom>
          <a:solidFill xmlns:a="http://schemas.openxmlformats.org/drawingml/2006/main">
            <a:srgbClr val="091621">
              <a:alpha val="96000"/>
            </a:srgbClr>
          </a:solidFill>
          <a:ln xmlns:a="http://schemas.openxmlformats.org/drawingml/2006/main" w="12859">
            <a:solidFill>
              <a:srgbClr val="18AE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98" name="图片 1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cb3978ace44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4050" y="2228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4CE7C639-CD95-418B-8D49-13A291EF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2193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E89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7E8996"/>
                </a:solidFill>
                <a:latin typeface="Hiragino Sans GB"/>
                <a:ea typeface="Hiragino Sans GB"/>
                <a:cs typeface="Hiragino Sans GB"/>
              </a:rPr>
              <a:t>05</a:t>
            </a:r>
            <a:endParaRPr sz="1200" b="1">
              <a:solidFill>
                <a:srgbClr val="7E89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D0E4A5CA-184B-4E7A-972B-D8E50C63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0027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经营驾驶舱</a:t>
            </a:r>
            <a:endParaRPr sz="1350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6A774729-1D63-44E2-9CC5-18D6F947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098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408C896F-A0BB-4DF8-822C-4A3ECA28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955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输入</a:t>
            </a:r>
            <a:endParaRPr sz="1000" b="1">
              <a:solidFill>
                <a:srgbClr val="46BD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CF97F8E1-421C-4A76-883D-DDC8B5BA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76525"/>
            <a:ext cx="143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各模块结果、业务状态和预警事件</a:t>
            </a:r>
            <a:endParaRPr sz="1005" b="1">
              <a:solidFill>
                <a:schemeClr val="bg1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708C1385-9276-42C7-956A-0B234476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146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308DDA09-9FC8-4013-BBF2-7C9B1317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81350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计算</a:t>
            </a:r>
            <a:endParaRPr sz="1000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2DFCB650-8BF8-4853-8E98-29AB0441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62300"/>
            <a:ext cx="143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KPI、健康度、异常及影响范围</a:t>
            </a:r>
            <a:endParaRPr sz="100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5A37696C-5F20-4F8C-9FD7-6C2BBBD6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004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466D6A63-7999-4095-AC45-B3EC6DFC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6712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输出</a:t>
            </a:r>
            <a:endParaRPr sz="1000" b="1">
              <a:solidFill>
                <a:srgbClr val="46BD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3D14051E-709F-471F-B977-FBB4BA52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48075"/>
            <a:ext cx="143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5" b="1">
                <a:solidFill>
                  <a:schemeClr val="bg1"/>
                </a:solidFill>
                <a:latin typeface="Hiragino Sans GB W6"/>
                <a:ea typeface="Hiragino Sans GB W6"/>
                <a:cs typeface="Hiragino Sans GB W6"/>
              </a:rPr>
              <a:t>态势、钻取、派发与闭环</a:t>
            </a:r>
            <a:endParaRPr sz="1005" b="1">
              <a:solidFill>
                <a:schemeClr val="bg1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C2CC6D03-1AFB-4BBE-897D-CCF94255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算法模型与规则引擎</a:t>
            </a:r>
            <a:endParaRPr sz="1350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2" name="圆角矩形 91">
            <a:extLst xmlns:a="http://schemas.openxmlformats.org/drawingml/2006/main">
              <a:ext uri="{FF2B5EF4-FFF2-40B4-BE49-F238E27FC236}">
                <a16:creationId xmlns:a16="http://schemas.microsoft.com/office/drawing/2014/main" id="{A1F81B39-CC0D-46F6-80B2-353B655F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20764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11B08">
              <a:alpha val="96000"/>
            </a:srgbClr>
          </a:solidFill>
          <a:ln xmlns:a="http://schemas.openxmlformats.org/drawingml/2006/main" w="12859">
            <a:solidFill>
              <a:srgbClr val="A889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3F076441-AE15-4E91-8C89-6A3A2E4B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动态库存优化模型</a:t>
            </a:r>
            <a:endParaRPr sz="1075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E1CDAA73-30DD-43AA-A21E-762339AB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55" b="0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55" b="0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(R,s,S) · 滚动递推 · 罐容约束</a:t>
            </a:r>
            <a:endParaRPr sz="955" b="0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5" name="圆角矩形 94">
            <a:extLst xmlns:a="http://schemas.openxmlformats.org/drawingml/2006/main">
              <a:ext uri="{FF2B5EF4-FFF2-40B4-BE49-F238E27FC236}">
                <a16:creationId xmlns:a16="http://schemas.microsoft.com/office/drawing/2014/main" id="{8154132A-B565-414B-940B-FD18DB91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86300"/>
            <a:ext cx="20764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11B08">
              <a:alpha val="96000"/>
            </a:srgbClr>
          </a:solidFill>
          <a:ln xmlns:a="http://schemas.openxmlformats.org/drawingml/2006/main" w="12859">
            <a:solidFill>
              <a:srgbClr val="A889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00656384-0344-47B3-8F1B-66D64BFE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采购多目标优化模型</a:t>
            </a:r>
            <a:endParaRPr sz="1075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C34E7974-EBAE-4110-964F-6044CFC7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55" b="0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55" b="0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MILP · 成本 / 供货 / 交期</a:t>
            </a:r>
            <a:endParaRPr sz="955" b="0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8" name="圆角矩形 97">
            <a:extLst xmlns:a="http://schemas.openxmlformats.org/drawingml/2006/main">
              <a:ext uri="{FF2B5EF4-FFF2-40B4-BE49-F238E27FC236}">
                <a16:creationId xmlns:a16="http://schemas.microsoft.com/office/drawing/2014/main" id="{E289B675-73C3-4120-BB88-FAD203FE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86300"/>
            <a:ext cx="20764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11B08">
              <a:alpha val="96000"/>
            </a:srgbClr>
          </a:solidFill>
          <a:ln xmlns:a="http://schemas.openxmlformats.org/drawingml/2006/main" w="12859">
            <a:solidFill>
              <a:srgbClr val="A889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9" name="矩形 98">
            <a:extLst xmlns:a="http://schemas.openxmlformats.org/drawingml/2006/main">
              <a:ext uri="{FF2B5EF4-FFF2-40B4-BE49-F238E27FC236}">
                <a16:creationId xmlns:a16="http://schemas.microsoft.com/office/drawing/2014/main" id="{63F095A4-14C4-4ADC-87E8-FB0A076B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434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要货滚动优化模型</a:t>
            </a:r>
            <a:endParaRPr sz="1075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907995F0-AACC-4E31-BE94-04C3CF38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10150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55" b="0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55" b="0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MILP · 合同 / 库存 / 在途</a:t>
            </a:r>
            <a:endParaRPr sz="955" b="0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C7A3371D-7FBF-4E1C-A58D-9358815F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86300"/>
            <a:ext cx="20764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11B08">
              <a:alpha val="96000"/>
            </a:srgbClr>
          </a:solidFill>
          <a:ln xmlns:a="http://schemas.openxmlformats.org/drawingml/2006/main" w="12859">
            <a:solidFill>
              <a:srgbClr val="A889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3029D0F3-98AF-414A-B71E-681374AE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434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成本分摊规则引擎</a:t>
            </a:r>
            <a:endParaRPr sz="1075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8D995295-BA01-4358-89C5-865C5197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10150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55" b="0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55" b="0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费用池 · 分摊动因 · 规则版本</a:t>
            </a:r>
            <a:endParaRPr sz="955" b="0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4" name="圆角矩形 103">
            <a:extLst xmlns:a="http://schemas.openxmlformats.org/drawingml/2006/main">
              <a:ext uri="{FF2B5EF4-FFF2-40B4-BE49-F238E27FC236}">
                <a16:creationId xmlns:a16="http://schemas.microsoft.com/office/drawing/2014/main" id="{FD4E2E87-AED1-460D-9E15-98923A3E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86300"/>
            <a:ext cx="20764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11B08">
              <a:alpha val="96000"/>
            </a:srgbClr>
          </a:solidFill>
          <a:ln xmlns:a="http://schemas.openxmlformats.org/drawingml/2006/main" w="12859">
            <a:solidFill>
              <a:srgbClr val="A889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67D76FE6-9C08-4C57-B8EE-F696B1EF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434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异常检测与预警规则引擎</a:t>
            </a:r>
            <a:endParaRPr sz="1075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5752EC79-09CD-460D-B473-FD391139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10150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55" b="0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55" b="0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时序异常 · 阈值 · 分级规则</a:t>
            </a:r>
            <a:endParaRPr sz="955" b="0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B83C450C-302C-4A28-BB93-82608D5B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29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11923">
              <a:alpha val="95000"/>
            </a:srgbClr>
          </a:solidFill>
          <a:ln xmlns:a="http://schemas.openxmlformats.org/drawingml/2006/main" w="12859">
            <a:solidFill>
              <a:srgbClr val="5465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8" name="矩形 107">
            <a:extLst xmlns:a="http://schemas.openxmlformats.org/drawingml/2006/main">
              <a:ext uri="{FF2B5EF4-FFF2-40B4-BE49-F238E27FC236}">
                <a16:creationId xmlns:a16="http://schemas.microsoft.com/office/drawing/2014/main" id="{93813F32-6A32-4588-B1AC-7D567724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57825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65" b="1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模型治理：数据版本   模型参数   规则版本   计算结果   人工调整   审批记录</a:t>
            </a:r>
            <a:endParaRPr sz="1065" b="1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9" name="圆角矩形 108">
            <a:extLst xmlns:a="http://schemas.openxmlformats.org/drawingml/2006/main">
              <a:ext uri="{FF2B5EF4-FFF2-40B4-BE49-F238E27FC236}">
                <a16:creationId xmlns:a16="http://schemas.microsoft.com/office/drawing/2014/main" id="{F5C65889-4164-4CFC-81A3-D00BD6F2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10299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61B2B">
              <a:alpha val="96000"/>
            </a:srgbClr>
          </a:solidFill>
          <a:ln xmlns:a="http://schemas.openxmlformats.org/drawingml/2006/main" w="12859">
            <a:solidFill>
              <a:srgbClr val="238F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0" name="矩形 109">
            <a:extLst xmlns:a="http://schemas.openxmlformats.org/drawingml/2006/main">
              <a:ext uri="{FF2B5EF4-FFF2-40B4-BE49-F238E27FC236}">
                <a16:creationId xmlns:a16="http://schemas.microsoft.com/office/drawing/2014/main" id="{8CD4FB3D-9704-4C19-A9BA-FCDC66C8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531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数据来源</a:t>
            </a:r>
            <a:endParaRPr sz="1200" b="1">
              <a:solidFill>
                <a:srgbClr val="46BD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1" name="矩形 110">
            <a:extLst xmlns:a="http://schemas.openxmlformats.org/drawingml/2006/main">
              <a:ext uri="{FF2B5EF4-FFF2-40B4-BE49-F238E27FC236}">
                <a16:creationId xmlns:a16="http://schemas.microsoft.com/office/drawing/2014/main" id="{8DCB1BFC-4AC7-4103-A9FB-75094A08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43600"/>
            <a:ext cx="9801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SAP    WMS    MES    CRM / SRM    TMS    QMS / LIMS    实时数据平台</a:t>
            </a:r>
            <a:endParaRPr sz="112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559443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7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39e56dce9472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7A2445E-2F4E-4DB5-BCA5-355A0BAA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9" name="图片 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9cd14bdb243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81521"/>
            <a:ext cx="685800" cy="579958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32A0375-7766-4E2E-B7D5-24AF6726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FFF00"/>
                </a:solidFill>
                <a:latin typeface="Songti SC"/>
                <a:ea typeface="Songti SC"/>
                <a:cs typeface="Songti SC"/>
              </a:defRPr>
            </a:pPr>
            <a:r>
              <a:rPr sz="2550" b="0">
                <a:solidFill>
                  <a:srgbClr val="FFFF00"/>
                </a:solidFill>
                <a:latin typeface="Songti SC"/>
                <a:ea typeface="Songti SC"/>
                <a:cs typeface="Songti SC"/>
              </a:rPr>
              <a:t>行业现状与未来蓝图对比</a:t>
            </a:r>
            <a:endParaRPr sz="2550" b="0">
              <a:solidFill>
                <a:srgbClr val="FFFF00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9D0D36A-BF45-4FB7-A2CE-9370434A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defRPr>
            </a:pPr>
            <a:r>
              <a: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rPr>
              <a:t>— 03  </a:t>
            </a:r>
            <a:r>
              <a: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rPr>
              <a:t>关键</a:t>
            </a:r>
            <a:r>
              <a: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rPr>
              <a:t>跃升</a:t>
            </a:r>
            <a:endParaRPr sz="1875" b="1">
              <a:solidFill>
                <a:srgbClr val="F5F7FA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E991E38-DD54-48CC-ABFC-D725ABC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0572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E81F4EC4-0213-42AE-9B59-0F29C54B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3429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91520">
              <a:alpha val="96000"/>
            </a:srgbClr>
          </a:solidFill>
          <a:ln xmlns:a="http://schemas.openxmlformats.org/drawingml/2006/main" w="12859">
            <a:solidFill>
              <a:srgbClr val="18BF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104" name="图片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293114b3a48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1724025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7C6CE9D-F80D-425A-A90B-FF64A515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43075"/>
            <a:ext cx="400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1500" b="1">
              <a:solidFill>
                <a:srgbClr val="46BD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F087B8-6B89-49AE-BC68-E415244F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04975"/>
            <a:ext cx="2076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减少人工操作</a:t>
            </a:r>
            <a:endParaRPr sz="157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BC7C0F7-848A-4766-AAF4-CE18B031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自动采集、自动计算；人员处理审核和异常</a:t>
            </a:r>
            <a:endParaRPr sz="1050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AB0B09A-2C1B-4D82-970E-9DCE60AD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A33FB2A-DF5B-47DF-8539-25361AA6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录入及数据整理工时</a:t>
            </a:r>
            <a:endParaRPr sz="106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55584B5-1688-4C11-B86A-CC3FE519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71462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65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5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减少40%至60%</a:t>
            </a:r>
            <a:endParaRPr sz="1165" b="1">
              <a:solidFill>
                <a:srgbClr val="46BD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8876EEC-43F7-4EC9-9E55-28A7CE96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A29DC34-993F-464A-832E-4D8B4C2E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重复报表制作工时</a:t>
            </a:r>
            <a:endParaRPr sz="106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FDBD14B-A37D-43BB-B60F-6B78BF36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2897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65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5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减少50%至70%</a:t>
            </a:r>
            <a:endParaRPr sz="1165" b="1">
              <a:solidFill>
                <a:srgbClr val="46BD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2ED7523-826A-40BF-ADEE-CFAF2711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7DD790F-832B-4976-9ACB-01E5C6EA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采购催单跟踪工时</a:t>
            </a:r>
            <a:endParaRPr sz="106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84EFBE9-2919-4EA6-8D57-D919BBC4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74332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65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5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减少30%至50%</a:t>
            </a:r>
            <a:endParaRPr sz="1165" b="1">
              <a:solidFill>
                <a:srgbClr val="46BDF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FA05845-AB6E-406F-8E3A-F3EF46A4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196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154C26D-3540-4C80-86FB-4412D3E0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6245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B1FC3E3-2231-48EA-A037-6E580FF0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91038"/>
            <a:ext cx="419100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860B48F-71FE-44A0-80BB-A3130E39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291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现状</a:t>
            </a:r>
            <a:endParaRPr sz="865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C86C0F2-D5F9-4A9F-BCFF-48DF2D27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291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目标</a:t>
            </a:r>
            <a:endParaRPr sz="865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3D25EBE0-0F4F-498F-8933-A0F724AE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90675"/>
            <a:ext cx="3429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91520">
              <a:alpha val="96000"/>
            </a:srgbClr>
          </a:solidFill>
          <a:ln xmlns:a="http://schemas.openxmlformats.org/drawingml/2006/main" w="12859">
            <a:solidFill>
              <a:srgbClr val="E8BC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123" name="图片 1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55cfd6acc4a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1724025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84042F1-95B5-4E8F-8C5D-B671D7FE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43075"/>
            <a:ext cx="400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1500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9A1CB378-D69B-401E-BB2E-C9945AF3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704975"/>
            <a:ext cx="2076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提升业务效率</a:t>
            </a:r>
            <a:endParaRPr sz="157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3047766B-C1DA-4EAC-A6E2-520F5C7C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滚动计划、异常派发和批次下钻缩短决策链路</a:t>
            </a:r>
            <a:endParaRPr sz="1050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F7A2816-BDE1-41E8-A9F0-213493C7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384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CCE61B0-2E39-4EC6-BAA7-02058374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计划编制调整周期</a:t>
            </a:r>
            <a:endParaRPr sz="106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58D982E-A1BD-4205-8D02-87F306E6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1462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6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缩短50%至70%</a:t>
            </a:r>
            <a:endParaRPr sz="1165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B132E332-43FD-4D3B-B141-BD3DD1B6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437A110-CFA6-4D98-ACD5-D9DD3120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385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供应与库存异常响应</a:t>
            </a:r>
            <a:endParaRPr sz="106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944FBE61-82D0-4C3B-9394-A5E67AA7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22897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6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缩短60%至80%</a:t>
            </a:r>
            <a:endParaRPr sz="1165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70122AF-C05D-4450-BF07-42546B05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AEE826E-A1F6-40DE-8069-29399C5D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528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成本异常定位时间</a:t>
            </a:r>
            <a:endParaRPr sz="106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343AC2D-1518-4A00-BEF3-EFACB017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74332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6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缩短70%至90%</a:t>
            </a:r>
            <a:endParaRPr sz="1165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E7BBCC6-D6B5-4425-A643-BDCDDF81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196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AA9ECBF6-A62A-4719-95AD-4C5B83B8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6245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CE0CA9B5-2980-45D8-AB3C-92997269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29614"/>
            <a:ext cx="419100" cy="90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E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ABF339C-C1F6-4B64-996E-77DADD00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291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现状</a:t>
            </a:r>
            <a:endParaRPr sz="865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E2D088CE-DEBB-4515-A6FC-D615EEA4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目标</a:t>
            </a:r>
            <a:endParaRPr sz="865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E382B595-E541-4FDC-8098-76C06F8B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90675"/>
            <a:ext cx="3429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91520">
              <a:alpha val="96000"/>
            </a:srgbClr>
          </a:solidFill>
          <a:ln xmlns:a="http://schemas.openxmlformats.org/drawingml/2006/main" w="12859">
            <a:solidFill>
              <a:srgbClr val="39D2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142" name="图片 1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b0585be5446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81975" y="1724025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32CC4F1B-2792-4C06-BB9C-891EB830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43075"/>
            <a:ext cx="400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1500" b="1">
              <a:solidFill>
                <a:srgbClr val="61D2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0FFBD0E-3555-459F-ABF0-3D17A1C6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04975"/>
            <a:ext cx="2076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降低运营成本</a:t>
            </a:r>
            <a:endParaRPr sz="157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656639E1-09ED-418F-92AB-C1DE57B2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优化库存结构、供应商组合和到货节奏</a:t>
            </a:r>
            <a:endParaRPr sz="1050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691734F4-E484-48FC-95CB-6D6586D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384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7CBFEF74-1102-4D45-B549-2733D87C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库存资金占用</a:t>
            </a:r>
            <a:endParaRPr sz="106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510A490-E92B-4D8D-949A-C62A568E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71462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65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5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rPr>
              <a:t>降低3%至</a:t>
            </a:r>
            <a:r>
              <a:rPr sz="1165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rPr>
              <a:t>5</a:t>
            </a:r>
            <a:r>
              <a:rPr sz="1165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rPr>
              <a:t>%</a:t>
            </a:r>
            <a:endParaRPr sz="1165" b="1">
              <a:solidFill>
                <a:srgbClr val="61D2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7EA85164-4671-41C5-BBD6-E8ED5EC6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452093F3-BF0E-41F3-8A0E-2A504F32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呆滞库存金额</a:t>
            </a:r>
            <a:endParaRPr sz="106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B46B2C92-74D1-4B28-8191-E1BCB56A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22897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65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5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rPr>
              <a:t>降低10%至20%</a:t>
            </a:r>
            <a:endParaRPr sz="1165" b="1">
              <a:solidFill>
                <a:srgbClr val="61D2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C320F81F-E6B5-4333-89AD-66085ED5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760E3AC9-A8C5-4DB9-8ACF-F6902145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原料综合采购成本</a:t>
            </a:r>
            <a:endParaRPr sz="1065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F7107724-1ACA-4F49-B49C-AA494034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743325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65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5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rPr>
              <a:t>降低</a:t>
            </a:r>
            <a:r>
              <a:rPr sz="1165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rPr>
              <a:t>3</a:t>
            </a:r>
            <a:r>
              <a:rPr sz="1165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rPr>
              <a:t>%至</a:t>
            </a:r>
            <a:r>
              <a:rPr sz="1165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rPr>
              <a:t>5</a:t>
            </a:r>
            <a:r>
              <a:rPr sz="1165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rPr>
              <a:t>%</a:t>
            </a:r>
            <a:endParaRPr sz="1165" b="1">
              <a:solidFill>
                <a:srgbClr val="61D2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54A0D355-CE3E-4BE7-9EEF-064C36E8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196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E60F7ECC-D6A6-41D3-9AD1-761EF821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6245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DF38CAAC-E52B-4869-B1A1-F0081B44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93311"/>
            <a:ext cx="419100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D2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8EF7FAB-C0A2-471F-A6BE-A6E870E0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291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现状</a:t>
            </a:r>
            <a:endParaRPr sz="865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61BC20F-497D-43A8-AF16-0877D34C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291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目标</a:t>
            </a:r>
            <a:endParaRPr sz="865" b="0">
              <a:solidFill>
                <a:srgbClr val="AFBAC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AE2A5DBF-D940-4739-8A78-80E26C1E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五模块价值贡献</a:t>
            </a:r>
            <a:endParaRPr sz="1350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7" name="圆角矩形 66">
            <a:extLst xmlns:a="http://schemas.openxmlformats.org/drawingml/2006/main">
              <a:ext uri="{FF2B5EF4-FFF2-40B4-BE49-F238E27FC236}">
                <a16:creationId xmlns:a16="http://schemas.microsoft.com/office/drawing/2014/main" id="{EB38F65E-9EC6-487E-89E2-214DDD9F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2076450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081824">
              <a:alpha val="96000"/>
            </a:srgbClr>
          </a:solidFill>
          <a:ln xmlns:a="http://schemas.openxmlformats.org/drawingml/2006/main" w="12859">
            <a:solidFill>
              <a:srgbClr val="315C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2" name="图片 1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d6c7ff74942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5435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FC413FF2-868E-4C2D-9568-AA7DCDA7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4578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9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9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库存优化</a:t>
            </a:r>
            <a:endParaRPr sz="1090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C5B2F936-26C3-4285-A08C-8C3C4775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724525"/>
            <a:ext cx="1438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降低库存与呆滞</a:t>
            </a:r>
            <a:endParaRPr sz="990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圆角矩形 70">
            <a:extLst xmlns:a="http://schemas.openxmlformats.org/drawingml/2006/main">
              <a:ext uri="{FF2B5EF4-FFF2-40B4-BE49-F238E27FC236}">
                <a16:creationId xmlns:a16="http://schemas.microsoft.com/office/drawing/2014/main" id="{268C1A38-4E62-4BAB-AAFC-8F0A809D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81625"/>
            <a:ext cx="2076450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081824">
              <a:alpha val="96000"/>
            </a:srgbClr>
          </a:solidFill>
          <a:ln xmlns:a="http://schemas.openxmlformats.org/drawingml/2006/main" w="12859">
            <a:solidFill>
              <a:srgbClr val="315C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6" name="图片 1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c8bb1e21b47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5600" y="55435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AD6A1D7E-C98B-4A59-8DE5-63F00E54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4578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9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9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采购优化</a:t>
            </a:r>
            <a:endParaRPr sz="1090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E5EFB47A-F88E-4210-82EC-0FDB0F6A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724525"/>
            <a:ext cx="1438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规范寻源与价格</a:t>
            </a:r>
            <a:endParaRPr sz="990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圆角矩形 74">
            <a:extLst xmlns:a="http://schemas.openxmlformats.org/drawingml/2006/main">
              <a:ext uri="{FF2B5EF4-FFF2-40B4-BE49-F238E27FC236}">
                <a16:creationId xmlns:a16="http://schemas.microsoft.com/office/drawing/2014/main" id="{02F40BFA-7E38-46EB-B657-F52F5FB3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381625"/>
            <a:ext cx="2076450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081824">
              <a:alpha val="96000"/>
            </a:srgbClr>
          </a:solidFill>
          <a:ln xmlns:a="http://schemas.openxmlformats.org/drawingml/2006/main" w="12859">
            <a:solidFill>
              <a:srgbClr val="315C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70" name="图片 1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f403a32d545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05400" y="55435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4577E96D-8E1E-46DD-8F4D-373CB615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4578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9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9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要货计划</a:t>
            </a:r>
            <a:endParaRPr sz="1090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D2E9C496-9D24-4F32-884C-BD14D936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724525"/>
            <a:ext cx="1438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减少沟通与等待</a:t>
            </a:r>
            <a:endParaRPr sz="990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9" name="圆角矩形 78">
            <a:extLst xmlns:a="http://schemas.openxmlformats.org/drawingml/2006/main">
              <a:ext uri="{FF2B5EF4-FFF2-40B4-BE49-F238E27FC236}">
                <a16:creationId xmlns:a16="http://schemas.microsoft.com/office/drawing/2014/main" id="{9A6E61FF-5F39-4F8F-943C-2E4C0F41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81625"/>
            <a:ext cx="2076450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081824">
              <a:alpha val="96000"/>
            </a:srgbClr>
          </a:solidFill>
          <a:ln xmlns:a="http://schemas.openxmlformats.org/drawingml/2006/main" w="12859">
            <a:solidFill>
              <a:srgbClr val="315C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74" name="图片 1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91b64d65643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0" y="55435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692DF1E9-1D27-4541-9EE3-A82A968A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4578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9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9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成本分摊</a:t>
            </a:r>
            <a:endParaRPr sz="1090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1F3655EB-3466-4764-B8E9-AD06521D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724525"/>
            <a:ext cx="1438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批次追溯与异常定位</a:t>
            </a:r>
            <a:endParaRPr sz="990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3" name="圆角矩形 82">
            <a:extLst xmlns:a="http://schemas.openxmlformats.org/drawingml/2006/main">
              <a:ext uri="{FF2B5EF4-FFF2-40B4-BE49-F238E27FC236}">
                <a16:creationId xmlns:a16="http://schemas.microsoft.com/office/drawing/2014/main" id="{0142FEA7-98D4-40A7-ADB7-CC33837A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381625"/>
            <a:ext cx="2076450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081824">
              <a:alpha val="96000"/>
            </a:srgbClr>
          </a:solidFill>
          <a:ln xmlns:a="http://schemas.openxmlformats.org/drawingml/2006/main" w="12859">
            <a:solidFill>
              <a:srgbClr val="315C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78" name="图片 1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d5f182a6b4a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55435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1FB3F59D-DC70-41D9-B745-4E3608CB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54578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9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9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经营驾驶舱</a:t>
            </a:r>
            <a:endParaRPr sz="1090" b="1">
              <a:solidFill>
                <a:srgbClr val="F5F7F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774C4B13-FA62-4EF2-BEE1-76DE224F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5724525"/>
            <a:ext cx="1438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统一指标与决策跟踪</a:t>
            </a:r>
            <a:endParaRPr sz="990" b="1">
              <a:solidFill>
                <a:srgbClr val="F6CE5C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448545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2026-09-23T11:43:12.3030000Z</dcterms:created>
  <dcterms:modified xsi:type="dcterms:W3CDTF">2026-09-23T11:43:12.3030000Z</dcterms:modified>
</coreProperties>
</file>