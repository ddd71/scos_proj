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89" r:id="rId4"/>
  </p:sldMasterIdLst>
  <p:notesMasterIdLst>
    <p:notesMasterId r:id="rId6"/>
  </p:notesMasterIdLst>
  <p:sldIdLst>
    <p:sldId id="432" r:id="rId5"/>
    <p:sldId id="443" r:id="rId7"/>
    <p:sldId id="282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36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  <p:cmAuthor id="1185" name="ThinkPad" initials="T" lastIdx="0" clrIdx="1184"/>
  <p:cmAuthor id="1186" name="未知用户381" initials="未" lastIdx="0" clrIdx="1185"/>
  <p:cmAuthor id="1187" name="未知用户382" initials="未" lastIdx="0" clrIdx="1186"/>
  <p:cmAuthor id="1188" name="未知用户384" initials="未" lastIdx="0" clrIdx="1187"/>
  <p:cmAuthor id="1189" name="winner1 chan" initials="wc" lastIdx="0" clrIdx="1188"/>
  <p:cmAuthor id="1190" name="未知用户332" initials="未" lastIdx="0" clrIdx="1189"/>
  <p:cmAuthor id="1191" name="frankyang" initials="f" lastIdx="0" clrIdx="1190"/>
  <p:cmAuthor id="1192" name="lxm" initials="l" lastIdx="0" clrIdx="1191"/>
  <p:cmAuthor id="1193" name="未知的使用者96" initials="未" lastIdx="0" clrIdx="1192"/>
  <p:cmAuthor id="1194" name="未知用户317" initials="未" lastIdx="0" clrIdx="1193"/>
  <p:cmAuthor id="1195" name="未知用户322" initials="未" lastIdx="0" clrIdx="1194"/>
  <p:cmAuthor id="1196" name="wangxinhui" initials="w" lastIdx="0" clrIdx="1195"/>
  <p:cmAuthor id="1197" name="未知用户326" initials="未" lastIdx="0" clrIdx="1196"/>
  <p:cmAuthor id="1198" name="未知用户365" initials="未" lastIdx="0" clrIdx="1197"/>
  <p:cmAuthor id="1199" name="未知用户460" initials="未" lastIdx="0" clrIdx="1198"/>
  <p:cmAuthor id="1200" name="未知用户366" initials="未" lastIdx="0" clrIdx="1199"/>
  <p:cmAuthor id="1201" name="未知用户367" initials="未" lastIdx="0" clrIdx="1200"/>
  <p:cmAuthor id="1202" name="未知用户462" initials="未" lastIdx="0" clrIdx="1201"/>
  <p:cmAuthor id="1203" name="未知用户369" initials="未" lastIdx="0" clrIdx="1202"/>
  <p:cmAuthor id="1204" name="未知用户468" initials="未" lastIdx="0" clrIdx="1203"/>
  <p:cmAuthor id="1205" name="未知用户374" initials="未" lastIdx="0" clrIdx="1204"/>
  <p:cmAuthor id="1206" name="未知用户376" initials="未" lastIdx="0" clrIdx="1205"/>
  <p:cmAuthor id="1207" name="未知用户378" initials="未" lastIdx="0" clrIdx="1206"/>
  <p:cmAuthor id="1208" name="未知用户379" initials="未" lastIdx="0" clrIdx="1207"/>
  <p:cmAuthor id="1209" name="jing li" initials="j" lastIdx="0" clrIdx="1208"/>
  <p:cmAuthor id="1210" name="刘春杰10244342" initials="刘春杰10244342" lastIdx="0" clrIdx="1209"/>
  <p:cmAuthor id="1211" name="guozheng1" initials="g" lastIdx="0" clrIdx="1210"/>
  <p:cmAuthor id="1212" name="Jack Qin" initials="J" lastIdx="0" clrIdx="1211"/>
  <p:cmAuthor id="1213" name="wangying6" initials="w" lastIdx="0" clrIdx="1212"/>
  <p:cmAuthor id="1214" name="钟珅" initials="钟" lastIdx="0" clrIdx="1213"/>
  <p:cmAuthor id="1215" name="郑丹雯" initials="郑" lastIdx="0" clrIdx="1214"/>
  <p:cmAuthor id="1216" name="admin" initials="a" lastIdx="0" clrIdx="1215"/>
  <p:cmAuthor id="1217" name="未知用户19" initials="未" lastIdx="0" clrIdx="1216"/>
  <p:cmAuthor id="1218" name="未知用户21" initials="未" lastIdx="0" clrIdx="1217"/>
  <p:cmAuthor id="1219" name="未知用户18" initials="未" lastIdx="0" clrIdx="1218"/>
  <p:cmAuthor id="1220" name="zhengxindan" initials="z" lastIdx="0" clrIdx="1219"/>
  <p:cmAuthor id="1221" name="未知用户173" initials="" lastIdx="0" clrIdx="1220"/>
  <p:cmAuthor id="1222" name="蘼鼗" initials="蘼" lastIdx="0" clrIdx="1221"/>
  <p:cmAuthor id="1223" name="方乐" initials="方" lastIdx="0" clrIdx="1222"/>
  <p:cmAuthor id="1224" name="mayao2" initials="m" lastIdx="0" clrIdx="1223"/>
  <p:cmAuthor id="1225" name="xulisha" initials="x" lastIdx="0" clrIdx="1224"/>
  <p:cmAuthor id="1226" name="27155255" initials="2" lastIdx="0" clrIdx="1225"/>
  <p:cmAuthor id="1227" name="我是一个老百姓" initials="我" lastIdx="0" clrIdx="1226"/>
  <p:cmAuthor id="1228" name="654665112@qq.com" initials="6" lastIdx="0" clrIdx="1227"/>
  <p:cmAuthor id="1229" name="梁亚栋" initials="authorId_233440905" lastIdx="0" clrIdx="1228"/>
  <p:cmAuthor id="1230" name="chenyanyan" initials="c" lastIdx="0" clrIdx="1229"/>
  <p:cmAuthor id="1231" name="子皓" initials="子皓" lastIdx="0" clrIdx="1230"/>
  <p:cmAuthor id="1232" name="石三" initials="石" lastIdx="0" clrIdx="1231"/>
  <p:cmAuthor id="1233" name="Narcissus" initials="N" lastIdx="0" clrIdx="1232"/>
  <p:cmAuthor id="1234" name="guosheng.huang" initials="g" lastIdx="0" clrIdx="1233"/>
  <p:cmAuthor id="1235" name="yaojie" initials="y" lastIdx="0" clrIdx="1234"/>
  <p:cmAuthor id="1236" name="dmj" initials="d" lastIdx="0" clrIdx="1235"/>
  <p:cmAuthor id="1237" name="liruixin" initials="l" lastIdx="0" clrIdx="1236"/>
  <p:cmAuthor id="1238" name="未知的使用者1" initials="" lastIdx="0" clrIdx="1237"/>
  <p:cmAuthor id="1239" name="qihua-DCMS" initials="" lastIdx="0" clrIdx="1238"/>
  <p:cmAuthor id="1240" name="wangleilei" initials="w" lastIdx="0" clrIdx="1239"/>
  <p:cmAuthor id="1241" name="lm" initials="l" lastIdx="0" clrIdx="1240"/>
  <p:cmAuthor id="1242" name="lipan" initials="l" lastIdx="0" clrIdx="1241"/>
  <p:cmAuthor id="1243" name="li pan" initials="lp" lastIdx="0" clrIdx="1242"/>
  <p:cmAuthor id="1244" name="侯 超松" initials="侯" lastIdx="0" clrIdx="1243"/>
  <p:cmAuthor id="1245" name="chenyuxi1" initials="c" lastIdx="0" clrIdx="124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A300"/>
    <a:srgbClr val="000000"/>
    <a:srgbClr val="060F23"/>
    <a:srgbClr val="257F3D"/>
    <a:srgbClr val="FFE699"/>
    <a:srgbClr val="CD722C"/>
    <a:srgbClr val="22C55E"/>
    <a:srgbClr val="037857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22"/>
        <p:guide pos="36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35.xml"/><Relationship Id="rId14" Type="http://schemas.openxmlformats.org/officeDocument/2006/relationships/customXml" Target="../customXml/item1.xml"/><Relationship Id="rId13" Type="http://schemas.openxmlformats.org/officeDocument/2006/relationships/customXmlProps" Target="../customXml/itemProps34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48D06B-E083-4D33-BD10-F387BF5D02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1" y="1512888"/>
            <a:ext cx="7913565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0401" y="3992563"/>
            <a:ext cx="7913565" cy="93186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r">
              <a:spcBef>
                <a:spcPct val="0"/>
              </a:spcBef>
            </a:pPr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 rot="2345218">
            <a:off x="-5935416" y="475085"/>
            <a:ext cx="12765829" cy="12765829"/>
            <a:chOff x="4199185" y="-3822489"/>
            <a:chExt cx="12765829" cy="12765829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8237022" y="215348"/>
              <a:ext cx="4690154" cy="4690154"/>
              <a:chOff x="8848553" y="1388720"/>
              <a:chExt cx="4690154" cy="4690154"/>
            </a:xfrm>
          </p:grpSpPr>
          <p:sp>
            <p:nvSpPr>
              <p:cNvPr id="9" name="椭圆 8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弧形 9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12847544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弧形 5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1885142"/>
                <a:gd name="adj2" fmla="val 18112891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1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弧形 6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885225"/>
                <a:gd name="adj2" fmla="val 7131830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12663326"/>
                <a:gd name="adj2" fmla="val 1898460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 rot="2345218">
            <a:off x="7333341" y="-4439559"/>
            <a:ext cx="9717317" cy="9717317"/>
            <a:chOff x="5723441" y="-2298233"/>
            <a:chExt cx="9717317" cy="9717317"/>
          </a:xfrm>
        </p:grpSpPr>
        <p:grpSp>
          <p:nvGrpSpPr>
            <p:cNvPr id="14" name="组合 13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8" name="椭圆 17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弧形 18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93598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弧形 19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11969093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弧形 20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997002"/>
                  <a:gd name="adj2" fmla="val 18351143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16" name="弧形 15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968596"/>
                <a:gd name="adj2" fmla="val 1813159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448" y="3015885"/>
            <a:ext cx="5677105" cy="693823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57448" y="3736693"/>
            <a:ext cx="5677105" cy="965763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71003" y="367812"/>
            <a:ext cx="1043876" cy="830164"/>
          </a:xfrm>
        </p:spPr>
        <p:txBody>
          <a:bodyPr wrap="none">
            <a:spAutoFit/>
          </a:bodyPr>
          <a:lstStyle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1" hasCustomPrompt="1"/>
          </p:nvPr>
        </p:nvSpPr>
        <p:spPr>
          <a:xfrm>
            <a:off x="6769100" y="5255017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2" hasCustomPrompt="1"/>
          </p:nvPr>
        </p:nvSpPr>
        <p:spPr>
          <a:xfrm>
            <a:off x="6769100" y="5513549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769100" y="3247008"/>
            <a:ext cx="4843552" cy="1137671"/>
          </a:xfrm>
        </p:spPr>
        <p:txBody>
          <a:bodyPr anchor="b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/>
            <a:r>
              <a:rPr lang="en-US" altLang="zh-CN" dirty="0"/>
              <a:t>Thank you</a:t>
            </a:r>
            <a:endParaRPr lang="en-US" altLang="zh-CN" dirty="0"/>
          </a:p>
        </p:txBody>
      </p:sp>
      <p:grpSp>
        <p:nvGrpSpPr>
          <p:cNvPr id="6" name="组合 5"/>
          <p:cNvGrpSpPr/>
          <p:nvPr userDrawn="1"/>
        </p:nvGrpSpPr>
        <p:grpSpPr>
          <a:xfrm rot="16200000" flipH="1">
            <a:off x="-4607805" y="-3135907"/>
            <a:ext cx="12765829" cy="12765829"/>
            <a:chOff x="4199185" y="-3822489"/>
            <a:chExt cx="12765829" cy="12765829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2" name="椭圆 11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弧形 12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14615283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弧形 13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5884870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弧形 14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003651"/>
                  <a:gd name="adj2" fmla="val 20655375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8" name="弧形 7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7964632"/>
                <a:gd name="adj2" fmla="val 20655375"/>
              </a:avLst>
            </a:prstGeom>
            <a:noFill/>
            <a:ln w="635000" cap="rnd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50000"/>
                    </a:schemeClr>
                  </a:gs>
                </a:gsLst>
                <a:lin ang="0" scaled="0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003651"/>
                <a:gd name="adj2" fmla="val 17440526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0" name="弧形 9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2152946"/>
                <a:gd name="adj2" fmla="val 6967338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96000">
                <a:schemeClr val="bg1">
                  <a:alpha val="86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3000"/>
                </a:sysClr>
              </a:gs>
              <a:gs pos="33000">
                <a:srgbClr val="000000">
                  <a:alpha val="35000"/>
                </a:srgbClr>
              </a:gs>
              <a:gs pos="68000">
                <a:sysClr val="windowText" lastClr="000000">
                  <a:alpha val="35000"/>
                </a:sysClr>
              </a:gs>
              <a:gs pos="100000">
                <a:schemeClr val="bg1">
                  <a:alpha val="8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ad9a64f8-0501-47e5-b24e-c29a17223677 (1)"/>
          <p:cNvPicPr>
            <a:picLocks noChangeAspect="1"/>
          </p:cNvPicPr>
          <p:nvPr userDrawn="1"/>
        </p:nvPicPr>
        <p:blipFill>
          <a:blip r:embed="rId2"/>
          <a:srcRect l="11180" r="21923" b="33259"/>
          <a:stretch>
            <a:fillRect/>
          </a:stretch>
        </p:blipFill>
        <p:spPr>
          <a:xfrm flipH="1">
            <a:off x="-2" y="1788160"/>
            <a:ext cx="12192002" cy="506984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>
            <a:gsLst>
              <a:gs pos="0">
                <a:srgbClr val="000000">
                  <a:alpha val="36000"/>
                </a:srgbClr>
              </a:gs>
              <a:gs pos="100000">
                <a:srgbClr val="08080B">
                  <a:alpha val="0"/>
                </a:srgbClr>
              </a:gs>
              <a:gs pos="48000">
                <a:srgbClr val="08080C">
                  <a:alpha val="17000"/>
                  <a:lumMod val="9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7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ysClr val="windowText" lastClr="000000">
                  <a:alpha val="90000"/>
                </a:sysClr>
              </a:gs>
              <a:gs pos="35000">
                <a:srgbClr val="000000">
                  <a:alpha val="35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任意多边形: 形状 28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任意多边形: 形状 31"/>
            <p:cNvSpPr/>
            <p:nvPr userDrawn="1"/>
          </p:nvSpPr>
          <p:spPr>
            <a:xfrm>
              <a:off x="0" y="0"/>
              <a:ext cx="920115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84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c6ec7453-1983-4fd4-bf75-a8bde3222138"/>
          <p:cNvSpPr>
            <a:spLocks noGrp="1"/>
          </p:cNvSpPr>
          <p:nvPr>
            <p:ph type="ctrTitle" hasCustomPrompt="1"/>
          </p:nvPr>
        </p:nvSpPr>
        <p:spPr>
          <a:xfrm>
            <a:off x="660399" y="1360489"/>
            <a:ext cx="6814457" cy="2030411"/>
          </a:xfrm>
          <a:prstGeom prst="rect">
            <a:avLst/>
          </a:prstGeom>
          <a:noFill/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7049479" y="1930401"/>
            <a:ext cx="3243986" cy="2582308"/>
          </a:xfrm>
          <a:custGeom>
            <a:avLst/>
            <a:gdLst/>
            <a:ahLst/>
            <a:cxnLst/>
            <a:rect l="l" t="t" r="r" b="b"/>
            <a:pathLst>
              <a:path w="5883790" h="4506822">
                <a:moveTo>
                  <a:pt x="2225743" y="1051387"/>
                </a:moveTo>
                <a:lnTo>
                  <a:pt x="1617046" y="2723768"/>
                </a:lnTo>
                <a:lnTo>
                  <a:pt x="2846738" y="2723768"/>
                </a:lnTo>
                <a:close/>
                <a:moveTo>
                  <a:pt x="4973817" y="0"/>
                </a:moveTo>
                <a:lnTo>
                  <a:pt x="5883790" y="0"/>
                </a:lnTo>
                <a:lnTo>
                  <a:pt x="5883790" y="4506822"/>
                </a:lnTo>
                <a:lnTo>
                  <a:pt x="4973817" y="4506822"/>
                </a:lnTo>
                <a:close/>
                <a:moveTo>
                  <a:pt x="1755386" y="0"/>
                </a:moveTo>
                <a:lnTo>
                  <a:pt x="2717620" y="0"/>
                </a:lnTo>
                <a:lnTo>
                  <a:pt x="4522194" y="4506822"/>
                </a:lnTo>
                <a:lnTo>
                  <a:pt x="3532292" y="4506822"/>
                </a:lnTo>
                <a:lnTo>
                  <a:pt x="3138790" y="3483103"/>
                </a:lnTo>
                <a:lnTo>
                  <a:pt x="1337291" y="3483103"/>
                </a:lnTo>
                <a:lnTo>
                  <a:pt x="965309" y="4506822"/>
                </a:lnTo>
                <a:lnTo>
                  <a:pt x="0" y="450682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75000">
                <a:schemeClr val="accent1"/>
              </a:gs>
              <a:gs pos="39000">
                <a:schemeClr val="accent2"/>
              </a:gs>
            </a:gsLst>
            <a:lin ang="2400000" scaled="0"/>
            <a:tileRect/>
          </a:gradFill>
          <a:ln>
            <a:noFill/>
          </a:ln>
          <a:effectLst>
            <a:glow rad="114300">
              <a:schemeClr val="accent2">
                <a:alpha val="18000"/>
              </a:schemeClr>
            </a:glow>
            <a:outerShdw dist="38100" dir="18900000" algn="bl" rotWithShape="0">
              <a:schemeClr val="tx1"/>
            </a:outerShdw>
            <a:reflection blurRad="76200" stA="54000" endPos="50000" dir="5400000" sy="-100000" algn="bl" rotWithShape="0"/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9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03" name="直接连接符 102"/>
          <p:cNvCxnSpPr/>
          <p:nvPr userDrawn="1"/>
        </p:nvCxnSpPr>
        <p:spPr>
          <a:xfrm>
            <a:off x="769610" y="4303615"/>
            <a:ext cx="5051198" cy="0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4853354"/>
            <a:ext cx="12192000" cy="2004646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419601"/>
            <a:ext cx="12192000" cy="2438400"/>
          </a:xfrm>
          <a:prstGeom prst="rect">
            <a:avLst/>
          </a:prstGeom>
          <a:gradFill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8000">
                <a:sysClr val="windowText" lastClr="000000">
                  <a:alpha val="90000"/>
                </a:sysClr>
              </a:gs>
              <a:gs pos="48000">
                <a:srgbClr val="000000">
                  <a:alpha val="55000"/>
                </a:srgbClr>
              </a:gs>
              <a:gs pos="63000">
                <a:sysClr val="windowText" lastClr="000000">
                  <a:alpha val="55000"/>
                </a:sysClr>
              </a:gs>
              <a:gs pos="78000">
                <a:schemeClr val="bg1">
                  <a:alpha val="8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l="664" t="10878" r="40" b="760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1"/>
          <a:stretch>
            <a:fillRect/>
          </a:stretch>
        </p:blipFill>
        <p:spPr>
          <a:xfrm>
            <a:off x="0" y="1395"/>
            <a:ext cx="12192000" cy="68566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ysClr val="windowText" lastClr="000000"/>
              </a:gs>
              <a:gs pos="37000">
                <a:srgbClr val="000000">
                  <a:alpha val="30000"/>
                </a:srgbClr>
              </a:gs>
              <a:gs pos="79000">
                <a:sysClr val="windowText" lastClr="000000">
                  <a:alpha val="3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/>
            <a:srcRect/>
            <a:stretch>
              <a:fillRect t="-1" r="-24513" b="-1851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6000">
                <a:srgbClr val="000000">
                  <a:alpha val="80000"/>
                </a:srgbClr>
              </a:gs>
              <a:gs pos="61000">
                <a:sysClr val="windowText" lastClr="000000">
                  <a:alpha val="20000"/>
                </a:sysClr>
              </a:gs>
              <a:gs pos="91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79000"/>
                </a:srgbClr>
              </a:gs>
              <a:gs pos="17000">
                <a:sysClr val="windowText" lastClr="000000"/>
              </a:gs>
              <a:gs pos="66000">
                <a:srgbClr val="000000">
                  <a:alpha val="50000"/>
                </a:srgbClr>
              </a:gs>
              <a:gs pos="82000">
                <a:sysClr val="windowText" lastClr="000000">
                  <a:alpha val="35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 l="1004" t="1481" r="2020" b="8377"/>
          <a:stretch>
            <a:fillRect/>
          </a:stretch>
        </p:blipFill>
        <p:spPr>
          <a:xfrm>
            <a:off x="0" y="483326"/>
            <a:ext cx="12192000" cy="6374674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ysClr val="windowText" lastClr="000000"/>
              </a:gs>
              <a:gs pos="37000">
                <a:srgbClr val="000000">
                  <a:alpha val="70000"/>
                </a:srgbClr>
              </a:gs>
              <a:gs pos="69000">
                <a:sysClr val="windowText" lastClr="000000">
                  <a:alpha val="7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033" t="403" b="15878"/>
          <a:stretch>
            <a:fillRect/>
          </a:stretch>
        </p:blipFill>
        <p:spPr>
          <a:xfrm>
            <a:off x="0" y="1270000"/>
            <a:ext cx="12192000" cy="558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ysClr val="windowText" lastClr="000000"/>
              </a:gs>
              <a:gs pos="43000">
                <a:srgbClr val="000000">
                  <a:alpha val="55000"/>
                </a:srgbClr>
              </a:gs>
              <a:gs pos="74000">
                <a:sysClr val="windowText" lastClr="000000">
                  <a:alpha val="50000"/>
                </a:sysClr>
              </a:gs>
              <a:gs pos="100000">
                <a:schemeClr val="bg1">
                  <a:alpha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4398380"/>
            <a:ext cx="12192000" cy="245962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3000">
                <a:srgbClr val="000000">
                  <a:alpha val="97000"/>
                </a:srgbClr>
              </a:gs>
              <a:gs pos="45000">
                <a:sysClr val="windowText" lastClr="000000"/>
              </a:gs>
              <a:gs pos="78000">
                <a:srgbClr val="000000">
                  <a:alpha val="55000"/>
                </a:srgbClr>
              </a:gs>
              <a:gs pos="91000">
                <a:sysClr val="windowText" lastClr="000000">
                  <a:alpha val="46000"/>
                </a:sysClr>
              </a:gs>
              <a:gs pos="100000">
                <a:schemeClr val="bg1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化工厂摄影图__工业生产_现代科技_摄影图库_昵图网"/>
          <p:cNvPicPr>
            <a:picLocks noChangeAspect="1" noChangeArrowheads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0" y="5059680"/>
            <a:ext cx="12192000" cy="179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6000">
                <a:srgbClr val="000000">
                  <a:alpha val="96000"/>
                </a:srgbClr>
              </a:gs>
              <a:gs pos="73000">
                <a:sysClr val="windowText" lastClr="000000"/>
              </a:gs>
              <a:gs pos="84000">
                <a:srgbClr val="000000">
                  <a:alpha val="80000"/>
                </a:srgbClr>
              </a:gs>
              <a:gs pos="95000">
                <a:sysClr val="windowText" lastClr="000000">
                  <a:alpha val="80000"/>
                </a:sysClr>
              </a:gs>
              <a:gs pos="100000">
                <a:schemeClr val="bg1">
                  <a:alpha val="9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0000"/>
                  <a:lumOff val="10000"/>
                  <a:alpha val="77000"/>
                </a:schemeClr>
              </a:gs>
              <a:gs pos="47500">
                <a:srgbClr val="000C3C">
                  <a:alpha val="83000"/>
                </a:srgbClr>
              </a:gs>
              <a:gs pos="95000">
                <a:schemeClr val="bg1">
                  <a:lumMod val="90000"/>
                  <a:lumOff val="1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6855209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5807" y="732256"/>
            <a:ext cx="9934525" cy="6026944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-3175" y="0"/>
            <a:ext cx="12195175" cy="6906260"/>
          </a:xfrm>
          <a:prstGeom prst="rect">
            <a:avLst/>
          </a:prstGeom>
          <a:gradFill>
            <a:gsLst>
              <a:gs pos="0">
                <a:schemeClr val="bg1">
                  <a:alpha val="31000"/>
                </a:schemeClr>
              </a:gs>
              <a:gs pos="42000">
                <a:schemeClr val="bg1">
                  <a:alpha val="71000"/>
                </a:schemeClr>
              </a:gs>
              <a:gs pos="100000">
                <a:schemeClr val="bg1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1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任意多边形: 形状 12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60000"/>
                  </a:schemeClr>
                </a:gs>
                <a:gs pos="41680">
                  <a:schemeClr val="bg1">
                    <a:alpha val="30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90000"/>
              <a:lumOff val="10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35022" y="1019668"/>
            <a:ext cx="353695" cy="0"/>
          </a:xfrm>
          <a:prstGeom prst="line">
            <a:avLst/>
          </a:prstGeom>
          <a:noFill/>
          <a:ln w="120650" cap="rnd">
            <a:gradFill>
              <a:gsLst>
                <a:gs pos="0">
                  <a:schemeClr val="accent1"/>
                </a:gs>
                <a:gs pos="100000">
                  <a:srgbClr val="FFC000"/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438312" y="325315"/>
            <a:ext cx="10954365" cy="49578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4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灯片编号占位符 7"/>
          <p:cNvSpPr>
            <a:spLocks noGrp="1"/>
          </p:cNvSpPr>
          <p:nvPr>
            <p:ph type="sldNum" sz="quarter" idx="13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769605" y="7328178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5273605" y="7328178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2" Type="http://schemas.openxmlformats.org/officeDocument/2006/relationships/theme" Target="../theme/theme2.xml"/><Relationship Id="rId31" Type="http://schemas.openxmlformats.org/officeDocument/2006/relationships/image" Target="../media/image24.png"/><Relationship Id="rId30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2.xml"/><Relationship Id="rId29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1" cstate="screen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0601325" y="6489700"/>
            <a:ext cx="1255713" cy="2254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DD3DB80-B894-403A-B48E-6FDC1A72010E}" type="slidenum">
              <a:rPr lang="zh-CN" altLang="en-US" smtClean="0">
                <a:solidFill>
                  <a:srgbClr val="FFFFFF">
                    <a:lumMod val="50000"/>
                    <a:lumOff val="50000"/>
                  </a:srgbClr>
                </a:solidFill>
              </a:rPr>
            </a:fld>
            <a:endParaRPr lang="zh-CN" altLang="en-US">
              <a:solidFill>
                <a:srgbClr val="FFFFFF">
                  <a:lumMod val="50000"/>
                  <a:lumOff val="50000"/>
                </a:srgb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/>
              </a:gs>
              <a:gs pos="56000">
                <a:schemeClr val="tx1"/>
              </a:gs>
            </a:gsLst>
            <a:lin ang="4800000" scaled="0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6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2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40.xml"/><Relationship Id="rId22" Type="http://schemas.openxmlformats.org/officeDocument/2006/relationships/image" Target="../media/image46.png"/><Relationship Id="rId21" Type="http://schemas.openxmlformats.org/officeDocument/2006/relationships/image" Target="../media/image45.png"/><Relationship Id="rId20" Type="http://schemas.openxmlformats.org/officeDocument/2006/relationships/tags" Target="../tags/tag26.xml"/><Relationship Id="rId2" Type="http://schemas.openxmlformats.org/officeDocument/2006/relationships/tags" Target="../tags/tag25.xml"/><Relationship Id="rId19" Type="http://schemas.openxmlformats.org/officeDocument/2006/relationships/image" Target="../media/image44.svg"/><Relationship Id="rId18" Type="http://schemas.openxmlformats.org/officeDocument/2006/relationships/image" Target="../media/image43.png"/><Relationship Id="rId17" Type="http://schemas.openxmlformats.org/officeDocument/2006/relationships/image" Target="../media/image42.svg"/><Relationship Id="rId16" Type="http://schemas.openxmlformats.org/officeDocument/2006/relationships/image" Target="../media/image41.png"/><Relationship Id="rId15" Type="http://schemas.openxmlformats.org/officeDocument/2006/relationships/image" Target="../media/image40.svg"/><Relationship Id="rId14" Type="http://schemas.openxmlformats.org/officeDocument/2006/relationships/image" Target="../media/image39.png"/><Relationship Id="rId13" Type="http://schemas.openxmlformats.org/officeDocument/2006/relationships/image" Target="../media/image38.svg"/><Relationship Id="rId12" Type="http://schemas.openxmlformats.org/officeDocument/2006/relationships/image" Target="../media/image37.png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3.xml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1" name="标题 4"/>
          <p:cNvSpPr txBox="1"/>
          <p:nvPr/>
        </p:nvSpPr>
        <p:spPr>
          <a:xfrm>
            <a:off x="1131389" y="3714274"/>
            <a:ext cx="10858500" cy="12114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ln w="19050">
                  <a:noFill/>
                </a:ln>
                <a:gradFill>
                  <a:gsLst>
                    <a:gs pos="37000">
                      <a:schemeClr val="tx1"/>
                    </a:gs>
                    <a:gs pos="0">
                      <a:schemeClr val="accent2"/>
                    </a:gs>
                  </a:gsLst>
                  <a:lin ang="2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5760"/>
              </a:lnSpc>
              <a:defRPr/>
            </a:pPr>
            <a:endParaRPr kumimoji="0" lang="en-US" b="1" u="none" strike="noStrike" kern="1200" cap="none" spc="0" normalizeH="0" baseline="0" noProof="0" dirty="0">
              <a:ln w="19050">
                <a:noFill/>
              </a:ln>
              <a:gradFill>
                <a:gsLst>
                  <a:gs pos="37000">
                    <a:srgbClr val="FFFFFF"/>
                  </a:gs>
                  <a:gs pos="0">
                    <a:srgbClr val="4CE5FF"/>
                  </a:gs>
                </a:gsLst>
                <a:lin ang="2400000" scaled="0"/>
              </a:gra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1122680"/>
            <a:ext cx="7376160" cy="3136900"/>
          </a:xfr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gradFill>
                  <a:gsLst>
                    <a:gs pos="0">
                      <a:schemeClr val="accent2"/>
                    </a:gs>
                    <a:gs pos="56000">
                      <a:schemeClr val="tx1"/>
                    </a:gs>
                  </a:gsLst>
                  <a:lin ang="48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 i="0"/>
              <a:t>中粮生物科技（太仓）有限公司</a:t>
            </a:r>
            <a:br>
              <a:rPr lang="zh-CN" altLang="en-US" sz="3600" b="1" i="0"/>
            </a:br>
            <a:r>
              <a:rPr lang="zh-CN" altLang="en-US" sz="3600" b="1" i="0"/>
              <a:t>中粮生物科技太仓新建</a:t>
            </a:r>
            <a:r>
              <a:rPr lang="en-US" altLang="zh-CN" sz="3600" b="1" i="0"/>
              <a:t>55</a:t>
            </a:r>
            <a:r>
              <a:rPr lang="zh-CN" altLang="en-US" sz="3600" b="1" i="0"/>
              <a:t>万吨</a:t>
            </a:r>
            <a:r>
              <a:rPr lang="en-US" altLang="zh-CN" sz="3600" b="1" i="0"/>
              <a:t>/</a:t>
            </a:r>
            <a:r>
              <a:rPr lang="zh-CN" altLang="en-US" sz="3600" b="1" i="0"/>
              <a:t>年淀粉糖项目AI全流程智能化系统</a:t>
            </a:r>
            <a:endParaRPr lang="zh-CN" altLang="en-US" sz="4445" b="1" i="0"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i="0"/>
              <a:t>蓝图方案阶段性汇报</a:t>
            </a:r>
            <a:endParaRPr lang="zh-CN" altLang="en-US" sz="6000" b="1" i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" name="文本框 1"/>
          <p:cNvSpPr txBox="1"/>
          <p:nvPr/>
        </p:nvSpPr>
        <p:spPr>
          <a:xfrm>
            <a:off x="1193800" y="5486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汇报人：张仔洁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91210" y="30734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algn="l">
              <a:lnSpc>
                <a:spcPct val="115000"/>
              </a:lnSpc>
              <a:spcBef>
                <a:spcPts val="1000"/>
              </a:spcBef>
              <a:buClrTx/>
              <a:buSzTx/>
              <a:buFontTx/>
            </a:pP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行业现状与未来蓝图对比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—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01 订单接收 · 02 原料采购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endParaRPr lang="en-US" altLang="zh-CN" sz="24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00100" y="1466850"/>
            <a:ext cx="4495800" cy="4495800"/>
          </a:xfrm>
          <a:prstGeom prst="roundRect">
            <a:avLst>
              <a:gd name="adj" fmla="val 2119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1" name="图片 60" descr="商务会议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105275" y="2621915"/>
            <a:ext cx="809625" cy="5880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00100" y="1038225"/>
            <a:ext cx="105918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9" name="圆角矩形 8"/>
          <p:cNvSpPr/>
          <p:nvPr/>
        </p:nvSpPr>
        <p:spPr>
          <a:xfrm>
            <a:off x="800100" y="1238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33450" y="1089660"/>
            <a:ext cx="333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</a:t>
            </a:r>
            <a:r>
              <a:rPr lang="en-US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 b="1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状</a:t>
            </a:r>
            <a:endParaRPr lang="zh-CN" sz="1600" b="1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753100" y="1238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569E5"/>
          </a:solidFill>
          <a:ln>
            <a:solidFill>
              <a:schemeClr val="accent4"/>
            </a:solidFill>
          </a:ln>
        </p:spPr>
        <p:txBody>
          <a:bodyPr/>
          <a:p>
            <a:endParaRPr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886450" y="1089660"/>
            <a:ext cx="333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未</a:t>
            </a:r>
            <a:r>
              <a:rPr lang="en-US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来</a:t>
            </a:r>
            <a:endParaRPr lang="zh-CN" sz="1600" b="1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009650" y="1676400"/>
            <a:ext cx="5905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2525" y="1819275"/>
            <a:ext cx="304800" cy="304800"/>
          </a:xfrm>
          <a:prstGeom prst="rect">
            <a:avLst/>
          </a:prstGeom>
        </p:spPr>
      </p:pic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1752600" y="1762125"/>
            <a:ext cx="2438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邮件确认，人工录入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SAP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752600" y="2038350"/>
            <a:ext cx="2438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无订单系统与</a:t>
            </a:r>
            <a:r>
              <a:rPr lang="en-US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EDI · </a:t>
            </a:r>
            <a:r>
              <a:rPr lang="zh-CN" sz="94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采购协同靠线下单据</a:t>
            </a:r>
            <a:endParaRPr lang="zh-CN" sz="94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9650" y="2438400"/>
            <a:ext cx="40767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933450" y="2535555"/>
            <a:ext cx="4076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人工接单与采购链路</a:t>
            </a:r>
            <a:endParaRPr lang="zh-CN" sz="1200" b="1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09650" y="2855595"/>
            <a:ext cx="120015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425" y="2929890"/>
            <a:ext cx="228600" cy="228600"/>
          </a:xfrm>
          <a:prstGeom prst="rect">
            <a:avLst/>
          </a:prstGeom>
        </p:spPr>
      </p:pic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295400" y="32537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电话</a:t>
            </a:r>
            <a:r>
              <a:rPr lang="en-US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邮件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8850" y="3072765"/>
            <a:ext cx="190500" cy="190500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2438400" y="2855595"/>
            <a:ext cx="120015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4175" y="2929890"/>
            <a:ext cx="228600" cy="228600"/>
          </a:xfrm>
          <a:prstGeom prst="rect">
            <a:avLst/>
          </a:prstGeom>
        </p:spPr>
      </p:pic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2638425" y="3253740"/>
            <a:ext cx="809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人工录入</a:t>
            </a:r>
            <a:r>
              <a:rPr lang="en-US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SAP</a:t>
            </a:r>
            <a:endParaRPr lang="en-US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7600" y="3072765"/>
            <a:ext cx="190500" cy="190500"/>
          </a:xfrm>
          <a:prstGeom prst="rect">
            <a:avLst/>
          </a:prstGeom>
        </p:spPr>
      </p:pic>
      <p:sp>
        <p:nvSpPr>
          <p:cNvPr id="28" name="圆角矩形 27"/>
          <p:cNvSpPr/>
          <p:nvPr/>
        </p:nvSpPr>
        <p:spPr>
          <a:xfrm>
            <a:off x="3910330" y="2763520"/>
            <a:ext cx="1200150" cy="713105"/>
          </a:xfrm>
          <a:prstGeom prst="roundRect">
            <a:avLst>
              <a:gd name="adj" fmla="val 6780"/>
            </a:avLst>
          </a:prstGeom>
          <a:solidFill>
            <a:srgbClr val="FFFF00">
              <a:alpha val="7000"/>
            </a:srgbClr>
          </a:solidFill>
          <a:ln w="12700">
            <a:solidFill>
              <a:srgbClr val="FFFF00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4210050" y="3253740"/>
            <a:ext cx="514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线下协同</a:t>
            </a:r>
            <a:endParaRPr lang="zh-CN" sz="1015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009650" y="4425315"/>
            <a:ext cx="4076700" cy="619125"/>
          </a:xfrm>
          <a:prstGeom prst="roundRect">
            <a:avLst>
              <a:gd name="adj" fmla="val 12308"/>
            </a:avLst>
          </a:prstGeom>
          <a:solidFill>
            <a:srgbClr val="FFFF00">
              <a:alpha val="6000"/>
            </a:srgbClr>
          </a:solidFill>
          <a:ln w="12700">
            <a:solidFill>
              <a:srgbClr val="FFFF00">
                <a:alpha val="26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81100" y="4676775"/>
            <a:ext cx="190500" cy="190500"/>
          </a:xfrm>
          <a:prstGeom prst="rect">
            <a:avLst/>
          </a:prstGeom>
        </p:spPr>
      </p:pic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1485900" y="4596765"/>
            <a:ext cx="342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采购协同靠邮件、电话和纸质单据，全流程大量人工操作。</a:t>
            </a:r>
            <a:endParaRPr lang="zh-CN" sz="1050">
              <a:solidFill>
                <a:srgbClr val="FFFFFF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410200" y="38481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跃升</a:t>
            </a:r>
            <a:endParaRPr lang="zh-CN" sz="900" b="1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753100" y="146685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任意多边形 41"/>
          <p:cNvSpPr/>
          <p:nvPr/>
        </p:nvSpPr>
        <p:spPr>
          <a:xfrm>
            <a:off x="5753100" y="146685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58" name="圆角矩形 57"/>
          <p:cNvSpPr/>
          <p:nvPr/>
        </p:nvSpPr>
        <p:spPr>
          <a:xfrm>
            <a:off x="5962650" y="163830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48375" y="1724025"/>
            <a:ext cx="209550" cy="209550"/>
          </a:xfrm>
          <a:prstGeom prst="rect">
            <a:avLst/>
          </a:prstGeom>
        </p:spPr>
      </p:pic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477000" y="1724025"/>
            <a:ext cx="2185670" cy="2482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全渠道接入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订单自动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流转</a:t>
            </a:r>
            <a:endParaRPr lang="zh-CN" alt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10915650" y="166687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5962650" y="2133600"/>
            <a:ext cx="5257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CRM 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客户门户，多源订单自动采集。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5753100" y="300990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任意多边形 65"/>
          <p:cNvSpPr/>
          <p:nvPr/>
        </p:nvSpPr>
        <p:spPr>
          <a:xfrm>
            <a:off x="5753100" y="300990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67" name="圆角矩形 66"/>
          <p:cNvSpPr/>
          <p:nvPr/>
        </p:nvSpPr>
        <p:spPr>
          <a:xfrm>
            <a:off x="5962650" y="318135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48375" y="3267075"/>
            <a:ext cx="209550" cy="209550"/>
          </a:xfrm>
          <a:prstGeom prst="rect">
            <a:avLst/>
          </a:prstGeom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477000" y="3267075"/>
            <a:ext cx="723900" cy="2095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</a:t>
            </a: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ATP：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订单可承诺</a:t>
            </a:r>
            <a:endParaRPr lang="en-US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10915650" y="320992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962650" y="3676650"/>
            <a:ext cx="5257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SCOS 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联动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SAP / WMS / MES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，实时反馈交期。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753100" y="4552950"/>
            <a:ext cx="5638800" cy="1409700"/>
          </a:xfrm>
          <a:prstGeom prst="roundRect">
            <a:avLst>
              <a:gd name="adj" fmla="val 6757"/>
            </a:avLst>
          </a:prstGeom>
          <a:solidFill>
            <a:srgbClr val="FFFFFF">
              <a:alpha val="7500"/>
            </a:srgbClr>
          </a:solidFill>
          <a:ln w="12700">
            <a:solidFill>
              <a:srgbClr val="0569E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任意多边形 72"/>
          <p:cNvSpPr/>
          <p:nvPr/>
        </p:nvSpPr>
        <p:spPr>
          <a:xfrm>
            <a:off x="5753100" y="4552950"/>
            <a:ext cx="38100" cy="1409700"/>
          </a:xfrm>
          <a:custGeom>
            <a:avLst/>
            <a:gdLst/>
            <a:ahLst/>
            <a:cxnLst/>
            <a:pathLst>
              <a:path w="4" h="148">
                <a:moveTo>
                  <a:pt x="4" y="146"/>
                </a:moveTo>
                <a:cubicBezTo>
                  <a:pt x="1" y="144"/>
                  <a:pt x="0" y="141"/>
                  <a:pt x="0" y="138"/>
                </a:cubicBezTo>
                <a:lnTo>
                  <a:pt x="0" y="10"/>
                </a:lnTo>
                <a:cubicBezTo>
                  <a:pt x="0" y="7"/>
                  <a:pt x="1" y="4"/>
                  <a:pt x="4" y="2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/>
          <a:p/>
        </p:txBody>
      </p:sp>
      <p:sp>
        <p:nvSpPr>
          <p:cNvPr id="74" name="圆角矩形 73"/>
          <p:cNvSpPr/>
          <p:nvPr/>
        </p:nvSpPr>
        <p:spPr>
          <a:xfrm>
            <a:off x="5962650" y="4724400"/>
            <a:ext cx="381000" cy="381000"/>
          </a:xfrm>
          <a:prstGeom prst="roundRect">
            <a:avLst>
              <a:gd name="adj" fmla="val 25000"/>
            </a:avLst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/>
          <a:p/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48375" y="4810125"/>
            <a:ext cx="209550" cy="209550"/>
          </a:xfrm>
          <a:prstGeom prst="rect">
            <a:avLst/>
          </a:prstGeom>
        </p:spPr>
      </p:pic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6477000" y="4810125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采购优化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0915650" y="4752975"/>
            <a:ext cx="3048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chemeClr val="accent2">
                    <a:lumMod val="60000"/>
                    <a:lumOff val="40000"/>
                    <a:alpha val="4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" b="1">
              <a:solidFill>
                <a:schemeClr val="accent2">
                  <a:lumMod val="60000"/>
                  <a:lumOff val="40000"/>
                  <a:alpha val="4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5962650" y="5219700"/>
            <a:ext cx="301498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算法辅助采购定价，提前预测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通知发货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en-US" alt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降低采购成本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保证原料供应</a:t>
            </a:r>
            <a:r>
              <a:rPr lang="en-US" alt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异常情况识别与处理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800100" y="6134100"/>
            <a:ext cx="105918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80" name="圆角矩形 79"/>
          <p:cNvSpPr/>
          <p:nvPr/>
        </p:nvSpPr>
        <p:spPr>
          <a:xfrm>
            <a:off x="800100" y="6276975"/>
            <a:ext cx="38100" cy="371475"/>
          </a:xfrm>
          <a:prstGeom prst="roundRect">
            <a:avLst>
              <a:gd name="adj" fmla="val 50000"/>
            </a:avLst>
          </a:prstGeom>
          <a:solidFill>
            <a:srgbClr val="0569E5"/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90600" y="6276975"/>
            <a:ext cx="10401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569E5"/>
                </a:solidFill>
                <a:latin typeface="微软雅黑" panose="020B0503020204020204" charset="-122"/>
                <a:ea typeface="微软雅黑" panose="020B0503020204020204" charset="-122"/>
              </a:rPr>
              <a:t>关键跃升</a:t>
            </a:r>
            <a:endParaRPr lang="zh-CN" sz="975" b="1">
              <a:solidFill>
                <a:srgbClr val="0569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90600" y="6486525"/>
            <a:ext cx="10401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被动响应与人工估算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跃迁为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供需自动联动与全程可视化</a:t>
            </a: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，供应链响应速度提升，库存与采购成本降低。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4" name="图片 83" descr="一个年轻英俊的商人独自坐在办公室里使用科技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073525" y="1572260"/>
            <a:ext cx="841375" cy="561340"/>
          </a:xfrm>
          <a:prstGeom prst="rect">
            <a:avLst/>
          </a:prstGeom>
        </p:spPr>
      </p:pic>
      <p:sp>
        <p:nvSpPr>
          <p:cNvPr id="85" name="圆角矩形 84"/>
          <p:cNvSpPr/>
          <p:nvPr/>
        </p:nvSpPr>
        <p:spPr>
          <a:xfrm>
            <a:off x="9193530" y="1676400"/>
            <a:ext cx="1606550" cy="2607310"/>
          </a:xfrm>
          <a:prstGeom prst="roundRect">
            <a:avLst/>
          </a:prstGeom>
          <a:ln w="6350">
            <a:solidFill>
              <a:schemeClr val="accent4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9193530" y="1871980"/>
            <a:ext cx="1607185" cy="770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系统自动关联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，</a:t>
            </a:r>
            <a:endParaRPr lang="zh-CN" altLang="en-US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审批后自动执行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</a:rPr>
              <a:t>。</a:t>
            </a:r>
            <a:endParaRPr lang="zh-CN" altLang="en-US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857250" y="366522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圆角矩形 87"/>
          <p:cNvSpPr/>
          <p:nvPr/>
        </p:nvSpPr>
        <p:spPr>
          <a:xfrm>
            <a:off x="2419350" y="3665220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10330" y="3665220"/>
            <a:ext cx="1358900" cy="635000"/>
          </a:xfrm>
          <a:prstGeom prst="rect">
            <a:avLst/>
          </a:prstGeom>
        </p:spPr>
      </p:pic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261110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2779395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4244340" y="3710940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933450" y="390334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新人易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错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2419350" y="388239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新人易错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3980180" y="390334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新人易错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193530" y="3106420"/>
            <a:ext cx="1607185" cy="117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非等待审批用时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PingFang SC" panose="020B0400000000000000" charset="-122"/>
                <a:ea typeface="PingFang SC" panose="020B0400000000000000" charset="-122"/>
                <a:cs typeface="Songti SC" panose="02010800040101010101" charset="-122"/>
              </a:rPr>
              <a:t>&lt;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3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分钟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，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订单可满足性承诺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PingFang SC" panose="020B0400000000000000" charset="-122"/>
                <a:ea typeface="PingFang SC" panose="020B0400000000000000" charset="-122"/>
                <a:cs typeface="Songti SC" panose="02010800040101010101" charset="-122"/>
              </a:rPr>
              <a:t>&lt;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3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分钟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，</a:t>
            </a:r>
            <a:r>
              <a:rPr lang="zh-CN" altLang="en-US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无差错</a:t>
            </a:r>
            <a:r>
              <a:rPr lang="en-US" altLang="zh-CN" sz="1200"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  <a:gradFill>
                  <a:gsLst>
                    <a:gs pos="51300">
                      <a:srgbClr val="4888CF"/>
                    </a:gs>
                    <a:gs pos="0">
                      <a:srgbClr val="95D2FF"/>
                    </a:gs>
                    <a:gs pos="95000">
                      <a:srgbClr val="3965A3"/>
                    </a:gs>
                  </a:gsLst>
                  <a:lin ang="5400000" scaled="1"/>
                </a:gradFill>
                <a:latin typeface="Songti SC" panose="02010800040101010101" charset="-122"/>
                <a:ea typeface="Songti SC" panose="02010800040101010101" charset="-122"/>
                <a:cs typeface="Songti SC" panose="02010800040101010101" charset="-122"/>
              </a:rPr>
              <a:t>。</a:t>
            </a:r>
            <a:endParaRPr lang="en-US" altLang="zh-CN" sz="1200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gradFill>
                <a:gsLst>
                  <a:gs pos="51300">
                    <a:srgbClr val="4888CF"/>
                  </a:gs>
                  <a:gs pos="0">
                    <a:srgbClr val="95D2FF"/>
                  </a:gs>
                  <a:gs pos="95000">
                    <a:srgbClr val="3965A3"/>
                  </a:gs>
                </a:gsLst>
                <a:lin ang="5400000" scaled="1"/>
              </a:gradFill>
              <a:latin typeface="Songti SC" panose="02010800040101010101" charset="-122"/>
              <a:ea typeface="Songti SC" panose="02010800040101010101" charset="-122"/>
              <a:cs typeface="Songti SC" panose="02010800040101010101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820420" y="5125085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圆角矩形 99"/>
          <p:cNvSpPr/>
          <p:nvPr/>
        </p:nvSpPr>
        <p:spPr>
          <a:xfrm>
            <a:off x="2382520" y="5125085"/>
            <a:ext cx="1398270" cy="619125"/>
          </a:xfrm>
          <a:prstGeom prst="roundRect">
            <a:avLst>
              <a:gd name="adj" fmla="val 67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3500" y="5125085"/>
            <a:ext cx="1358900" cy="635000"/>
          </a:xfrm>
          <a:prstGeom prst="rect">
            <a:avLst/>
          </a:prstGeom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224280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融</a:t>
            </a: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氏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2742565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4207510" y="5170805"/>
            <a:ext cx="628650" cy="1619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zh-CN" sz="101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896620" y="536321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信息口头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微信通知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易差错</a:t>
            </a:r>
            <a:r>
              <a:rPr lang="en-US" altLang="zh-CN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滞留风险</a:t>
            </a:r>
            <a:r>
              <a:rPr lang="zh-CN" altLang="en-US" sz="1050">
                <a:solidFill>
                  <a:schemeClr val="bg1">
                    <a:alpha val="6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大</a:t>
            </a:r>
            <a:endParaRPr lang="zh-CN" altLang="en-US" sz="1050">
              <a:solidFill>
                <a:schemeClr val="bg1">
                  <a:alpha val="6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2382520" y="5342255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新人易错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3943350" y="5363210"/>
            <a:ext cx="12192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销售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审批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7-8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用时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5-6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天</a:t>
            </a:r>
            <a:r>
              <a:rPr lang="en-US" altLang="zh-CN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050">
                <a:solidFill>
                  <a:srgbClr val="FF0000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新人易错</a:t>
            </a:r>
            <a:endParaRPr lang="zh-CN" altLang="en-US" sz="1050">
              <a:solidFill>
                <a:srgbClr val="FF0000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9193530" y="4664075"/>
            <a:ext cx="1606550" cy="1177290"/>
          </a:xfrm>
          <a:prstGeom prst="roundRect">
            <a:avLst/>
          </a:prstGeom>
          <a:noFill/>
          <a:ln w="6350" cap="flat" cmpd="sng" algn="ctr">
            <a:solidFill>
              <a:srgbClr val="FFC000">
                <a:lumMod val="40000"/>
                <a:lumOff val="60000"/>
              </a:srgb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9257665" y="4874895"/>
            <a:ext cx="1487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提前预测、提前通知，减少滞留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，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保证供应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，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Songti SC" panose="02010800040101010101" charset="-122"/>
                <a:ea typeface="Songti SC" panose="02010800040101010101" charset="-122"/>
              </a:rPr>
              <a:t>降低成本。</a:t>
            </a:r>
            <a:endParaRPr lang="zh-CN" altLang="en-US" sz="1200">
              <a:solidFill>
                <a:schemeClr val="accent4">
                  <a:lumMod val="60000"/>
                  <a:lumOff val="40000"/>
                </a:schemeClr>
              </a:solidFill>
              <a:latin typeface="Songti SC" panose="02010800040101010101" charset="-122"/>
              <a:ea typeface="Songti SC" panose="02010800040101010101" charset="-122"/>
            </a:endParaRPr>
          </a:p>
        </p:txBody>
      </p:sp>
      <p:sp>
        <p:nvSpPr>
          <p:cNvPr id="110" name="右箭头 109"/>
          <p:cNvSpPr/>
          <p:nvPr/>
        </p:nvSpPr>
        <p:spPr>
          <a:xfrm>
            <a:off x="5370195" y="3452495"/>
            <a:ext cx="267970" cy="219710"/>
          </a:xfrm>
          <a:prstGeom prst="rightArrow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1012825" y="1132840"/>
            <a:ext cx="8515350" cy="3408045"/>
            <a:chOff x="1950" y="1341"/>
            <a:chExt cx="13410" cy="5367"/>
          </a:xfrm>
        </p:grpSpPr>
        <p:sp>
          <p:nvSpPr>
            <p:cNvPr id="5" name="矩形: 圆角 72"/>
            <p:cNvSpPr/>
            <p:nvPr>
              <p:custDataLst>
                <p:tags r:id="rId5"/>
              </p:custDataLst>
            </p:nvPr>
          </p:nvSpPr>
          <p:spPr>
            <a:xfrm>
              <a:off x="1950" y="1341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共同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愿景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endParaRPr>
            </a:p>
          </p:txBody>
        </p:sp>
        <p:sp>
          <p:nvSpPr>
            <p:cNvPr id="8" name="矩形: 圆角 73"/>
            <p:cNvSpPr/>
            <p:nvPr>
              <p:custDataLst>
                <p:tags r:id="rId6"/>
              </p:custDataLst>
            </p:nvPr>
          </p:nvSpPr>
          <p:spPr>
            <a:xfrm>
              <a:off x="1950" y="2226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建行业首个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全流程标杆，创智慧工厂+智能实验室融合范式。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" name="矩形: 圆角 75"/>
            <p:cNvSpPr/>
            <p:nvPr>
              <p:custDataLst>
                <p:tags r:id="rId7"/>
              </p:custDataLst>
            </p:nvPr>
          </p:nvSpPr>
          <p:spPr>
            <a:xfrm>
              <a:off x="1950" y="4881"/>
              <a:ext cx="13408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协同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价值观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矩形: 圆角 76"/>
            <p:cNvSpPr/>
            <p:nvPr>
              <p:custDataLst>
                <p:tags r:id="rId8"/>
              </p:custDataLst>
            </p:nvPr>
          </p:nvSpPr>
          <p:spPr>
            <a:xfrm>
              <a:off x="1950" y="5766"/>
              <a:ext cx="13408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安全零事故、进度零失控、质量零妥协、沟通零障碍、知识零保留</a:t>
              </a:r>
              <a:endParaRPr kumimoji="0" lang="zh-CN" altLang="en-US" b="1" i="0" u="none" strike="noStrike" kern="0" cap="none" spc="0" normalizeH="0" baseline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: 圆角 78"/>
            <p:cNvSpPr/>
            <p:nvPr>
              <p:custDataLst>
                <p:tags r:id="rId9"/>
              </p:custDataLst>
            </p:nvPr>
          </p:nvSpPr>
          <p:spPr>
            <a:xfrm>
              <a:off x="1950" y="3111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初心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使命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endParaRPr>
            </a:p>
          </p:txBody>
        </p:sp>
        <p:sp>
          <p:nvSpPr>
            <p:cNvPr id="14" name="矩形: 圆角 79"/>
            <p:cNvSpPr/>
            <p:nvPr>
              <p:custDataLst>
                <p:tags r:id="rId10"/>
              </p:custDataLst>
            </p:nvPr>
          </p:nvSpPr>
          <p:spPr>
            <a:xfrm>
              <a:off x="1950" y="3996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让工艺更精准、让质量更可控、让运营更高效、让人员更轻松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7294a79bba57fa428a285963764b33066dd3eba"/>
  <p:tag name="KSO_WM_NEWLAYOUT_GROUP_ID" val="layout_1-5"/>
  <p:tag name="KSO_WM_NEWLAYOUT_ID" val="slide_cea45c27deb23863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custom20230301_1*a*1"/>
  <p:tag name="KSO_WM_TEMPLATE_CATEGORY" val="custom"/>
  <p:tag name="KSO_WM_TEMPLATE_INDEX" val="20230301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  <p:tag name="KSO_WM_UNIT_TYPE_DROP" val="a"/>
</p:tagLst>
</file>

<file path=ppt/tags/tag25.xml><?xml version="1.0" encoding="utf-8"?>
<p:tagLst xmlns:p="http://schemas.openxmlformats.org/presentationml/2006/main">
  <p:tag name="KSO_DOCER_RESOURCE_TRACE_INFO" val="{&quot;id&quot;:&quot;331411545&quot;,&quot;origin&quot;:0,&quot;type&quot;:&quot;pictures&quot;,&quot;user&quot;:&quot;258825673&quot;}"/>
</p:tagLst>
</file>

<file path=ppt/tags/tag26.xml><?xml version="1.0" encoding="utf-8"?>
<p:tagLst xmlns:p="http://schemas.openxmlformats.org/presentationml/2006/main">
  <p:tag name="KSO_DOCER_RESOURCE_TRACE_INFO" val="{&quot;id&quot;:&quot;180330189&quot;,&quot;origin&quot;:0,&quot;type&quot;:&quot;pictures&quot;,&quot;user&quot;:&quot;258825673&quot;}"/>
</p:tagLst>
</file>

<file path=ppt/tags/tag27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28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29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30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31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32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33.xml><?xml version="1.0" encoding="utf-8"?>
<p:tagLst xmlns:p="http://schemas.openxmlformats.org/presentationml/2006/main">
  <p:tag name="KSO_WM_DIAGRAM_VIRTUALLY_FRAME" val="{&quot;height&quot;:268.35,&quot;left&quot;:79.75,&quot;top&quot;:89.2,&quot;width&quot;:670.5}"/>
</p:tagLst>
</file>

<file path=ppt/tags/tag35.xml><?xml version="1.0" encoding="utf-8"?>
<p:tagLst xmlns:p="http://schemas.openxmlformats.org/presentationml/2006/main">
  <p:tag name="resource_record_key" val="{&quot;10&quot;:[50062381,50063424],&quot;29&quot;:[50052716,50000076],&quot;70&quot;:[3325462,3312479,3426830]}"/>
</p:tagLst>
</file>

<file path=ppt/theme/theme1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esigned by iSlide">
  <a:themeElements>
    <a:clrScheme name="iSlide">
      <a:dk1>
        <a:srgbClr val="00020A"/>
      </a:dk1>
      <a:lt1>
        <a:srgbClr val="FFFFFF"/>
      </a:lt1>
      <a:dk2>
        <a:srgbClr val="778495"/>
      </a:dk2>
      <a:lt2>
        <a:srgbClr val="F0F0F0"/>
      </a:lt2>
      <a:accent1>
        <a:srgbClr val="488CFF"/>
      </a:accent1>
      <a:accent2>
        <a:srgbClr val="4CE5FF"/>
      </a:accent2>
      <a:accent3>
        <a:srgbClr val="115FE4"/>
      </a:accent3>
      <a:accent4>
        <a:srgbClr val="E6D81B"/>
      </a:accent4>
      <a:accent5>
        <a:srgbClr val="F9AC2A"/>
      </a:accent5>
      <a:accent6>
        <a:srgbClr val="3595DC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4000">
              <a:sysClr val="windowText" lastClr="000000">
                <a:alpha val="90000"/>
              </a:sysClr>
            </a:gs>
            <a:gs pos="35000">
              <a:srgbClr val="000000">
                <a:alpha val="35000"/>
              </a:srgbClr>
            </a:gs>
            <a:gs pos="82000">
              <a:sysClr val="windowText" lastClr="000000">
                <a:alpha val="35000"/>
              </a:sysClr>
            </a:gs>
            <a:gs pos="100000">
              <a:schemeClr val="bg1">
                <a:alpha val="60000"/>
              </a:schemeClr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">
    <a:dk1>
      <a:srgbClr val="00020A"/>
    </a:dk1>
    <a:lt1>
      <a:srgbClr val="FFFFFF"/>
    </a:lt1>
    <a:dk2>
      <a:srgbClr val="778495"/>
    </a:dk2>
    <a:lt2>
      <a:srgbClr val="F0F0F0"/>
    </a:lt2>
    <a:accent1>
      <a:srgbClr val="488CFF"/>
    </a:accent1>
    <a:accent2>
      <a:srgbClr val="4CE5FF"/>
    </a:accent2>
    <a:accent3>
      <a:srgbClr val="115FE4"/>
    </a:accent3>
    <a:accent4>
      <a:srgbClr val="E6D81B"/>
    </a:accent4>
    <a:accent5>
      <a:srgbClr val="F9AC2A"/>
    </a:accent5>
    <a:accent6>
      <a:srgbClr val="3595DC"/>
    </a:accent6>
    <a:hlink>
      <a:srgbClr val="F84D4D"/>
    </a:hlink>
    <a:folHlink>
      <a:srgbClr val="979797"/>
    </a:folHlink>
  </a:clrScheme>
</a:themeOverrid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Q1OTk5ODkwMzE0IiwKCSJHcm91cElkIiA6ICIxNjIyMDA3MzY0IiwKCSJJbWFnZSIgOiAiIiwKCSJUaGVtZSIgOiAiIiwKCSJUeXBlIiA6ICJmbG93IiwKCSJVc2VySWQiIDogIiIsCgkiVmVyc2lvbiIgOiAiIgp9Cg=="/>
    </extobj>
  </extobjs>
</s:customData>
</file>

<file path=customXml/itemProps3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WPS 演示</Application>
  <PresentationFormat>宽屏</PresentationFormat>
  <Paragraphs>102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Noto Sans SC</vt:lpstr>
      <vt:lpstr>Songti SC</vt:lpstr>
      <vt:lpstr>PingFang SC</vt:lpstr>
      <vt:lpstr>Consolas</vt:lpstr>
      <vt:lpstr>Arial Unicode MS</vt:lpstr>
      <vt:lpstr>Calibri</vt:lpstr>
      <vt:lpstr>Noto Sans CJK SC</vt:lpstr>
      <vt:lpstr>阿里巴巴普惠体</vt:lpstr>
      <vt:lpstr>Bahnschrift SemiCondensed</vt:lpstr>
      <vt:lpstr>Gen Shin Gothic Bold</vt:lpstr>
      <vt:lpstr>Wingdings</vt:lpstr>
      <vt:lpstr>Alibaba PuHuiTi</vt:lpstr>
      <vt:lpstr>黑体</vt:lpstr>
      <vt:lpstr>Yu Gothic UI</vt:lpstr>
      <vt:lpstr>微软雅黑</vt:lpstr>
      <vt:lpstr>思源黑体 CN Normal</vt:lpstr>
      <vt:lpstr>Arial Bold</vt:lpstr>
      <vt:lpstr>KSOF18A5E788</vt:lpstr>
      <vt:lpstr>Segoe Print</vt:lpstr>
      <vt:lpstr>KSOFF525798C</vt:lpstr>
      <vt:lpstr>KSOF36267ADD</vt:lpstr>
      <vt:lpstr>2_主题1</vt:lpstr>
      <vt:lpstr>2_Designed by iSlide</vt:lpstr>
      <vt:lpstr>39_默认主题</vt:lpstr>
      <vt:lpstr>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张仔洁</cp:lastModifiedBy>
  <cp:revision>648</cp:revision>
  <dcterms:created xsi:type="dcterms:W3CDTF">2026-09-16T08:51:00Z</dcterms:created>
  <dcterms:modified xsi:type="dcterms:W3CDTF">2026-09-21T11:55:28Z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4BD80E0973FB4F97B28C373ACF9ED272_13</vt:lpwstr>
  </property>
</Properties>
</file>