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2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5" name="图片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-mask"/>
          <p:cNvSpPr>
            <a:spLocks noGrp="1"/>
          </p:cNvSpPr>
          <p:nvPr/>
        </p:nvSpPr>
        <p:spPr>
          <a:xfrm>
            <a:off x="711518" y="298133"/>
            <a:ext cx="4826318" cy="635318"/>
          </a:xfrm>
          <a:prstGeom prst="rect">
            <a:avLst/>
          </a:prstGeom>
          <a:solidFill>
            <a:srgbClr val="00020A"/>
          </a:solidFill>
          <a:ln w="0">
            <a:noFill/>
            <a:prstDash val="solid"/>
          </a:ln>
        </p:spPr>
      </p:sp>
      <p:sp>
        <p:nvSpPr>
          <p:cNvPr id="3" name="slide-title"/>
          <p:cNvSpPr>
            <a:spLocks noGrp="1"/>
          </p:cNvSpPr>
          <p:nvPr/>
        </p:nvSpPr>
        <p:spPr>
          <a:xfrm>
            <a:off x="812483" y="452438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>
            <a:defPPr algn="l">
              <a:defRPr sz="2700" b="1">
                <a:solidFill>
                  <a:srgbClr val="F1DF1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2700" b="1">
                <a:solidFill>
                  <a:srgbClr val="F1DF1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F1DF1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成本追溯</a:t>
            </a:r>
            <a:endParaRPr sz="2700" b="1">
              <a:solidFill>
                <a:srgbClr val="F1DF1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top-rule"/>
          <p:cNvSpPr>
            <a:spLocks noGrp="1"/>
          </p:cNvSpPr>
          <p:nvPr/>
        </p:nvSpPr>
        <p:spPr>
          <a:xfrm>
            <a:off x="602933" y="1054418"/>
            <a:ext cx="10986135" cy="12383"/>
          </a:xfrm>
          <a:prstGeom prst="rect">
            <a:avLst/>
          </a:prstGeom>
          <a:solidFill>
            <a:srgbClr val="C9E1FE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5" name="current-panel"/>
          <p:cNvSpPr>
            <a:spLocks noGrp="1"/>
          </p:cNvSpPr>
          <p:nvPr/>
        </p:nvSpPr>
        <p:spPr>
          <a:xfrm>
            <a:off x="521018" y="1321118"/>
            <a:ext cx="3492818" cy="4953000"/>
          </a:xfrm>
          <a:prstGeom prst="roundRect">
            <a:avLst>
              <a:gd name="adj" fmla="val 4363"/>
            </a:avLst>
          </a:prstGeom>
          <a:gradFill>
            <a:gsLst>
              <a:gs pos="0">
                <a:srgbClr val="112B59">
                  <a:alpha val="94000"/>
                </a:srgbClr>
              </a:gs>
              <a:gs pos="100000">
                <a:srgbClr val="030E24">
                  <a:alpha val="93000"/>
                </a:srgbClr>
              </a:gs>
            </a:gsLst>
            <a:lin ang="9300000"/>
          </a:gradFill>
          <a:ln w="7620">
            <a:solidFill>
              <a:srgbClr val="5DA4FB">
                <a:alpha val="60000"/>
              </a:srgbClr>
            </a:solidFill>
            <a:prstDash val="solid"/>
          </a:ln>
        </p:spPr>
      </p:sp>
      <p:sp>
        <p:nvSpPr>
          <p:cNvPr id="6" name="current-label-bar"/>
          <p:cNvSpPr>
            <a:spLocks noGrp="1"/>
          </p:cNvSpPr>
          <p:nvPr/>
        </p:nvSpPr>
        <p:spPr>
          <a:xfrm>
            <a:off x="723900" y="1504950"/>
            <a:ext cx="50483" cy="219075"/>
          </a:xfrm>
          <a:prstGeom prst="roundRect">
            <a:avLst>
              <a:gd name="adj" fmla="val 50000"/>
            </a:avLst>
          </a:prstGeom>
          <a:solidFill>
            <a:srgbClr val="F9C720"/>
          </a:solidFill>
          <a:ln w="0">
            <a:noFill/>
            <a:prstDash val="solid"/>
          </a:ln>
        </p:spPr>
      </p:sp>
      <p:sp>
        <p:nvSpPr>
          <p:cNvPr id="7" name="current-label"/>
          <p:cNvSpPr>
            <a:spLocks noGrp="1"/>
          </p:cNvSpPr>
          <p:nvPr/>
        </p:nvSpPr>
        <p:spPr>
          <a:xfrm>
            <a:off x="857250" y="1495425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4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现状</a:t>
            </a:r>
            <a:endParaRPr sz="14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current-mode"/>
          <p:cNvSpPr>
            <a:spLocks noGrp="1"/>
          </p:cNvSpPr>
          <p:nvPr/>
        </p:nvSpPr>
        <p:spPr>
          <a:xfrm>
            <a:off x="742950" y="1924050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697"/>
          </a:bodyPr>
          <a:lstStyle>
            <a:defPPr algn="l">
              <a:defRPr sz="1650" b="1">
                <a:solidFill>
                  <a:srgbClr val="FFC4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650" b="1">
                <a:solidFill>
                  <a:srgbClr val="FFC4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650" b="1">
                <a:solidFill>
                  <a:srgbClr val="FFC40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月度加权 + 总量分摊</a:t>
            </a:r>
            <a:endParaRPr sz="1650" b="1">
              <a:solidFill>
                <a:srgbClr val="FFC40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current-subtitle"/>
          <p:cNvSpPr>
            <a:spLocks noGrp="1"/>
          </p:cNvSpPr>
          <p:nvPr/>
        </p:nvSpPr>
        <p:spPr>
          <a:xfrm>
            <a:off x="742950" y="223837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>
                <a:solidFill>
                  <a:srgbClr val="8FA1B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00" b="0">
                <a:solidFill>
                  <a:srgbClr val="8FA1B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00" b="0">
                <a:solidFill>
                  <a:srgbClr val="8FA1B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以财务期间整体平衡为主，成本颗粒度停留在月度</a:t>
            </a:r>
            <a:endParaRPr sz="900" b="0">
              <a:solidFill>
                <a:srgbClr val="8FA1B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current-rule-1"/>
          <p:cNvSpPr>
            <a:spLocks noGrp="1"/>
          </p:cNvSpPr>
          <p:nvPr/>
        </p:nvSpPr>
        <p:spPr>
          <a:xfrm>
            <a:off x="723900" y="2590800"/>
            <a:ext cx="3086100" cy="7620"/>
          </a:xfrm>
          <a:prstGeom prst="rect">
            <a:avLst/>
          </a:prstGeom>
          <a:solidFill>
            <a:srgbClr val="C9E1FE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11" name="current-no-1"/>
          <p:cNvSpPr>
            <a:spLocks noGrp="1"/>
          </p:cNvSpPr>
          <p:nvPr/>
        </p:nvSpPr>
        <p:spPr>
          <a:xfrm>
            <a:off x="723900" y="280035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0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0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</a:t>
            </a:r>
            <a:endParaRPr sz="1300" b="1">
              <a:solidFill>
                <a:srgbClr val="5DA4F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current-issue-1-title"/>
          <p:cNvSpPr>
            <a:spLocks noGrp="1"/>
          </p:cNvSpPr>
          <p:nvPr/>
        </p:nvSpPr>
        <p:spPr>
          <a:xfrm>
            <a:off x="1104900" y="2781300"/>
            <a:ext cx="2524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2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核算结果难到单批次</a:t>
            </a:r>
            <a:endParaRPr sz="12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current-issue-1-body"/>
          <p:cNvSpPr>
            <a:spLocks noGrp="1"/>
          </p:cNvSpPr>
          <p:nvPr/>
        </p:nvSpPr>
        <p:spPr>
          <a:xfrm>
            <a:off x="1104900" y="3076575"/>
            <a:ext cx="27051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采用加权平均法计算单位成本，成本按月汇总，</a:t>
            </a:r>
            <a:endParaRPr sz="960" b="0">
              <a:solidFill>
                <a:srgbClr val="B8C0C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难以穿透至具体生产批次与订单。</a:t>
            </a:r>
            <a:endParaRPr sz="960" b="0">
              <a:solidFill>
                <a:srgbClr val="B8C0C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current-rule-2"/>
          <p:cNvSpPr>
            <a:spLocks noGrp="1"/>
          </p:cNvSpPr>
          <p:nvPr/>
        </p:nvSpPr>
        <p:spPr>
          <a:xfrm>
            <a:off x="723900" y="3605213"/>
            <a:ext cx="3086100" cy="7620"/>
          </a:xfrm>
          <a:prstGeom prst="rect">
            <a:avLst/>
          </a:prstGeom>
          <a:solidFill>
            <a:srgbClr val="C9E1FE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15" name="current-no-2"/>
          <p:cNvSpPr>
            <a:spLocks noGrp="1"/>
          </p:cNvSpPr>
          <p:nvPr/>
        </p:nvSpPr>
        <p:spPr>
          <a:xfrm>
            <a:off x="723900" y="382905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0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0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  <a:endParaRPr sz="1300" b="1">
              <a:solidFill>
                <a:srgbClr val="5DA4F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current-issue-2-title"/>
          <p:cNvSpPr>
            <a:spLocks noGrp="1"/>
          </p:cNvSpPr>
          <p:nvPr/>
        </p:nvSpPr>
        <p:spPr>
          <a:xfrm>
            <a:off x="1104900" y="38100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2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能耗与生产对象未直接关联</a:t>
            </a:r>
            <a:endParaRPr sz="12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7" name="current-issue-2-body"/>
          <p:cNvSpPr>
            <a:spLocks noGrp="1"/>
          </p:cNvSpPr>
          <p:nvPr/>
        </p:nvSpPr>
        <p:spPr>
          <a:xfrm>
            <a:off x="1104900" y="4095750"/>
            <a:ext cx="27051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水、电、蒸汽、压缩空气依赖车间总表统计，无</a:t>
            </a:r>
            <a:endParaRPr sz="960" b="0">
              <a:solidFill>
                <a:srgbClr val="B8C0C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60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法直接获得单批次真实能耗。</a:t>
            </a:r>
            <a:endParaRPr sz="960" b="0">
              <a:solidFill>
                <a:srgbClr val="B8C0C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8" name="current-impact-bg"/>
          <p:cNvSpPr>
            <a:spLocks noGrp="1"/>
          </p:cNvSpPr>
          <p:nvPr/>
        </p:nvSpPr>
        <p:spPr>
          <a:xfrm>
            <a:off x="723900" y="4810125"/>
            <a:ext cx="3086100" cy="638175"/>
          </a:xfrm>
          <a:prstGeom prst="rect">
            <a:avLst/>
          </a:prstGeom>
          <a:gradFill>
            <a:gsLst>
              <a:gs pos="0">
                <a:srgbClr val="F9AC2A">
                  <a:alpha val="13000"/>
                </a:srgbClr>
              </a:gs>
              <a:gs pos="100000">
                <a:srgbClr val="F9AC2A">
                  <a:alpha val="4000"/>
                </a:srgbClr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19" name="current-impact-bar"/>
          <p:cNvSpPr>
            <a:spLocks noGrp="1"/>
          </p:cNvSpPr>
          <p:nvPr/>
        </p:nvSpPr>
        <p:spPr>
          <a:xfrm>
            <a:off x="723900" y="4810125"/>
            <a:ext cx="31433" cy="638175"/>
          </a:xfrm>
          <a:prstGeom prst="rect">
            <a:avLst/>
          </a:prstGeom>
          <a:solidFill>
            <a:srgbClr val="F9AC2A"/>
          </a:solidFill>
          <a:ln w="0">
            <a:noFill/>
            <a:prstDash val="solid"/>
          </a:ln>
        </p:spPr>
      </p:sp>
      <p:sp>
        <p:nvSpPr>
          <p:cNvPr id="20" name="current-impact-text"/>
          <p:cNvSpPr>
            <a:spLocks noGrp="1"/>
          </p:cNvSpPr>
          <p:nvPr/>
        </p:nvSpPr>
        <p:spPr>
          <a:xfrm>
            <a:off x="838200" y="4933950"/>
            <a:ext cx="28003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60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60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b="1">
                <a:solidFill>
                  <a:srgbClr val="FFFFFF"/>
                </a:solidFill>
              </a:rPr>
              <a:t>业务影响：</a:t>
            </a:r>
            <a:r>
              <a:rPr>
                <a:solidFill>
                  <a:srgbClr val="F6D27A"/>
                </a:solidFill>
              </a:rPr>
              <a:t>月末依赖人工归集、跨表核对与事后解</a:t>
            </a:r>
            <a:br>
              <a:rPr>
                <a:solidFill>
                  <a:srgbClr val="F6D27A"/>
                </a:solidFill>
              </a:rPr>
            </a:br>
            <a:r>
              <a:rPr>
                <a:solidFill>
                  <a:srgbClr val="F6D27A"/>
                </a:solidFill>
              </a:rPr>
              <a:t>释，异常发现晚、定位慢。</a:t>
            </a:r>
            <a:endParaRPr>
              <a:solidFill>
                <a:srgbClr val="F6D27A"/>
              </a:solidFill>
            </a:endParaRPr>
          </a:p>
        </p:txBody>
      </p:sp>
      <p:sp>
        <p:nvSpPr>
          <p:cNvPr id="21" name="vertical-divider"/>
          <p:cNvSpPr>
            <a:spLocks noGrp="1"/>
          </p:cNvSpPr>
          <p:nvPr/>
        </p:nvSpPr>
        <p:spPr>
          <a:xfrm>
            <a:off x="4171950" y="1333500"/>
            <a:ext cx="7620" cy="5000625"/>
          </a:xfrm>
          <a:prstGeom prst="rect">
            <a:avLst/>
          </a:prstGeom>
          <a:gradFill>
            <a:gsLst>
              <a:gs pos="0">
                <a:srgbClr val="488CFF">
                  <a:alpha val="0"/>
                </a:srgbClr>
              </a:gs>
              <a:gs pos="8000">
                <a:srgbClr val="488CFF">
                  <a:alpha val="42000"/>
                </a:srgbClr>
              </a:gs>
              <a:gs pos="92000">
                <a:srgbClr val="488CFF">
                  <a:alpha val="42000"/>
                </a:srgbClr>
              </a:gs>
              <a:gs pos="100000">
                <a:srgbClr val="488CFF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22" name="future-label-bar"/>
          <p:cNvSpPr>
            <a:spLocks noGrp="1"/>
          </p:cNvSpPr>
          <p:nvPr/>
        </p:nvSpPr>
        <p:spPr>
          <a:xfrm>
            <a:off x="4438650" y="1323975"/>
            <a:ext cx="50483" cy="219075"/>
          </a:xfrm>
          <a:prstGeom prst="roundRect">
            <a:avLst>
              <a:gd name="adj" fmla="val 50000"/>
            </a:avLst>
          </a:prstGeom>
          <a:solidFill>
            <a:srgbClr val="4CE5FF"/>
          </a:solidFill>
          <a:ln w="0">
            <a:noFill/>
            <a:prstDash val="solid"/>
          </a:ln>
        </p:spPr>
      </p:sp>
      <p:sp>
        <p:nvSpPr>
          <p:cNvPr id="23" name="future-label"/>
          <p:cNvSpPr>
            <a:spLocks noGrp="1"/>
          </p:cNvSpPr>
          <p:nvPr/>
        </p:nvSpPr>
        <p:spPr>
          <a:xfrm>
            <a:off x="4581525" y="133350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5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45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50" b="1">
                <a:solidFill>
                  <a:srgbClr val="5DA4FB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未来</a:t>
            </a:r>
            <a:endParaRPr sz="1450" b="1">
              <a:solidFill>
                <a:srgbClr val="5DA4FB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4" name="future-kicker"/>
          <p:cNvSpPr>
            <a:spLocks noGrp="1"/>
          </p:cNvSpPr>
          <p:nvPr/>
        </p:nvSpPr>
        <p:spPr>
          <a:xfrm>
            <a:off x="10048875" y="1362075"/>
            <a:ext cx="1657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0">
                <a:solidFill>
                  <a:srgbClr val="8DA5C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r">
              <a:defRPr sz="900" b="0">
                <a:solidFill>
                  <a:srgbClr val="8DA5C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00" b="0">
                <a:solidFill>
                  <a:srgbClr val="8DA5C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业务与财务联动到单批次</a:t>
            </a:r>
            <a:endParaRPr sz="900" b="0">
              <a:solidFill>
                <a:srgbClr val="8DA5C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5" name="future-row-rule-1"/>
          <p:cNvSpPr>
            <a:spLocks noGrp="1"/>
          </p:cNvSpPr>
          <p:nvPr/>
        </p:nvSpPr>
        <p:spPr>
          <a:xfrm>
            <a:off x="4438650" y="1714500"/>
            <a:ext cx="7267575" cy="7620"/>
          </a:xfrm>
          <a:prstGeom prst="rect">
            <a:avLst/>
          </a:prstGeom>
          <a:solidFill>
            <a:srgbClr val="C9E1FE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26" name="future-row-rule-2"/>
          <p:cNvSpPr>
            <a:spLocks noGrp="1"/>
          </p:cNvSpPr>
          <p:nvPr/>
        </p:nvSpPr>
        <p:spPr>
          <a:xfrm>
            <a:off x="4438650" y="2831783"/>
            <a:ext cx="7267575" cy="7620"/>
          </a:xfrm>
          <a:prstGeom prst="rect">
            <a:avLst/>
          </a:prstGeom>
          <a:solidFill>
            <a:srgbClr val="C9E1FE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27" name="future-row-rule-3"/>
          <p:cNvSpPr>
            <a:spLocks noGrp="1"/>
          </p:cNvSpPr>
          <p:nvPr/>
        </p:nvSpPr>
        <p:spPr>
          <a:xfrm>
            <a:off x="4438650" y="3949065"/>
            <a:ext cx="7267575" cy="7620"/>
          </a:xfrm>
          <a:prstGeom prst="rect">
            <a:avLst/>
          </a:prstGeom>
          <a:solidFill>
            <a:srgbClr val="C9E1FE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28" name="future-row-rule-4"/>
          <p:cNvSpPr>
            <a:spLocks noGrp="1"/>
          </p:cNvSpPr>
          <p:nvPr/>
        </p:nvSpPr>
        <p:spPr>
          <a:xfrm>
            <a:off x="4438650" y="5065395"/>
            <a:ext cx="7267575" cy="7620"/>
          </a:xfrm>
          <a:prstGeom prst="rect">
            <a:avLst/>
          </a:prstGeom>
          <a:solidFill>
            <a:srgbClr val="C9E1FE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29" name="future-no-1"/>
          <p:cNvSpPr>
            <a:spLocks noGrp="1"/>
          </p:cNvSpPr>
          <p:nvPr/>
        </p:nvSpPr>
        <p:spPr>
          <a:xfrm>
            <a:off x="4438650" y="191452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</a:t>
            </a:r>
            <a:endParaRPr sz="1450" b="1">
              <a:solidFill>
                <a:srgbClr val="F6D8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0" name="future-title-1"/>
          <p:cNvSpPr>
            <a:spLocks noGrp="1"/>
          </p:cNvSpPr>
          <p:nvPr/>
        </p:nvSpPr>
        <p:spPr>
          <a:xfrm>
            <a:off x="4924425" y="1876425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原料后拉归集</a:t>
            </a:r>
            <a:endParaRPr sz="13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1" name="future-body-1"/>
          <p:cNvSpPr>
            <a:spLocks noGrp="1"/>
          </p:cNvSpPr>
          <p:nvPr/>
        </p:nvSpPr>
        <p:spPr>
          <a:xfrm>
            <a:off x="4924425" y="2143125"/>
            <a:ext cx="433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55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55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>
                <a:solidFill>
                  <a:srgbClr val="B8C0CC"/>
                </a:solidFill>
              </a:rPr>
              <a:t>MES投料先进入投料池，待合格QC罐或完工产出形成后，按产投关系扣减，并拆</a:t>
            </a:r>
            <a:br>
              <a:rPr>
                <a:solidFill>
                  <a:srgbClr val="B8C0CC"/>
                </a:solidFill>
              </a:rPr>
            </a:br>
            <a:r>
              <a:rPr>
                <a:solidFill>
                  <a:srgbClr val="B8C0CC"/>
                </a:solidFill>
              </a:rPr>
              <a:t>分</a:t>
            </a:r>
            <a:r>
              <a:rPr b="1">
                <a:solidFill>
                  <a:srgbClr val="4CE5FF"/>
                </a:solidFill>
              </a:rPr>
              <a:t>物料与批号</a:t>
            </a:r>
            <a:r>
              <a:rPr>
                <a:solidFill>
                  <a:srgbClr val="B8C0CC"/>
                </a:solidFill>
              </a:rPr>
              <a:t>。</a:t>
            </a:r>
            <a:endParaRPr>
              <a:solidFill>
                <a:srgbClr val="B8C0CC"/>
              </a:solidFill>
            </a:endParaRPr>
          </a:p>
        </p:txBody>
      </p:sp>
      <p:sp>
        <p:nvSpPr>
          <p:cNvPr id="32" name="future-no-2"/>
          <p:cNvSpPr>
            <a:spLocks noGrp="1"/>
          </p:cNvSpPr>
          <p:nvPr/>
        </p:nvSpPr>
        <p:spPr>
          <a:xfrm>
            <a:off x="4438650" y="30289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  <a:endParaRPr sz="1450" b="1">
              <a:solidFill>
                <a:srgbClr val="F6D8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3" name="future-title-2"/>
          <p:cNvSpPr>
            <a:spLocks noGrp="1"/>
          </p:cNvSpPr>
          <p:nvPr/>
        </p:nvSpPr>
        <p:spPr>
          <a:xfrm>
            <a:off x="4924425" y="29908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能源与制造费用关联</a:t>
            </a:r>
            <a:endParaRPr sz="13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4" name="future-body-2"/>
          <p:cNvSpPr>
            <a:spLocks noGrp="1"/>
          </p:cNvSpPr>
          <p:nvPr/>
        </p:nvSpPr>
        <p:spPr>
          <a:xfrm>
            <a:off x="4924425" y="3257550"/>
            <a:ext cx="433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55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55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>
                <a:solidFill>
                  <a:srgbClr val="B8C0CC"/>
                </a:solidFill>
              </a:rPr>
              <a:t>EMS采集水、电、蒸汽、压缩空气等能耗，结合MES产量、工段、时间和SAP规</a:t>
            </a:r>
            <a:br>
              <a:rPr>
                <a:solidFill>
                  <a:srgbClr val="B8C0CC"/>
                </a:solidFill>
              </a:rPr>
            </a:br>
            <a:r>
              <a:rPr>
                <a:solidFill>
                  <a:srgbClr val="B8C0CC"/>
                </a:solidFill>
              </a:rPr>
              <a:t>则，分摊至</a:t>
            </a:r>
            <a:r>
              <a:rPr b="1">
                <a:solidFill>
                  <a:srgbClr val="4CE5FF"/>
                </a:solidFill>
              </a:rPr>
              <a:t>实际受益批次</a:t>
            </a:r>
            <a:r>
              <a:rPr>
                <a:solidFill>
                  <a:srgbClr val="B8C0CC"/>
                </a:solidFill>
              </a:rPr>
              <a:t>。</a:t>
            </a:r>
            <a:endParaRPr>
              <a:solidFill>
                <a:srgbClr val="B8C0CC"/>
              </a:solidFill>
            </a:endParaRPr>
          </a:p>
        </p:txBody>
      </p:sp>
      <p:sp>
        <p:nvSpPr>
          <p:cNvPr id="35" name="future-no-3"/>
          <p:cNvSpPr>
            <a:spLocks noGrp="1"/>
          </p:cNvSpPr>
          <p:nvPr/>
        </p:nvSpPr>
        <p:spPr>
          <a:xfrm>
            <a:off x="4438650" y="414337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450" b="1">
                <a:solidFill>
                  <a:srgbClr val="F6D86D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</a:t>
            </a:r>
            <a:endParaRPr sz="1450" b="1">
              <a:solidFill>
                <a:srgbClr val="F6D86D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6" name="future-title-3"/>
          <p:cNvSpPr>
            <a:spLocks noGrp="1"/>
          </p:cNvSpPr>
          <p:nvPr/>
        </p:nvSpPr>
        <p:spPr>
          <a:xfrm>
            <a:off x="4924425" y="410527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业财同步与成本追溯</a:t>
            </a:r>
            <a:endParaRPr sz="13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7" name="future-body-3"/>
          <p:cNvSpPr>
            <a:spLocks noGrp="1"/>
          </p:cNvSpPr>
          <p:nvPr/>
        </p:nvSpPr>
        <p:spPr>
          <a:xfrm>
            <a:off x="4924425" y="4371975"/>
            <a:ext cx="433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023"/>
          </a:bodyPr>
          <a:lstStyle>
            <a:defPPr algn="l">
              <a:defRPr sz="955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955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完工、耗用、在制余额与库存差异审核后同步SAP，并支持产品、产线与期间成本</a:t>
            </a:r>
            <a:endParaRPr sz="955" b="0">
              <a:solidFill>
                <a:srgbClr val="B8C0C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955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955" b="0">
                <a:solidFill>
                  <a:srgbClr val="B8C0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分析。</a:t>
            </a:r>
            <a:endParaRPr sz="955" b="0">
              <a:solidFill>
                <a:srgbClr val="B8C0C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0887" y="1722120"/>
            <a:ext cx="2062156" cy="1076325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397" y="2852738"/>
            <a:ext cx="2062156" cy="1076325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032" y="3956685"/>
            <a:ext cx="2062156" cy="1076325"/>
          </a:xfrm>
          <a:prstGeom prst="rect">
            <a:avLst/>
          </a:prstGeom>
        </p:spPr>
      </p:pic>
      <p:sp>
        <p:nvSpPr>
          <p:cNvPr id="44" name="value-panel"/>
          <p:cNvSpPr>
            <a:spLocks noGrp="1"/>
          </p:cNvSpPr>
          <p:nvPr/>
        </p:nvSpPr>
        <p:spPr>
          <a:xfrm>
            <a:off x="4438650" y="5191125"/>
            <a:ext cx="7267575" cy="1114425"/>
          </a:xfrm>
          <a:prstGeom prst="roundRect">
            <a:avLst>
              <a:gd name="adj" fmla="val 10256"/>
            </a:avLst>
          </a:prstGeom>
          <a:gradFill>
            <a:gsLst>
              <a:gs pos="0">
                <a:srgbClr val="0D3460">
                  <a:alpha val="58000"/>
                </a:srgbClr>
              </a:gs>
              <a:gs pos="100000">
                <a:srgbClr val="081531">
                  <a:alpha val="63000"/>
                </a:srgbClr>
              </a:gs>
            </a:gsLst>
            <a:lin ang="6600000"/>
          </a:gradFill>
          <a:ln w="7620">
            <a:solidFill>
              <a:srgbClr val="4CE5FF">
                <a:alpha val="42000"/>
              </a:srgbClr>
            </a:solidFill>
            <a:prstDash val="solid"/>
          </a:ln>
        </p:spPr>
      </p:sp>
      <p:sp>
        <p:nvSpPr>
          <p:cNvPr id="45" name="value-title"/>
          <p:cNvSpPr>
            <a:spLocks noGrp="1"/>
          </p:cNvSpPr>
          <p:nvPr/>
        </p:nvSpPr>
        <p:spPr>
          <a:xfrm>
            <a:off x="4581525" y="5286375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656"/>
          </a:bodyPr>
          <a:lstStyle>
            <a:defPPr algn="l">
              <a:defRPr sz="1200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200" b="0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0" b="1">
                <a:solidFill>
                  <a:srgbClr val="F6D86D"/>
                </a:solidFill>
              </a:rPr>
              <a:t>关键跃升   </a:t>
            </a:r>
            <a:r>
              <a:rPr sz="1600" b="1">
                <a:solidFill>
                  <a:srgbClr val="FFFFFF"/>
                </a:solidFill>
              </a:rPr>
              <a:t>从月度粗放核算转向单批次可追溯的成本管控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46" name="benefit-bar-1"/>
          <p:cNvSpPr>
            <a:spLocks noGrp="1"/>
          </p:cNvSpPr>
          <p:nvPr/>
        </p:nvSpPr>
        <p:spPr>
          <a:xfrm>
            <a:off x="4591050" y="5619750"/>
            <a:ext cx="19050" cy="409575"/>
          </a:xfrm>
          <a:prstGeom prst="rect">
            <a:avLst/>
          </a:prstGeom>
          <a:solidFill>
            <a:srgbClr val="488CFF"/>
          </a:solidFill>
          <a:ln w="0">
            <a:noFill/>
            <a:prstDash val="solid"/>
          </a:ln>
        </p:spPr>
      </p:sp>
      <p:sp>
        <p:nvSpPr>
          <p:cNvPr id="47" name="benefit-title-1"/>
          <p:cNvSpPr>
            <a:spLocks noGrp="1"/>
          </p:cNvSpPr>
          <p:nvPr/>
        </p:nvSpPr>
        <p:spPr>
          <a:xfrm>
            <a:off x="4714875" y="561022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减少重复劳动</a:t>
            </a:r>
            <a:endParaRPr sz="10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8" name="benefit-body-1"/>
          <p:cNvSpPr>
            <a:spLocks noGrp="1"/>
          </p:cNvSpPr>
          <p:nvPr/>
        </p:nvSpPr>
        <p:spPr>
          <a:xfrm>
            <a:off x="4714875" y="582930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自动归集与计算，人员转向规则复核</a:t>
            </a:r>
            <a:endParaRPr sz="805" b="0">
              <a:solidFill>
                <a:srgbClr val="AEB9C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和异常处置。</a:t>
            </a:r>
            <a:endParaRPr sz="805" b="0">
              <a:solidFill>
                <a:srgbClr val="AEB9C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9" name="benefit-bar-2"/>
          <p:cNvSpPr>
            <a:spLocks noGrp="1"/>
          </p:cNvSpPr>
          <p:nvPr/>
        </p:nvSpPr>
        <p:spPr>
          <a:xfrm>
            <a:off x="6648450" y="5619750"/>
            <a:ext cx="19050" cy="409575"/>
          </a:xfrm>
          <a:prstGeom prst="rect">
            <a:avLst/>
          </a:prstGeom>
          <a:solidFill>
            <a:srgbClr val="4CE5FF"/>
          </a:solidFill>
          <a:ln w="0">
            <a:noFill/>
            <a:prstDash val="solid"/>
          </a:ln>
        </p:spPr>
      </p:sp>
      <p:sp>
        <p:nvSpPr>
          <p:cNvPr id="50" name="benefit-title-2"/>
          <p:cNvSpPr>
            <a:spLocks noGrp="1"/>
          </p:cNvSpPr>
          <p:nvPr/>
        </p:nvSpPr>
        <p:spPr>
          <a:xfrm>
            <a:off x="6781800" y="56102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异常穿透定位</a:t>
            </a:r>
            <a:endParaRPr sz="10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1" name="benefit-body-2"/>
          <p:cNvSpPr>
            <a:spLocks noGrp="1"/>
          </p:cNvSpPr>
          <p:nvPr/>
        </p:nvSpPr>
        <p:spPr>
          <a:xfrm>
            <a:off x="6781800" y="5829300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价格、用量、收率、能耗和分摊差异可定位到具体</a:t>
            </a:r>
            <a:endParaRPr sz="805" b="0">
              <a:solidFill>
                <a:srgbClr val="AEB9C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批次。</a:t>
            </a:r>
            <a:endParaRPr sz="805" b="0">
              <a:solidFill>
                <a:srgbClr val="AEB9C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2" name="benefit-bar-3"/>
          <p:cNvSpPr>
            <a:spLocks noGrp="1"/>
          </p:cNvSpPr>
          <p:nvPr/>
        </p:nvSpPr>
        <p:spPr>
          <a:xfrm>
            <a:off x="9315450" y="5619750"/>
            <a:ext cx="19050" cy="409575"/>
          </a:xfrm>
          <a:prstGeom prst="rect">
            <a:avLst/>
          </a:prstGeom>
          <a:solidFill>
            <a:srgbClr val="10CF82"/>
          </a:solidFill>
          <a:ln w="0">
            <a:noFill/>
            <a:prstDash val="solid"/>
          </a:ln>
        </p:spPr>
      </p:sp>
      <p:sp>
        <p:nvSpPr>
          <p:cNvPr id="53" name="benefit-title-3"/>
          <p:cNvSpPr>
            <a:spLocks noGrp="1"/>
          </p:cNvSpPr>
          <p:nvPr/>
        </p:nvSpPr>
        <p:spPr>
          <a:xfrm>
            <a:off x="9448800" y="5610225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支撑单位成本下降</a:t>
            </a:r>
            <a:endParaRPr sz="10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4" name="benefit-body-3"/>
          <p:cNvSpPr>
            <a:spLocks noGrp="1"/>
          </p:cNvSpPr>
          <p:nvPr/>
        </p:nvSpPr>
        <p:spPr>
          <a:xfrm>
            <a:off x="9448800" y="58293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成本结果反馈生产和采购，推动异常损耗与</a:t>
            </a:r>
            <a:endParaRPr sz="805" b="0">
              <a:solidFill>
                <a:srgbClr val="AEB9C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def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05" b="0">
                <a:solidFill>
                  <a:srgbClr val="AEB9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低效环节改进。</a:t>
            </a:r>
            <a:endParaRPr sz="805" b="0">
              <a:solidFill>
                <a:srgbClr val="AEB9C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</Words>
  <Application>WPS 表格</Application>
  <PresentationFormat>Converted Presentation</PresentationFormat>
  <Paragraphs>64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Hiragino Sans GB</vt:lpstr>
      <vt:lpstr>微软雅黑</vt:lpstr>
      <vt:lpstr>方正雅意黑 GB18030L2</vt:lpstr>
      <vt:lpstr>宋体</vt:lpstr>
      <vt:lpstr>Arial Unicode MS</vt:lpstr>
      <vt:lpstr>汉仪书宋二KW</vt:lpstr>
      <vt:lpstr>Aptos</vt:lpstr>
      <vt:lpstr>Helvetica Neue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郭子豪</cp:lastModifiedBy>
  <cp:revision>1</cp:revision>
  <dcterms:created xsi:type="dcterms:W3CDTF">2026-10-09T12:14:36Z</dcterms:created>
  <dcterms:modified xsi:type="dcterms:W3CDTF">2026-10-09T12:14:36Z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A62F15147A28F1D2ACDAC86A2AB83DA6_42</vt:lpwstr>
  </property>
  <property fmtid="{D5CDD505-2E9C-101B-9397-08002B2CF9AE}" pid="3" name="KSOProductBuildVer">
    <vt:lpwstr>2052-12.1.26055.26055</vt:lpwstr>
  </property>
</Properties>
</file>