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3"/>
    <p:sldMasterId id="2147483712" r:id="rId4"/>
    <p:sldMasterId id="2147483744" r:id="rId5"/>
    <p:sldMasterId id="2147483776" r:id="rId6"/>
    <p:sldMasterId id="2147483808" r:id="rId7"/>
    <p:sldMasterId id="2147483812" r:id="rId8"/>
  </p:sldMasterIdLst>
  <p:notesMasterIdLst>
    <p:notesMasterId r:id="rId10"/>
  </p:notesMasterIdLst>
  <p:sldIdLst>
    <p:sldId id="257" r:id="rId9"/>
    <p:sldId id="277" r:id="rId11"/>
    <p:sldId id="260" r:id="rId12"/>
    <p:sldId id="278" r:id="rId13"/>
    <p:sldId id="262" r:id="rId14"/>
    <p:sldId id="261" r:id="rId15"/>
    <p:sldId id="269" r:id="rId16"/>
    <p:sldId id="268" r:id="rId17"/>
    <p:sldId id="264" r:id="rId18"/>
    <p:sldId id="270" r:id="rId19"/>
    <p:sldId id="276" r:id="rId20"/>
    <p:sldId id="271" r:id="rId21"/>
    <p:sldId id="272" r:id="rId22"/>
    <p:sldId id="274" r:id="rId23"/>
    <p:sldId id="273" r:id="rId24"/>
    <p:sldId id="279" r:id="rId25"/>
    <p:sldId id="25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  <p:cmAuthor id="1185" name="ThinkPad" initials="T" lastIdx="0" clrIdx="1184"/>
  <p:cmAuthor id="1186" name="未知用户381" initials="未" lastIdx="0" clrIdx="1185"/>
  <p:cmAuthor id="1187" name="未知用户382" initials="未" lastIdx="0" clrIdx="1186"/>
  <p:cmAuthor id="1188" name="未知用户384" initials="未" lastIdx="0" clrIdx="1187"/>
  <p:cmAuthor id="1189" name="winner1 chan" initials="wc" lastIdx="0" clrIdx="1188"/>
  <p:cmAuthor id="1190" name="未知用户332" initials="未" lastIdx="0" clrIdx="1189"/>
  <p:cmAuthor id="1191" name="frankyang" initials="f" lastIdx="0" clrIdx="1190"/>
  <p:cmAuthor id="1192" name="lxm" initials="l" lastIdx="0" clrIdx="1191"/>
  <p:cmAuthor id="1193" name="未知的使用者96" initials="未" lastIdx="0" clrIdx="1192"/>
  <p:cmAuthor id="1194" name="未知用户317" initials="未" lastIdx="0" clrIdx="1193"/>
  <p:cmAuthor id="1195" name="未知用户322" initials="未" lastIdx="0" clrIdx="1194"/>
  <p:cmAuthor id="1196" name="wangxinhui" initials="w" lastIdx="0" clrIdx="1195"/>
  <p:cmAuthor id="1197" name="未知用户326" initials="未" lastIdx="0" clrIdx="1196"/>
  <p:cmAuthor id="1198" name="未知用户365" initials="未" lastIdx="0" clrIdx="1197"/>
  <p:cmAuthor id="1199" name="未知用户460" initials="未" lastIdx="0" clrIdx="1198"/>
  <p:cmAuthor id="1200" name="未知用户366" initials="未" lastIdx="0" clrIdx="1199"/>
  <p:cmAuthor id="1201" name="未知用户367" initials="未" lastIdx="0" clrIdx="1200"/>
  <p:cmAuthor id="1202" name="未知用户462" initials="未" lastIdx="0" clrIdx="1201"/>
  <p:cmAuthor id="1203" name="未知用户369" initials="未" lastIdx="0" clrIdx="1202"/>
  <p:cmAuthor id="1204" name="未知用户468" initials="未" lastIdx="0" clrIdx="1203"/>
  <p:cmAuthor id="1205" name="未知用户374" initials="未" lastIdx="0" clrIdx="1204"/>
  <p:cmAuthor id="1206" name="未知用户376" initials="未" lastIdx="0" clrIdx="1205"/>
  <p:cmAuthor id="1207" name="未知用户378" initials="未" lastIdx="0" clrIdx="1206"/>
  <p:cmAuthor id="1208" name="未知用户379" initials="未" lastIdx="0" clrIdx="1207"/>
  <p:cmAuthor id="1209" name="jing li" initials="j" lastIdx="0" clrIdx="1208"/>
  <p:cmAuthor id="1210" name="刘春杰10244342" initials="刘春杰10244342" lastIdx="0" clrIdx="1209"/>
  <p:cmAuthor id="1211" name="guozheng1" initials="g" lastIdx="0" clrIdx="1210"/>
  <p:cmAuthor id="1212" name="Jack Qin" initials="J" lastIdx="0" clrIdx="1211"/>
  <p:cmAuthor id="1213" name="wangying6" initials="w" lastIdx="0" clrIdx="1212"/>
  <p:cmAuthor id="1214" name="钟珅" initials="钟" lastIdx="0" clrIdx="1213"/>
  <p:cmAuthor id="1215" name="郑丹雯" initials="郑" lastIdx="0" clrIdx="1214"/>
  <p:cmAuthor id="1216" name="admin" initials="a" lastIdx="0" clrIdx="1215"/>
  <p:cmAuthor id="1217" name="未知用户19" initials="未" lastIdx="0" clrIdx="1216"/>
  <p:cmAuthor id="1218" name="未知用户21" initials="未" lastIdx="0" clrIdx="1217"/>
  <p:cmAuthor id="1219" name="未知用户18" initials="未" lastIdx="0" clrIdx="1218"/>
  <p:cmAuthor id="1220" name="zhengxindan" initials="z" lastIdx="0" clrIdx="1219"/>
  <p:cmAuthor id="1221" name="未知用户173" initials="" lastIdx="0" clrIdx="1220"/>
  <p:cmAuthor id="1222" name="蘼鼗" initials="蘼" lastIdx="0" clrIdx="1221"/>
  <p:cmAuthor id="1223" name="方乐" initials="方" lastIdx="0" clrIdx="1222"/>
  <p:cmAuthor id="1224" name="mayao2" initials="m" lastIdx="0" clrIdx="1223"/>
  <p:cmAuthor id="1225" name="xulisha" initials="x" lastIdx="0" clrIdx="1224"/>
  <p:cmAuthor id="1226" name="27155255" initials="2" lastIdx="0" clrIdx="1225"/>
  <p:cmAuthor id="1227" name="我是一个老百姓" initials="我" lastIdx="0" clrIdx="1226"/>
  <p:cmAuthor id="1228" name="654665112@qq.com" initials="6" lastIdx="0" clrIdx="1227"/>
  <p:cmAuthor id="1229" name="梁亚栋" initials="authorId_233440905" lastIdx="0" clrIdx="1228"/>
  <p:cmAuthor id="1230" name="chenyanyan" initials="c" lastIdx="0" clrIdx="1229"/>
  <p:cmAuthor id="1231" name="子皓" initials="子皓" lastIdx="0" clrIdx="1230"/>
  <p:cmAuthor id="1232" name="石三" initials="石" lastIdx="0" clrIdx="1231"/>
  <p:cmAuthor id="1233" name="Narcissus" initials="N" lastIdx="0" clrIdx="1232"/>
  <p:cmAuthor id="1234" name="guosheng.huang" initials="g" lastIdx="0" clrIdx="1233"/>
  <p:cmAuthor id="1235" name="yaojie" initials="y" lastIdx="0" clrIdx="1234"/>
  <p:cmAuthor id="1236" name="dmj" initials="d" lastIdx="0" clrIdx="1235"/>
  <p:cmAuthor id="1237" name="liruixin" initials="l" lastIdx="0" clrIdx="1236"/>
  <p:cmAuthor id="1238" name="未知的使用者1" initials="" lastIdx="0" clrIdx="1237"/>
  <p:cmAuthor id="1239" name="qihua-DCMS" initials="" lastIdx="0" clrIdx="1238"/>
  <p:cmAuthor id="1240" name="wangleilei" initials="w" lastIdx="0" clrIdx="1239"/>
  <p:cmAuthor id="1241" name="lm" initials="l" lastIdx="0" clrIdx="1240"/>
  <p:cmAuthor id="1242" name="lipan" initials="l" lastIdx="0" clrIdx="1241"/>
  <p:cmAuthor id="1243" name="li pan" initials="lp" lastIdx="0" clrIdx="1242"/>
  <p:cmAuthor id="1244" name="侯 超松" initials="侯" lastIdx="0" clrIdx="1243"/>
  <p:cmAuthor id="1245" name="chenyuxi1" initials="c" lastIdx="0" clrIdx="1244"/>
  <p:cmAuthor id="1246" name="ADventure" initials="authorId_603806732" lastIdx="0" clrIdx="124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580C"/>
    <a:srgbClr val="3B4E6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48D06B-E083-4D33-BD10-F387BF5D0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3" Type="http://schemas.openxmlformats.org/officeDocument/2006/relationships/theme" Target="../theme/theme1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.xml"/><Relationship Id="rId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3" Type="http://schemas.openxmlformats.org/officeDocument/2006/relationships/theme" Target="../theme/theme2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0.xml"/><Relationship Id="rId7" Type="http://schemas.openxmlformats.org/officeDocument/2006/relationships/slideLayout" Target="../slideLayouts/slideLayout69.xml"/><Relationship Id="rId6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Relationship Id="rId33" Type="http://schemas.openxmlformats.org/officeDocument/2006/relationships/theme" Target="../theme/theme3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2.xml"/><Relationship Id="rId2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Relationship Id="rId33" Type="http://schemas.openxmlformats.org/officeDocument/2006/relationships/theme" Target="../theme/theme4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124.xml"/><Relationship Id="rId30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22.xml"/><Relationship Id="rId28" Type="http://schemas.openxmlformats.org/officeDocument/2006/relationships/slideLayout" Target="../slideLayouts/slideLayout121.xml"/><Relationship Id="rId27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119.xml"/><Relationship Id="rId25" Type="http://schemas.openxmlformats.org/officeDocument/2006/relationships/slideLayout" Target="../slideLayouts/slideLayout118.xml"/><Relationship Id="rId24" Type="http://schemas.openxmlformats.org/officeDocument/2006/relationships/slideLayout" Target="../slideLayouts/slideLayout117.xml"/><Relationship Id="rId23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5.xml"/><Relationship Id="rId21" Type="http://schemas.openxmlformats.org/officeDocument/2006/relationships/slideLayout" Target="../slideLayouts/slideLayout114.xml"/><Relationship Id="rId20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12.xml"/><Relationship Id="rId18" Type="http://schemas.openxmlformats.org/officeDocument/2006/relationships/slideLayout" Target="../slideLayouts/slideLayout111.xml"/><Relationship Id="rId17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08.xml"/><Relationship Id="rId14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9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3" Type="http://schemas.openxmlformats.org/officeDocument/2006/relationships/theme" Target="../theme/theme5.xml"/><Relationship Id="rId32" Type="http://schemas.openxmlformats.org/officeDocument/2006/relationships/image" Target="../media/image24.png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27.xml"/><Relationship Id="rId29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24" Type="http://schemas.openxmlformats.org/officeDocument/2006/relationships/slideLayout" Target="../slideLayouts/slideLayout148.xml"/><Relationship Id="rId23" Type="http://schemas.openxmlformats.org/officeDocument/2006/relationships/slideLayout" Target="../slideLayouts/slideLayout147.xml"/><Relationship Id="rId22" Type="http://schemas.openxmlformats.org/officeDocument/2006/relationships/slideLayout" Target="../slideLayouts/slideLayout146.xml"/><Relationship Id="rId21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26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2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  <p:sldLayoutId id="2147483797" r:id="rId21"/>
    <p:sldLayoutId id="2147483798" r:id="rId22"/>
    <p:sldLayoutId id="2147483799" r:id="rId23"/>
    <p:sldLayoutId id="2147483800" r:id="rId24"/>
    <p:sldLayoutId id="2147483801" r:id="rId25"/>
    <p:sldLayoutId id="2147483802" r:id="rId26"/>
    <p:sldLayoutId id="2147483803" r:id="rId27"/>
    <p:sldLayoutId id="2147483804" r:id="rId28"/>
    <p:sldLayoutId id="2147483805" r:id="rId29"/>
    <p:sldLayoutId id="2147483806" r:id="rId30"/>
    <p:sldLayoutId id="214748380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11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56.xml"/><Relationship Id="rId22" Type="http://schemas.openxmlformats.org/officeDocument/2006/relationships/image" Target="../media/image46.png"/><Relationship Id="rId21" Type="http://schemas.openxmlformats.org/officeDocument/2006/relationships/image" Target="../media/image45.png"/><Relationship Id="rId20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93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59.xml"/><Relationship Id="rId26" Type="http://schemas.openxmlformats.org/officeDocument/2006/relationships/image" Target="../media/image63.png"/><Relationship Id="rId25" Type="http://schemas.openxmlformats.org/officeDocument/2006/relationships/tags" Target="../tags/tag128.xml"/><Relationship Id="rId24" Type="http://schemas.openxmlformats.org/officeDocument/2006/relationships/image" Target="../media/image62.png"/><Relationship Id="rId23" Type="http://schemas.openxmlformats.org/officeDocument/2006/relationships/image" Target="../media/image61.png"/><Relationship Id="rId22" Type="http://schemas.openxmlformats.org/officeDocument/2006/relationships/image" Target="../media/image60.png"/><Relationship Id="rId21" Type="http://schemas.openxmlformats.org/officeDocument/2006/relationships/image" Target="../media/image59.png"/><Relationship Id="rId20" Type="http://schemas.openxmlformats.org/officeDocument/2006/relationships/image" Target="../media/image58.png"/><Relationship Id="rId2" Type="http://schemas.openxmlformats.org/officeDocument/2006/relationships/tags" Target="../tags/tag119.xml"/><Relationship Id="rId19" Type="http://schemas.openxmlformats.org/officeDocument/2006/relationships/image" Target="../media/image57.png"/><Relationship Id="rId18" Type="http://schemas.openxmlformats.org/officeDocument/2006/relationships/image" Target="../media/image56.png"/><Relationship Id="rId17" Type="http://schemas.openxmlformats.org/officeDocument/2006/relationships/image" Target="../media/image55.png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image" Target="../media/image54.svg"/><Relationship Id="rId13" Type="http://schemas.openxmlformats.org/officeDocument/2006/relationships/image" Target="../media/image53.png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6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93.xml"/><Relationship Id="rId11" Type="http://schemas.openxmlformats.org/officeDocument/2006/relationships/image" Target="../media/image46.png"/><Relationship Id="rId10" Type="http://schemas.openxmlformats.org/officeDocument/2006/relationships/image" Target="../media/image67.pn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5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3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4.xml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62.xml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1" name="标题 4"/>
          <p:cNvSpPr txBox="1"/>
          <p:nvPr/>
        </p:nvSpPr>
        <p:spPr>
          <a:xfrm>
            <a:off x="1131389" y="3714274"/>
            <a:ext cx="10858500" cy="12114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5760"/>
              </a:lnSpc>
              <a:defRPr/>
            </a:pPr>
            <a:endParaRPr kumimoji="0" lang="en-US" b="1" u="none" strike="noStrike" kern="1200" cap="none" spc="0" normalizeH="0" baseline="0" noProof="0" dirty="0">
              <a:ln w="19050">
                <a:noFill/>
              </a:ln>
              <a:gradFill>
                <a:gsLst>
                  <a:gs pos="37000">
                    <a:srgbClr val="FFFFFF"/>
                  </a:gs>
                  <a:gs pos="0">
                    <a:srgbClr val="4CE5FF"/>
                  </a:gs>
                </a:gsLst>
                <a:lin ang="2400000" scaled="0"/>
              </a:gra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1122680"/>
            <a:ext cx="7376160" cy="3136900"/>
          </a:xfr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2"/>
                    </a:gs>
                    <a:gs pos="56000">
                      <a:schemeClr val="tx1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i="0"/>
              <a:t>中粮生物科技（太仓）有限公司</a:t>
            </a:r>
            <a:br>
              <a:rPr lang="zh-CN" altLang="en-US" sz="3600" b="1" i="0"/>
            </a:br>
            <a:r>
              <a:rPr lang="zh-CN" altLang="en-US" sz="3600" b="1" i="0"/>
              <a:t>中粮生物科技太仓新建</a:t>
            </a:r>
            <a:r>
              <a:rPr lang="en-US" altLang="zh-CN" sz="3600" b="1" i="0"/>
              <a:t>55</a:t>
            </a:r>
            <a:r>
              <a:rPr lang="zh-CN" altLang="en-US" sz="3600" b="1" i="0"/>
              <a:t>万吨</a:t>
            </a:r>
            <a:r>
              <a:rPr lang="en-US" altLang="zh-CN" sz="3600" b="1" i="0"/>
              <a:t>/</a:t>
            </a:r>
            <a:r>
              <a:rPr lang="zh-CN" altLang="en-US" sz="3600" b="1" i="0"/>
              <a:t>年淀粉糖项目AI全流程智能化系统</a:t>
            </a:r>
            <a:endParaRPr lang="zh-CN" altLang="en-US" sz="4445" b="1" i="0"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i="0"/>
              <a:t>蓝图方案汇报</a:t>
            </a:r>
            <a:endParaRPr lang="zh-CN" altLang="en-US" sz="6000" b="1" i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文本框 1"/>
          <p:cNvSpPr txBox="1"/>
          <p:nvPr/>
        </p:nvSpPr>
        <p:spPr>
          <a:xfrm>
            <a:off x="1193800" y="5486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汇报人：张仔洁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210" y="30734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algn="l">
              <a:lnSpc>
                <a:spcPct val="115000"/>
              </a:lnSpc>
              <a:spcBef>
                <a:spcPts val="1000"/>
              </a:spcBef>
              <a:buClrTx/>
              <a:buSzTx/>
              <a:buFontTx/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01 订单接收 · 02 原料采购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en-US" altLang="zh-CN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00100" y="1466850"/>
            <a:ext cx="4495800" cy="4495800"/>
          </a:xfrm>
          <a:prstGeom prst="roundRect">
            <a:avLst>
              <a:gd name="adj" fmla="val 2119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1" name="图片 60" descr="商务会议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05275" y="2621915"/>
            <a:ext cx="809625" cy="5880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0100" y="1038225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9" name="圆角矩形 8"/>
          <p:cNvSpPr/>
          <p:nvPr/>
        </p:nvSpPr>
        <p:spPr>
          <a:xfrm>
            <a:off x="800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33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</a:t>
            </a:r>
            <a:r>
              <a:rPr lang="en-US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状</a:t>
            </a:r>
            <a:endParaRPr lang="zh-CN" sz="1600" b="1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53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569E5"/>
          </a:solidFill>
          <a:ln>
            <a:solidFill>
              <a:schemeClr val="accent4"/>
            </a:solidFill>
          </a:ln>
        </p:spPr>
        <p:txBody>
          <a:bodyPr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886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未</a:t>
            </a:r>
            <a:r>
              <a:rPr lang="en-US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来</a:t>
            </a:r>
            <a:endParaRPr lang="zh-CN" sz="1600" b="1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09650" y="1676400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525" y="1819275"/>
            <a:ext cx="304800" cy="304800"/>
          </a:xfrm>
          <a:prstGeom prst="rect">
            <a:avLst/>
          </a:prstGeom>
        </p:spPr>
      </p:pic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752600" y="1762125"/>
            <a:ext cx="2438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邮件确认，人工录入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752600" y="2038350"/>
            <a:ext cx="2438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无订单系统与</a:t>
            </a:r>
            <a:r>
              <a:rPr lang="en-US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EDI · </a:t>
            </a: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采购协同靠线下单据</a:t>
            </a:r>
            <a:endParaRPr lang="zh-CN" sz="94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9650" y="2438400"/>
            <a:ext cx="40767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933450" y="2535555"/>
            <a:ext cx="407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人工接单与采购链路</a:t>
            </a:r>
            <a:endParaRPr lang="zh-CN" sz="1200" b="1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0965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425" y="2929890"/>
            <a:ext cx="228600" cy="228600"/>
          </a:xfrm>
          <a:prstGeom prst="rect">
            <a:avLst/>
          </a:prstGeom>
        </p:spPr>
      </p:pic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295400" y="32537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邮件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8850" y="3072765"/>
            <a:ext cx="190500" cy="1905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243840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4175" y="2929890"/>
            <a:ext cx="228600" cy="228600"/>
          </a:xfrm>
          <a:prstGeom prst="rect">
            <a:avLst/>
          </a:prstGeom>
        </p:spPr>
      </p:pic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2638425" y="325374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人工录入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0" y="3072765"/>
            <a:ext cx="190500" cy="190500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3910330" y="2763520"/>
            <a:ext cx="1200150" cy="713105"/>
          </a:xfrm>
          <a:prstGeom prst="roundRect">
            <a:avLst>
              <a:gd name="adj" fmla="val 6780"/>
            </a:avLst>
          </a:prstGeom>
          <a:solidFill>
            <a:srgbClr val="FFFF00">
              <a:alpha val="7000"/>
            </a:srgbClr>
          </a:solidFill>
          <a:ln w="12700">
            <a:solidFill>
              <a:srgbClr val="FFFF00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210050" y="3253740"/>
            <a:ext cx="514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线下协同</a:t>
            </a:r>
            <a:endParaRPr lang="zh-CN" sz="1015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09650" y="4425315"/>
            <a:ext cx="4076700" cy="619125"/>
          </a:xfrm>
          <a:prstGeom prst="roundRect">
            <a:avLst>
              <a:gd name="adj" fmla="val 12308"/>
            </a:avLst>
          </a:prstGeom>
          <a:solidFill>
            <a:srgbClr val="FFFF00">
              <a:alpha val="6000"/>
            </a:srgbClr>
          </a:solidFill>
          <a:ln w="12700">
            <a:solidFill>
              <a:srgbClr val="FFFF00">
                <a:alpha val="26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1100" y="4676775"/>
            <a:ext cx="190500" cy="190500"/>
          </a:xfrm>
          <a:prstGeom prst="rect">
            <a:avLst/>
          </a:prstGeom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1485900" y="459676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采购协同靠邮件、电话和纸质单据，全流程大量人工操作。</a:t>
            </a:r>
            <a:endParaRPr lang="zh-CN" sz="1050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410200" y="38481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跃升</a:t>
            </a:r>
            <a:endParaRPr lang="zh-CN" sz="9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753100" y="14668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5753100" y="14668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58" name="圆角矩形 57"/>
          <p:cNvSpPr/>
          <p:nvPr/>
        </p:nvSpPr>
        <p:spPr>
          <a:xfrm>
            <a:off x="5962650" y="16383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48375" y="1724025"/>
            <a:ext cx="209550" cy="209550"/>
          </a:xfrm>
          <a:prstGeom prst="rect">
            <a:avLst/>
          </a:prstGeom>
        </p:spPr>
      </p:pic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477000" y="1724025"/>
            <a:ext cx="2185670" cy="248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全渠道接入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订单自动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流转</a:t>
            </a:r>
            <a:endParaRPr lang="zh-CN" alt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10915650" y="16668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962650" y="213360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CRM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客户门户，多源订单自动采集。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753100" y="300990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5753100" y="300990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67" name="圆角矩形 66"/>
          <p:cNvSpPr/>
          <p:nvPr/>
        </p:nvSpPr>
        <p:spPr>
          <a:xfrm>
            <a:off x="5962650" y="318135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48375" y="3267075"/>
            <a:ext cx="209550" cy="209550"/>
          </a:xfrm>
          <a:prstGeom prst="rect">
            <a:avLst/>
          </a:prstGeom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477000" y="3267075"/>
            <a:ext cx="723900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ATP：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订单可承诺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0915650" y="320992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962650" y="367665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SCOS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联动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 / WMS / MES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，实时反馈交期。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53100" y="45529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任意多边形 72"/>
          <p:cNvSpPr/>
          <p:nvPr/>
        </p:nvSpPr>
        <p:spPr>
          <a:xfrm>
            <a:off x="5753100" y="45529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74" name="圆角矩形 73"/>
          <p:cNvSpPr/>
          <p:nvPr/>
        </p:nvSpPr>
        <p:spPr>
          <a:xfrm>
            <a:off x="5962650" y="47244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8375" y="4810125"/>
            <a:ext cx="209550" cy="209550"/>
          </a:xfrm>
          <a:prstGeom prst="rect">
            <a:avLst/>
          </a:prstGeom>
        </p:spPr>
      </p:pic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477000" y="4810125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采购优化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0915650" y="47529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962650" y="5219700"/>
            <a:ext cx="301498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算法辅助采购定价，提前预测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通知发货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降低采购成本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保证原料供应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异常情况识别与处理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00100" y="6134100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800100" y="6276975"/>
            <a:ext cx="38100" cy="371475"/>
          </a:xfrm>
          <a:prstGeom prst="roundRect">
            <a:avLst>
              <a:gd name="adj" fmla="val 50000"/>
            </a:avLst>
          </a:prstGeom>
          <a:solidFill>
            <a:srgbClr val="0569E5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90600" y="6276975"/>
            <a:ext cx="10401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569E5"/>
                </a:solidFill>
                <a:latin typeface="微软雅黑" panose="020B0503020204020204" charset="-122"/>
                <a:ea typeface="微软雅黑" panose="020B0503020204020204" charset="-122"/>
              </a:rPr>
              <a:t>关键跃升</a:t>
            </a:r>
            <a:endParaRPr lang="zh-CN" sz="975" b="1">
              <a:solidFill>
                <a:srgbClr val="0569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90600" y="6486525"/>
            <a:ext cx="1040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被动响应与人工估算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跃迁为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供需自动联动与全程可视化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，供应链响应速度提升，库存与采购成本降低。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" name="图片 83" descr="一个年轻英俊的商人独自坐在办公室里使用科技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073525" y="1572260"/>
            <a:ext cx="841375" cy="561340"/>
          </a:xfrm>
          <a:prstGeom prst="rect">
            <a:avLst/>
          </a:prstGeom>
        </p:spPr>
      </p:pic>
      <p:sp>
        <p:nvSpPr>
          <p:cNvPr id="85" name="圆角矩形 84"/>
          <p:cNvSpPr/>
          <p:nvPr/>
        </p:nvSpPr>
        <p:spPr>
          <a:xfrm>
            <a:off x="9193530" y="1676400"/>
            <a:ext cx="1606550" cy="2607310"/>
          </a:xfrm>
          <a:prstGeom prst="roundRect">
            <a:avLst/>
          </a:prstGeom>
          <a:ln w="6350">
            <a:solidFill>
              <a:schemeClr val="accent4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9193530" y="1871980"/>
            <a:ext cx="1607185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系统自动关联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，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审批后自动执行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。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8572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圆角矩形 87"/>
          <p:cNvSpPr/>
          <p:nvPr/>
        </p:nvSpPr>
        <p:spPr>
          <a:xfrm>
            <a:off x="24193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10330" y="3665220"/>
            <a:ext cx="1358900" cy="635000"/>
          </a:xfrm>
          <a:prstGeom prst="rect">
            <a:avLst/>
          </a:prstGeom>
        </p:spPr>
      </p:pic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26111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779395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24434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933450" y="390334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新人易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2419350" y="3882390"/>
            <a:ext cx="1429385" cy="40132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人，按产品线分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，不按区域分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一人多岗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3909695" y="3903345"/>
            <a:ext cx="1289685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销售8人，含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经理、主管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  <a:buClrTx/>
              <a:buSzTx/>
              <a:buNone/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业务员</a:t>
            </a:r>
            <a:r>
              <a:rPr 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、综合、物流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193530" y="3106420"/>
            <a:ext cx="1607185" cy="117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非等待审批用时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订单可满足性承诺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无差错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。</a:t>
            </a:r>
            <a:endParaRPr lang="en-US" altLang="zh-CN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8204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/>
        </p:nvSpPr>
        <p:spPr>
          <a:xfrm>
            <a:off x="23825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3500" y="5125085"/>
            <a:ext cx="1358900" cy="635000"/>
          </a:xfrm>
          <a:prstGeom prst="rect">
            <a:avLst/>
          </a:prstGeom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22428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2742565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420751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9662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包含：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采购经理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人，助理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endParaRPr lang="en-US" altLang="zh-CN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2382520" y="534225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分工：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大宗物资采购、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辅料采购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94335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采购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分工：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生产物资采购、行政采购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9193530" y="4664075"/>
            <a:ext cx="1606550" cy="1177290"/>
          </a:xfrm>
          <a:prstGeom prst="roundRect">
            <a:avLst/>
          </a:prstGeom>
          <a:noFill/>
          <a:ln w="6350" cap="flat" cmpd="sng" algn="ctr">
            <a:solidFill>
              <a:srgbClr val="FFC000">
                <a:lumMod val="40000"/>
                <a:lumOff val="6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9257665" y="4874895"/>
            <a:ext cx="1487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提前预测、提前通知，减少滞留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保证供应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降低成本。</a:t>
            </a:r>
            <a:endParaRPr lang="zh-CN" altLang="en-US" sz="1200">
              <a:solidFill>
                <a:schemeClr val="accent4">
                  <a:lumMod val="60000"/>
                  <a:lumOff val="40000"/>
                </a:schemeClr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10" name="右箭头 109"/>
          <p:cNvSpPr/>
          <p:nvPr/>
        </p:nvSpPr>
        <p:spPr>
          <a:xfrm>
            <a:off x="5370195" y="3452495"/>
            <a:ext cx="267970" cy="219710"/>
          </a:xfrm>
          <a:prstGeom prst="rightArrow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计划排产</a:t>
            </a:r>
            <a:r>
              <a:rPr lang="en-US" altLang="zh-CN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张雨格</a:t>
            </a:r>
            <a:endParaRPr lang="zh-CN" altLang="en-US" sz="24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" name="Text"/>
          <p:cNvSpPr txBox="1"/>
          <p:nvPr/>
        </p:nvSpPr>
        <p:spPr>
          <a:xfrm>
            <a:off x="548640" y="1432433"/>
            <a:ext cx="53035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sz="1300" b="1">
                <a:solidFill>
                  <a:srgbClr val="4CE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现状 · 三厂共性痛点</a:t>
            </a:r>
            <a:endParaRPr sz="1300" b="1">
              <a:solidFill>
                <a:srgbClr val="4CE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"/>
          <p:cNvSpPr txBox="1"/>
          <p:nvPr/>
        </p:nvSpPr>
        <p:spPr>
          <a:xfrm>
            <a:off x="6309360" y="1432433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13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未来 · 太仓智能蓝图</a:t>
            </a:r>
            <a:endParaRPr sz="1300" b="1">
              <a:solidFill>
                <a:srgbClr val="4CE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Card"/>
          <p:cNvSpPr/>
          <p:nvPr/>
        </p:nvSpPr>
        <p:spPr>
          <a:xfrm>
            <a:off x="548640" y="1779905"/>
            <a:ext cx="5303520" cy="1911095"/>
          </a:xfrm>
          <a:prstGeom prst="roundRect">
            <a:avLst>
              <a:gd name="adj" fmla="val 6000"/>
            </a:avLst>
          </a:prstGeom>
          <a:solidFill>
            <a:srgbClr val="115FE4">
              <a:alpha val="28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"/>
          <p:cNvSpPr txBox="1"/>
          <p:nvPr/>
        </p:nvSpPr>
        <p:spPr>
          <a:xfrm>
            <a:off x="713232" y="1926208"/>
            <a:ext cx="4974336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生产计划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拍脑袋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</a:t>
            </a:r>
            <a:r>
              <a:rPr 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库存、订单断点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达成率低</a:t>
            </a:r>
            <a:r>
              <a:rPr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sz="1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"/>
          <p:cNvSpPr txBox="1"/>
          <p:nvPr/>
        </p:nvSpPr>
        <p:spPr>
          <a:xfrm>
            <a:off x="760730" y="2996057"/>
            <a:ext cx="9017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5+</a:t>
            </a:r>
            <a:r>
              <a:rPr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"/>
          <p:cNvSpPr txBox="1"/>
          <p:nvPr/>
        </p:nvSpPr>
        <p:spPr>
          <a:xfrm>
            <a:off x="1737360" y="2996057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影响计划执行</a:t>
            </a:r>
            <a:endParaRPr 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多因素、颗粒度细</a:t>
            </a:r>
            <a:endParaRPr lang="zh-CN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"/>
          <p:cNvSpPr txBox="1"/>
          <p:nvPr/>
        </p:nvSpPr>
        <p:spPr>
          <a:xfrm>
            <a:off x="3273552" y="2996057"/>
            <a:ext cx="71323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en-US" sz="28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lang="en-US" sz="28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"/>
          <p:cNvSpPr txBox="1"/>
          <p:nvPr/>
        </p:nvSpPr>
        <p:spPr>
          <a:xfrm>
            <a:off x="3931920" y="2996057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插单响应耗时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依靠人协调人、机、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料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Card"/>
          <p:cNvSpPr/>
          <p:nvPr/>
        </p:nvSpPr>
        <p:spPr>
          <a:xfrm>
            <a:off x="6309360" y="1779905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"/>
          <p:cNvSpPr txBox="1"/>
          <p:nvPr/>
        </p:nvSpPr>
        <p:spPr>
          <a:xfrm>
            <a:off x="6894576" y="1917065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智能计划 — 年 / 月 / 日三级计划贯通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73952" y="2142363"/>
            <a:ext cx="497433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三级计划自动贯通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，紧急插单</a:t>
            </a:r>
            <a:r>
              <a:rPr lang="zh-CN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年承接经营方案 · 月按排程规则 · 日直连 MES 自动报工</a:t>
            </a:r>
            <a:r>
              <a:rPr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· </a:t>
            </a: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</a:t>
            </a:r>
            <a:r>
              <a:rPr lang="en-US" altLang="zh-CN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</a:t>
            </a:r>
            <a:endParaRPr lang="zh-CN" altLang="en-US" sz="14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0" name="Card"/>
          <p:cNvSpPr/>
          <p:nvPr/>
        </p:nvSpPr>
        <p:spPr>
          <a:xfrm>
            <a:off x="6309360" y="2785745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Text"/>
          <p:cNvSpPr txBox="1"/>
          <p:nvPr/>
        </p:nvSpPr>
        <p:spPr>
          <a:xfrm>
            <a:off x="6894576" y="2922905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智能供应 — 安全库存与策略采购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2" name="TextBox 300"/>
          <p:cNvSpPr txBox="1"/>
          <p:nvPr/>
        </p:nvSpPr>
        <p:spPr>
          <a:xfrm>
            <a:off x="6473952" y="3169793"/>
            <a:ext cx="497433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库存参数化测算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，JIT 按需供货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服务水平 · 波动系数 · 补货周期建模，成本多维可视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3" name="Icon 0" descr="13_计划清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875917"/>
            <a:ext cx="301752" cy="301752"/>
          </a:xfrm>
          <a:prstGeom prst="rect">
            <a:avLst/>
          </a:prstGeom>
        </p:spPr>
      </p:pic>
      <p:pic>
        <p:nvPicPr>
          <p:cNvPr id="304" name="Icon 1" descr="472_图片_4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881757"/>
            <a:ext cx="301752" cy="221978"/>
          </a:xfrm>
          <a:prstGeom prst="rect">
            <a:avLst/>
          </a:prstGeom>
        </p:spPr>
      </p:pic>
      <p:sp>
        <p:nvSpPr>
          <p:cNvPr id="401" name="L1 bullet 401"/>
          <p:cNvSpPr txBox="1"/>
          <p:nvPr/>
        </p:nvSpPr>
        <p:spPr>
          <a:xfrm>
            <a:off x="713232" y="2255393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订单靠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口头传递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SAP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录入工作量大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不准确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L1 bullet 402"/>
          <p:cNvSpPr txBox="1"/>
          <p:nvPr/>
        </p:nvSpPr>
        <p:spPr>
          <a:xfrm>
            <a:off x="711327" y="2493137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缺少订单、库存协同</a:t>
            </a: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，插单急单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导致物料损失</a:t>
            </a:r>
            <a:r>
              <a:rPr lang="zh-CN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增多</a:t>
            </a:r>
            <a:endParaRPr lang="zh-CN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TitleBar 600"/>
          <p:cNvSpPr/>
          <p:nvPr/>
        </p:nvSpPr>
        <p:spPr>
          <a:xfrm>
            <a:off x="603504" y="1953641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2" name="TitleBar 602"/>
          <p:cNvSpPr/>
          <p:nvPr/>
        </p:nvSpPr>
        <p:spPr>
          <a:xfrm>
            <a:off x="6784848" y="1944496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TitleBar 603"/>
          <p:cNvSpPr/>
          <p:nvPr/>
        </p:nvSpPr>
        <p:spPr>
          <a:xfrm>
            <a:off x="6784848" y="2950337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L1 bullet 402"/>
          <p:cNvSpPr txBox="1"/>
          <p:nvPr/>
        </p:nvSpPr>
        <p:spPr>
          <a:xfrm>
            <a:off x="711327" y="2754757"/>
            <a:ext cx="497433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计划达成及报工统计全靠人算（</a:t>
            </a:r>
            <a:r>
              <a:rPr lang="zh-CN" altLang="en-US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成都由</a:t>
            </a:r>
            <a:r>
              <a:rPr lang="en-US" altLang="zh-CN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</a:t>
            </a:r>
            <a:r>
              <a:rPr lang="zh-CN" altLang="en-US" sz="1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报工</a:t>
            </a:r>
            <a:r>
              <a:rPr lang="zh-CN" altLang="en-US"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1765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调度执行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" y="1210945"/>
            <a:ext cx="279400" cy="278130"/>
          </a:xfrm>
          <a:prstGeom prst="rect">
            <a:avLst/>
          </a:prstGeom>
        </p:spPr>
      </p:pic>
      <p:sp>
        <p:nvSpPr>
          <p:cNvPr id="50" name="AutoShape 19"/>
          <p:cNvSpPr/>
          <p:nvPr>
            <p:custDataLst>
              <p:tags r:id="rId5"/>
            </p:custDataLst>
          </p:nvPr>
        </p:nvSpPr>
        <p:spPr>
          <a:xfrm>
            <a:off x="927100" y="1187450"/>
            <a:ext cx="2096135" cy="347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武汉、成都、融氏</a:t>
            </a:r>
            <a:r>
              <a:rPr lang="en-US" sz="16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endParaRPr lang="en-US" sz="16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1" name="Connector 20"/>
          <p:cNvCxnSpPr/>
          <p:nvPr>
            <p:custDataLst>
              <p:tags r:id="rId6"/>
            </p:custDataLst>
          </p:nvPr>
        </p:nvCxnSpPr>
        <p:spPr>
          <a:xfrm>
            <a:off x="577836" y="1684127"/>
            <a:ext cx="3058795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4156626" y="1187450"/>
            <a:ext cx="4840568" cy="497840"/>
            <a:chOff x="4966" y="2210"/>
            <a:chExt cx="5012" cy="784"/>
          </a:xfrm>
        </p:grpSpPr>
        <p:pic>
          <p:nvPicPr>
            <p:cNvPr id="54" name="Picture 2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6" y="2247"/>
              <a:ext cx="440" cy="438"/>
            </a:xfrm>
            <a:prstGeom prst="rect">
              <a:avLst/>
            </a:prstGeom>
          </p:spPr>
        </p:pic>
        <p:sp>
          <p:nvSpPr>
            <p:cNvPr id="55" name="AutoShape 26"/>
            <p:cNvSpPr/>
            <p:nvPr>
              <p:custDataLst>
                <p:tags r:id="rId10"/>
              </p:custDataLst>
            </p:nvPr>
          </p:nvSpPr>
          <p:spPr>
            <a:xfrm>
              <a:off x="5516" y="2210"/>
              <a:ext cx="3301" cy="54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b="1" i="0" u="none" strike="noStrike">
                  <a:solidFill>
                    <a:srgbClr val="2563EB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太仓未来</a:t>
              </a:r>
              <a:endParaRPr lang="zh-CN" altLang="en-US" sz="16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56" name="Connector 27"/>
            <p:cNvCxnSpPr/>
            <p:nvPr>
              <p:custDataLst>
                <p:tags r:id="rId11"/>
              </p:custDataLst>
            </p:nvPr>
          </p:nvCxnSpPr>
          <p:spPr>
            <a:xfrm>
              <a:off x="4966" y="2981"/>
              <a:ext cx="5012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3B82F6">
                  <a:alpha val="7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" name="组合 57"/>
          <p:cNvGrpSpPr/>
          <p:nvPr/>
        </p:nvGrpSpPr>
        <p:grpSpPr>
          <a:xfrm>
            <a:off x="9220200" y="1165860"/>
            <a:ext cx="2545715" cy="501865"/>
            <a:chOff x="9293" y="2210"/>
            <a:chExt cx="3851" cy="807"/>
          </a:xfrm>
        </p:grpSpPr>
        <p:pic>
          <p:nvPicPr>
            <p:cNvPr id="59" name="Picture 3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93" y="2247"/>
              <a:ext cx="440" cy="438"/>
            </a:xfrm>
            <a:prstGeom prst="rect">
              <a:avLst/>
            </a:prstGeom>
          </p:spPr>
        </p:pic>
        <p:sp>
          <p:nvSpPr>
            <p:cNvPr id="60" name="AutoShape 33"/>
            <p:cNvSpPr/>
            <p:nvPr>
              <p:custDataLst>
                <p:tags r:id="rId15"/>
              </p:custDataLst>
            </p:nvPr>
          </p:nvSpPr>
          <p:spPr>
            <a:xfrm>
              <a:off x="9843" y="2210"/>
              <a:ext cx="3301" cy="54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zh-CN" altLang="en-US" sz="16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61" name="Connector 34"/>
            <p:cNvCxnSpPr/>
            <p:nvPr>
              <p:custDataLst>
                <p:tags r:id="rId16"/>
              </p:custDataLst>
            </p:nvPr>
          </p:nvCxnSpPr>
          <p:spPr>
            <a:xfrm rot="21582461">
              <a:off x="9293" y="2999"/>
              <a:ext cx="3594" cy="1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97316">
                  <a:alpha val="8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" name="直接连接符 63"/>
          <p:cNvCxnSpPr/>
          <p:nvPr/>
        </p:nvCxnSpPr>
        <p:spPr>
          <a:xfrm>
            <a:off x="3954780" y="1141730"/>
            <a:ext cx="4445" cy="55587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3848100" y="3318510"/>
            <a:ext cx="290830" cy="1056640"/>
            <a:chOff x="14200" y="202"/>
            <a:chExt cx="458" cy="1664"/>
          </a:xfrm>
        </p:grpSpPr>
        <p:sp>
          <p:nvSpPr>
            <p:cNvPr id="68" name="燕尾形 67"/>
            <p:cNvSpPr/>
            <p:nvPr/>
          </p:nvSpPr>
          <p:spPr>
            <a:xfrm>
              <a:off x="14200" y="202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燕尾形 68"/>
            <p:cNvSpPr/>
            <p:nvPr/>
          </p:nvSpPr>
          <p:spPr>
            <a:xfrm>
              <a:off x="14200" y="828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燕尾形 69"/>
            <p:cNvSpPr/>
            <p:nvPr/>
          </p:nvSpPr>
          <p:spPr>
            <a:xfrm>
              <a:off x="14200" y="1440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8996680" y="3589020"/>
            <a:ext cx="290830" cy="1056640"/>
            <a:chOff x="14200" y="202"/>
            <a:chExt cx="458" cy="1664"/>
          </a:xfrm>
        </p:grpSpPr>
        <p:sp>
          <p:nvSpPr>
            <p:cNvPr id="74" name="燕尾形 73"/>
            <p:cNvSpPr/>
            <p:nvPr/>
          </p:nvSpPr>
          <p:spPr>
            <a:xfrm>
              <a:off x="14200" y="202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燕尾形 74"/>
            <p:cNvSpPr/>
            <p:nvPr/>
          </p:nvSpPr>
          <p:spPr>
            <a:xfrm>
              <a:off x="14200" y="828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燕尾形 75"/>
            <p:cNvSpPr/>
            <p:nvPr/>
          </p:nvSpPr>
          <p:spPr>
            <a:xfrm>
              <a:off x="14200" y="1440"/>
              <a:ext cx="458" cy="426"/>
            </a:xfrm>
            <a:prstGeom prst="chevr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矩形 7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7"/>
          <a:srcRect t="9356" r="7754"/>
          <a:stretch>
            <a:fillRect/>
          </a:stretch>
        </p:blipFill>
        <p:spPr>
          <a:xfrm>
            <a:off x="2451735" y="5278755"/>
            <a:ext cx="1212215" cy="11614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6405" y="5092065"/>
            <a:ext cx="2005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●生产交接班记录：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人手动记，每天花费约</a:t>
            </a:r>
            <a:r>
              <a:rPr lang="en-US" alt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2H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记录整理（</a:t>
            </a:r>
            <a:r>
              <a:rPr lang="zh-CN" altLang="en-US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成都由</a:t>
            </a:r>
            <a:r>
              <a:rPr lang="en-US" altLang="zh-CN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MES</a:t>
            </a:r>
            <a:r>
              <a:rPr lang="zh-CN" altLang="en-US" sz="12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）；</a:t>
            </a:r>
            <a:endParaRPr lang="zh-CN" altLang="en-US" sz="12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57780" y="2288540"/>
            <a:ext cx="486410" cy="9220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680" y="3629660"/>
            <a:ext cx="1800860" cy="13506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15540" y="3544570"/>
            <a:ext cx="1140460" cy="143827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446405" y="3209925"/>
            <a:ext cx="29305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生产投料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手工账计数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446405" y="2248535"/>
            <a:ext cx="36163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沟通及指令下达方式：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微信群、电话通知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200"/>
          </a:p>
        </p:txBody>
      </p:sp>
      <p:sp>
        <p:nvSpPr>
          <p:cNvPr id="66" name="文本框 65"/>
          <p:cNvSpPr txBox="1"/>
          <p:nvPr/>
        </p:nvSpPr>
        <p:spPr>
          <a:xfrm>
            <a:off x="446405" y="1783080"/>
            <a:ext cx="36163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●调度决策：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靠工程师经验</a:t>
            </a:r>
            <a:r>
              <a:rPr lang="zh-CN" altLang="en-US" sz="140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人工调度</a:t>
            </a:r>
            <a:endParaRPr lang="zh-CN" altLang="en-US" sz="1200"/>
          </a:p>
        </p:txBody>
      </p:sp>
      <p:sp>
        <p:nvSpPr>
          <p:cNvPr id="107" name="AutoShape 107"/>
          <p:cNvSpPr/>
          <p:nvPr/>
        </p:nvSpPr>
        <p:spPr>
          <a:xfrm>
            <a:off x="513080" y="1833245"/>
            <a:ext cx="3151505" cy="141541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107"/>
          <p:cNvSpPr/>
          <p:nvPr/>
        </p:nvSpPr>
        <p:spPr>
          <a:xfrm>
            <a:off x="513080" y="3305175"/>
            <a:ext cx="3151505" cy="174815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07"/>
          <p:cNvSpPr/>
          <p:nvPr/>
        </p:nvSpPr>
        <p:spPr>
          <a:xfrm>
            <a:off x="513080" y="5106035"/>
            <a:ext cx="3130550" cy="1466215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3B4E60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0A2238">
                    <a:alpha val="8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01385" y="1753870"/>
            <a:ext cx="2791460" cy="14668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189730" y="1837055"/>
            <a:ext cx="1812290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指令穿透及透明化执行：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生产指令直达机设备、⽣产进度、设备状态、物料流转的全流程可视化与透明化管控，摒弃所有人工记录及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计数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10050" y="3472180"/>
            <a:ext cx="2784475" cy="147383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6015990" y="5162550"/>
            <a:ext cx="2784475" cy="1653540"/>
            <a:chOff x="4760" y="-433"/>
            <a:chExt cx="13006" cy="7322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760" y="-433"/>
              <a:ext cx="13006" cy="732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223" y="6153"/>
              <a:ext cx="1440" cy="581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6981825" y="3439795"/>
            <a:ext cx="2096770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业质联动与过程防呆：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检验任务自动下发反馈，质量标准强制联动，全程</a:t>
            </a:r>
            <a:r>
              <a:rPr lang="zh-CN" altLang="en-US"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人工0参与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，当指标（如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值、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值）异常时，⾃动输出⼯艺参数调整建议或拦截指令，实现从“事后检验”向“过程预防”转变。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57015" y="5053330"/>
            <a:ext cx="1958975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异常秒级响应与⾃适应调度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 发⽣设备故障或质量偏差时，利用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模型及智能诊断快速查找原因给出方案并调整资源配置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9112250" y="1141730"/>
            <a:ext cx="4445" cy="55587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AutoShape 26"/>
          <p:cNvSpPr/>
          <p:nvPr>
            <p:custDataLst>
              <p:tags r:id="rId25"/>
            </p:custDataLst>
          </p:nvPr>
        </p:nvSpPr>
        <p:spPr>
          <a:xfrm>
            <a:off x="9666605" y="1158875"/>
            <a:ext cx="1086485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跃升</a:t>
            </a:r>
            <a:endParaRPr lang="zh-CN" altLang="en-US" sz="1600" b="1" i="0" u="none" strike="noStrike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307830" y="1884680"/>
            <a:ext cx="2374900" cy="21024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25000"/>
              </a:lnSpc>
            </a:pP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自动记录</a:t>
            </a:r>
            <a:r>
              <a:rPr lang="zh-CN"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r>
              <a:rPr sz="15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全程无纸化</a:t>
            </a: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记录录入工作时长减少至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（主要审核）</a:t>
            </a:r>
            <a:endParaRPr sz="1500" b="1"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▶</a:t>
            </a: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电子批记录替代纸质单据，主管由“盯现场”转向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lang="en-US" altLang="zh-CN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87510" y="3987165"/>
            <a:ext cx="2791460" cy="2183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生产作业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张仔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洁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4" name="Card"/>
          <p:cNvSpPr/>
          <p:nvPr/>
        </p:nvSpPr>
        <p:spPr>
          <a:xfrm>
            <a:off x="554990" y="1249045"/>
            <a:ext cx="5303520" cy="5348605"/>
          </a:xfrm>
          <a:prstGeom prst="roundRect">
            <a:avLst>
              <a:gd name="adj" fmla="val 6000"/>
            </a:avLst>
          </a:prstGeom>
          <a:solidFill>
            <a:srgbClr val="115FE4">
              <a:alpha val="28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"/>
          <p:cNvSpPr txBox="1"/>
          <p:nvPr/>
        </p:nvSpPr>
        <p:spPr>
          <a:xfrm>
            <a:off x="719582" y="1639697"/>
            <a:ext cx="49743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生产作业</a:t>
            </a: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重复劳动</a:t>
            </a:r>
            <a:r>
              <a:rPr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断点操作</a:t>
            </a:r>
            <a:r>
              <a:rPr lang="en-US" altLang="zh-CN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单点干预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"/>
          <p:cNvSpPr txBox="1"/>
          <p:nvPr/>
        </p:nvSpPr>
        <p:spPr>
          <a:xfrm>
            <a:off x="2963545" y="6133465"/>
            <a:ext cx="647065" cy="326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endParaRPr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Text"/>
          <p:cNvSpPr txBox="1"/>
          <p:nvPr/>
        </p:nvSpPr>
        <p:spPr>
          <a:xfrm>
            <a:off x="5821680" y="3484563"/>
            <a:ext cx="548640" cy="5226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</a:t>
            </a:r>
            <a:endParaRPr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85000"/>
              </a:lnSpc>
            </a:pPr>
            <a:r>
              <a:rPr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</a:t>
            </a:r>
            <a:endParaRPr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Card"/>
          <p:cNvSpPr/>
          <p:nvPr/>
        </p:nvSpPr>
        <p:spPr>
          <a:xfrm>
            <a:off x="6315710" y="1249680"/>
            <a:ext cx="5347335" cy="5348605"/>
          </a:xfrm>
          <a:prstGeom prst="roundRect">
            <a:avLst>
              <a:gd name="adj" fmla="val 6000"/>
            </a:avLst>
          </a:prstGeom>
          <a:solidFill>
            <a:srgbClr val="115FE4">
              <a:alpha val="22000"/>
            </a:srgbClr>
          </a:solidFill>
          <a:ln w="12700">
            <a:solidFill>
              <a:srgbClr val="488C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Text"/>
          <p:cNvSpPr txBox="1"/>
          <p:nvPr/>
        </p:nvSpPr>
        <p:spPr>
          <a:xfrm>
            <a:off x="6900926" y="1675130"/>
            <a:ext cx="4553712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智能生产 — 黑屏稳态与全局 AI 协同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6623050" y="5934075"/>
            <a:ext cx="4974590" cy="6235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自主</a:t>
            </a:r>
            <a:r>
              <a:rPr lang="zh-CN"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sz="1600" b="1"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报警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↓60%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、自动投用率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、操作时长</a:t>
            </a:r>
            <a:r>
              <a:rPr sz="12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↓70%</a:t>
            </a:r>
            <a:endParaRPr sz="12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6" name="Icon 3" descr="476_图片_4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82" y="1633982"/>
            <a:ext cx="301752" cy="301752"/>
          </a:xfrm>
          <a:prstGeom prst="rect">
            <a:avLst/>
          </a:prstGeom>
        </p:spPr>
      </p:pic>
      <p:sp>
        <p:nvSpPr>
          <p:cNvPr id="601" name="TitleBar 601"/>
          <p:cNvSpPr/>
          <p:nvPr/>
        </p:nvSpPr>
        <p:spPr>
          <a:xfrm>
            <a:off x="609854" y="1667129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TitleBar 605"/>
          <p:cNvSpPr/>
          <p:nvPr/>
        </p:nvSpPr>
        <p:spPr>
          <a:xfrm>
            <a:off x="6791198" y="1702562"/>
            <a:ext cx="54864" cy="20116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0075" y="1057275"/>
            <a:ext cx="11001375" cy="9525"/>
          </a:xfrm>
          <a:prstGeom prst="rect">
            <a:avLst/>
          </a:prstGeom>
          <a:solidFill>
            <a:srgbClr val="FFFFFF">
              <a:alpha val="36000"/>
            </a:srgbClr>
          </a:solidFill>
          <a:ln w="0">
            <a:noFill/>
            <a:prstDash val="solid"/>
          </a:ln>
        </p:spPr>
      </p:sp>
      <p:grpSp>
        <p:nvGrpSpPr>
          <p:cNvPr id="31" name="组合 30"/>
          <p:cNvGrpSpPr/>
          <p:nvPr>
            <p:custDataLst>
              <p:tags r:id="rId3"/>
            </p:custDataLst>
          </p:nvPr>
        </p:nvGrpSpPr>
        <p:grpSpPr>
          <a:xfrm>
            <a:off x="6459361" y="2135505"/>
            <a:ext cx="4608235" cy="3687241"/>
            <a:chOff x="9698" y="3200"/>
            <a:chExt cx="8502" cy="4675"/>
          </a:xfrm>
        </p:grpSpPr>
        <p:sp>
          <p:nvSpPr>
            <p:cNvPr id="22" name="AutoShape 21"/>
            <p:cNvSpPr/>
            <p:nvPr>
              <p:custDataLst>
                <p:tags r:id="rId4"/>
              </p:custDataLst>
            </p:nvPr>
          </p:nvSpPr>
          <p:spPr>
            <a:xfrm>
              <a:off x="9698" y="3200"/>
              <a:ext cx="5256" cy="4675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60000"/>
              </a:srgbClr>
            </a:solidFill>
            <a:ln w="12700" cap="flat" cmpd="sng">
              <a:solidFill>
                <a:srgbClr val="38BDF8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AutoShape 23"/>
            <p:cNvSpPr/>
            <p:nvPr>
              <p:custDataLst>
                <p:tags r:id="rId5"/>
              </p:custDataLst>
            </p:nvPr>
          </p:nvSpPr>
          <p:spPr>
            <a:xfrm>
              <a:off x="11000" y="3520"/>
              <a:ext cx="720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5" name="AutoShape 24"/>
            <p:cNvSpPr/>
            <p:nvPr>
              <p:custDataLst>
                <p:tags r:id="rId6"/>
              </p:custDataLst>
            </p:nvPr>
          </p:nvSpPr>
          <p:spPr>
            <a:xfrm>
              <a:off x="9932" y="3535"/>
              <a:ext cx="4744" cy="367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一键启停</a:t>
              </a:r>
              <a:r>
                <a:rPr 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操作人员只需按下</a:t>
              </a:r>
              <a:r>
                <a:rPr lang="zh-CN" altLang="en-US" sz="1400" b="1" i="0" u="none" strike="noStrike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一键开车</a:t>
              </a:r>
              <a:r>
                <a:rPr lang="en-US" sz="12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系统即可按照固定程序步骤执行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，保障连续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不间断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生产。</a:t>
              </a:r>
              <a:endParaRPr lang="en-US" sz="12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endParaRPr 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zh-CN" alt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黑屏运行</a:t>
              </a:r>
              <a:r>
                <a:rPr lang="en-US" sz="1600" b="1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依托AI算法挖掘工艺参数与质量、消耗的深层关联，AI分析工况并自主调优，</a:t>
              </a:r>
              <a:r>
                <a:rPr lang="zh-CN" alt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在稳态生产情况下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实现</a:t>
              </a:r>
              <a:r>
                <a:rPr lang="en-US" sz="1400" b="1" i="0" u="none" strike="noStrike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少人化/无人化</a:t>
              </a:r>
              <a:r>
                <a:rPr lang="en-US" sz="1000" b="0" i="0" u="none" strike="noStrike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目标。</a:t>
              </a:r>
              <a:endParaRPr lang="en-US" sz="10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endParaRPr lang="en-US" sz="1000" b="0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▶</a:t>
              </a:r>
              <a:r>
                <a:rPr lang="zh-CN" alt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高级报警</a:t>
              </a:r>
              <a:r>
                <a:rPr lang="en-US" sz="1600" b="1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：</a:t>
              </a:r>
              <a:endParaRPr lang="en-US" sz="1600" b="1" i="0" u="none" strike="noStrike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  <a:defRPr/>
              </a:pPr>
              <a:r>
                <a:rPr lang="zh-CN" altLang="en-US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依托</a:t>
              </a:r>
              <a:r>
                <a:rPr lang="en-US" altLang="zh-CN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AI</a:t>
              </a:r>
              <a:r>
                <a:rPr lang="zh-CN" altLang="en-US" sz="1000">
                  <a:solidFill>
                    <a:srgbClr val="CBD5E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模型算法，定义不同工况下的生产参数基准，剔除换产、调负荷情况下的异常报警，挖掘真实报警，</a:t>
              </a:r>
              <a:r>
                <a:rPr lang="zh-CN" altLang="en-US" sz="1200" b="1">
                  <a:solidFill>
                    <a:srgbClr val="00B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释放人员工作劳动</a:t>
              </a:r>
              <a:endParaRPr lang="en-US" sz="1200" b="0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endParaRPr lang="en-US" sz="1200" b="0" i="0" u="none" strike="noStrike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8" name="AutoShape 27"/>
            <p:cNvSpPr/>
            <p:nvPr>
              <p:custDataLst>
                <p:tags r:id="rId7"/>
              </p:custDataLst>
            </p:nvPr>
          </p:nvSpPr>
          <p:spPr>
            <a:xfrm>
              <a:off x="11000" y="7220"/>
              <a:ext cx="7200" cy="5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398000" y="4211320"/>
            <a:ext cx="2105025" cy="1611630"/>
            <a:chOff x="7046" y="2257"/>
            <a:chExt cx="4376" cy="2918"/>
          </a:xfrm>
        </p:grpSpPr>
        <p:pic>
          <p:nvPicPr>
            <p:cNvPr id="39" name="图片 38" descr="写实工业摄影风格_现代中央控制室_集控室_真实场景_横向宽幅_2026-09-02T07-56-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6" y="2257"/>
              <a:ext cx="4376" cy="2918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47" y="4925"/>
              <a:ext cx="775" cy="250"/>
            </a:xfrm>
            <a:prstGeom prst="rect">
              <a:avLst/>
            </a:prstGeom>
          </p:spPr>
        </p:pic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2920" y="2135505"/>
            <a:ext cx="2110105" cy="1929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23685" y="5296535"/>
            <a:ext cx="2684145" cy="464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生产操作人员减少至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79170" y="548386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圆角矩形 17"/>
          <p:cNvSpPr/>
          <p:nvPr/>
        </p:nvSpPr>
        <p:spPr>
          <a:xfrm>
            <a:off x="2480310" y="548386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290" y="5483860"/>
            <a:ext cx="1358900" cy="635000"/>
          </a:xfrm>
          <a:prstGeom prst="rect">
            <a:avLst/>
          </a:prstGeom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383030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840355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305300" y="552958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055370" y="572198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 b="1">
              <a:ln>
                <a:solidFill>
                  <a:schemeClr val="tx1"/>
                </a:solidFill>
              </a:ln>
              <a:solidFill>
                <a:srgbClr val="F9AC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2480310" y="5701030"/>
            <a:ext cx="1429385" cy="40132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  <a:buClrTx/>
              <a:buSzTx/>
              <a:buNone/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970655" y="5721985"/>
            <a:ext cx="1289685" cy="3810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10000"/>
              </a:lnSpc>
              <a:buClrTx/>
              <a:buSzTx/>
              <a:buNone/>
            </a:pPr>
            <a:r>
              <a:rPr 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en-US" altLang="zh-CN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>
                <a:ln>
                  <a:solidFill>
                    <a:schemeClr val="tx1"/>
                  </a:solidFill>
                </a:ln>
                <a:solidFill>
                  <a:srgbClr val="F9AC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endParaRPr lang="zh-CN" altLang="en-US" sz="200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"/>
          <p:cNvSpPr txBox="1"/>
          <p:nvPr/>
        </p:nvSpPr>
        <p:spPr>
          <a:xfrm>
            <a:off x="1950720" y="6231255"/>
            <a:ext cx="2442210" cy="326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内操人员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控制系统监控、操作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116965" y="2226945"/>
            <a:ext cx="1555115" cy="876300"/>
            <a:chOff x="1311" y="3555"/>
            <a:chExt cx="2449" cy="1380"/>
          </a:xfrm>
        </p:grpSpPr>
        <p:sp>
          <p:nvSpPr>
            <p:cNvPr id="51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生产操作全靠人的经验不断操作和调整，无法脱离人员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运行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人依赖程度高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488055" y="2226945"/>
            <a:ext cx="1555115" cy="876300"/>
            <a:chOff x="1311" y="3555"/>
            <a:chExt cx="2449" cy="1380"/>
          </a:xfrm>
        </p:grpSpPr>
        <p:sp>
          <p:nvSpPr>
            <p:cNvPr id="16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人必须不间断的监控控制画面，执行生产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步骤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重复工作量大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16965" y="3342005"/>
            <a:ext cx="1555115" cy="876300"/>
            <a:chOff x="1311" y="3555"/>
            <a:chExt cx="2449" cy="1380"/>
          </a:xfrm>
        </p:grpSpPr>
        <p:sp>
          <p:nvSpPr>
            <p:cNvPr id="27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人工分步下发指令，多工段操作需人员持续值守干预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单程序控制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488055" y="3342005"/>
            <a:ext cx="1555115" cy="876300"/>
            <a:chOff x="1311" y="3555"/>
            <a:chExt cx="2449" cy="1380"/>
          </a:xfrm>
        </p:grpSpPr>
        <p:sp>
          <p:nvSpPr>
            <p:cNvPr id="38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换产检修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时海量报警集中弹出，人工逐条甄别筛选，持续盯屏确认。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报警靠人甄别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116965" y="4508500"/>
            <a:ext cx="1555115" cy="876300"/>
            <a:chOff x="1311" y="3555"/>
            <a:chExt cx="2449" cy="1380"/>
          </a:xfrm>
        </p:grpSpPr>
        <p:sp>
          <p:nvSpPr>
            <p:cNvPr id="43" name="Rounded Rectangle 31"/>
            <p:cNvSpPr/>
            <p:nvPr/>
          </p:nvSpPr>
          <p:spPr>
            <a:xfrm>
              <a:off x="1311" y="4031"/>
              <a:ext cx="2448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依靠人历史经验手动调整参数，人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需持续盯守工况变化。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缺乏预测性调控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488055" y="4508500"/>
            <a:ext cx="1555115" cy="876300"/>
            <a:chOff x="1311" y="3555"/>
            <a:chExt cx="2449" cy="1380"/>
          </a:xfrm>
        </p:grpSpPr>
        <p:sp>
          <p:nvSpPr>
            <p:cNvPr id="47" name="Rounded Rectangle 31"/>
            <p:cNvSpPr/>
            <p:nvPr/>
          </p:nvSpPr>
          <p:spPr>
            <a:xfrm>
              <a:off x="1311" y="4031"/>
              <a:ext cx="2415" cy="904"/>
            </a:xfrm>
            <a:prstGeom prst="roundRect">
              <a:avLst/>
            </a:prstGeom>
            <a:solidFill>
              <a:srgbClr val="14213D"/>
            </a:solidFill>
            <a:ln w="9525">
              <a:solidFill>
                <a:srgbClr val="2A3A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故障发生后人员再介入排查，现场事后处置问题，影响生产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</a:rPr>
                <a:t>稳定性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Rounded Rectangle 32"/>
            <p:cNvSpPr/>
            <p:nvPr/>
          </p:nvSpPr>
          <p:spPr>
            <a:xfrm>
              <a:off x="1352" y="3584"/>
              <a:ext cx="168" cy="446"/>
            </a:xfrm>
            <a:prstGeom prst="roundRect">
              <a:avLst>
                <a:gd name="adj" fmla="val 50000"/>
              </a:avLst>
            </a:prstGeom>
            <a:solidFill>
              <a:srgbClr val="4CC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TextBox 33"/>
            <p:cNvSpPr txBox="1"/>
            <p:nvPr/>
          </p:nvSpPr>
          <p:spPr>
            <a:xfrm>
              <a:off x="1455" y="3555"/>
              <a:ext cx="2305" cy="4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8000"/>
                </a:lnSpc>
                <a:spcAft>
                  <a:spcPts val="0"/>
                </a:spcAft>
              </a:pPr>
              <a:r>
                <a:rPr lang="zh-CN" sz="16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故障处置滞后</a:t>
              </a:r>
              <a:endParaRPr lang="zh-CN"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8047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原料转运存储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李成东、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王莹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原料怎么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过程暂存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三个工厂过程</a:t>
            </a:r>
            <a:r>
              <a:rPr lang="zh-CN" altLang="en-US"/>
              <a:t>品怎么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质量检测分析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刘进、管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绍奇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三个工厂质量检测怎么</a:t>
            </a:r>
            <a:r>
              <a:rPr lang="zh-CN" altLang="en-US"/>
              <a:t>做的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异常管理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三个工厂异常怎么</a:t>
            </a:r>
            <a:r>
              <a:rPr lang="zh-CN" altLang="en-US"/>
              <a:t>处置的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成品入库仓储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李成东、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罗振高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储运怎么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发货交付出厂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李成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东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储运怎么</a:t>
            </a:r>
            <a:r>
              <a:rPr lang="zh-CN" altLang="en-US"/>
              <a:t>管理的</a:t>
            </a:r>
            <a:endParaRPr lang="zh-CN" altLang="en-US"/>
          </a:p>
          <a:p>
            <a:r>
              <a:rPr lang="zh-CN" altLang="en-US"/>
              <a:t>大宗（灌装</a:t>
            </a:r>
            <a:r>
              <a:rPr lang="zh-CN" altLang="en-US"/>
              <a:t>车道）、</a:t>
            </a:r>
            <a:r>
              <a:rPr lang="zh-CN" altLang="en-US"/>
              <a:t>小包装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质量追溯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刘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三个工厂质量是怎么追溯的，人财物、</a:t>
            </a:r>
            <a:r>
              <a:rPr lang="zh-CN" altLang="en-US"/>
              <a:t>记录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成本追溯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张雨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格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能碳管理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韩宪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能碳怎么</a:t>
            </a:r>
            <a:r>
              <a:rPr lang="zh-CN" altLang="en-US"/>
              <a:t>管理的</a:t>
            </a:r>
            <a:endParaRPr lang="zh-CN" altLang="en-US"/>
          </a:p>
          <a:p>
            <a:r>
              <a:rPr lang="zh-CN" altLang="en-US"/>
              <a:t>统计</a:t>
            </a:r>
            <a:r>
              <a:rPr lang="en-US" altLang="zh-CN"/>
              <a:t>(</a:t>
            </a:r>
            <a:r>
              <a:rPr lang="zh-CN" altLang="en-US"/>
              <a:t>结算、成本上报</a:t>
            </a:r>
            <a:r>
              <a:rPr lang="en-US" altLang="zh-CN"/>
              <a:t>)</a:t>
            </a:r>
            <a:r>
              <a:rPr lang="zh-CN" altLang="en-US"/>
              <a:t>怎么做的、异常怎么发现的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设备运维</a:t>
            </a:r>
            <a:r>
              <a:rPr lang="en-US" altLang="zh-CN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张仔洁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</a:t>
            </a:r>
            <a:r>
              <a:rPr lang="zh-CN" altLang="en-US"/>
              <a:t>设备怎么</a:t>
            </a:r>
            <a:r>
              <a:rPr lang="zh-CN" altLang="en-US"/>
              <a:t>管理的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8047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7535" y="1308735"/>
            <a:ext cx="269811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三个工厂原料怎么管理的承包商怎么管、访客怎么管、不安全行为怎么管、隐患怎么管、作业</a:t>
            </a:r>
            <a:r>
              <a:rPr lang="zh-CN" altLang="en-US"/>
              <a:t>怎么管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42773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85945" y="1308735"/>
            <a:ext cx="226123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未来太仓怎么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16825" y="1308735"/>
            <a:ext cx="35839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能减多少人，节省多少</a:t>
            </a:r>
            <a:r>
              <a:rPr lang="zh-CN" altLang="en-US"/>
              <a:t>成本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713220" y="1400175"/>
            <a:ext cx="517525" cy="17208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生产安全</a:t>
            </a:r>
            <a:r>
              <a:rPr lang="en-US" altLang="zh-CN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zh-CN" altLang="en-US" sz="24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朱泽威</a:t>
            </a:r>
            <a:endParaRPr lang="zh-CN" altLang="en-US" sz="24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蓝图设计及调研</a:t>
            </a:r>
            <a:r>
              <a:rPr lang="zh-CN" altLang="en-US" sz="2400" b="1" i="0" u="none" strike="noStrike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过程</a:t>
            </a:r>
            <a:endParaRPr lang="zh-CN" altLang="en-US" sz="2400" b="1" i="0" u="none" strike="noStrike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" y="1367790"/>
            <a:ext cx="1755140" cy="13354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595" y="1367790"/>
            <a:ext cx="1755140" cy="13354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92835" y="963930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融氏现场</a:t>
            </a:r>
            <a:r>
              <a:rPr lang="zh-CN" altLang="en-US">
                <a:sym typeface="+mn-ea"/>
              </a:rPr>
              <a:t>研讨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5" y="1367790"/>
            <a:ext cx="1779905" cy="13354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885" y="4260850"/>
            <a:ext cx="2027555" cy="15214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865" y="1367790"/>
            <a:ext cx="1858010" cy="1393825"/>
          </a:xfrm>
          <a:prstGeom prst="rect">
            <a:avLst/>
          </a:prstGeom>
        </p:spPr>
      </p:pic>
      <p:sp>
        <p:nvSpPr>
          <p:cNvPr id="24" name="右箭头 23"/>
          <p:cNvSpPr/>
          <p:nvPr/>
        </p:nvSpPr>
        <p:spPr>
          <a:xfrm>
            <a:off x="3888740" y="1880235"/>
            <a:ext cx="293370" cy="369570"/>
          </a:xfrm>
          <a:prstGeom prst="right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8146415" y="1880235"/>
            <a:ext cx="293370" cy="369570"/>
          </a:xfrm>
          <a:prstGeom prst="right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243195" y="956945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成都现场研讨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9393555" y="956945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武汉现场</a:t>
            </a:r>
            <a:r>
              <a:rPr lang="zh-CN" altLang="en-US">
                <a:sym typeface="+mn-ea"/>
              </a:rPr>
              <a:t>研讨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070" y="4260850"/>
            <a:ext cx="2034540" cy="152654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491480" y="3724910"/>
            <a:ext cx="1705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太仓现场研讨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0" name="丁字箭头 29"/>
          <p:cNvSpPr/>
          <p:nvPr/>
        </p:nvSpPr>
        <p:spPr>
          <a:xfrm rot="10800000">
            <a:off x="2115820" y="3263265"/>
            <a:ext cx="8169910" cy="461645"/>
          </a:xfrm>
          <a:prstGeom prst="leftRightUpArrow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260850"/>
            <a:ext cx="2400935" cy="152146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778240" y="3993515"/>
            <a:ext cx="1519555" cy="202755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1875" y="1367790"/>
            <a:ext cx="1851660" cy="138874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5880" y="1367790"/>
            <a:ext cx="1765300" cy="13233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custom20230301_1*a*1"/>
  <p:tag name="KSO_WM_TEMPLATE_CATEGORY" val="custom"/>
  <p:tag name="KSO_WM_TEMPLATE_INDEX" val="2023030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  <p:tag name="KSO_WM_UNIT_TYPE_DROP" val="a"/>
</p:tagLst>
</file>

<file path=ppt/tags/tag117.xml><?xml version="1.0" encoding="utf-8"?>
<p:tagLst xmlns:p="http://schemas.openxmlformats.org/presentationml/2006/main">
  <p:tag name="KSO_DOCER_RESOURCE_TRACE_INFO" val="{&quot;id&quot;:&quot;331411545&quot;,&quot;origin&quot;:0,&quot;type&quot;:&quot;pictures&quot;,&quot;user&quot;:&quot;258825673&quot;}"/>
</p:tagLst>
</file>

<file path=ppt/tags/tag118.xml><?xml version="1.0" encoding="utf-8"?>
<p:tagLst xmlns:p="http://schemas.openxmlformats.org/presentationml/2006/main">
  <p:tag name="KSO_DOCER_RESOURCE_TRACE_INFO" val="{&quot;id&quot;:&quot;180330189&quot;,&quot;origin&quot;:0,&quot;type&quot;:&quot;pictures&quot;,&quot;user&quot;:&quot;258825673&quot;}"/>
</p:tagLst>
</file>

<file path=ppt/tags/tag119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0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1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2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3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4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5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6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7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8.xml><?xml version="1.0" encoding="utf-8"?>
<p:tagLst xmlns:p="http://schemas.openxmlformats.org/presentationml/2006/main">
  <p:tag name="KSO_WM_DIAGRAM_VIRTUALLY_FRAME" val="{&quot;height&quot;:254.95,&quot;left&quot;:18.15,&quot;top&quot;:99.2,&quot;width&quot;:640.5}"/>
</p:tagLst>
</file>

<file path=ppt/tags/tag129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0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1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2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ags/tag133.xml><?xml version="1.0" encoding="utf-8"?>
<p:tagLst xmlns:p="http://schemas.openxmlformats.org/presentationml/2006/main">
  <p:tag name="KSO_WM_DIAGRAM_VIRTUALLY_FRAME" val="{&quot;height&quot;:451.15,&quot;left&quot;:575.3,&quot;top&quot;:68.85,&quot;width&quot;:344.7}"/>
</p:tagLst>
</file>

<file path=ppt/theme/theme1.xml><?xml version="1.0" encoding="utf-8"?>
<a:theme xmlns:a="http://schemas.openxmlformats.org/drawingml/2006/main" name="2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">
    <a:dk1>
      <a:srgbClr val="00020A"/>
    </a:dk1>
    <a:lt1>
      <a:srgbClr val="FFFFFF"/>
    </a:lt1>
    <a:dk2>
      <a:srgbClr val="778495"/>
    </a:dk2>
    <a:lt2>
      <a:srgbClr val="F0F0F0"/>
    </a:lt2>
    <a:accent1>
      <a:srgbClr val="488CFF"/>
    </a:accent1>
    <a:accent2>
      <a:srgbClr val="4CE5FF"/>
    </a:accent2>
    <a:accent3>
      <a:srgbClr val="115FE4"/>
    </a:accent3>
    <a:accent4>
      <a:srgbClr val="E6D81B"/>
    </a:accent4>
    <a:accent5>
      <a:srgbClr val="F9AC2A"/>
    </a:accent5>
    <a:accent6>
      <a:srgbClr val="3595DC"/>
    </a:accent6>
    <a:hlink>
      <a:srgbClr val="F84D4D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2273</Words>
  <Application>WPS 演示</Application>
  <PresentationFormat>宽屏</PresentationFormat>
  <Paragraphs>310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Songti SC</vt:lpstr>
      <vt:lpstr>PingFang SC</vt:lpstr>
      <vt:lpstr>Noto Sans SC</vt:lpstr>
      <vt:lpstr>Wingdings</vt:lpstr>
      <vt:lpstr>Arial Unicode MS</vt:lpstr>
      <vt:lpstr>Calibri</vt:lpstr>
      <vt:lpstr>KSOF18A5E788</vt:lpstr>
      <vt:lpstr>Segoe Print</vt:lpstr>
      <vt:lpstr>KSOFF525798C</vt:lpstr>
      <vt:lpstr>2_Designed by iSlide</vt:lpstr>
      <vt:lpstr>1_Designed by iSlide</vt:lpstr>
      <vt:lpstr>3_Designed by iSlide</vt:lpstr>
      <vt:lpstr>4_Designed by iSlide</vt:lpstr>
      <vt:lpstr>5_Designed by iSlide</vt:lpstr>
      <vt:lpstr>1_默认主题</vt:lpstr>
      <vt:lpstr>2_默认主题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张仔洁</cp:lastModifiedBy>
  <cp:revision>186</cp:revision>
  <dcterms:created xsi:type="dcterms:W3CDTF">2019-06-19T02:08:00Z</dcterms:created>
  <dcterms:modified xsi:type="dcterms:W3CDTF">2026-10-09T08:18:42Z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DF4B74C62A964776A0CF8C2629FCB1DF_11</vt:lpwstr>
  </property>
</Properties>
</file>