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64" r:id="rId5"/>
    <p:sldMasterId id="2147483667" r:id="rId6"/>
    <p:sldMasterId id="2147483670" r:id="rId7"/>
    <p:sldMasterId id="2147483673" r:id="rId8"/>
    <p:sldMasterId id="2147483676" r:id="rId9"/>
    <p:sldMasterId id="2147483679" r:id="rId10"/>
    <p:sldMasterId id="2147483682" r:id="rId11"/>
    <p:sldMasterId id="2147483685" r:id="rId12"/>
    <p:sldMasterId id="2147483688" r:id="rId13"/>
    <p:sldMasterId id="2147483691" r:id="rId14"/>
    <p:sldMasterId id="2147483694" r:id="rId15"/>
  </p:sldMasterIdLst>
  <p:notesMasterIdLst>
    <p:notesMasterId r:id="rId17"/>
  </p:notesMasterIdLst>
  <p:sldIdLst>
    <p:sldId id="257" r:id="rId16"/>
    <p:sldId id="369" r:id="rId18"/>
    <p:sldId id="372" r:id="rId19"/>
    <p:sldId id="373" r:id="rId20"/>
    <p:sldId id="360" r:id="rId21"/>
    <p:sldId id="278" r:id="rId22"/>
    <p:sldId id="293" r:id="rId23"/>
    <p:sldId id="299" r:id="rId24"/>
    <p:sldId id="294" r:id="rId25"/>
    <p:sldId id="295" r:id="rId26"/>
    <p:sldId id="296" r:id="rId27"/>
    <p:sldId id="364" r:id="rId28"/>
    <p:sldId id="366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8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AEEF"/>
    <a:srgbClr val="1F2A3C"/>
    <a:srgbClr val="2563EB"/>
    <a:srgbClr val="1E293B"/>
    <a:srgbClr val="2B63EB"/>
    <a:srgbClr val="0A1A20"/>
    <a:srgbClr val="0D3040"/>
    <a:srgbClr val="09232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48"/>
        <p:guide pos="38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r">
              <a:spcBef>
                <a:spcPct val="0"/>
              </a:spcBef>
            </a:pPr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rot="2345218">
            <a:off x="-5935416" y="475085"/>
            <a:ext cx="12765829" cy="12765829"/>
            <a:chOff x="4199185" y="-3822489"/>
            <a:chExt cx="12765829" cy="12765829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8237022" y="215348"/>
              <a:ext cx="4690154" cy="4690154"/>
              <a:chOff x="8848553" y="1388720"/>
              <a:chExt cx="4690154" cy="4690154"/>
            </a:xfrm>
          </p:grpSpPr>
          <p:sp>
            <p:nvSpPr>
              <p:cNvPr id="9" name="椭圆 8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弧形 9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12847544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弧形 5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1885142"/>
                <a:gd name="adj2" fmla="val 18112891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1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弧形 6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885225"/>
                <a:gd name="adj2" fmla="val 7131830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12663326"/>
                <a:gd name="adj2" fmla="val 1898460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 rot="2345218">
            <a:off x="7333341" y="-4439559"/>
            <a:ext cx="9717317" cy="9717317"/>
            <a:chOff x="5723441" y="-2298233"/>
            <a:chExt cx="9717317" cy="9717317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8" name="椭圆 17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弧形 18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93598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弧形 19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11969093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弧形 20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997002"/>
                  <a:gd name="adj2" fmla="val 18351143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16" name="弧形 15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968596"/>
                <a:gd name="adj2" fmla="val 1813159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/>
            <a:r>
              <a:rPr lang="en-US" altLang="zh-CN" dirty="0"/>
              <a:t>Thank you</a:t>
            </a:r>
            <a:endParaRPr lang="en-US" altLang="zh-CN" dirty="0"/>
          </a:p>
        </p:txBody>
      </p:sp>
      <p:grpSp>
        <p:nvGrpSpPr>
          <p:cNvPr id="6" name="组合 5"/>
          <p:cNvGrpSpPr/>
          <p:nvPr userDrawn="1"/>
        </p:nvGrpSpPr>
        <p:grpSpPr>
          <a:xfrm rot="16200000" flipH="1">
            <a:off x="-4607805" y="-3135907"/>
            <a:ext cx="12765829" cy="12765829"/>
            <a:chOff x="4199185" y="-3822489"/>
            <a:chExt cx="12765829" cy="12765829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2" name="椭圆 11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弧形 12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14615283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弧形 13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5884870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弧形 14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003651"/>
                  <a:gd name="adj2" fmla="val 20655375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8" name="弧形 7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7964632"/>
                <a:gd name="adj2" fmla="val 20655375"/>
              </a:avLst>
            </a:prstGeom>
            <a:noFill/>
            <a:ln w="635000" cap="rnd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50000"/>
                    </a:schemeClr>
                  </a:gs>
                </a:gsLst>
                <a:lin ang="0" scaled="0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003651"/>
                <a:gd name="adj2" fmla="val 17440526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0" name="弧形 9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2152946"/>
                <a:gd name="adj2" fmla="val 6967338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tags" Target="../tags/tag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image" Target="../media/image1.png"/><Relationship Id="rId4" Type="http://schemas.openxmlformats.org/officeDocument/2006/relationships/tags" Target="../tags/tag5.xml"/><Relationship Id="rId37" Type="http://schemas.openxmlformats.org/officeDocument/2006/relationships/notesSlide" Target="../notesSlides/notesSlide12.xml"/><Relationship Id="rId36" Type="http://schemas.openxmlformats.org/officeDocument/2006/relationships/slideLayout" Target="../slideLayouts/slideLayout26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image" Target="../media/image19.svg"/><Relationship Id="rId3" Type="http://schemas.openxmlformats.org/officeDocument/2006/relationships/tags" Target="../tags/tag4.xml"/><Relationship Id="rId29" Type="http://schemas.openxmlformats.org/officeDocument/2006/relationships/image" Target="../media/image18.png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image" Target="../media/image17.svg"/><Relationship Id="rId22" Type="http://schemas.openxmlformats.org/officeDocument/2006/relationships/image" Target="../media/image16.png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3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image" Target="../media/image15.svg"/><Relationship Id="rId15" Type="http://schemas.openxmlformats.org/officeDocument/2006/relationships/image" Target="../media/image14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5070313" y="746125"/>
            <a:ext cx="8856429" cy="6642322"/>
          </a:xfrm>
          <a:prstGeom prst="rect">
            <a:avLst/>
          </a:prstGeom>
          <a:noFill/>
        </p:spPr>
      </p:pic>
      <p:sp>
        <p:nvSpPr>
          <p:cNvPr id="2" name="AutoShape 2"/>
          <p:cNvSpPr/>
          <p:nvPr/>
        </p:nvSpPr>
        <p:spPr>
          <a:xfrm>
            <a:off x="11087100" y="4127500"/>
            <a:ext cx="4064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 sz="1400"/>
          </a:p>
        </p:txBody>
      </p:sp>
      <p:sp>
        <p:nvSpPr>
          <p:cNvPr id="3" name="AutoShape 3"/>
          <p:cNvSpPr/>
          <p:nvPr/>
        </p:nvSpPr>
        <p:spPr>
          <a:xfrm>
            <a:off x="558800" y="2489200"/>
            <a:ext cx="7112000" cy="4191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26682"/>
          <a:stretch>
            <a:fillRect/>
          </a:stretch>
        </p:blipFill>
        <p:spPr>
          <a:xfrm rot="10800000" flipV="1">
            <a:off x="0" y="2984500"/>
            <a:ext cx="9410700" cy="387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7700" y="4117340"/>
            <a:ext cx="773811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让工业更智能，让客户更成功</a:t>
            </a:r>
            <a:r>
              <a:rPr lang="en-US" sz="1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28320" y="2373630"/>
            <a:ext cx="6454140" cy="13525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32000"/>
              </a:lnSpc>
              <a:defRPr/>
            </a:pPr>
            <a:r>
              <a:rPr lang="zh-CN" altLang="en-US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中粮生物科技太仓</a:t>
            </a:r>
            <a:endParaRPr lang="zh-CN" altLang="en-US"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defRPr/>
            </a:pPr>
            <a:r>
              <a:rPr lang="zh-CN" altLang="en-US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新建55万吨/年淀粉糖项目</a:t>
            </a:r>
            <a:endParaRPr lang="zh-CN" altLang="en-US"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defRPr/>
            </a:pPr>
            <a:r>
              <a:rPr lang="en-US" altLang="zh-CN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全流程智能化系统蓝图</a:t>
            </a:r>
            <a:r>
              <a:rPr lang="zh-CN" altLang="en-US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</a:t>
            </a:r>
            <a:endParaRPr lang="zh-CN" altLang="en-US" sz="3200" b="1">
              <a:solidFill>
                <a:srgbClr val="FFFF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495" y="5939155"/>
            <a:ext cx="4140200" cy="67691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3300095" y="5321935"/>
            <a:ext cx="3891280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kumimoji="1" lang="zh-CN" altLang="en-US" sz="20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汇报人：张仔</a:t>
            </a:r>
            <a:r>
              <a:rPr kumimoji="1" lang="zh-CN" altLang="en-US" sz="20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洁</a:t>
            </a:r>
            <a:endParaRPr kumimoji="1" lang="zh-CN" altLang="en-US" sz="2000" b="1" dirty="0" smtClea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、供应链优化建设功能场景（四个都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讲）</a:t>
            </a:r>
            <a:endParaRPr lang="zh-CN" altLang="en-US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02865" y="2059940"/>
            <a:ext cx="5113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第一页：介绍精益排程、安全库存优化、采购决策优化、统计与成本分析核算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、供应链优化功能带来的变化（基于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12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13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页）</a:t>
            </a:r>
            <a:endParaRPr lang="zh-CN" altLang="en-US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29155" y="2152650"/>
            <a:ext cx="4115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第二页：</a:t>
            </a:r>
            <a:r>
              <a:rPr lang="en-US" altLang="zh-CN">
                <a:solidFill>
                  <a:schemeClr val="bg1"/>
                </a:solidFill>
              </a:rPr>
              <a:t>SCOS</a:t>
            </a:r>
            <a:r>
              <a:rPr lang="zh-CN" altLang="en-US">
                <a:solidFill>
                  <a:schemeClr val="bg1"/>
                </a:solidFill>
              </a:rPr>
              <a:t>功能带来的变化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、供应链优化价值总结（价值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提升、量化指标、精益生产的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回归）</a:t>
            </a:r>
            <a:endParaRPr lang="zh-CN" altLang="en-US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0000" y="3312795"/>
            <a:ext cx="4737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量化</a:t>
            </a:r>
            <a:r>
              <a:rPr lang="zh-CN" altLang="en-US">
                <a:solidFill>
                  <a:schemeClr val="bg1"/>
                </a:solidFill>
              </a:rPr>
              <a:t>指标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生产经营调度会议组织次数/月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经营风险可提前识别场景数量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系统自动给经营方案的业务场景数量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支持决策的情景模拟推演场景数量（原料价格上升、短缺、库存挤压等）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情景模拟推演结果用于实际经营决策采纳率 (%)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94940" y="1288415"/>
            <a:ext cx="6481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第三页：价值总结（价值提升、量化指标、精益生产的回归）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543665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淀粉糖生产运营业务现状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VS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未来蓝图</a:t>
            </a: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</a:t>
            </a:r>
            <a:r>
              <a:rPr lang="en-US" sz="24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经营管理智能辅助决策升级</a:t>
            </a:r>
            <a:endParaRPr lang="en-US" sz="2400"/>
          </a:p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en-US" altLang="zh-CN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AutoShape 17"/>
          <p:cNvSpPr/>
          <p:nvPr/>
        </p:nvSpPr>
        <p:spPr>
          <a:xfrm>
            <a:off x="30480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500" y="1651000"/>
            <a:ext cx="304800" cy="304800"/>
          </a:xfrm>
          <a:prstGeom prst="rect">
            <a:avLst/>
          </a:prstGeom>
        </p:spPr>
      </p:pic>
      <p:sp>
        <p:nvSpPr>
          <p:cNvPr id="22" name="AutoShape 19"/>
          <p:cNvSpPr/>
          <p:nvPr/>
        </p:nvSpPr>
        <p:spPr>
          <a:xfrm>
            <a:off x="3619500" y="1625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endParaRPr lang="en-US" sz="1100"/>
          </a:p>
        </p:txBody>
      </p:sp>
      <p:cxnSp>
        <p:nvCxnSpPr>
          <p:cNvPr id="23" name="Connector 20"/>
          <p:cNvCxnSpPr/>
          <p:nvPr/>
        </p:nvCxnSpPr>
        <p:spPr>
          <a:xfrm rot="-17539">
            <a:off x="3238516" y="2152650"/>
            <a:ext cx="248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1"/>
          <p:cNvSpPr/>
          <p:nvPr/>
        </p:nvSpPr>
        <p:spPr>
          <a:xfrm>
            <a:off x="3195955" y="2433320"/>
            <a:ext cx="2616200" cy="2993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⽆智能辅助决策系统，当前采⽤“周期性回顾+经验驱动”的经营决策模式：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1.决策时效：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经营分析主要依赖⽉度或周度会议，数据汇总存在⼀定的周期，侧重于对过去⼀段时间业绩的事后复盘。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2.分析深度：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⽬前主要通过报表展示历史统计数据，尚未引⼊多维度的模拟仿真⼯具（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What-if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分析），难以在决策前对不同策略（如排产调整、原料波动）的影响进⾏量化预演。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4"/>
          <p:cNvSpPr/>
          <p:nvPr/>
        </p:nvSpPr>
        <p:spPr>
          <a:xfrm>
            <a:off x="60452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5700" y="1651000"/>
            <a:ext cx="304800" cy="304800"/>
          </a:xfrm>
          <a:prstGeom prst="rect">
            <a:avLst/>
          </a:prstGeom>
        </p:spPr>
      </p:pic>
      <p:sp>
        <p:nvSpPr>
          <p:cNvPr id="29" name="AutoShape 26"/>
          <p:cNvSpPr/>
          <p:nvPr/>
        </p:nvSpPr>
        <p:spPr>
          <a:xfrm>
            <a:off x="6616700" y="1625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</a:t>
            </a:r>
            <a:endParaRPr lang="en-US" sz="1100"/>
          </a:p>
        </p:txBody>
      </p:sp>
      <p:cxnSp>
        <p:nvCxnSpPr>
          <p:cNvPr id="30" name="Connector 27"/>
          <p:cNvCxnSpPr/>
          <p:nvPr/>
        </p:nvCxnSpPr>
        <p:spPr>
          <a:xfrm rot="-17539">
            <a:off x="6235716" y="2152650"/>
            <a:ext cx="248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1"/>
          <p:cNvSpPr/>
          <p:nvPr/>
        </p:nvSpPr>
        <p:spPr>
          <a:xfrm>
            <a:off x="9042400" y="1397000"/>
            <a:ext cx="2870200" cy="4826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5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32900" y="1651000"/>
            <a:ext cx="304800" cy="304800"/>
          </a:xfrm>
          <a:prstGeom prst="rect">
            <a:avLst/>
          </a:prstGeom>
        </p:spPr>
      </p:pic>
      <p:sp>
        <p:nvSpPr>
          <p:cNvPr id="36" name="AutoShape 33"/>
          <p:cNvSpPr/>
          <p:nvPr/>
        </p:nvSpPr>
        <p:spPr>
          <a:xfrm>
            <a:off x="9613900" y="1625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关键跃升</a:t>
            </a:r>
            <a:endParaRPr lang="en-US" sz="1100"/>
          </a:p>
        </p:txBody>
      </p:sp>
      <p:cxnSp>
        <p:nvCxnSpPr>
          <p:cNvPr id="37" name="Connector 34"/>
          <p:cNvCxnSpPr/>
          <p:nvPr/>
        </p:nvCxnSpPr>
        <p:spPr>
          <a:xfrm rot="-17539">
            <a:off x="9232916" y="2152650"/>
            <a:ext cx="248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9731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2"/>
          <p:cNvSpPr/>
          <p:nvPr/>
        </p:nvSpPr>
        <p:spPr>
          <a:xfrm>
            <a:off x="20955" y="914400"/>
            <a:ext cx="3012440" cy="587121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4" name="AutoShape 3"/>
          <p:cNvSpPr/>
          <p:nvPr/>
        </p:nvSpPr>
        <p:spPr>
          <a:xfrm>
            <a:off x="1578610" y="5818505"/>
            <a:ext cx="1375410" cy="447675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 </a:t>
            </a:r>
            <a:r>
              <a:rPr lang="en-US" sz="12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经营管理智能辅助决策</a:t>
            </a:r>
            <a:endParaRPr lang="en-US" sz="1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5" name="AutoShape 4"/>
          <p:cNvSpPr/>
          <p:nvPr/>
        </p:nvSpPr>
        <p:spPr>
          <a:xfrm>
            <a:off x="1587500" y="19367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质量追溯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6" name="AutoShape 5"/>
          <p:cNvSpPr/>
          <p:nvPr/>
        </p:nvSpPr>
        <p:spPr>
          <a:xfrm>
            <a:off x="1587500" y="24911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成本追溯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7" name="AutoShape 6"/>
          <p:cNvSpPr/>
          <p:nvPr/>
        </p:nvSpPr>
        <p:spPr>
          <a:xfrm>
            <a:off x="1587500" y="304546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设备运维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8" name="AutoShape 7"/>
          <p:cNvSpPr/>
          <p:nvPr/>
        </p:nvSpPr>
        <p:spPr>
          <a:xfrm>
            <a:off x="1587500" y="36004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能碳管理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9" name="AutoShape 8"/>
          <p:cNvSpPr/>
          <p:nvPr/>
        </p:nvSpPr>
        <p:spPr>
          <a:xfrm>
            <a:off x="1587500" y="415544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横向使能：数据与集成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0" name="AutoShape 9"/>
          <p:cNvSpPr/>
          <p:nvPr/>
        </p:nvSpPr>
        <p:spPr>
          <a:xfrm>
            <a:off x="1587500" y="47097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zh-CN" altLang="en-US" sz="120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 横向使能：⾃动化分层</a:t>
            </a:r>
            <a:endParaRPr lang="zh-CN" altLang="en-US" sz="120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3" name="AutoShape 3"/>
          <p:cNvSpPr/>
          <p:nvPr/>
        </p:nvSpPr>
        <p:spPr>
          <a:xfrm>
            <a:off x="109220" y="13823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订单接收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4" name="AutoShape 4"/>
          <p:cNvSpPr/>
          <p:nvPr/>
        </p:nvSpPr>
        <p:spPr>
          <a:xfrm>
            <a:off x="109220" y="19367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原料采购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5"/>
          <p:cNvSpPr/>
          <p:nvPr/>
        </p:nvSpPr>
        <p:spPr>
          <a:xfrm>
            <a:off x="109220" y="24911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20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计划排产</a:t>
            </a:r>
            <a:endParaRPr lang="zh-CN" altLang="en-US" sz="120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6" name="AutoShape 6"/>
          <p:cNvSpPr/>
          <p:nvPr/>
        </p:nvSpPr>
        <p:spPr>
          <a:xfrm>
            <a:off x="109220" y="304546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调度执⾏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7" name="AutoShape 7"/>
          <p:cNvSpPr/>
          <p:nvPr/>
        </p:nvSpPr>
        <p:spPr>
          <a:xfrm>
            <a:off x="109220" y="36004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原料转运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109220" y="415544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⽣产作业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9" name="AutoShape 9"/>
          <p:cNvSpPr/>
          <p:nvPr/>
        </p:nvSpPr>
        <p:spPr>
          <a:xfrm>
            <a:off x="109220" y="471043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zh-CN" altLang="en-US" sz="120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过程暂存(中间品)</a:t>
            </a:r>
            <a:endParaRPr lang="zh-CN" altLang="en-US" sz="120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0" name="AutoShape 10"/>
          <p:cNvSpPr/>
          <p:nvPr/>
        </p:nvSpPr>
        <p:spPr>
          <a:xfrm>
            <a:off x="109220" y="52641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质量检测分析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1" name="AutoShape 11"/>
          <p:cNvSpPr/>
          <p:nvPr/>
        </p:nvSpPr>
        <p:spPr>
          <a:xfrm>
            <a:off x="109220" y="581850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异常管理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3" name="AutoShape 11"/>
          <p:cNvSpPr/>
          <p:nvPr/>
        </p:nvSpPr>
        <p:spPr>
          <a:xfrm>
            <a:off x="114300" y="637222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成品⼊库仓储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27380" y="94869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60000"/>
                    <a:lumOff val="40000"/>
                  </a:schemeClr>
                </a:solidFill>
              </a:rPr>
              <a:t>对比分析维度</a:t>
            </a:r>
            <a:endParaRPr lang="zh-CN" altLang="en-US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utoShape 21"/>
          <p:cNvSpPr/>
          <p:nvPr/>
        </p:nvSpPr>
        <p:spPr>
          <a:xfrm>
            <a:off x="6172200" y="2670810"/>
            <a:ext cx="2616200" cy="2993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1.管理驾驶舱：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汇聚CRM、SAP、SCOS、MES、WMS、QMS/LIMS、WMS、TMS、EMS、EAM、PHM、TMS等数据，展示订单履约、产量、库存、质量、能耗、设备和成本指标。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2.智能辅助决策与全局寻优：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数据与模型，在排产、采购、订单交付、经济效益分析、库存安全、物流优化、安全管理等场景，系统⾃动输出“异常根因—未来趋势—调整预案”。管理者从“⼈找数据做决策”升级为“AI推送决策⼈确认”，实现全局多⽬标寻优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zh-CN" alt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3.模拟推演：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⽀持原料价格波动、产能负荷、能源价格、库存策略、异常停机等场景的“What-if”测算，为排产采购、销售和经营决策提供依据。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21"/>
          <p:cNvSpPr/>
          <p:nvPr/>
        </p:nvSpPr>
        <p:spPr>
          <a:xfrm>
            <a:off x="9168765" y="2433320"/>
            <a:ext cx="2616200" cy="2993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从事后统计与经验粗放管理向事前预演与模型精益智控转变；实现跨⼯序、跨部⻔的分钟级决策响应，推动企业从“被动处置”向“主动预判、系统调控”跨越。</a:t>
            </a:r>
            <a:endParaRPr lang="zh-CN" alt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3"/>
          <p:cNvSpPr/>
          <p:nvPr/>
        </p:nvSpPr>
        <p:spPr>
          <a:xfrm>
            <a:off x="1587500" y="1382395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</a:t>
            </a:r>
            <a:r>
              <a:rPr lang="zh-CN" altLang="en-US" sz="120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发货交付与成品出⼚</a:t>
            </a:r>
            <a:endParaRPr lang="zh-CN" altLang="en-US" sz="120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1" name="AutoShape 10"/>
          <p:cNvSpPr/>
          <p:nvPr/>
        </p:nvSpPr>
        <p:spPr>
          <a:xfrm>
            <a:off x="1587500" y="5264150"/>
            <a:ext cx="1375410" cy="447675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 </a:t>
            </a:r>
            <a:r>
              <a:rPr lang="en-US" altLang="zh-CN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赋能经营管理与实时⼯艺控制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、智能运营管理平台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总体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架构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5"/>
          <p:cNvSpPr/>
          <p:nvPr/>
        </p:nvSpPr>
        <p:spPr>
          <a:xfrm>
            <a:off x="1016000" y="14732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rgbClr val="17556C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6"/>
          <p:cNvSpPr/>
          <p:nvPr/>
        </p:nvSpPr>
        <p:spPr>
          <a:xfrm>
            <a:off x="1066800" y="17018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经营管理层</a:t>
            </a:r>
            <a:endParaRPr lang="zh-CN" altLang="en-US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7"/>
          <p:cNvSpPr/>
          <p:nvPr/>
        </p:nvSpPr>
        <p:spPr>
          <a:xfrm>
            <a:off x="2667000" y="1473200"/>
            <a:ext cx="89154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24" name="AutoShape 8"/>
          <p:cNvSpPr/>
          <p:nvPr/>
        </p:nvSpPr>
        <p:spPr>
          <a:xfrm>
            <a:off x="4953000" y="17018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SCOS</a:t>
            </a:r>
            <a:r>
              <a:rPr lang="zh-CN" alt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驾驶舱</a:t>
            </a:r>
            <a:endParaRPr lang="zh-CN" alt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11"/>
          <p:cNvCxnSpPr/>
          <p:nvPr/>
        </p:nvCxnSpPr>
        <p:spPr>
          <a:xfrm rot="5114181">
            <a:off x="5956300" y="2356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8" name="AutoShape 12"/>
          <p:cNvSpPr/>
          <p:nvPr/>
        </p:nvSpPr>
        <p:spPr>
          <a:xfrm>
            <a:off x="1016000" y="24384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rgbClr val="17556C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29" name="AutoShape 13"/>
          <p:cNvSpPr/>
          <p:nvPr/>
        </p:nvSpPr>
        <p:spPr>
          <a:xfrm>
            <a:off x="1066800" y="2616200"/>
            <a:ext cx="1295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</a:t>
            </a: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14"/>
          <p:cNvSpPr/>
          <p:nvPr/>
        </p:nvSpPr>
        <p:spPr>
          <a:xfrm>
            <a:off x="2667000" y="2438400"/>
            <a:ext cx="14097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31" name="AutoShape 15"/>
          <p:cNvSpPr/>
          <p:nvPr/>
        </p:nvSpPr>
        <p:spPr>
          <a:xfrm>
            <a:off x="2692400" y="2616200"/>
            <a:ext cx="1358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精益生产排程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6"/>
          <p:cNvSpPr/>
          <p:nvPr/>
        </p:nvSpPr>
        <p:spPr>
          <a:xfrm>
            <a:off x="4140200" y="2438400"/>
            <a:ext cx="14097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33" name="AutoShape 17"/>
          <p:cNvSpPr/>
          <p:nvPr/>
        </p:nvSpPr>
        <p:spPr>
          <a:xfrm>
            <a:off x="4165600" y="2616200"/>
            <a:ext cx="13589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安全库存优化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18"/>
          <p:cNvSpPr/>
          <p:nvPr/>
        </p:nvSpPr>
        <p:spPr>
          <a:xfrm>
            <a:off x="5715635" y="2438400"/>
            <a:ext cx="29203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35" name="AutoShape 19"/>
          <p:cNvSpPr/>
          <p:nvPr/>
        </p:nvSpPr>
        <p:spPr>
          <a:xfrm>
            <a:off x="5715635" y="2616200"/>
            <a:ext cx="281876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采购优化管理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20"/>
          <p:cNvSpPr/>
          <p:nvPr/>
        </p:nvSpPr>
        <p:spPr>
          <a:xfrm>
            <a:off x="8763000" y="2439035"/>
            <a:ext cx="28187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37" name="AutoShape 21"/>
          <p:cNvSpPr/>
          <p:nvPr/>
        </p:nvSpPr>
        <p:spPr>
          <a:xfrm>
            <a:off x="8997950" y="2616835"/>
            <a:ext cx="255905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统计与成本核算分析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2" name="Connector 26"/>
          <p:cNvCxnSpPr/>
          <p:nvPr/>
        </p:nvCxnSpPr>
        <p:spPr>
          <a:xfrm rot="5114181">
            <a:off x="5956300" y="3321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43" name="AutoShape 27"/>
          <p:cNvSpPr/>
          <p:nvPr/>
        </p:nvSpPr>
        <p:spPr>
          <a:xfrm>
            <a:off x="1016000" y="34036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rgbClr val="17556C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44" name="AutoShape 28"/>
          <p:cNvSpPr/>
          <p:nvPr/>
        </p:nvSpPr>
        <p:spPr>
          <a:xfrm>
            <a:off x="1066800" y="3581400"/>
            <a:ext cx="1295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优化决策层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29"/>
          <p:cNvSpPr/>
          <p:nvPr/>
        </p:nvSpPr>
        <p:spPr>
          <a:xfrm>
            <a:off x="2667000" y="3403600"/>
            <a:ext cx="2921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46" name="AutoShape 30"/>
          <p:cNvSpPr/>
          <p:nvPr/>
        </p:nvSpPr>
        <p:spPr>
          <a:xfrm>
            <a:off x="2768600" y="3581400"/>
            <a:ext cx="2717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优化引擎 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31"/>
          <p:cNvSpPr/>
          <p:nvPr/>
        </p:nvSpPr>
        <p:spPr>
          <a:xfrm>
            <a:off x="5715000" y="3403600"/>
            <a:ext cx="2921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48" name="AutoShape 32"/>
          <p:cNvSpPr/>
          <p:nvPr/>
        </p:nvSpPr>
        <p:spPr>
          <a:xfrm>
            <a:off x="5816600" y="3581400"/>
            <a:ext cx="2717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需求预测模型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33"/>
          <p:cNvSpPr/>
          <p:nvPr/>
        </p:nvSpPr>
        <p:spPr>
          <a:xfrm>
            <a:off x="8763000" y="3403600"/>
            <a:ext cx="28187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50" name="AutoShape 34"/>
          <p:cNvSpPr/>
          <p:nvPr/>
        </p:nvSpPr>
        <p:spPr>
          <a:xfrm>
            <a:off x="8864600" y="3581400"/>
            <a:ext cx="2717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规则引擎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1" name="Connector 35"/>
          <p:cNvCxnSpPr/>
          <p:nvPr/>
        </p:nvCxnSpPr>
        <p:spPr>
          <a:xfrm rot="5114181">
            <a:off x="5956300" y="4286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2" name="AutoShape 36"/>
          <p:cNvSpPr/>
          <p:nvPr/>
        </p:nvSpPr>
        <p:spPr>
          <a:xfrm>
            <a:off x="1016000" y="43688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rgbClr val="17556C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53" name="AutoShape 37"/>
          <p:cNvSpPr/>
          <p:nvPr/>
        </p:nvSpPr>
        <p:spPr>
          <a:xfrm>
            <a:off x="1066800" y="4546600"/>
            <a:ext cx="1295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4" name="AutoShape 38"/>
          <p:cNvSpPr/>
          <p:nvPr/>
        </p:nvSpPr>
        <p:spPr>
          <a:xfrm>
            <a:off x="2667000" y="4368800"/>
            <a:ext cx="888936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55" name="AutoShape 39"/>
          <p:cNvSpPr/>
          <p:nvPr/>
        </p:nvSpPr>
        <p:spPr>
          <a:xfrm>
            <a:off x="2768600" y="4546600"/>
            <a:ext cx="871029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数据中台：主数据　·　业务数据　·　数据仓库</a:t>
            </a:r>
            <a:endParaRPr lang="en-US" sz="13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6" name="Connector 40"/>
          <p:cNvCxnSpPr/>
          <p:nvPr/>
        </p:nvCxnSpPr>
        <p:spPr>
          <a:xfrm rot="5114181">
            <a:off x="5956300" y="5251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7" name="AutoShape 41"/>
          <p:cNvSpPr/>
          <p:nvPr/>
        </p:nvSpPr>
        <p:spPr>
          <a:xfrm>
            <a:off x="1016000" y="5334000"/>
            <a:ext cx="13970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rgbClr val="17556C"/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58" name="AutoShape 42"/>
          <p:cNvSpPr/>
          <p:nvPr/>
        </p:nvSpPr>
        <p:spPr>
          <a:xfrm>
            <a:off x="1066800" y="5511800"/>
            <a:ext cx="1295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集成层</a:t>
            </a:r>
            <a:endParaRPr lang="zh-CN" altLang="en-US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9" name="AutoShape 43"/>
          <p:cNvSpPr/>
          <p:nvPr/>
        </p:nvSpPr>
        <p:spPr>
          <a:xfrm>
            <a:off x="26670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60" name="AutoShape 44"/>
          <p:cNvSpPr/>
          <p:nvPr/>
        </p:nvSpPr>
        <p:spPr>
          <a:xfrm>
            <a:off x="2692400" y="55118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1" name="AutoShape 45"/>
          <p:cNvSpPr/>
          <p:nvPr/>
        </p:nvSpPr>
        <p:spPr>
          <a:xfrm>
            <a:off x="44323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62" name="AutoShape 46"/>
          <p:cNvSpPr/>
          <p:nvPr/>
        </p:nvSpPr>
        <p:spPr>
          <a:xfrm>
            <a:off x="4457700" y="55118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3" name="AutoShape 47"/>
          <p:cNvSpPr/>
          <p:nvPr/>
        </p:nvSpPr>
        <p:spPr>
          <a:xfrm>
            <a:off x="61976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64" name="AutoShape 48"/>
          <p:cNvSpPr/>
          <p:nvPr/>
        </p:nvSpPr>
        <p:spPr>
          <a:xfrm>
            <a:off x="6223000" y="55118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WMS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5" name="AutoShape 49"/>
          <p:cNvSpPr/>
          <p:nvPr/>
        </p:nvSpPr>
        <p:spPr>
          <a:xfrm>
            <a:off x="7962900" y="5334000"/>
            <a:ext cx="1701800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66" name="AutoShape 50"/>
          <p:cNvSpPr/>
          <p:nvPr/>
        </p:nvSpPr>
        <p:spPr>
          <a:xfrm>
            <a:off x="7988300" y="55118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TMS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7" name="AutoShape 51"/>
          <p:cNvSpPr/>
          <p:nvPr/>
        </p:nvSpPr>
        <p:spPr>
          <a:xfrm>
            <a:off x="9728200" y="5334000"/>
            <a:ext cx="1854835" cy="812800"/>
          </a:xfrm>
          <a:prstGeom prst="roundRect">
            <a:avLst>
              <a:gd name="adj" fmla="val 0"/>
            </a:avLst>
          </a:prstGeom>
          <a:solidFill>
            <a:srgbClr val="102832"/>
          </a:solidFill>
          <a:ln w="28575" cap="flat" cmpd="sng">
            <a:solidFill>
              <a:schemeClr val="accent5"/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>
            <a:noAutofit/>
          </a:bodyPr>
          <a:lstStyle/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68" name="AutoShape 52"/>
          <p:cNvSpPr/>
          <p:nvPr/>
        </p:nvSpPr>
        <p:spPr>
          <a:xfrm>
            <a:off x="9753600" y="5511800"/>
            <a:ext cx="182943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lvl="0"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CRM</a:t>
            </a:r>
            <a:r>
              <a:rPr lang="en-US" sz="13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等其他系统</a:t>
            </a:r>
            <a:endParaRPr lang="en-US" sz="13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模型算法驱动生产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精益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排程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多约束汇聚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204787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6115" y="2095500"/>
            <a:ext cx="1524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订单与需求预测</a:t>
            </a:r>
            <a:endParaRPr lang="zh-CN" alt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" y="24098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优先级/交期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2209800" y="22383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666750" y="28289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2876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BOM/</a:t>
            </a:r>
            <a:r>
              <a:rPr lang="zh-CN" alt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工艺路线</a:t>
            </a:r>
            <a:endParaRPr lang="zh-CN" alt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1835" y="3190875"/>
            <a:ext cx="13550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产品结构和生产步骤</a:t>
            </a:r>
            <a:endParaRPr lang="zh-CN" altLang="en-US"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2209800" y="301942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666750" y="3609975"/>
            <a:ext cx="1524000" cy="876935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FFB34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62000" y="36766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90575" y="409384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设备、模具、人力等关键资源的当前可用性与产能</a:t>
            </a:r>
            <a:endParaRPr lang="zh-CN" altLang="en-US"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右箭头 36"/>
          <p:cNvSpPr>
            <a:spLocks noGrp="1"/>
          </p:cNvSpPr>
          <p:nvPr/>
        </p:nvSpPr>
        <p:spPr>
          <a:xfrm>
            <a:off x="2209800" y="38004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66750" y="4675505"/>
            <a:ext cx="1524000" cy="860425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62000" y="474218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库存与采购在途信息</a:t>
            </a:r>
            <a:endParaRPr lang="zh-CN" alt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90575" y="522033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当前可用物料及预计到货的采购订单</a:t>
            </a:r>
            <a:endParaRPr lang="zh-CN" altLang="en-US"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右箭头 44"/>
          <p:cNvSpPr>
            <a:spLocks noGrp="1"/>
          </p:cNvSpPr>
          <p:nvPr/>
        </p:nvSpPr>
        <p:spPr>
          <a:xfrm>
            <a:off x="2209800" y="486600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6" name="六边形 45"/>
          <p:cNvSpPr>
            <a:spLocks noGrp="1"/>
          </p:cNvSpPr>
          <p:nvPr/>
        </p:nvSpPr>
        <p:spPr>
          <a:xfrm>
            <a:off x="3048000" y="2333625"/>
            <a:ext cx="2381250" cy="2381250"/>
          </a:xfrm>
          <a:prstGeom prst="hexagon">
            <a:avLst/>
          </a:prstGeom>
          <a:solidFill>
            <a:srgbClr val="082B39"/>
          </a:solidFill>
          <a:ln w="28575">
            <a:solidFill>
              <a:srgbClr val="23D4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381375" y="27813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约束排程引擎</a:t>
            </a:r>
            <a:endParaRPr sz="18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29000" y="3286125"/>
            <a:ext cx="1619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产能负荷平衡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瓶颈/冲突识别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右箭头 48"/>
          <p:cNvSpPr>
            <a:spLocks noGrp="1"/>
          </p:cNvSpPr>
          <p:nvPr/>
        </p:nvSpPr>
        <p:spPr>
          <a:xfrm>
            <a:off x="5619750" y="3352800"/>
            <a:ext cx="523875" cy="2286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381750" y="1619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计划执行泳道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381750" y="1895475"/>
            <a:ext cx="2095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381750" y="20478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00AEE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34150" y="2124075"/>
            <a:ext cx="1085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0AE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00AE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详细的生产作业计划</a:t>
            </a:r>
            <a:endParaRPr lang="zh-CN" altLang="en-US" sz="1275" b="1">
              <a:solidFill>
                <a:srgbClr val="00AE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620000" y="21240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明确各工序、设备、班次的具体任务与时间</a:t>
            </a:r>
            <a:endParaRPr lang="zh-CN" altLang="en-US"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381750" y="27908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534150" y="28670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3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23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可承诺量（</a:t>
            </a:r>
            <a:r>
              <a:rPr lang="en-US" altLang="zh-CN" sz="1275" b="1">
                <a:solidFill>
                  <a:srgbClr val="23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ATP）</a:t>
            </a:r>
            <a:endParaRPr lang="en-US" altLang="zh-CN" sz="1275" b="1">
              <a:solidFill>
                <a:srgbClr val="23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20000" y="2867025"/>
            <a:ext cx="3695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向销售端提供可靠的、基于实际产能和物料的交付日期</a:t>
            </a:r>
            <a:endParaRPr lang="zh-CN" altLang="en-US"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6381750" y="35337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534150" y="360997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D3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53D3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计划模拟与预警</a:t>
            </a:r>
            <a:endParaRPr lang="zh-CN" altLang="en-US" sz="1275" b="1">
              <a:solidFill>
                <a:srgbClr val="53D3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620000" y="3609975"/>
            <a:ext cx="353123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模拟不同策略下的产出和交付结果，并对潜在的交期风险进行预警</a:t>
            </a:r>
            <a:endParaRPr lang="zh-CN" altLang="en-US"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6381750" y="42767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FFB348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534150" y="43529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B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B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</a:t>
            </a:r>
            <a:r>
              <a:rPr lang="zh-CN" sz="1275" b="1">
                <a:solidFill>
                  <a:srgbClr val="FFB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状况自行</a:t>
            </a:r>
            <a:r>
              <a:rPr sz="1275" b="1">
                <a:solidFill>
                  <a:srgbClr val="FFB3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</a:t>
            </a:r>
            <a:endParaRPr sz="1275" b="1">
              <a:solidFill>
                <a:srgbClr val="FFB3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620000" y="43529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需求波动、资源瓶颈、原</a:t>
            </a:r>
            <a:r>
              <a:rPr lang="zh-CN" altLang="en-US"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辅料到货准时性与质量</a:t>
            </a:r>
            <a:endParaRPr lang="zh-CN" altLang="en-US"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左箭头 63"/>
          <p:cNvSpPr>
            <a:spLocks noGrp="1"/>
          </p:cNvSpPr>
          <p:nvPr/>
        </p:nvSpPr>
        <p:spPr>
          <a:xfrm>
            <a:off x="3429000" y="5381625"/>
            <a:ext cx="733425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762500" y="53435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2428875" y="5857875"/>
            <a:ext cx="7524750" cy="495300"/>
          </a:xfrm>
          <a:prstGeom prst="roundRect">
            <a:avLst>
              <a:gd name="adj" fmla="val 15385"/>
            </a:avLst>
          </a:prstGeom>
          <a:solidFill>
            <a:srgbClr val="0B222D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2571750" y="591502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3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3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协同价值</a:t>
            </a:r>
            <a:endParaRPr sz="1350" b="1">
              <a:solidFill>
                <a:srgbClr val="23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2571750" y="6200775"/>
            <a:ext cx="72390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安全库存水位智能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业务输入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模型与规则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方案输出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确认与执行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预计库存水位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缺货/容量风险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02832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生产排程承接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生产入库执行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右箭头 5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1" name="右箭头 6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62" name="右箭头 6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00AEE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动态库存策略</a:t>
            </a:r>
            <a:endParaRPr sz="18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(R,s,S) 参数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逐日库存推演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下箭头 65"/>
          <p:cNvSpPr>
            <a:spLocks noGrp="1"/>
          </p:cNvSpPr>
          <p:nvPr/>
        </p:nvSpPr>
        <p:spPr>
          <a:xfrm>
            <a:off x="10862945" y="5067300"/>
            <a:ext cx="323850" cy="523875"/>
          </a:xfrm>
          <a:prstGeom prst="down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67" name="左箭头 6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8" name="上箭头 67"/>
          <p:cNvSpPr>
            <a:spLocks noGrp="1"/>
          </p:cNvSpPr>
          <p:nvPr/>
        </p:nvSpPr>
        <p:spPr>
          <a:xfrm>
            <a:off x="1009015" y="5067300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00AEE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AE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AE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 rot="0">
            <a:off x="619125" y="2019300"/>
            <a:ext cx="1981200" cy="532130"/>
            <a:chOff x="975" y="3180"/>
            <a:chExt cx="3120" cy="1030"/>
          </a:xfrm>
        </p:grpSpPr>
        <p:sp>
          <p:nvSpPr>
            <p:cNvPr id="32" name="圆角矩形 31"/>
            <p:cNvSpPr>
              <a:spLocks noGrp="1"/>
            </p:cNvSpPr>
            <p:nvPr/>
          </p:nvSpPr>
          <p:spPr>
            <a:xfrm>
              <a:off x="975" y="3180"/>
              <a:ext cx="3120" cy="1031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00AEEF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080" y="3195"/>
              <a:ext cx="2910" cy="10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需求预测与历史数据</a:t>
              </a:r>
              <a:endParaRPr lang="zh-CN" altLang="en-US" sz="1090" b="1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用于预测未来消耗量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619125" y="2718435"/>
            <a:ext cx="1981200" cy="532130"/>
            <a:chOff x="1020" y="4534"/>
            <a:chExt cx="3120" cy="1030"/>
          </a:xfrm>
        </p:grpSpPr>
        <p:sp>
          <p:nvSpPr>
            <p:cNvPr id="5" name="圆角矩形 4"/>
            <p:cNvSpPr>
              <a:spLocks noGrp="1"/>
            </p:cNvSpPr>
            <p:nvPr/>
          </p:nvSpPr>
          <p:spPr>
            <a:xfrm>
              <a:off x="1020" y="4534"/>
              <a:ext cx="3120" cy="1031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00AEEF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" name="矩形 5"/>
            <p:cNvSpPr>
              <a:spLocks noGrp="1"/>
            </p:cNvSpPr>
            <p:nvPr/>
          </p:nvSpPr>
          <p:spPr>
            <a:xfrm>
              <a:off x="1125" y="4549"/>
              <a:ext cx="2910" cy="10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提前期与补货规则</a:t>
              </a:r>
              <a:endParaRPr lang="zh-CN" altLang="en-US" sz="1090" b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采购、制造及运输的提前期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619125" y="3411220"/>
            <a:ext cx="1981200" cy="532130"/>
            <a:chOff x="1175" y="3380"/>
            <a:chExt cx="3120" cy="1030"/>
          </a:xfrm>
        </p:grpSpPr>
        <p:sp>
          <p:nvSpPr>
            <p:cNvPr id="7" name="圆角矩形 6"/>
            <p:cNvSpPr>
              <a:spLocks noGrp="1"/>
            </p:cNvSpPr>
            <p:nvPr/>
          </p:nvSpPr>
          <p:spPr>
            <a:xfrm>
              <a:off x="1175" y="3380"/>
              <a:ext cx="3120" cy="1031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00AEEF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" name="矩形 7"/>
            <p:cNvSpPr>
              <a:spLocks noGrp="1"/>
            </p:cNvSpPr>
            <p:nvPr/>
          </p:nvSpPr>
          <p:spPr>
            <a:xfrm>
              <a:off x="1280" y="3395"/>
              <a:ext cx="2910" cy="10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服务水平目标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企业希望达到的库存满足率（如95%）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613410" y="4131310"/>
            <a:ext cx="1981200" cy="532130"/>
            <a:chOff x="1175" y="3380"/>
            <a:chExt cx="3120" cy="1030"/>
          </a:xfrm>
        </p:grpSpPr>
        <p:sp>
          <p:nvSpPr>
            <p:cNvPr id="14" name="圆角矩形 13"/>
            <p:cNvSpPr>
              <a:spLocks noGrp="1"/>
            </p:cNvSpPr>
            <p:nvPr/>
          </p:nvSpPr>
          <p:spPr>
            <a:xfrm>
              <a:off x="1175" y="3380"/>
              <a:ext cx="3120" cy="1031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00AEEF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1280" y="3395"/>
              <a:ext cx="2910" cy="101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成本参数</a:t>
              </a:r>
              <a:endParaRPr lang="zh-CN" altLang="en-US" sz="109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包括库存持有成本、订货成本、缺货成本等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数据驱动采购决策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业务输入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模型与规则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方案输出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确认与执行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grpSp>
        <p:nvGrpSpPr>
          <p:cNvPr id="5" name="组合 4"/>
          <p:cNvGrpSpPr/>
          <p:nvPr/>
        </p:nvGrpSpPr>
        <p:grpSpPr>
          <a:xfrm>
            <a:off x="619125" y="2019300"/>
            <a:ext cx="1981200" cy="600710"/>
            <a:chOff x="975" y="3180"/>
            <a:chExt cx="3120" cy="946"/>
          </a:xfrm>
        </p:grpSpPr>
        <p:sp>
          <p:nvSpPr>
            <p:cNvPr id="32" name="圆角矩形 31"/>
            <p:cNvSpPr>
              <a:spLocks noGrp="1"/>
            </p:cNvSpPr>
            <p:nvPr/>
          </p:nvSpPr>
          <p:spPr>
            <a:xfrm>
              <a:off x="975" y="3180"/>
              <a:ext cx="3120" cy="946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53D38A"/>
              </a:solidFill>
              <a:prstDash val="solid"/>
            </a:ln>
          </p:spPr>
        </p:sp>
        <p:sp>
          <p:nvSpPr>
            <p:cNvPr id="33" name="矩形 32"/>
            <p:cNvSpPr>
              <a:spLocks noGrp="1"/>
            </p:cNvSpPr>
            <p:nvPr/>
          </p:nvSpPr>
          <p:spPr>
            <a:xfrm>
              <a:off x="1080" y="3195"/>
              <a:ext cx="2910" cy="93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1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物料需求计划</a:t>
              </a:r>
              <a:endParaRPr lang="zh-CN" altLang="en-US"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由生产计划直接驱动的原材料和零部件需求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4" name="圆角矩形 4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月度采购总量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建议到货日期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锁价/合同建议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E采 / SAP下单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右箭头 5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1" name="右箭头 6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62" name="右箭头 6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63" name="椭圆 6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53D38A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采购组合优化</a:t>
            </a:r>
            <a:endParaRPr sz="18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下箭头 65"/>
          <p:cNvSpPr>
            <a:spLocks noGrp="1"/>
          </p:cNvSpPr>
          <p:nvPr/>
        </p:nvSpPr>
        <p:spPr>
          <a:xfrm>
            <a:off x="10287000" y="4095750"/>
            <a:ext cx="323850" cy="523875"/>
          </a:xfrm>
          <a:prstGeom prst="down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67" name="左箭头 6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8" name="上箭头 67"/>
          <p:cNvSpPr>
            <a:spLocks noGrp="1"/>
          </p:cNvSpPr>
          <p:nvPr/>
        </p:nvSpPr>
        <p:spPr>
          <a:xfrm>
            <a:off x="1181100" y="4238625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3D3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3D3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4045" y="2745740"/>
            <a:ext cx="1981200" cy="600710"/>
            <a:chOff x="975" y="3180"/>
            <a:chExt cx="3120" cy="946"/>
          </a:xfrm>
        </p:grpSpPr>
        <p:sp>
          <p:nvSpPr>
            <p:cNvPr id="8" name="圆角矩形 7"/>
            <p:cNvSpPr>
              <a:spLocks noGrp="1"/>
            </p:cNvSpPr>
            <p:nvPr/>
          </p:nvSpPr>
          <p:spPr>
            <a:xfrm>
              <a:off x="975" y="3180"/>
              <a:ext cx="3120" cy="946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53D38A"/>
              </a:solidFill>
              <a:prstDash val="solid"/>
            </a:ln>
          </p:spPr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1080" y="3451"/>
              <a:ext cx="2910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库存水位信息</a:t>
              </a:r>
              <a:endParaRPr lang="zh-CN" altLang="en-US"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实时库存数据，用于精准计算净需求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89915" y="3482340"/>
            <a:ext cx="2005330" cy="600710"/>
            <a:chOff x="945" y="3180"/>
            <a:chExt cx="3158" cy="946"/>
          </a:xfrm>
        </p:grpSpPr>
        <p:sp>
          <p:nvSpPr>
            <p:cNvPr id="11" name="圆角矩形 10"/>
            <p:cNvSpPr>
              <a:spLocks noGrp="1"/>
            </p:cNvSpPr>
            <p:nvPr/>
          </p:nvSpPr>
          <p:spPr>
            <a:xfrm>
              <a:off x="975" y="3180"/>
              <a:ext cx="3120" cy="946"/>
            </a:xfrm>
            <a:prstGeom prst="roundRect">
              <a:avLst>
                <a:gd name="adj" fmla="val 23529"/>
              </a:avLst>
            </a:prstGeom>
            <a:solidFill>
              <a:srgbClr val="102832"/>
            </a:solidFill>
            <a:ln w="11430">
              <a:solidFill>
                <a:srgbClr val="53D38A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945" y="3451"/>
              <a:ext cx="3158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1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供应商画像</a:t>
              </a:r>
              <a:endParaRPr lang="zh-CN" altLang="en-US"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defRPr sz="109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090" b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包括供应商的交货表现、质量水平、历史价格和合同条款</a:t>
              </a:r>
              <a:endParaRPr lang="zh-CN" altLang="en-US" sz="109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全自动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统计与成本核算分析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FFFFFF"/>
                </a:solidFill>
                <a:sym typeface="+mn-ea"/>
              </a:rPr>
              <a:t>成本分摊—批次价值链与多维利润分析</a:t>
            </a:r>
            <a:endParaRPr b="1">
              <a:solidFill>
                <a:srgbClr val="FFFFFF"/>
              </a:solidFill>
              <a:sym typeface="+mn-ea"/>
            </a:endParaRPr>
          </a:p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成本形成链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采购入厂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571750" y="2428875"/>
            <a:ext cx="381000" cy="19050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5275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4800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仓储投料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7657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4905375" y="2428875"/>
            <a:ext cx="381000" cy="1905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528637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8162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生产加工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7239000" y="2428875"/>
            <a:ext cx="381000" cy="19050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762000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1525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订单交付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4382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下箭头 24"/>
          <p:cNvSpPr>
            <a:spLocks noGrp="1"/>
          </p:cNvSpPr>
          <p:nvPr/>
        </p:nvSpPr>
        <p:spPr>
          <a:xfrm>
            <a:off x="5000625" y="3190875"/>
            <a:ext cx="342900" cy="495300"/>
          </a:xfrm>
          <a:prstGeom prst="down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3143250" y="3762375"/>
            <a:ext cx="4048125" cy="1047750"/>
          </a:xfrm>
          <a:prstGeom prst="roundRect">
            <a:avLst>
              <a:gd name="adj" fmla="val 7273"/>
            </a:avLst>
          </a:prstGeom>
          <a:solidFill>
            <a:srgbClr val="0B2833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429000" y="4069715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批次成本引擎</a:t>
            </a:r>
            <a:endParaRPr sz="2800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81375" y="4286250"/>
            <a:ext cx="3571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7334250" y="4171950"/>
            <a:ext cx="523875" cy="209550"/>
          </a:xfrm>
          <a:prstGeom prst="right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48625" y="3381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价值分析树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48625" y="3657600"/>
            <a:ext cx="1714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096250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62925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产品利润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763125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29800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客户利润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096250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62925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供应商贡献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9763125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829800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销售订单利润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096250" y="4953000"/>
            <a:ext cx="3190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62925" y="4962525"/>
            <a:ext cx="3057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成本差异追溯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666875" y="51911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2428875" y="5715000"/>
            <a:ext cx="7524750" cy="571500"/>
          </a:xfrm>
          <a:prstGeom prst="roundRect">
            <a:avLst>
              <a:gd name="adj" fmla="val 13333"/>
            </a:avLst>
          </a:prstGeom>
          <a:solidFill>
            <a:srgbClr val="0B222D"/>
          </a:solidFill>
          <a:ln w="14288">
            <a:solidFill>
              <a:srgbClr val="FFF20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71750" y="57721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经营价值</a:t>
            </a:r>
            <a:endParaRPr sz="1350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571750" y="60579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智慧运营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驾驶舱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4429125" y="2095500"/>
            <a:ext cx="3333750" cy="3333750"/>
          </a:xfrm>
          <a:prstGeom prst="ellipse">
            <a:avLst/>
          </a:prstGeom>
          <a:solidFill>
            <a:srgbClr val="071F2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000625" y="2667000"/>
            <a:ext cx="2190750" cy="2190750"/>
          </a:xfrm>
          <a:prstGeom prst="ellipse">
            <a:avLst/>
          </a:prstGeom>
          <a:solidFill>
            <a:srgbClr val="0A3442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31242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3667125"/>
            <a:ext cx="1762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运营闭环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20250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决策闭环</a:t>
            </a:r>
            <a:endParaRPr sz="1275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汇聚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057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跨模块结果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095500" y="22764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识别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057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异常与预警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2095500" y="29622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钻取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057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明细与根因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2095500" y="36480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处置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057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派发与跟踪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2095500" y="43338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6675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200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验证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057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恢复后关闭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2095500" y="50196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6" name="左箭头 35"/>
          <p:cNvSpPr>
            <a:spLocks noGrp="1"/>
          </p:cNvSpPr>
          <p:nvPr/>
        </p:nvSpPr>
        <p:spPr>
          <a:xfrm>
            <a:off x="9620250" y="22764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09650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19175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设定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22032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情景参数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左箭头 39"/>
          <p:cNvSpPr>
            <a:spLocks noGrp="1"/>
          </p:cNvSpPr>
          <p:nvPr/>
        </p:nvSpPr>
        <p:spPr>
          <a:xfrm>
            <a:off x="9620250" y="29622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09650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19175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冻结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22032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基线快照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左箭头 43"/>
          <p:cNvSpPr>
            <a:spLocks noGrp="1"/>
          </p:cNvSpPr>
          <p:nvPr/>
        </p:nvSpPr>
        <p:spPr>
          <a:xfrm>
            <a:off x="9620250" y="36480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1009650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19175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编排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22032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专业模型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左箭头 47"/>
          <p:cNvSpPr>
            <a:spLocks noGrp="1"/>
          </p:cNvSpPr>
          <p:nvPr/>
        </p:nvSpPr>
        <p:spPr>
          <a:xfrm>
            <a:off x="9620250" y="43338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009650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19175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对比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22032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左箭头 51"/>
          <p:cNvSpPr>
            <a:spLocks noGrp="1"/>
          </p:cNvSpPr>
          <p:nvPr/>
        </p:nvSpPr>
        <p:spPr>
          <a:xfrm>
            <a:off x="9620250" y="50196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1009650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19175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采纳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22032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AFC0C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正式调整</a:t>
            </a:r>
            <a:endParaRPr sz="1015" b="0">
              <a:solidFill>
                <a:srgbClr val="AFC0C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3493770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560445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库存健康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347585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414260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交付达成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242945" y="46767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309620" y="46863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采购执行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553325" y="46672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620000" y="46767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产能负荷</a:t>
            </a:r>
            <a:endParaRPr sz="10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左箭头 63"/>
          <p:cNvSpPr>
            <a:spLocks noGrp="1"/>
          </p:cNvSpPr>
          <p:nvPr/>
        </p:nvSpPr>
        <p:spPr>
          <a:xfrm>
            <a:off x="3333750" y="5715000"/>
            <a:ext cx="552450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3714750" y="5676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333750" y="619125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2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" y="875030"/>
            <a:ext cx="9561195" cy="5048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309880" y="5946140"/>
            <a:ext cx="11640820" cy="809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284345" y="4942205"/>
            <a:ext cx="7202170" cy="80899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0" name="圆角矩形 3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68155" y="1405255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9" name="圆角矩形 3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33235" y="1412875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321175" y="1412240"/>
            <a:ext cx="2081530" cy="2418080"/>
          </a:xfrm>
          <a:prstGeom prst="roundRect">
            <a:avLst>
              <a:gd name="adj" fmla="val 14286"/>
            </a:avLst>
          </a:prstGeom>
          <a:solidFill>
            <a:schemeClr val="accent1">
              <a:lumMod val="50000"/>
            </a:schemeClr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932815" y="3823335"/>
            <a:ext cx="2382520" cy="9436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930910" y="1191895"/>
            <a:ext cx="2382520" cy="94361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4491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模型数据驱动下的经营决策升级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040" y="5946140"/>
            <a:ext cx="5302885" cy="81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50000"/>
                  </a:schemeClr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indent="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业务对象：生产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采购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b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业务范围：物料流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信息流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资金流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318250" y="5946140"/>
            <a:ext cx="5302885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业务环节：需求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排产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报工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跟踪</a:t>
            </a:r>
            <a:b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业务管理：订单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仓储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发货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4131310" y="4942205"/>
            <a:ext cx="720217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874CB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每批、每类产品、每个车次产品的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利润是多少？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工厂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每月每周每天每个工序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的成本是多少？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6"/>
            </p:custDataLst>
          </p:nvPr>
        </p:nvSpPr>
        <p:spPr>
          <a:xfrm>
            <a:off x="5513110" y="4635500"/>
            <a:ext cx="95821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ln w="15875"/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物料流</a:t>
            </a:r>
            <a:endParaRPr lang="zh-CN" altLang="en-US" sz="1600" b="1">
              <a:ln w="15875"/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5" name="文本框 134"/>
          <p:cNvSpPr txBox="1"/>
          <p:nvPr>
            <p:custDataLst>
              <p:tags r:id="rId7"/>
            </p:custDataLst>
          </p:nvPr>
        </p:nvSpPr>
        <p:spPr>
          <a:xfrm>
            <a:off x="10590570" y="4635500"/>
            <a:ext cx="905510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ln w="15875"/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资金流</a:t>
            </a:r>
            <a:endParaRPr lang="zh-CN" altLang="en-US" sz="1600" b="1">
              <a:ln w="15875"/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6" name="文本框 135"/>
          <p:cNvSpPr txBox="1"/>
          <p:nvPr>
            <p:custDataLst>
              <p:tags r:id="rId8"/>
            </p:custDataLst>
          </p:nvPr>
        </p:nvSpPr>
        <p:spPr>
          <a:xfrm>
            <a:off x="8051840" y="4635500"/>
            <a:ext cx="95821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ln w="15875"/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信息流</a:t>
            </a:r>
            <a:endParaRPr lang="zh-CN" altLang="en-US" sz="1600" b="1">
              <a:ln w="15875"/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38" name="直接箭头连接符 137"/>
          <p:cNvCxnSpPr/>
          <p:nvPr>
            <p:custDataLst>
              <p:tags r:id="rId9"/>
            </p:custDataLst>
          </p:nvPr>
        </p:nvCxnSpPr>
        <p:spPr>
          <a:xfrm>
            <a:off x="4342765" y="4804410"/>
            <a:ext cx="1115695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>
            <p:custDataLst>
              <p:tags r:id="rId10"/>
            </p:custDataLst>
          </p:nvPr>
        </p:nvCxnSpPr>
        <p:spPr>
          <a:xfrm>
            <a:off x="6780900" y="4788853"/>
            <a:ext cx="1116000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>
            <p:custDataLst>
              <p:tags r:id="rId11"/>
            </p:custDataLst>
          </p:nvPr>
        </p:nvCxnSpPr>
        <p:spPr>
          <a:xfrm>
            <a:off x="9254860" y="4809173"/>
            <a:ext cx="1116000" cy="0"/>
          </a:xfrm>
          <a:prstGeom prst="straightConnector1">
            <a:avLst/>
          </a:prstGeom>
          <a:ln>
            <a:tailEnd type="stealth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Plan text.txt"/>
          <p:cNvSpPr txBox="1"/>
          <p:nvPr/>
        </p:nvSpPr>
        <p:spPr bwMode="auto">
          <a:xfrm>
            <a:off x="932815" y="1191895"/>
            <a:ext cx="238379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 anchor="ctr" anchorCtr="0">
            <a:noAutofit/>
          </a:bodyPr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原料怎么采购？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供应商如何选择？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客户如何分级？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Plan text.txt"/>
          <p:cNvSpPr txBox="1"/>
          <p:nvPr/>
        </p:nvSpPr>
        <p:spPr bwMode="auto">
          <a:xfrm>
            <a:off x="930910" y="2166620"/>
            <a:ext cx="2383155" cy="165671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产供销运如何平衡优化？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生产模式如何选择？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订单如何满足？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交期如何保障？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如何执行生产？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紧急事件如何应对？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Plan text.txt"/>
          <p:cNvSpPr txBox="1"/>
          <p:nvPr/>
        </p:nvSpPr>
        <p:spPr bwMode="auto">
          <a:xfrm>
            <a:off x="930910" y="4812030"/>
            <a:ext cx="2384425" cy="6692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p>
            <a:pPr marL="285750" lvl="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供应链如何跟踪？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信息如何共享？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Plan text.txt"/>
          <p:cNvSpPr txBox="1"/>
          <p:nvPr/>
        </p:nvSpPr>
        <p:spPr bwMode="auto">
          <a:xfrm>
            <a:off x="929005" y="3830955"/>
            <a:ext cx="2384425" cy="92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91440" tIns="45720" rIns="91440" bIns="45720" rtlCol="0" anchor="ctr" anchorCtr="0">
            <a:noAutofit/>
          </a:bodyPr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库存如何优化？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运输成本如何控制？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仓库网络怎么设计？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AutoShape 7"/>
          <p:cNvSpPr/>
          <p:nvPr>
            <p:custDataLst>
              <p:tags r:id="rId12"/>
            </p:custDataLst>
          </p:nvPr>
        </p:nvSpPr>
        <p:spPr>
          <a:xfrm>
            <a:off x="4453890" y="1565910"/>
            <a:ext cx="28194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8" name="AutoShape 8"/>
          <p:cNvSpPr/>
          <p:nvPr>
            <p:custDataLst>
              <p:tags r:id="rId13"/>
            </p:custDataLst>
          </p:nvPr>
        </p:nvSpPr>
        <p:spPr>
          <a:xfrm>
            <a:off x="4719320" y="1540510"/>
            <a:ext cx="1160145" cy="359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数据基座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5670" y="1540510"/>
            <a:ext cx="215265" cy="333375"/>
          </a:xfrm>
          <a:prstGeom prst="rect">
            <a:avLst/>
          </a:prstGeom>
        </p:spPr>
      </p:pic>
      <p:cxnSp>
        <p:nvCxnSpPr>
          <p:cNvPr id="20" name="Connector 10"/>
          <p:cNvCxnSpPr/>
          <p:nvPr>
            <p:custDataLst>
              <p:tags r:id="rId17"/>
            </p:custDataLst>
          </p:nvPr>
        </p:nvCxnSpPr>
        <p:spPr>
          <a:xfrm rot="21584515">
            <a:off x="4437380" y="2021205"/>
            <a:ext cx="18402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11"/>
          <p:cNvSpPr/>
          <p:nvPr>
            <p:custDataLst>
              <p:tags r:id="rId18"/>
            </p:custDataLst>
          </p:nvPr>
        </p:nvSpPr>
        <p:spPr>
          <a:xfrm>
            <a:off x="4437380" y="2207260"/>
            <a:ext cx="1840230" cy="1487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统一数据服务层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标准 API</a:t>
            </a:r>
            <a:endParaRPr lang="en-US"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实时数据平台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事件订阅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外部数据接入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价格/天气/路况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关键运营 KPI 延迟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5s</a:t>
            </a:r>
            <a:endParaRPr lang="en-US" sz="1200" b="1" i="0" u="none" strike="noStrike">
              <a:solidFill>
                <a:srgbClr val="F582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3"/>
          <p:cNvSpPr/>
          <p:nvPr>
            <p:custDataLst>
              <p:tags r:id="rId19"/>
            </p:custDataLst>
          </p:nvPr>
        </p:nvSpPr>
        <p:spPr>
          <a:xfrm>
            <a:off x="6981825" y="1565910"/>
            <a:ext cx="28194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4" name="AutoShape 14"/>
          <p:cNvSpPr/>
          <p:nvPr>
            <p:custDataLst>
              <p:tags r:id="rId20"/>
            </p:custDataLst>
          </p:nvPr>
        </p:nvSpPr>
        <p:spPr>
          <a:xfrm>
            <a:off x="7247255" y="1540510"/>
            <a:ext cx="1160145" cy="359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模型中枢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" name="Picture 1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23605" y="1540510"/>
            <a:ext cx="215265" cy="333375"/>
          </a:xfrm>
          <a:prstGeom prst="rect">
            <a:avLst/>
          </a:prstGeom>
        </p:spPr>
      </p:pic>
      <p:cxnSp>
        <p:nvCxnSpPr>
          <p:cNvPr id="26" name="Connector 16"/>
          <p:cNvCxnSpPr/>
          <p:nvPr>
            <p:custDataLst>
              <p:tags r:id="rId24"/>
            </p:custDataLst>
          </p:nvPr>
        </p:nvCxnSpPr>
        <p:spPr>
          <a:xfrm rot="21584515">
            <a:off x="6965315" y="2021205"/>
            <a:ext cx="18402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7"/>
          <p:cNvSpPr/>
          <p:nvPr>
            <p:custDataLst>
              <p:tags r:id="rId25"/>
            </p:custDataLst>
          </p:nvPr>
        </p:nvSpPr>
        <p:spPr>
          <a:xfrm>
            <a:off x="6965315" y="2207260"/>
            <a:ext cx="1840230" cy="1487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数学优化求解器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多目标建模</a:t>
            </a:r>
            <a:endParaRPr lang="en-US"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模型服务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预测/情景模拟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模型资产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</a:t>
            </a:r>
            <a:r>
              <a:rPr lang="zh-CN" alt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精益排程</a:t>
            </a:r>
            <a:r>
              <a:rPr lang="en-US" altLang="zh-CN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采购优化</a:t>
            </a:r>
            <a:r>
              <a:rPr lang="en-US" altLang="zh-CN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库存优化</a:t>
            </a:r>
            <a:r>
              <a:rPr lang="en-US" altLang="zh-CN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成本核算模型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72h 详细排程求解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5min</a:t>
            </a:r>
            <a:endParaRPr lang="en-US" sz="1200" b="1" i="0" u="none" strike="noStrike">
              <a:solidFill>
                <a:srgbClr val="F582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9"/>
          <p:cNvSpPr/>
          <p:nvPr>
            <p:custDataLst>
              <p:tags r:id="rId26"/>
            </p:custDataLst>
          </p:nvPr>
        </p:nvSpPr>
        <p:spPr>
          <a:xfrm>
            <a:off x="9509760" y="1565910"/>
            <a:ext cx="28194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0" name="AutoShape 20"/>
          <p:cNvSpPr/>
          <p:nvPr>
            <p:custDataLst>
              <p:tags r:id="rId27"/>
            </p:custDataLst>
          </p:nvPr>
        </p:nvSpPr>
        <p:spPr>
          <a:xfrm>
            <a:off x="9775190" y="1540510"/>
            <a:ext cx="1160145" cy="359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决策应用</a:t>
            </a:r>
            <a:endParaRPr 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051540" y="1540510"/>
            <a:ext cx="215265" cy="333375"/>
          </a:xfrm>
          <a:prstGeom prst="rect">
            <a:avLst/>
          </a:prstGeom>
        </p:spPr>
      </p:pic>
      <p:cxnSp>
        <p:nvCxnSpPr>
          <p:cNvPr id="32" name="Connector 22"/>
          <p:cNvCxnSpPr/>
          <p:nvPr>
            <p:custDataLst>
              <p:tags r:id="rId31"/>
            </p:custDataLst>
          </p:nvPr>
        </p:nvCxnSpPr>
        <p:spPr>
          <a:xfrm rot="21584515">
            <a:off x="9493250" y="2021205"/>
            <a:ext cx="184023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23"/>
          <p:cNvSpPr/>
          <p:nvPr>
            <p:custDataLst>
              <p:tags r:id="rId32"/>
            </p:custDataLst>
          </p:nvPr>
        </p:nvSpPr>
        <p:spPr>
          <a:xfrm>
            <a:off x="9493250" y="2207260"/>
            <a:ext cx="1840230" cy="1487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采购决策优化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总拥有成本最优</a:t>
            </a:r>
            <a:endParaRPr lang="en-US" sz="1100">
              <a:solidFill>
                <a:schemeClr val="bg1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精益生产排程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安全库存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全程追溯协同</a:t>
            </a: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驾驶舱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数据—模型—应用—反馈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1" i="0" u="none" strike="noStrike">
                <a:solidFill>
                  <a:srgbClr val="F582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闭环迭代</a:t>
            </a:r>
            <a:endParaRPr lang="en-US" sz="1200" b="1" i="0" u="none" strike="noStrike">
              <a:solidFill>
                <a:srgbClr val="F582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4" name="Connector 24"/>
          <p:cNvCxnSpPr/>
          <p:nvPr>
            <p:custDataLst>
              <p:tags r:id="rId33"/>
            </p:custDataLst>
          </p:nvPr>
        </p:nvCxnSpPr>
        <p:spPr>
          <a:xfrm rot="21532602">
            <a:off x="6410325" y="2662555"/>
            <a:ext cx="4229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5" name="Connector 25"/>
          <p:cNvCxnSpPr/>
          <p:nvPr>
            <p:custDataLst>
              <p:tags r:id="rId34"/>
            </p:custDataLst>
          </p:nvPr>
        </p:nvCxnSpPr>
        <p:spPr>
          <a:xfrm rot="21532602">
            <a:off x="8938260" y="2662555"/>
            <a:ext cx="42291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矩形 45"/>
          <p:cNvSpPr/>
          <p:nvPr/>
        </p:nvSpPr>
        <p:spPr>
          <a:xfrm>
            <a:off x="807720" y="1035050"/>
            <a:ext cx="2667000" cy="4483100"/>
          </a:xfrm>
          <a:prstGeom prst="rect">
            <a:avLst/>
          </a:prstGeom>
          <a:noFill/>
          <a:ln w="28575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圆角矩形 40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814070" y="927100"/>
            <a:ext cx="2662555" cy="4662170"/>
          </a:xfrm>
          <a:prstGeom prst="roundRect">
            <a:avLst>
              <a:gd name="adj" fmla="val 14286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AEEF"/>
            </a:solidFill>
            <a:prstDash val="solid"/>
          </a:ln>
        </p:spPr>
      </p:sp>
      <p:grpSp>
        <p:nvGrpSpPr>
          <p:cNvPr id="49" name="组合 48"/>
          <p:cNvGrpSpPr/>
          <p:nvPr/>
        </p:nvGrpSpPr>
        <p:grpSpPr>
          <a:xfrm rot="0">
            <a:off x="4719320" y="3950335"/>
            <a:ext cx="6134100" cy="480060"/>
            <a:chOff x="3490" y="7080"/>
            <a:chExt cx="12220" cy="1170"/>
          </a:xfrm>
        </p:grpSpPr>
        <p:cxnSp>
          <p:nvCxnSpPr>
            <p:cNvPr id="50" name="Connector 26"/>
            <p:cNvCxnSpPr/>
            <p:nvPr/>
          </p:nvCxnSpPr>
          <p:spPr>
            <a:xfrm rot="5340734">
              <a:off x="15120" y="7650"/>
              <a:ext cx="116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64748B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27"/>
            <p:cNvCxnSpPr/>
            <p:nvPr/>
          </p:nvCxnSpPr>
          <p:spPr>
            <a:xfrm rot="10794364">
              <a:off x="3500" y="8230"/>
              <a:ext cx="122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64748B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28"/>
            <p:cNvCxnSpPr/>
            <p:nvPr/>
          </p:nvCxnSpPr>
          <p:spPr>
            <a:xfrm rot="-5459265">
              <a:off x="2920" y="7650"/>
              <a:ext cx="116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64748B">
                  <a:alpha val="100000"/>
                </a:srgbClr>
              </a:solidFill>
              <a:prstDash val="solid"/>
              <a:round/>
              <a:headEnd type="none" w="lg" len="lg"/>
              <a:tailEnd type="arrow" w="lg" len="lg"/>
            </a:ln>
          </p:spPr>
        </p:cxnSp>
      </p:grpSp>
      <p:sp>
        <p:nvSpPr>
          <p:cNvPr id="53" name="AutoShape 29"/>
          <p:cNvSpPr/>
          <p:nvPr/>
        </p:nvSpPr>
        <p:spPr>
          <a:xfrm>
            <a:off x="6079490" y="4187825"/>
            <a:ext cx="3695700" cy="180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执行数据回流 · 持续校准模型，驱动经营决策持续升级</a:t>
            </a:r>
            <a:endParaRPr lang="en-US" sz="11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5505450" y="5962015"/>
            <a:ext cx="0" cy="812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34491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智能运营管理平台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平台驱动的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管理角色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转变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rcRect l="367" t="25287" r="-719" b="7741"/>
          <a:stretch>
            <a:fillRect/>
          </a:stretch>
        </p:blipFill>
        <p:spPr>
          <a:xfrm>
            <a:off x="227965" y="1619885"/>
            <a:ext cx="3610610" cy="381952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55" y="995045"/>
            <a:ext cx="2530475" cy="1418590"/>
          </a:xfrm>
          <a:prstGeom prst="ellipse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310" y="2822575"/>
            <a:ext cx="2944495" cy="1633855"/>
          </a:xfrm>
          <a:prstGeom prst="ellipse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920" y="4924425"/>
            <a:ext cx="2569210" cy="1431925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0715" y="4924425"/>
            <a:ext cx="2525395" cy="1426845"/>
          </a:xfrm>
          <a:prstGeom prst="ellipse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245" y="995045"/>
            <a:ext cx="2662555" cy="1458595"/>
          </a:xfrm>
          <a:prstGeom prst="ellipse">
            <a:avLst/>
          </a:prstGeom>
        </p:spPr>
      </p:pic>
      <p:cxnSp>
        <p:nvCxnSpPr>
          <p:cNvPr id="8" name="直接连接符 7"/>
          <p:cNvCxnSpPr>
            <a:stCxn id="52" idx="5"/>
            <a:endCxn id="53" idx="1"/>
          </p:cNvCxnSpPr>
          <p:nvPr/>
        </p:nvCxnSpPr>
        <p:spPr>
          <a:xfrm>
            <a:off x="6638290" y="2205990"/>
            <a:ext cx="591185" cy="85598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0910" y="2644775"/>
            <a:ext cx="1299210" cy="11423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0029190" y="2534285"/>
            <a:ext cx="1701800" cy="7607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从"找料"变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"审料"</a:t>
            </a:r>
            <a:endParaRPr lang="zh-CN" altLang="en-US" sz="1000" b="1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从"追单"变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"管异常" </a:t>
            </a:r>
            <a:endParaRPr lang="zh-CN" altLang="en-US" sz="1000" b="1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从"建档案"变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"做评估"</a:t>
            </a:r>
            <a:endParaRPr lang="zh-CN" altLang="en-US" sz="1000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从"手工对账"变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"看报告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"</a:t>
            </a:r>
            <a:endParaRPr lang="zh-CN" altLang="en-US" sz="1000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从"到处询价"变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"谈战略" </a:t>
            </a:r>
            <a:endParaRPr lang="zh-CN" altLang="en-US" sz="1000" b="1">
              <a:ln w="15875"/>
              <a:solidFill>
                <a:srgbClr val="92D050"/>
              </a:solidFill>
              <a:effectLst/>
            </a:endParaRPr>
          </a:p>
        </p:txBody>
      </p:sp>
      <p:sp>
        <p:nvSpPr>
          <p:cNvPr id="20" name="环形箭头 19"/>
          <p:cNvSpPr/>
          <p:nvPr/>
        </p:nvSpPr>
        <p:spPr>
          <a:xfrm>
            <a:off x="3178810" y="3761105"/>
            <a:ext cx="1760855" cy="15405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/>
          <p:cNvSpPr/>
          <p:nvPr/>
        </p:nvSpPr>
        <p:spPr>
          <a:xfrm flipV="1">
            <a:off x="3265170" y="1932305"/>
            <a:ext cx="1588770" cy="16167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3970655" y="3429000"/>
            <a:ext cx="969010" cy="389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环形箭头 23"/>
          <p:cNvSpPr/>
          <p:nvPr/>
        </p:nvSpPr>
        <p:spPr>
          <a:xfrm>
            <a:off x="3178810" y="3787140"/>
            <a:ext cx="1760855" cy="15405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环形箭头 24"/>
          <p:cNvSpPr/>
          <p:nvPr/>
        </p:nvSpPr>
        <p:spPr>
          <a:xfrm flipV="1">
            <a:off x="3265170" y="1958340"/>
            <a:ext cx="1588770" cy="1616710"/>
          </a:xfrm>
          <a:prstGeom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3970655" y="3455035"/>
            <a:ext cx="969010" cy="389890"/>
          </a:xfrm>
          <a:prstGeom prst="rightArrow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954270" y="2489835"/>
            <a:ext cx="1743075" cy="7607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从"接电话"变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"看推送"</a:t>
            </a:r>
            <a:endParaRPr lang="zh-CN" altLang="en-US" sz="1000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从"催进度"变"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看节点"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从"做报价"变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"审报价"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从"跑客户"变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"做客户经营"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从"凭经验"变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"看预测" </a:t>
            </a:r>
            <a:endParaRPr lang="zh-CN" altLang="en-US" sz="1000" b="1">
              <a:ln w="15875"/>
              <a:solidFill>
                <a:srgbClr val="92D050"/>
              </a:solidFill>
              <a:effectLst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33950" y="4089400"/>
            <a:ext cx="1743075" cy="7607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从"编计划"变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"审计划"</a:t>
            </a:r>
            <a:endParaRPr lang="zh-CN" altLang="en-US" sz="1000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从"盯现场"变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"看大屏"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从"天天开会"变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"开异常会"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 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从"手排插单"变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"一键重排"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从"算账"变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"看 </a:t>
            </a:r>
            <a:r>
              <a:rPr lang="en-US" altLang="zh-CN" sz="1000" b="1">
                <a:ln w="15875"/>
                <a:solidFill>
                  <a:srgbClr val="92D050"/>
                </a:solidFill>
                <a:effectLst/>
                <a:sym typeface="+mn-ea"/>
              </a:rPr>
              <a:t>KPI"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 </a:t>
            </a:r>
            <a:endParaRPr lang="zh-CN" altLang="en-US" sz="1000" b="1">
              <a:ln w="15875"/>
              <a:solidFill>
                <a:srgbClr val="92D050"/>
              </a:solidFill>
              <a:effectLst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50780" y="4114165"/>
            <a:ext cx="1845945" cy="7607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从"找货"变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"看任务"</a:t>
            </a:r>
            <a:endParaRPr lang="zh-CN" altLang="en-US" sz="1000" b="1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从"人工盘点"变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"审盘点"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从"杂乱排队"变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"自动调度"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 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31075" y="4678680"/>
            <a:ext cx="2065020" cy="76073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</a:rPr>
              <a:t>从"看报表"变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</a:rPr>
              <a:t>"看驾驶舱"</a:t>
            </a:r>
            <a:endParaRPr lang="zh-CN" altLang="en-US" sz="1000">
              <a:ln w="15875"/>
              <a:solidFill>
                <a:srgbClr val="92D050"/>
              </a:solidFill>
              <a:effectLst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从"逐项审批"变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"批例外" </a:t>
            </a:r>
            <a:endParaRPr lang="zh-CN" altLang="en-US" sz="1000" b="1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从"凭经验排兵"变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"看智能建议"</a:t>
            </a:r>
            <a:endParaRPr lang="zh-CN" altLang="en-US" sz="1000" b="1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从"盯数字"变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"盯异常" </a:t>
            </a:r>
            <a:endParaRPr lang="zh-CN" altLang="en-US" sz="1000">
              <a:ln w="15875"/>
              <a:solidFill>
                <a:srgbClr val="92D050"/>
              </a:solidFill>
              <a:effectLst/>
              <a:sym typeface="+mn-ea"/>
            </a:endParaRPr>
          </a:p>
          <a:p>
            <a:r>
              <a:rPr lang="en-US" altLang="zh-CN" sz="1000">
                <a:ln w="15875"/>
                <a:solidFill>
                  <a:srgbClr val="92D050"/>
                </a:solidFill>
                <a:effectLst/>
                <a:sym typeface="+mn-ea"/>
              </a:rPr>
              <a:t>&gt;</a:t>
            </a:r>
            <a:r>
              <a:rPr lang="zh-CN" altLang="en-US" sz="1000">
                <a:ln w="15875"/>
                <a:solidFill>
                  <a:srgbClr val="92D050"/>
                </a:solidFill>
                <a:effectLst/>
                <a:sym typeface="+mn-ea"/>
              </a:rPr>
              <a:t>从"管执行"变</a:t>
            </a:r>
            <a:r>
              <a:rPr lang="zh-CN" altLang="en-US" sz="1000" b="1">
                <a:ln w="15875"/>
                <a:solidFill>
                  <a:srgbClr val="92D050"/>
                </a:solidFill>
                <a:effectLst/>
                <a:sym typeface="+mn-ea"/>
              </a:rPr>
              <a:t>"管变革" </a:t>
            </a:r>
            <a:endParaRPr lang="zh-CN" altLang="en-US" sz="1000" b="1">
              <a:ln w="15875"/>
              <a:solidFill>
                <a:srgbClr val="92D050"/>
              </a:solidFill>
              <a:effectLst/>
              <a:sym typeface="+mn-ea"/>
            </a:endParaRPr>
          </a:p>
        </p:txBody>
      </p:sp>
      <p:cxnSp>
        <p:nvCxnSpPr>
          <p:cNvPr id="33" name="直接连接符 32"/>
          <p:cNvCxnSpPr>
            <a:endCxn id="53" idx="7"/>
          </p:cNvCxnSpPr>
          <p:nvPr/>
        </p:nvCxnSpPr>
        <p:spPr>
          <a:xfrm flipH="1">
            <a:off x="9311640" y="2412365"/>
            <a:ext cx="814070" cy="6496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5" idx="7"/>
            <a:endCxn id="53" idx="3"/>
          </p:cNvCxnSpPr>
          <p:nvPr/>
        </p:nvCxnSpPr>
        <p:spPr>
          <a:xfrm flipV="1">
            <a:off x="6632575" y="4217035"/>
            <a:ext cx="596900" cy="91694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6" idx="1"/>
            <a:endCxn id="53" idx="5"/>
          </p:cNvCxnSpPr>
          <p:nvPr/>
        </p:nvCxnSpPr>
        <p:spPr>
          <a:xfrm flipH="1" flipV="1">
            <a:off x="9311640" y="4217035"/>
            <a:ext cx="588645" cy="9163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012825" y="1132840"/>
            <a:ext cx="8515350" cy="3408045"/>
            <a:chOff x="1950" y="1341"/>
            <a:chExt cx="13410" cy="5367"/>
          </a:xfrm>
        </p:grpSpPr>
        <p:sp>
          <p:nvSpPr>
            <p:cNvPr id="5" name="矩形: 圆角 72"/>
            <p:cNvSpPr/>
            <p:nvPr/>
          </p:nvSpPr>
          <p:spPr>
            <a:xfrm>
              <a:off x="1950" y="134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共同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愿景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8" name="矩形: 圆角 73"/>
            <p:cNvSpPr/>
            <p:nvPr/>
          </p:nvSpPr>
          <p:spPr>
            <a:xfrm>
              <a:off x="1950" y="222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建行业首个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全流程标杆，创智慧工厂+智能实验室融合范式。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矩形: 圆角 75"/>
            <p:cNvSpPr/>
            <p:nvPr/>
          </p:nvSpPr>
          <p:spPr>
            <a:xfrm>
              <a:off x="1950" y="4881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协同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价值观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矩形: 圆角 76"/>
            <p:cNvSpPr/>
            <p:nvPr/>
          </p:nvSpPr>
          <p:spPr>
            <a:xfrm>
              <a:off x="1950" y="5766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安全零事故、进度零失控、质量零妥协、沟通零障碍、知识零保留</a:t>
              </a:r>
              <a:endParaRPr kumimoji="0" lang="zh-CN" altLang="en-US" b="1" i="0" u="none" strike="noStrike" kern="0" cap="none" spc="0" normalizeH="0" baseline="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: 圆角 78"/>
            <p:cNvSpPr/>
            <p:nvPr/>
          </p:nvSpPr>
          <p:spPr>
            <a:xfrm>
              <a:off x="1950" y="311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初心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使命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14" name="矩形: 圆角 79"/>
            <p:cNvSpPr/>
            <p:nvPr/>
          </p:nvSpPr>
          <p:spPr>
            <a:xfrm>
              <a:off x="1950" y="399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让工艺更精准、让质量更可控、让运营更高效、让人员更轻松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3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4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5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6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7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8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9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0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1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2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3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4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5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6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7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8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19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0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1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2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3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4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5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6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7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8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ags/tag29.xml><?xml version="1.0" encoding="utf-8"?>
<p:tagLst xmlns:p="http://schemas.openxmlformats.org/presentationml/2006/main">
  <p:tag name="KSO_WM_DIAGRAM_VIRTUALLY_FRAME" val="{&quot;height&quot;:416,&quot;left&quot;:100.1,&quot;top&quot;:58.8,&quot;width&quot;:808.9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6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3731</Words>
  <Application>WPS 演示</Application>
  <PresentationFormat>宽屏</PresentationFormat>
  <Paragraphs>499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黑体</vt:lpstr>
      <vt:lpstr>Noto Sans SC</vt:lpstr>
      <vt:lpstr>Arial Bold</vt:lpstr>
      <vt:lpstr>Arial Unicode MS</vt:lpstr>
      <vt:lpstr>Calibri</vt:lpstr>
      <vt:lpstr>默认主题</vt:lpstr>
      <vt:lpstr>11_默认主题</vt:lpstr>
      <vt:lpstr>2_主题1</vt:lpstr>
      <vt:lpstr>18_默认主题</vt:lpstr>
      <vt:lpstr>19_默认主题</vt:lpstr>
      <vt:lpstr>20_默认主题</vt:lpstr>
      <vt:lpstr>21_默认主题</vt:lpstr>
      <vt:lpstr>24_默认主题</vt:lpstr>
      <vt:lpstr>64_默认主题</vt:lpstr>
      <vt:lpstr>65_默认主题</vt:lpstr>
      <vt:lpstr>14_默认主题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WPS_1683273993</cp:lastModifiedBy>
  <cp:revision>345</cp:revision>
  <dcterms:created xsi:type="dcterms:W3CDTF">2019-06-19T02:08:00Z</dcterms:created>
  <dcterms:modified xsi:type="dcterms:W3CDTF">2026-09-02T00:40:12Z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D27885026D4C4769A38B476F62E85DB0_13</vt:lpwstr>
  </property>
</Properties>
</file>