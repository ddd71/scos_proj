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theme1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22178e0174de0" /><Relationship Type="http://schemas.openxmlformats.org/officeDocument/2006/relationships/extended-properties" Target="/docProps/app.xml" Id="R3bff66591b1b4c5a" /><Relationship Type="http://schemas.openxmlformats.org/officeDocument/2006/relationships/officeDocument" Target="/ppt/presentation.xml" Id="Rdb5205f7e26740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fa9d67fada44c9"/>
    <p:sldMasterId xmlns:r="http://schemas.openxmlformats.org/officeDocument/2006/relationships" id="2147483651" r:id="Rb1a62efcd8e9450e"/>
    <p:sldMasterId xmlns:r="http://schemas.openxmlformats.org/officeDocument/2006/relationships" id="2147483654" r:id="R05abede3e03b4b9f"/>
    <p:sldMasterId xmlns:r="http://schemas.openxmlformats.org/officeDocument/2006/relationships" id="2147483664" r:id="Reeb1fadca569498f"/>
    <p:sldMasterId xmlns:r="http://schemas.openxmlformats.org/officeDocument/2006/relationships" id="2147483667" r:id="Reb8e902c24b74664"/>
    <p:sldMasterId xmlns:r="http://schemas.openxmlformats.org/officeDocument/2006/relationships" id="2147483670" r:id="R950b228060844b81"/>
    <p:sldMasterId xmlns:r="http://schemas.openxmlformats.org/officeDocument/2006/relationships" id="2147483673" r:id="R7e4f01b290114da5"/>
    <p:sldMasterId xmlns:r="http://schemas.openxmlformats.org/officeDocument/2006/relationships" id="2147483676" r:id="R328d32ecae5c49c4"/>
    <p:sldMasterId xmlns:r="http://schemas.openxmlformats.org/officeDocument/2006/relationships" id="2147483679" r:id="R0d86a89a9c3d4dc8"/>
    <p:sldMasterId xmlns:r="http://schemas.openxmlformats.org/officeDocument/2006/relationships" id="2147483682" r:id="Ra4acc98422e24b81"/>
    <p:sldMasterId xmlns:r="http://schemas.openxmlformats.org/officeDocument/2006/relationships" id="2147483685" r:id="Ra9c5529c7d094fdc"/>
    <p:sldMasterId xmlns:r="http://schemas.openxmlformats.org/officeDocument/2006/relationships" id="2147483688" r:id="R74196d579a7b4c13"/>
    <p:sldMasterId xmlns:r="http://schemas.openxmlformats.org/officeDocument/2006/relationships" id="2147483691" r:id="R01c98b4000284ea9"/>
    <p:sldMasterId xmlns:r="http://schemas.openxmlformats.org/officeDocument/2006/relationships" id="2147483694" r:id="Rc938b944f8d34298"/>
  </p:sldMasterIdLst>
  <p:notesMasterIdLst>
    <p:notesMasterId xmlns:r="http://schemas.openxmlformats.org/officeDocument/2006/relationships" r:id="Rfc36e5df8860411f"/>
  </p:notesMasterIdLst>
  <p:sldIdLst>
    <p:sldId xmlns:r="http://schemas.openxmlformats.org/officeDocument/2006/relationships" id="256" r:id="Rf8b89c5cb6dd4db5"/>
    <p:sldId xmlns:r="http://schemas.openxmlformats.org/officeDocument/2006/relationships" id="257" r:id="R9df2199f609b4a65"/>
    <p:sldId xmlns:r="http://schemas.openxmlformats.org/officeDocument/2006/relationships" id="258" r:id="Ree2e0297133a484b"/>
    <p:sldId xmlns:r="http://schemas.openxmlformats.org/officeDocument/2006/relationships" id="259" r:id="R7de8c6997cd843e3"/>
    <p:sldId xmlns:r="http://schemas.openxmlformats.org/officeDocument/2006/relationships" id="260" r:id="Rdd550786242d42d3"/>
    <p:sldId xmlns:r="http://schemas.openxmlformats.org/officeDocument/2006/relationships" id="261" r:id="R53ea07d903834df1"/>
    <p:sldId xmlns:r="http://schemas.openxmlformats.org/officeDocument/2006/relationships" id="262" r:id="Rf4f9ed7ff77e4a6d"/>
    <p:sldId xmlns:r="http://schemas.openxmlformats.org/officeDocument/2006/relationships" id="263" r:id="R6be5c92244ba4438"/>
    <p:sldId xmlns:r="http://schemas.openxmlformats.org/officeDocument/2006/relationships" id="264" r:id="R1505f528e217448f"/>
    <p:sldId xmlns:r="http://schemas.openxmlformats.org/officeDocument/2006/relationships" id="265" r:id="R5aab1e7fcfbe4f6b"/>
    <p:sldId xmlns:r="http://schemas.openxmlformats.org/officeDocument/2006/relationships" id="266" r:id="R1fe670319aa24c0d"/>
    <p:sldId xmlns:r="http://schemas.openxmlformats.org/officeDocument/2006/relationships" id="267" r:id="R09ed76c866464732"/>
    <p:sldId xmlns:r="http://schemas.openxmlformats.org/officeDocument/2006/relationships" id="268" r:id="Rc90378e64003486d"/>
    <p:sldId xmlns:r="http://schemas.openxmlformats.org/officeDocument/2006/relationships" id="269" r:id="R5aa41b2cfa384b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9506ecbd31444b" /><Relationship Type="http://schemas.openxmlformats.org/officeDocument/2006/relationships/slideMaster" Target="/ppt/slideMasters/slideMaster1.xml" Id="R45fa9d67fada44c9" /><Relationship Type="http://schemas.openxmlformats.org/officeDocument/2006/relationships/slideMaster" Target="/ppt/slideMasters/slideMaster2.xml" Id="Rb1a62efcd8e9450e" /><Relationship Type="http://schemas.openxmlformats.org/officeDocument/2006/relationships/slideMaster" Target="/ppt/slideMasters/slideMaster3.xml" Id="R05abede3e03b4b9f" /><Relationship Type="http://schemas.openxmlformats.org/officeDocument/2006/relationships/slideMaster" Target="/ppt/slideMasters/slideMaster4.xml" Id="Reeb1fadca569498f" /><Relationship Type="http://schemas.openxmlformats.org/officeDocument/2006/relationships/slideMaster" Target="/ppt/slideMasters/slideMaster5.xml" Id="Reb8e902c24b74664" /><Relationship Type="http://schemas.openxmlformats.org/officeDocument/2006/relationships/slideMaster" Target="/ppt/slideMasters/slideMaster6.xml" Id="R950b228060844b81" /><Relationship Type="http://schemas.openxmlformats.org/officeDocument/2006/relationships/slideMaster" Target="/ppt/slideMasters/slideMaster7.xml" Id="R7e4f01b290114da5" /><Relationship Type="http://schemas.openxmlformats.org/officeDocument/2006/relationships/slideMaster" Target="/ppt/slideMasters/slideMaster8.xml" Id="R328d32ecae5c49c4" /><Relationship Type="http://schemas.openxmlformats.org/officeDocument/2006/relationships/slideMaster" Target="/ppt/slideMasters/slideMaster9.xml" Id="R0d86a89a9c3d4dc8" /><Relationship Type="http://schemas.openxmlformats.org/officeDocument/2006/relationships/slideMaster" Target="/ppt/slideMasters/slideMaster10.xml" Id="Ra4acc98422e24b81" /><Relationship Type="http://schemas.openxmlformats.org/officeDocument/2006/relationships/slideMaster" Target="/ppt/slideMasters/slideMaster11.xml" Id="Ra9c5529c7d094fdc" /><Relationship Type="http://schemas.openxmlformats.org/officeDocument/2006/relationships/slideMaster" Target="/ppt/slideMasters/slideMaster12.xml" Id="R74196d579a7b4c13" /><Relationship Type="http://schemas.openxmlformats.org/officeDocument/2006/relationships/slideMaster" Target="/ppt/slideMasters/slideMaster13.xml" Id="R01c98b4000284ea9" /><Relationship Type="http://schemas.openxmlformats.org/officeDocument/2006/relationships/slideMaster" Target="/ppt/slideMasters/slideMaster14.xml" Id="Rc938b944f8d34298" /><Relationship Type="http://schemas.openxmlformats.org/officeDocument/2006/relationships/notesMaster" Target="/ppt/notesMasters/notesMaster1.xml" Id="Rfc36e5df8860411f" /><Relationship Type="http://schemas.openxmlformats.org/officeDocument/2006/relationships/presProps" Target="/ppt/presProps.xml" Id="Re701bc141090442d" /><Relationship Type="http://schemas.openxmlformats.org/officeDocument/2006/relationships/viewProps" Target="/ppt/viewProps.xml" Id="Rd3a55067d4fa420c" /><Relationship Type="http://schemas.openxmlformats.org/officeDocument/2006/relationships/tableStyles" Target="/ppt/tableStyles.xml" Id="Reb233026fea24389" /><Relationship Type="http://schemas.openxmlformats.org/officeDocument/2006/relationships/slide" Target="/ppt/slides/slide1.xml" Id="Rf8b89c5cb6dd4db5" /><Relationship Type="http://schemas.openxmlformats.org/officeDocument/2006/relationships/slide" Target="/ppt/slides/slide2.xml" Id="R9df2199f609b4a65" /><Relationship Type="http://schemas.openxmlformats.org/officeDocument/2006/relationships/slide" Target="/ppt/slides/slide3.xml" Id="Ree2e0297133a484b" /><Relationship Type="http://schemas.openxmlformats.org/officeDocument/2006/relationships/slide" Target="/ppt/slides/slide4.xml" Id="R7de8c6997cd843e3" /><Relationship Type="http://schemas.openxmlformats.org/officeDocument/2006/relationships/slide" Target="/ppt/slides/slide5.xml" Id="Rdd550786242d42d3" /><Relationship Type="http://schemas.openxmlformats.org/officeDocument/2006/relationships/slide" Target="/ppt/slides/slide6.xml" Id="R53ea07d903834df1" /><Relationship Type="http://schemas.openxmlformats.org/officeDocument/2006/relationships/slide" Target="/ppt/slides/slide7.xml" Id="Rf4f9ed7ff77e4a6d" /><Relationship Type="http://schemas.openxmlformats.org/officeDocument/2006/relationships/slide" Target="/ppt/slides/slide8.xml" Id="R6be5c92244ba4438" /><Relationship Type="http://schemas.openxmlformats.org/officeDocument/2006/relationships/slide" Target="/ppt/slides/slide9.xml" Id="R1505f528e217448f" /><Relationship Type="http://schemas.openxmlformats.org/officeDocument/2006/relationships/slide" Target="/ppt/slides/slide10.xml" Id="R5aab1e7fcfbe4f6b" /><Relationship Type="http://schemas.openxmlformats.org/officeDocument/2006/relationships/slide" Target="/ppt/slides/slide11.xml" Id="R1fe670319aa24c0d" /><Relationship Type="http://schemas.openxmlformats.org/officeDocument/2006/relationships/slide" Target="/ppt/slides/slide12.xml" Id="R09ed76c866464732" /><Relationship Type="http://schemas.openxmlformats.org/officeDocument/2006/relationships/slide" Target="/ppt/slides/slide13.xml" Id="Rc90378e64003486d" /><Relationship Type="http://schemas.openxmlformats.org/officeDocument/2006/relationships/slide" Target="/ppt/slides/slide14.xml" Id="R5aa41b2cfa384b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6.xml" Id="R3f93bf7d8ae14f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6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bea2f3ddf9407e" /><Relationship Type="http://schemas.openxmlformats.org/officeDocument/2006/relationships/notesMaster" Target="/ppt/notesMasters/notesMaster1.xml" Id="R83a38528baf94f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39f6488bdc4e71" /><Relationship Type="http://schemas.openxmlformats.org/officeDocument/2006/relationships/notesMaster" Target="/ppt/notesMasters/notesMaster1.xml" Id="R3f532dd078ae4a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5c3fdc3a2a4089" /><Relationship Type="http://schemas.openxmlformats.org/officeDocument/2006/relationships/notesMaster" Target="/ppt/notesMasters/notesMaster1.xml" Id="Rea190c5243a846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1c891cfcb544b9" /><Relationship Type="http://schemas.openxmlformats.org/officeDocument/2006/relationships/notesMaster" Target="/ppt/notesMasters/notesMaster1.xml" Id="Rbe1dc2e7b1fa4e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337478939c46d4" /><Relationship Type="http://schemas.openxmlformats.org/officeDocument/2006/relationships/notesMaster" Target="/ppt/notesMasters/notesMaster1.xml" Id="Rfc96bd3e6e9a4b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f35254a1f541f2" /><Relationship Type="http://schemas.openxmlformats.org/officeDocument/2006/relationships/notesMaster" Target="/ppt/notesMasters/notesMaster1.xml" Id="Ra000275edc1641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50c2c664644d89" /><Relationship Type="http://schemas.openxmlformats.org/officeDocument/2006/relationships/notesMaster" Target="/ppt/notesMasters/notesMaster1.xml" Id="R1cbe2fbbde744d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38482497684804" /><Relationship Type="http://schemas.openxmlformats.org/officeDocument/2006/relationships/notesMaster" Target="/ppt/notesMasters/notesMaster1.xml" Id="R73c04723fb5146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e8f617f7db4b62" /><Relationship Type="http://schemas.openxmlformats.org/officeDocument/2006/relationships/notesMaster" Target="/ppt/notesMasters/notesMaster1.xml" Id="R3f8fbc9feac042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d462b8a7794474" /><Relationship Type="http://schemas.openxmlformats.org/officeDocument/2006/relationships/notesMaster" Target="/ppt/notesMasters/notesMaster1.xml" Id="Re3786b1d1e7249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9cb0ee6afe4310" /><Relationship Type="http://schemas.openxmlformats.org/officeDocument/2006/relationships/notesMaster" Target="/ppt/notesMasters/notesMaster1.xml" Id="R64076460523841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d7ee5477ad4402" /><Relationship Type="http://schemas.openxmlformats.org/officeDocument/2006/relationships/notesMaster" Target="/ppt/notesMasters/notesMaster1.xml" Id="R627f7fc3f30d4e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a364bb17114f88" /><Relationship Type="http://schemas.openxmlformats.org/officeDocument/2006/relationships/notesMaster" Target="/ppt/notesMasters/notesMaster1.xml" Id="Rdd95d7f924ac48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1a9a7af129495b" /><Relationship Type="http://schemas.openxmlformats.org/officeDocument/2006/relationships/notesMaster" Target="/ppt/notesMasters/notesMaster1.xml" Id="R9f861121c69947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供应链优化PPT修改.pptx（页7-10模块输入、模型、输出与价值；页2原始提要；工厂视觉资产来自原稿媒体）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供应链优化PPT修改.pptx（页12数据—模型—应用—反馈闭环；页13管理角色转变；会议、驾驶舱视觉资产来自原稿媒体）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供应链优化PPT修改.pptx（页4量化指标提要；页12-13价值逻辑；工厂视觉资产来自原稿媒体）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47461f8f346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04a0c3b254053" /><Relationship Type="http://schemas.openxmlformats.org/officeDocument/2006/relationships/image" Target="/ppt/media/image.png" Id="R425394fbf2e140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5e446411ca41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0c9adfb2224e06" /><Relationship Type="http://schemas.openxmlformats.org/officeDocument/2006/relationships/image" Target="/ppt/media/image.png" Id="R4d73d78e950f4b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d22b6320e8641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86c435cc6814f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0f908a224ec41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a9b0505719f46f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309384c141495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f4f1acef4ae4d1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814f77453ca47b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7fd2a9178d6442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7194dff378c453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02df322962f45f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8f18e8434204269" /><Relationship Type="http://schemas.openxmlformats.org/officeDocument/2006/relationships/image" Target="/ppt/media/image.png" Id="Rb2227ee55b21446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a787ecb1b504ee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2bf84d60b744faa" /><Relationship Type="http://schemas.openxmlformats.org/officeDocument/2006/relationships/image" Target="/ppt/media/image.png" Id="R6f5c05d1092649f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016c91f829d04d6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fc60d10c7f7d469f" /><Relationship Type="http://schemas.openxmlformats.org/officeDocument/2006/relationships/image" Target="/ppt/media/image.png" Id="R3b671dec5aeb47d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5cccf689c95408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1e4b2993767b451e" /><Relationship Type="http://schemas.openxmlformats.org/officeDocument/2006/relationships/image" Target="/ppt/media/image.png" Id="Re87fac89acf6448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55b25c79ca09461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3af15d70f9ba4966" /><Relationship Type="http://schemas.openxmlformats.org/officeDocument/2006/relationships/image" Target="/ppt/media/image.png" Id="R4ca0f5c2d1e34e4c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291988095185485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72e3c9ca0f894603" /><Relationship Type="http://schemas.openxmlformats.org/officeDocument/2006/relationships/image" Target="/ppt/media/image.png" Id="Rb6f94c1c35e64cf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78a9932d1e104dd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6308498edcf94c92" /><Relationship Type="http://schemas.openxmlformats.org/officeDocument/2006/relationships/image" Target="/ppt/media/image.png" Id="Rd5ea647e375e484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661ef7157b54499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4733c80712384df3" /><Relationship Type="http://schemas.openxmlformats.org/officeDocument/2006/relationships/image" Target="/ppt/media/image.png" Id="Rd606bcd305fa433d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06f71242bcfc4258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ba8870f4ca5b41d2" /><Relationship Type="http://schemas.openxmlformats.org/officeDocument/2006/relationships/image" Target="/ppt/media/image.png" Id="R1ca30a89e6944fad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fbd4d74f1eea4bd7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86117a50ab9d436c" /><Relationship Type="http://schemas.openxmlformats.org/officeDocument/2006/relationships/image" Target="/ppt/media/image.png" Id="R6e4ace0a13e24de8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23724e64dc6f49e0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ce9b1d1cd6344a00" /><Relationship Type="http://schemas.openxmlformats.org/officeDocument/2006/relationships/image" Target="/ppt/media/image.png" Id="Red4422fc45c0403f" /></Relationships>
</file>

<file path=ppt/slideLayouts/slideLayout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25BC7B-EA3F-446F-BFE6-D87D27038BB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5AFAD7D4-BF42-49B2-A27D-0BC1636E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394fbf2e14093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2997A09-6417-4453-B72D-AE2F2E31BD77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6A704D68-2021-411D-944D-E2D7167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3d78e950f4bb0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444AD9B-16D4-4CC5-8C59-E6681C4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8112416-A6EA-49C9-9490-48CF488F0A6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60401" y="1512888"/>
            <a:ext cx="7913565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 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D23B977-357F-400E-AE83-C9F7970D21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60401" y="3992563"/>
            <a:ext cx="7913565" cy="9318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C9AD88CD-017A-4820-A6FB-320EC8402C4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67649" y="6109859"/>
            <a:ext cx="3651251" cy="180659"/>
          </a:xfrm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indent="0" algn="r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 algn="r">
              <a:spcBef>
                <a:spcPct val="0"/>
              </a:spcBef>
              <a:buNone/>
            </a:pPr>
            <a:r>
              <a:t>Speaker name and title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D81E5955-EBA4-461D-94C4-BAEA2CEE282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3100" y="6109859"/>
            <a:ext cx="3651251" cy="180659"/>
          </a:xfrm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indent="0" algn="l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>
              <a:buNone/>
            </a:pPr>
            <a:r>
              <a:t>OfficePLUS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C52FC310-BAD7-4975-AD28-72182728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4169" y="5676332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弧形 9">
            <a:extLst xmlns:a="http://schemas.openxmlformats.org/drawingml/2006/main">
              <a:ext uri="{FF2B5EF4-FFF2-40B4-BE49-F238E27FC236}">
                <a16:creationId xmlns:a16="http://schemas.microsoft.com/office/drawing/2014/main" id="{38C91EBF-A0BF-4BB6-B225-01BC2451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97579" y="4512922"/>
            <a:ext cx="4690154" cy="4690154"/>
          </a:xfrm>
          <a:prstGeom xmlns:a="http://schemas.openxmlformats.org/drawingml/2006/main" prst="arc">
            <a:avLst>
              <a:gd name="adj1" fmla="val 12847544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弧形 5">
            <a:extLst xmlns:a="http://schemas.openxmlformats.org/drawingml/2006/main">
              <a:ext uri="{FF2B5EF4-FFF2-40B4-BE49-F238E27FC236}">
                <a16:creationId xmlns:a16="http://schemas.microsoft.com/office/drawing/2014/main" id="{600FF5E4-1499-4E50-8066-59D6EB9C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6892" flipH="0" flipV="0">
            <a:off x="-2998951" y="3411550"/>
            <a:ext cx="6892898" cy="6892898"/>
          </a:xfrm>
          <a:prstGeom xmlns:a="http://schemas.openxmlformats.org/drawingml/2006/main" prst="arc">
            <a:avLst>
              <a:gd name="adj1" fmla="val 11885142"/>
              <a:gd name="adj2" fmla="val 18112891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7" name="弧形 6">
            <a:extLst xmlns:a="http://schemas.openxmlformats.org/drawingml/2006/main">
              <a:ext uri="{FF2B5EF4-FFF2-40B4-BE49-F238E27FC236}">
                <a16:creationId xmlns:a16="http://schemas.microsoft.com/office/drawing/2014/main" id="{483FB25F-0902-469D-929B-CC9FD41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-4411160" y="1999341"/>
            <a:ext cx="9717317" cy="9717317"/>
          </a:xfrm>
          <a:prstGeom xmlns:a="http://schemas.openxmlformats.org/drawingml/2006/main" prst="arc">
            <a:avLst>
              <a:gd name="adj1" fmla="val 885225"/>
              <a:gd name="adj2" fmla="val 7131830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弧形 7">
            <a:extLst xmlns:a="http://schemas.openxmlformats.org/drawingml/2006/main">
              <a:ext uri="{FF2B5EF4-FFF2-40B4-BE49-F238E27FC236}">
                <a16:creationId xmlns:a16="http://schemas.microsoft.com/office/drawing/2014/main" id="{BF9C3155-091E-4F52-9D10-55D7B986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952" flipH="0" flipV="0">
            <a:off x="-5935416" y="475085"/>
            <a:ext cx="12765829" cy="12765829"/>
          </a:xfrm>
          <a:prstGeom xmlns:a="http://schemas.openxmlformats.org/drawingml/2006/main" prst="arc">
            <a:avLst>
              <a:gd name="adj1" fmla="val 12663326"/>
              <a:gd name="adj2" fmla="val 1898460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ABA67CF9-09C8-4C8A-9CA8-9E1CFCCC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10332" y="-762568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弧形 18">
            <a:extLst xmlns:a="http://schemas.openxmlformats.org/drawingml/2006/main">
              <a:ext uri="{FF2B5EF4-FFF2-40B4-BE49-F238E27FC236}">
                <a16:creationId xmlns:a16="http://schemas.microsoft.com/office/drawing/2014/main" id="{DD1A04BE-F70D-4AC9-9C2C-C7AC9A8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6922" y="-1925978"/>
            <a:ext cx="4690154" cy="4690154"/>
          </a:xfrm>
          <a:prstGeom xmlns:a="http://schemas.openxmlformats.org/drawingml/2006/main" prst="arc">
            <a:avLst>
              <a:gd name="adj1" fmla="val 8681123"/>
              <a:gd name="adj2" fmla="val 93598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弧形 19">
            <a:extLst xmlns:a="http://schemas.openxmlformats.org/drawingml/2006/main">
              <a:ext uri="{FF2B5EF4-FFF2-40B4-BE49-F238E27FC236}">
                <a16:creationId xmlns:a16="http://schemas.microsoft.com/office/drawing/2014/main" id="{DE752667-4458-4331-A739-7E95B13B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9846922" y="-1925978"/>
            <a:ext cx="4690154" cy="4690154"/>
          </a:xfrm>
          <a:prstGeom xmlns:a="http://schemas.openxmlformats.org/drawingml/2006/main" prst="arc">
            <a:avLst>
              <a:gd name="adj1" fmla="val 11969093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弧形 20">
            <a:extLst xmlns:a="http://schemas.openxmlformats.org/drawingml/2006/main">
              <a:ext uri="{FF2B5EF4-FFF2-40B4-BE49-F238E27FC236}">
                <a16:creationId xmlns:a16="http://schemas.microsoft.com/office/drawing/2014/main" id="{B998C436-2144-4B2A-97AB-74683CA8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8745550" y="-3027350"/>
            <a:ext cx="6892898" cy="6892898"/>
          </a:xfrm>
          <a:prstGeom xmlns:a="http://schemas.openxmlformats.org/drawingml/2006/main" prst="arc">
            <a:avLst>
              <a:gd name="adj1" fmla="val 11997002"/>
              <a:gd name="adj2" fmla="val 18351143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16" name="弧形 15">
            <a:extLst xmlns:a="http://schemas.openxmlformats.org/drawingml/2006/main">
              <a:ext uri="{FF2B5EF4-FFF2-40B4-BE49-F238E27FC236}">
                <a16:creationId xmlns:a16="http://schemas.microsoft.com/office/drawing/2014/main" id="{5F1DDFB9-65D1-43B2-8E75-1554F1DC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7333341" y="-4439559"/>
            <a:ext cx="9717317" cy="9717317"/>
          </a:xfrm>
          <a:prstGeom xmlns:a="http://schemas.openxmlformats.org/drawingml/2006/main" prst="arc">
            <a:avLst>
              <a:gd name="adj1" fmla="val 11968596"/>
              <a:gd name="adj2" fmla="val 1813159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76F1F4-3BFA-4E7A-867D-1A05A0A29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57448" y="3015885"/>
            <a:ext cx="5677105" cy="693823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0689A8-09C4-4B79-8763-6F689DAF39F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257448" y="3736693"/>
            <a:ext cx="5677105" cy="9657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B0EB339F-B4FC-4778-BCA7-60A5B51D45D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71003" y="367812"/>
            <a:ext cx="1043876" cy="830164"/>
          </a:xfr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日期占位符 5">
            <a:extLst xmlns:a="http://schemas.openxmlformats.org/drawingml/2006/main">
              <a:ext uri="{FF2B5EF4-FFF2-40B4-BE49-F238E27FC236}">
                <a16:creationId xmlns:a16="http://schemas.microsoft.com/office/drawing/2014/main" id="{07CBF742-0B44-4940-BB30-CD2916D619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1732" y="6235704"/>
            <a:ext cx="1388536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9C77E07B-08AA-4A0B-84B1-D4F837246D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60402" y="6235704"/>
            <a:ext cx="4140201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8" name="灯片编号占位符 7">
            <a:extLst xmlns:a="http://schemas.openxmlformats.org/drawingml/2006/main">
              <a:ext uri="{FF2B5EF4-FFF2-40B4-BE49-F238E27FC236}">
                <a16:creationId xmlns:a16="http://schemas.microsoft.com/office/drawing/2014/main" id="{CD130E05-8F24-4015-88DA-BFC9E3C1B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971305" y="6235704"/>
            <a:ext cx="2547595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0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AD7785DE-74F9-4440-8429-59A32265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318" y="0"/>
            <a:ext cx="684" cy="13546"/>
          </a:xfrm>
          <a:custGeom xmlns:a="http://schemas.openxmlformats.org/drawingml/2006/main"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4015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 sz="1800">
              <a:solidFill>
                <a:schemeClr val="tx1"/>
              </a:solidFill>
            </a:endParaRPr>
          </a:p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FF4F0291-B00B-49EC-B2A5-4BFC960BB51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69100" y="5255017"/>
            <a:ext cx="4843552" cy="258532"/>
          </a:xfr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>
              <a:buNone/>
            </a:pPr>
            <a:r>
              <a:t>Signature</a:t>
            </a:r>
            <a:endParaRPr/>
          </a:p>
        </p:txBody>
      </p:sp>
      <p:sp>
        <p:nvSpPr>
          <p:cNvPr id="27" name="文本占位符 26">
            <a:extLst xmlns:a="http://schemas.openxmlformats.org/drawingml/2006/main">
              <a:ext uri="{FF2B5EF4-FFF2-40B4-BE49-F238E27FC236}">
                <a16:creationId xmlns:a16="http://schemas.microsoft.com/office/drawing/2014/main" id="{2C05BDC2-7CE9-48FF-B528-597A6044953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769100" y="5513549"/>
            <a:ext cx="4843552" cy="258532"/>
          </a:xfr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B84B587-057F-4CED-9B48-D54102E2160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769100" y="3247008"/>
            <a:ext cx="4843552" cy="113767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 xmlns:a="http://schemas.openxmlformats.org/drawingml/2006/main">
            <a:pPr lvl="0">
              <a:buNone/>
            </a:pPr>
            <a:r>
              <a:t>Thank you</a:t>
            </a:r>
            <a:endParaRPr/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FED71C64-333C-4EB2-9114-6AA7BA51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8207422" y="2065340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弧形 12">
            <a:extLst xmlns:a="http://schemas.openxmlformats.org/drawingml/2006/main">
              <a:ext uri="{FF2B5EF4-FFF2-40B4-BE49-F238E27FC236}">
                <a16:creationId xmlns:a16="http://schemas.microsoft.com/office/drawing/2014/main" id="{7B519172-374A-42BF-BABF-49898070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044012" y="901930"/>
            <a:ext cx="4690154" cy="4690154"/>
          </a:xfrm>
          <a:prstGeom xmlns:a="http://schemas.openxmlformats.org/drawingml/2006/main" prst="arc">
            <a:avLst>
              <a:gd name="adj1" fmla="val 8681123"/>
              <a:gd name="adj2" fmla="val 14615283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弧形 13">
            <a:extLst xmlns:a="http://schemas.openxmlformats.org/drawingml/2006/main">
              <a:ext uri="{FF2B5EF4-FFF2-40B4-BE49-F238E27FC236}">
                <a16:creationId xmlns:a16="http://schemas.microsoft.com/office/drawing/2014/main" id="{0698FFDA-E150-430C-AEC3-E2E5E06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7044012" y="901930"/>
            <a:ext cx="4690154" cy="4690154"/>
          </a:xfrm>
          <a:prstGeom xmlns:a="http://schemas.openxmlformats.org/drawingml/2006/main" prst="arc">
            <a:avLst>
              <a:gd name="adj1" fmla="val 5884870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弧形 14">
            <a:extLst xmlns:a="http://schemas.openxmlformats.org/drawingml/2006/main">
              <a:ext uri="{FF2B5EF4-FFF2-40B4-BE49-F238E27FC236}">
                <a16:creationId xmlns:a16="http://schemas.microsoft.com/office/drawing/2014/main" id="{E59342BE-53F3-495C-8DA3-8A0EDEC5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5942640" y="-199442"/>
            <a:ext cx="6892898" cy="6892898"/>
          </a:xfrm>
          <a:prstGeom xmlns:a="http://schemas.openxmlformats.org/drawingml/2006/main" prst="arc">
            <a:avLst>
              <a:gd name="adj1" fmla="val 11003651"/>
              <a:gd name="adj2" fmla="val 2065537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8" name="弧形 7">
            <a:extLst xmlns:a="http://schemas.openxmlformats.org/drawingml/2006/main">
              <a:ext uri="{FF2B5EF4-FFF2-40B4-BE49-F238E27FC236}">
                <a16:creationId xmlns:a16="http://schemas.microsoft.com/office/drawing/2014/main" id="{4C91454B-F9A1-4358-92C8-565283E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6892" flipH="1" flipV="0">
            <a:off x="-15942640" y="-199442"/>
            <a:ext cx="6892898" cy="6892898"/>
          </a:xfrm>
          <a:prstGeom xmlns:a="http://schemas.openxmlformats.org/drawingml/2006/main" prst="arc">
            <a:avLst>
              <a:gd name="adj1" fmla="val 17964632"/>
              <a:gd name="adj2" fmla="val 20655375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6"/>
                </a:gs>
                <a:gs pos="100000">
                  <a:schemeClr val="accent6">
                    <a:alpha val="50000"/>
                  </a:schemeClr>
                </a:gs>
              </a:gsLst>
              <a:lin ang="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弧形 8">
            <a:extLst xmlns:a="http://schemas.openxmlformats.org/drawingml/2006/main">
              <a:ext uri="{FF2B5EF4-FFF2-40B4-BE49-F238E27FC236}">
                <a16:creationId xmlns:a16="http://schemas.microsoft.com/office/drawing/2014/main" id="{A897A7C3-D355-44D8-A792-90832208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4530431" y="-1611651"/>
            <a:ext cx="9717317" cy="9717317"/>
          </a:xfrm>
          <a:prstGeom xmlns:a="http://schemas.openxmlformats.org/drawingml/2006/main" prst="arc">
            <a:avLst>
              <a:gd name="adj1" fmla="val 11003651"/>
              <a:gd name="adj2" fmla="val 17440526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10" name="弧形 9">
            <a:extLst xmlns:a="http://schemas.openxmlformats.org/drawingml/2006/main">
              <a:ext uri="{FF2B5EF4-FFF2-40B4-BE49-F238E27FC236}">
                <a16:creationId xmlns:a16="http://schemas.microsoft.com/office/drawing/2014/main" id="{F4EF81D0-3E3D-48EB-AE63-AD3B2DBF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952" flipH="1" flipV="0">
            <a:off x="-13006175" y="-3135907"/>
            <a:ext cx="12765829" cy="12765829"/>
          </a:xfrm>
          <a:prstGeom xmlns:a="http://schemas.openxmlformats.org/drawingml/2006/main" prst="arc">
            <a:avLst>
              <a:gd name="adj1" fmla="val 2152946"/>
              <a:gd name="adj2" fmla="val 6967338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87F3B7A-1186-4F39-9D53-676E47D0B5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F6A99F-2216-4A3C-AFB9-69804E6C89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9BFAE1B-F094-4B4B-B9D7-BBA5A9FDFF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secHead" preserve="1">
  <p:cSld name="6_节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79DC728-AE0C-4826-9DE7-4CE5AD01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7585" y="2071370"/>
            <a:ext cx="3098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>
              <a:solidFill>
                <a:schemeClr val="bg1"/>
              </a:solidFill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DE0D3AE-EE61-41E2-8296-0A93F1461E7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C3BB0AFA-3B77-45BE-8386-9D801366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27ee55b21446b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120C8AB-7C1F-4E12-8D83-FBD4291860F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3E7F268-9CC7-4920-B71C-880FF7AD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c05d1092649f0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8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FEDE330-4E41-45D3-A5FE-DCB4F4A1427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7F146FE4-B932-4EF1-B8EA-97147889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71dec5aeb47d1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0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1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F0BE862-F3BE-431C-BC4E-195560B7BD2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09076A93-DAEC-4C5B-ABA5-10DC07DE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fac89acf6448a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1E9139F-06E0-46C3-9FD4-693515B35B4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5F5C1B7F-4A11-479A-BE68-C175AF7F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0f5c2d1e34e4c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DD4769D-6C40-49E3-A0EC-82C280F6FE2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85670E0-7FDD-4CF8-87CA-B1F2681D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94c1c35e64cfe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6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7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0CBAB50-02D1-4E84-8114-AE3BE8FFAA2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8FB92757-46D5-40E8-A705-DAA2157F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a647e375e484d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8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9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6388BCC-2821-4E24-B776-157ACCFC20F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F3DCC65A-6690-4459-BE2E-C3A8F8D1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6bcd305fa433d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0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1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5230C75-C8D1-4ED1-A6E1-E14A777F3DE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8D9AAD86-EDAA-46B6-9DA0-FD94AA3C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30a89e6944fad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3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31B2D54-E42C-4E7D-94B6-63A43F0FBE0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FAA9FF3-1CD6-464F-8FC4-52545D68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ace0a13e24de8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812536-2AC2-40F8-9640-C7735DC09BF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0EB0CC73-A860-4C20-871F-2F8C9FDB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422fc45c0403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ec040f0bb4f48" /><Relationship Type="http://schemas.openxmlformats.org/officeDocument/2006/relationships/slideLayout" Target="/ppt/slideLayouts/slideLayout1.xml" Id="R5171968e33a24259" /><Relationship Type="http://schemas.openxmlformats.org/officeDocument/2006/relationships/slideLayout" Target="/ppt/slideLayouts/slideLayout2.xml" Id="R8fe3b962c485467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9df1ea033544261" /><Relationship Type="http://schemas.openxmlformats.org/officeDocument/2006/relationships/slideLayout" Target="/ppt/slideLayouts/slideLayout3.xml" Id="Rd7a35f9ee21d41e9" /><Relationship Type="http://schemas.openxmlformats.org/officeDocument/2006/relationships/slideLayout" Target="/ppt/slideLayouts/slideLayout4.xml" Id="R85d114cd0a3b47f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a7df75702de4e13" /><Relationship Type="http://schemas.openxmlformats.org/officeDocument/2006/relationships/slideLayout" Target="/ppt/slideLayouts/slideLayout5.xml" Id="R5f64875603e7476e" /><Relationship Type="http://schemas.openxmlformats.org/officeDocument/2006/relationships/slideLayout" Target="/ppt/slideLayouts/slideLayout6.xml" Id="Rdc9a12449dcd4bd8" /><Relationship Type="http://schemas.openxmlformats.org/officeDocument/2006/relationships/slideLayout" Target="/ppt/slideLayouts/slideLayout7.xml" Id="Rf9cf0bbd97c1441d" /><Relationship Type="http://schemas.openxmlformats.org/officeDocument/2006/relationships/slideLayout" Target="/ppt/slideLayouts/slideLayout8.xml" Id="Rd95d83f3afb043cb" /><Relationship Type="http://schemas.openxmlformats.org/officeDocument/2006/relationships/slideLayout" Target="/ppt/slideLayouts/slideLayout9.xml" Id="Re96bc2084235471c" /><Relationship Type="http://schemas.openxmlformats.org/officeDocument/2006/relationships/slideLayout" Target="/ppt/slideLayouts/slideLayout10.xml" Id="R6e1cf56856814b45" /><Relationship Type="http://schemas.openxmlformats.org/officeDocument/2006/relationships/slideLayout" Target="/ppt/slideLayouts/slideLayout11.xml" Id="R5b85c6c4f42e44ae" /><Relationship Type="http://schemas.openxmlformats.org/officeDocument/2006/relationships/slideLayout" Target="/ppt/slideLayouts/slideLayout12.xml" Id="R276401194b584164" /><Relationship Type="http://schemas.openxmlformats.org/officeDocument/2006/relationships/slideLayout" Target="/ppt/slideLayouts/slideLayout13.xml" Id="Rbe7f950014924813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6fb94e8a8b554d5a" /><Relationship Type="http://schemas.openxmlformats.org/officeDocument/2006/relationships/slideLayout" Target="/ppt/slideLayouts/slideLayout14.xml" Id="R3992c8320aa54b9c" /><Relationship Type="http://schemas.openxmlformats.org/officeDocument/2006/relationships/slideLayout" Target="/ppt/slideLayouts/slideLayout15.xml" Id="R57171548214c49ad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61864d5988864405" /><Relationship Type="http://schemas.openxmlformats.org/officeDocument/2006/relationships/slideLayout" Target="/ppt/slideLayouts/slideLayout16.xml" Id="R387691c3f95c45e3" /><Relationship Type="http://schemas.openxmlformats.org/officeDocument/2006/relationships/slideLayout" Target="/ppt/slideLayouts/slideLayout17.xml" Id="Rab89750785bf4a0b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ab3130864f774038" /><Relationship Type="http://schemas.openxmlformats.org/officeDocument/2006/relationships/slideLayout" Target="/ppt/slideLayouts/slideLayout18.xml" Id="R85c629bc828b480e" /><Relationship Type="http://schemas.openxmlformats.org/officeDocument/2006/relationships/slideLayout" Target="/ppt/slideLayouts/slideLayout19.xml" Id="R6ad9015a47d84f1c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605b3c35f6744bdb" /><Relationship Type="http://schemas.openxmlformats.org/officeDocument/2006/relationships/slideLayout" Target="/ppt/slideLayouts/slideLayout20.xml" Id="R9283cabcce844f71" /><Relationship Type="http://schemas.openxmlformats.org/officeDocument/2006/relationships/slideLayout" Target="/ppt/slideLayouts/slideLayout21.xml" Id="R297f199fd2164410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f8d953c9a24b47bb" /><Relationship Type="http://schemas.openxmlformats.org/officeDocument/2006/relationships/slideLayout" Target="/ppt/slideLayouts/slideLayout22.xml" Id="Rad43115caf484fda" /><Relationship Type="http://schemas.openxmlformats.org/officeDocument/2006/relationships/slideLayout" Target="/ppt/slideLayouts/slideLayout23.xml" Id="Re59489d29d6445d4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db4cdd23c6424a52" /><Relationship Type="http://schemas.openxmlformats.org/officeDocument/2006/relationships/slideLayout" Target="/ppt/slideLayouts/slideLayout24.xml" Id="R25ccf5236ec14e54" /><Relationship Type="http://schemas.openxmlformats.org/officeDocument/2006/relationships/slideLayout" Target="/ppt/slideLayouts/slideLayout25.xml" Id="Rc732a7da011d41e2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f9ff9f4c71d2424e" /><Relationship Type="http://schemas.openxmlformats.org/officeDocument/2006/relationships/slideLayout" Target="/ppt/slideLayouts/slideLayout26.xml" Id="Rb1df95eb1a3f41e6" /><Relationship Type="http://schemas.openxmlformats.org/officeDocument/2006/relationships/slideLayout" Target="/ppt/slideLayouts/slideLayout27.xml" Id="R1e1e89f5dd72454a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32f177bffe7641d4" /><Relationship Type="http://schemas.openxmlformats.org/officeDocument/2006/relationships/slideLayout" Target="/ppt/slideLayouts/slideLayout28.xml" Id="R6c4bc7ef13db4de4" /><Relationship Type="http://schemas.openxmlformats.org/officeDocument/2006/relationships/slideLayout" Target="/ppt/slideLayouts/slideLayout29.xml" Id="R41e2435d26234ff9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Masters/theme/theme13.xml" Id="R68ad8d1ea04d499d" /><Relationship Type="http://schemas.openxmlformats.org/officeDocument/2006/relationships/slideLayout" Target="/ppt/slideLayouts/slideLayout30.xml" Id="R3af20e1092b64ea8" /><Relationship Type="http://schemas.openxmlformats.org/officeDocument/2006/relationships/slideLayout" Target="/ppt/slideLayouts/slideLayout31.xml" Id="R439f04d68dae4b37" /></Relationships>
</file>

<file path=ppt/slideMasters/_rels/slideMaster13.xml.rels>&#65279;<?xml version="1.0" encoding="utf-8"?><Relationships xmlns="http://schemas.openxmlformats.org/package/2006/relationships"><Relationship Type="http://schemas.openxmlformats.org/officeDocument/2006/relationships/theme" Target="/ppt/slideMasters/theme/theme14.xml" Id="R57c15c1958154d2d" /><Relationship Type="http://schemas.openxmlformats.org/officeDocument/2006/relationships/slideLayout" Target="/ppt/slideLayouts/slideLayout32.xml" Id="R03d1a3a67e534cb8" /><Relationship Type="http://schemas.openxmlformats.org/officeDocument/2006/relationships/slideLayout" Target="/ppt/slideLayouts/slideLayout33.xml" Id="R9e73d363d9a1475b" /></Relationships>
</file>

<file path=ppt/slideMasters/_rels/slideMaster14.xml.rels>&#65279;<?xml version="1.0" encoding="utf-8"?><Relationships xmlns="http://schemas.openxmlformats.org/package/2006/relationships"><Relationship Type="http://schemas.openxmlformats.org/officeDocument/2006/relationships/theme" Target="/ppt/slideMasters/theme/theme15.xml" Id="R4a495801af6c4095" /><Relationship Type="http://schemas.openxmlformats.org/officeDocument/2006/relationships/slideLayout" Target="/ppt/slideLayouts/slideLayout34.xml" Id="R0ca90b891a4247ae" /><Relationship Type="http://schemas.openxmlformats.org/officeDocument/2006/relationships/slideLayout" Target="/ppt/slideLayouts/slideLayout35.xml" Id="R4369b4941eee445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1968e33a24259"/>
    <p:sldLayoutId xmlns:r="http://schemas.openxmlformats.org/officeDocument/2006/relationships" id="2147483650" r:id="R8fe3b962c485467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d7a35f9ee21d41e9"/>
    <p:sldLayoutId xmlns:r="http://schemas.openxmlformats.org/officeDocument/2006/relationships" id="2147483653" r:id="R85d114cd0a3b47f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0ACCC21-7151-4D70-964B-898443E4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FBD51A6-FB84-401B-BAD0-7E328F163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0402" y="0"/>
            <a:ext cx="10858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456DE90-96F7-44E5-BA1B-409A05451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0402" y="1130300"/>
            <a:ext cx="10858500" cy="500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31A339D6-6B5F-4B25-AF18-4859475C12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5401732" y="6235704"/>
            <a:ext cx="1388536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E0563071-DF16-49A2-9A03-551390AA94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60402" y="6235704"/>
            <a:ext cx="4140201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F8BC58B6-2D1A-411E-8FF6-CCC3BC0B9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971305" y="6235704"/>
            <a:ext cx="2547595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5f64875603e7476e"/>
    <p:sldLayoutId xmlns:r="http://schemas.openxmlformats.org/officeDocument/2006/relationships" id="2147483656" r:id="Rdc9a12449dcd4bd8"/>
    <p:sldLayoutId xmlns:r="http://schemas.openxmlformats.org/officeDocument/2006/relationships" id="2147483657" r:id="Rf9cf0bbd97c1441d"/>
    <p:sldLayoutId xmlns:r="http://schemas.openxmlformats.org/officeDocument/2006/relationships" id="2147483658" r:id="Rd95d83f3afb043cb"/>
    <p:sldLayoutId xmlns:r="http://schemas.openxmlformats.org/officeDocument/2006/relationships" id="2147483659" r:id="Re96bc2084235471c"/>
    <p:sldLayoutId xmlns:r="http://schemas.openxmlformats.org/officeDocument/2006/relationships" id="2147483660" r:id="R6e1cf56856814b45"/>
    <p:sldLayoutId xmlns:r="http://schemas.openxmlformats.org/officeDocument/2006/relationships" id="2147483661" r:id="R5b85c6c4f42e44ae"/>
    <p:sldLayoutId xmlns:r="http://schemas.openxmlformats.org/officeDocument/2006/relationships" id="2147483662" r:id="R276401194b584164"/>
    <p:sldLayoutId xmlns:r="http://schemas.openxmlformats.org/officeDocument/2006/relationships" id="2147483663" r:id="Rbe7f95001492481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3992c8320aa54b9c"/>
    <p:sldLayoutId xmlns:r="http://schemas.openxmlformats.org/officeDocument/2006/relationships" id="2147483666" r:id="R57171548214c49a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387691c3f95c45e3"/>
    <p:sldLayoutId xmlns:r="http://schemas.openxmlformats.org/officeDocument/2006/relationships" id="2147483669" r:id="Rab89750785bf4a0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85c629bc828b480e"/>
    <p:sldLayoutId xmlns:r="http://schemas.openxmlformats.org/officeDocument/2006/relationships" id="2147483672" r:id="R6ad9015a47d84f1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9283cabcce844f71"/>
    <p:sldLayoutId xmlns:r="http://schemas.openxmlformats.org/officeDocument/2006/relationships" id="2147483675" r:id="R297f199fd216441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ad43115caf484fda"/>
    <p:sldLayoutId xmlns:r="http://schemas.openxmlformats.org/officeDocument/2006/relationships" id="2147483678" r:id="Re59489d29d6445d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0" r:id="R25ccf5236ec14e54"/>
    <p:sldLayoutId xmlns:r="http://schemas.openxmlformats.org/officeDocument/2006/relationships" id="2147483681" r:id="Rc732a7da011d41e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3" r:id="Rb1df95eb1a3f41e6"/>
    <p:sldLayoutId xmlns:r="http://schemas.openxmlformats.org/officeDocument/2006/relationships" id="2147483684" r:id="R1e1e89f5dd72454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6" r:id="R6c4bc7ef13db4de4"/>
    <p:sldLayoutId xmlns:r="http://schemas.openxmlformats.org/officeDocument/2006/relationships" id="2147483687" r:id="R41e2435d26234ff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9" r:id="R3af20e1092b64ea8"/>
    <p:sldLayoutId xmlns:r="http://schemas.openxmlformats.org/officeDocument/2006/relationships" id="2147483690" r:id="R439f04d68dae4b3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2" r:id="R03d1a3a67e534cb8"/>
    <p:sldLayoutId xmlns:r="http://schemas.openxmlformats.org/officeDocument/2006/relationships" id="2147483693" r:id="R9e73d363d9a1475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5" r:id="R0ca90b891a4247ae"/>
    <p:sldLayoutId xmlns:r="http://schemas.openxmlformats.org/officeDocument/2006/relationships" id="2147483696" r:id="R4369b4941eee445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1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2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2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9.xml><?xml version="1.0" encoding="utf-8"?>
<a:theme xmlns:a="http://schemas.openxmlformats.org/drawingml/2006/main" name="2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0.xml><?xml version="1.0" encoding="utf-8"?>
<a:theme xmlns:a="http://schemas.openxmlformats.org/drawingml/2006/main" name="6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1.xml><?xml version="1.0" encoding="utf-8"?>
<a:theme xmlns:a="http://schemas.openxmlformats.org/drawingml/2006/main" name="6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2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6e738e1cf4844" /><Relationship Type="http://schemas.openxmlformats.org/officeDocument/2006/relationships/image" Target="/ppt/media/image2.png" Id="Reb7aa113eb8f4f08" /><Relationship Type="http://schemas.openxmlformats.org/officeDocument/2006/relationships/image" Target="/ppt/media/image3.png" Id="R3fb76170ddbf490a" /><Relationship Type="http://schemas.openxmlformats.org/officeDocument/2006/relationships/image" Target="/ppt/media/image4.png" Id="Rb026855502624181" /><Relationship Type="http://schemas.openxmlformats.org/officeDocument/2006/relationships/image" Target="/ppt/media/image5.png" Id="R7bde44c7583d4c11" /><Relationship Type="http://schemas.openxmlformats.org/officeDocument/2006/relationships/image" Target="/ppt/media/image6.png" Id="R9801243f2ae04e36" /><Relationship Type="http://schemas.openxmlformats.org/officeDocument/2006/relationships/notesSlide" Target="/ppt/notesSlides/notesSlide1.xml" Id="R0c832c6da2c94d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842d04a7bd694800" /><Relationship Type="http://schemas.openxmlformats.org/officeDocument/2006/relationships/image" Target="/ppt/media/image.png" Id="R3754be4d692e45ae" /><Relationship Type="http://schemas.openxmlformats.org/officeDocument/2006/relationships/image" Target="/ppt/media/image7.png" Id="R348e8de4430b4f84" /><Relationship Type="http://schemas.openxmlformats.org/officeDocument/2006/relationships/image" Target="/ppt/media/image8.png" Id="R5a5611a6c6634c5f" /><Relationship Type="http://schemas.openxmlformats.org/officeDocument/2006/relationships/image" Target="/ppt/media/image9.png" Id="R1849d2cd0ded48bc" /><Relationship Type="http://schemas.openxmlformats.org/officeDocument/2006/relationships/image" Target="/ppt/media/image10.png" Id="R1e3996fe71604f7f" /><Relationship Type="http://schemas.openxmlformats.org/officeDocument/2006/relationships/image" Target="/ppt/media/image11.png" Id="Rd6195c80b6a3471a" /><Relationship Type="http://schemas.openxmlformats.org/officeDocument/2006/relationships/notesSlide" Target="/ppt/notesSlides/notesSlide2.xml" Id="Rabcb6a40b1194b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2.xml" Id="R04562bae1e9a490b" /><Relationship Type="http://schemas.openxmlformats.org/officeDocument/2006/relationships/image" Target="/ppt/media/image.png" Id="Rf0f34fb6e52142fa" /><Relationship Type="http://schemas.openxmlformats.org/officeDocument/2006/relationships/image" Target="/ppt/media/image12.png" Id="R1f3c4b72df36467f" /><Relationship Type="http://schemas.openxmlformats.org/officeDocument/2006/relationships/image" Target="/ppt/media/image13.png" Id="R7da5462df1224460" /><Relationship Type="http://schemas.openxmlformats.org/officeDocument/2006/relationships/notesSlide" Target="/ppt/notesSlides/notesSlide3.xml" Id="R42ee5789dc9949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4.xml" Id="R76e595b202484555" /><Relationship Type="http://schemas.openxmlformats.org/officeDocument/2006/relationships/image" Target="/ppt/media/image.png" Id="R45f3e4f7ca7e401e" /><Relationship Type="http://schemas.openxmlformats.org/officeDocument/2006/relationships/image" Target="/ppt/media/image14.png" Id="Rb8c827ad28f449a0" /><Relationship Type="http://schemas.openxmlformats.org/officeDocument/2006/relationships/notesSlide" Target="/ppt/notesSlides/notesSlide4.xml" Id="R19640f06dd4c4e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427066f0774544fb" /><Relationship Type="http://schemas.openxmlformats.org/officeDocument/2006/relationships/image" Target="/ppt/media/image.png" Id="R36aa0d094bcf47ce" /><Relationship Type="http://schemas.openxmlformats.org/officeDocument/2006/relationships/image" Target="/ppt/media/image.svg" Id="R6e116cfbdd274739" /><Relationship Type="http://schemas.openxmlformats.org/officeDocument/2006/relationships/image" Target="/ppt/media/image2.svg" Id="Rbb380f1a58f6427c" /><Relationship Type="http://schemas.openxmlformats.org/officeDocument/2006/relationships/image" Target="/ppt/media/image2.png" Id="R96eed85e9ecd4d99" /><Relationship Type="http://schemas.openxmlformats.org/officeDocument/2006/relationships/image" Target="/ppt/media/image3.svg" Id="Re06840129429416c" /><Relationship Type="http://schemas.openxmlformats.org/officeDocument/2006/relationships/image" Target="/ppt/media/image3.png" Id="Re412c08b7ee64a0e" /><Relationship Type="http://schemas.openxmlformats.org/officeDocument/2006/relationships/notesSlide" Target="/ppt/notesSlides/notesSlide5.xml" Id="Rd785d66a338f41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8e01ce9f6f4241" /><Relationship Type="http://schemas.openxmlformats.org/officeDocument/2006/relationships/image" Target="/ppt/media/image.png" Id="Rfeccda651ad042f0" /><Relationship Type="http://schemas.openxmlformats.org/officeDocument/2006/relationships/notesSlide" Target="/ppt/notesSlides/notesSlide6.xml" Id="R66b61a3dbbbf49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4f4b064e9ee4260" /><Relationship Type="http://schemas.openxmlformats.org/officeDocument/2006/relationships/image" Target="/ppt/media/image.png" Id="R50fbe318fcf449f4" /><Relationship Type="http://schemas.openxmlformats.org/officeDocument/2006/relationships/notesSlide" Target="/ppt/notesSlides/notesSlide7.xml" Id="R4fd43a766ef842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2ef6ec5a42aa4883" /><Relationship Type="http://schemas.openxmlformats.org/officeDocument/2006/relationships/image" Target="/ppt/media/image.png" Id="Rd687823c479b4f8b" /><Relationship Type="http://schemas.openxmlformats.org/officeDocument/2006/relationships/notesSlide" Target="/ppt/notesSlides/notesSlide8.xml" Id="Rba545f00b76244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d03f8e32ee943fc" /><Relationship Type="http://schemas.openxmlformats.org/officeDocument/2006/relationships/image" Target="/ppt/media/image.png" Id="Re41396b839914a72" /><Relationship Type="http://schemas.openxmlformats.org/officeDocument/2006/relationships/notesSlide" Target="/ppt/notesSlides/notesSlide9.xml" Id="R3af2f74ed23749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ebc5553dbce4dc8" /><Relationship Type="http://schemas.openxmlformats.org/officeDocument/2006/relationships/image" Target="/ppt/media/image.png" Id="R8a2752b441c7486a" /><Relationship Type="http://schemas.openxmlformats.org/officeDocument/2006/relationships/notesSlide" Target="/ppt/notesSlides/notesSlide10.xml" Id="R79185f0cba734b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5deae303010f4d55" /><Relationship Type="http://schemas.openxmlformats.org/officeDocument/2006/relationships/image" Target="/ppt/media/image.png" Id="Rc1ee9356844d497d" /><Relationship Type="http://schemas.openxmlformats.org/officeDocument/2006/relationships/image" Target="/ppt/media/image15.png" Id="R9c58067b916440f6" /><Relationship Type="http://schemas.openxmlformats.org/officeDocument/2006/relationships/notesSlide" Target="/ppt/notesSlides/notesSlide11.xml" Id="R423753ac0a364c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4fa910a18788401d" /><Relationship Type="http://schemas.openxmlformats.org/officeDocument/2006/relationships/image" Target="/ppt/media/image.png" Id="Rfd3b7a9f20014ade" /><Relationship Type="http://schemas.openxmlformats.org/officeDocument/2006/relationships/image" Target="/ppt/media/image4.svg" Id="Rf6ffa5a284b34357" /><Relationship Type="http://schemas.openxmlformats.org/officeDocument/2006/relationships/image" Target="/ppt/media/image4.png" Id="Re2e8fb5c7b634de6" /><Relationship Type="http://schemas.openxmlformats.org/officeDocument/2006/relationships/image" Target="/ppt/media/image5.svg" Id="R841494ee5ccd40f2" /><Relationship Type="http://schemas.openxmlformats.org/officeDocument/2006/relationships/image" Target="/ppt/media/image5.png" Id="Ra2c3ecda9634488f" /><Relationship Type="http://schemas.openxmlformats.org/officeDocument/2006/relationships/image" Target="/ppt/media/image6.svg" Id="R8475bdda6c9942a1" /><Relationship Type="http://schemas.openxmlformats.org/officeDocument/2006/relationships/image" Target="/ppt/media/image6.png" Id="R51c5370f700645aa" /><Relationship Type="http://schemas.openxmlformats.org/officeDocument/2006/relationships/notesSlide" Target="/ppt/notesSlides/notesSlide12.xml" Id="Radc6f3930d694a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9a20a62241ca47d3" /><Relationship Type="http://schemas.openxmlformats.org/officeDocument/2006/relationships/image" Target="/ppt/media/image.png" Id="R03d7e05ed5b14a6e" /><Relationship Type="http://schemas.openxmlformats.org/officeDocument/2006/relationships/image" Target="/ppt/media/image16.png" Id="R7673972f10124dc0" /><Relationship Type="http://schemas.openxmlformats.org/officeDocument/2006/relationships/image" Target="/ppt/media/image17.png" Id="R182a3013d1c54d13" /><Relationship Type="http://schemas.openxmlformats.org/officeDocument/2006/relationships/image" Target="/ppt/media/image18.png" Id="R9c4d4d1cd89046f7" /><Relationship Type="http://schemas.openxmlformats.org/officeDocument/2006/relationships/image" Target="/ppt/media/image19.png" Id="R72fb0239ee7c42a9" /><Relationship Type="http://schemas.openxmlformats.org/officeDocument/2006/relationships/image" Target="/ppt/media/image20.png" Id="Rdb7b61fe68034d8d" /><Relationship Type="http://schemas.openxmlformats.org/officeDocument/2006/relationships/image" Target="/ppt/media/image21.png" Id="Ree3125e9814647e0" /><Relationship Type="http://schemas.openxmlformats.org/officeDocument/2006/relationships/image" Target="/ppt/media/image22.png" Id="R43a33d88ce124437" /><Relationship Type="http://schemas.openxmlformats.org/officeDocument/2006/relationships/notesSlide" Target="/ppt/notesSlides/notesSlide13.xml" Id="Rbd8dd97d4cb943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0426bbd315d4eec" /><Relationship Type="http://schemas.openxmlformats.org/officeDocument/2006/relationships/image" Target="/ppt/media/image23.png" Id="R207b3e98df4d4e42" /><Relationship Type="http://schemas.openxmlformats.org/officeDocument/2006/relationships/image" Target="/ppt/media/image3.png" Id="R81935485a4604945" /><Relationship Type="http://schemas.openxmlformats.org/officeDocument/2006/relationships/image" Target="/ppt/media/image6.png" Id="R1ec2892b9fea474d" /><Relationship Type="http://schemas.openxmlformats.org/officeDocument/2006/relationships/notesSlide" Target="/ppt/notesSlides/notesSlide14.xml" Id="R353b026f860a4d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aa113eb8f4f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070313" y="746125"/>
            <a:ext cx="8856429" cy="6642322"/>
          </a:xfrm>
          <a:prstGeom xmlns:a="http://schemas.openxmlformats.org/drawingml/2006/main" prst="rect">
            <a:avLst/>
          </a:prstGeom>
        </p:spPr>
      </p:pic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13819C8-D5FA-4EDF-9138-5FFCC3EA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27500"/>
            <a:ext cx="4064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algn="l">
              <a:buNone/>
            </a:pPr>
            <a:endParaRPr sz="14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A8A198E-971B-4EE7-AB9A-8FCED79B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489200"/>
            <a:ext cx="7112000" cy="4191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0">
            <a:gsLst>
              <a:gs pos="0">
                <a:srgbClr val="0569E5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76170ddbf49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85300" y="268605"/>
            <a:ext cx="2336800" cy="2286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pic>
        <p:nvPicPr>
          <p:cNvPr id="2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6855502624181"/>
          <a:srcRect xmlns:a="http://schemas.openxmlformats.org/drawingml/2006/main" l="0" t="2668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V="1">
            <a:off x="0" y="2984500"/>
            <a:ext cx="9410700" cy="3873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71F19A2-7689-4913-9E55-55F1244F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7340"/>
            <a:ext cx="773811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non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让工业更智能，让客户更成功</a:t>
            </a:r>
            <a:r>
              <a:rPr sz="18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C23D7E33-54DC-46DA-A771-DF40DA2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" y="2373630"/>
            <a:ext cx="645414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132000"/>
              </a:lnSpc>
              <a:buNone/>
            </a:pPr>
            <a:r>
              <a:rPr sz="4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中粮生物科技太仓</a:t>
            </a:r>
            <a:endParaRPr sz="4000">
              <a:solidFill>
                <a:schemeClr val="bg1"/>
              </a:solidFill>
              <a:latin typeface="黑体"/>
              <a:ea typeface="黑体"/>
              <a:cs typeface="黑体"/>
            </a:endParaRPr>
          </a:p>
          <a:p xmlns:a="http://schemas.openxmlformats.org/drawingml/2006/main">
            <a:pPr marL="0" indent="0" algn="l">
              <a:lnSpc>
                <a:spcPct val="132000"/>
              </a:lnSpc>
              <a:buNone/>
            </a:pPr>
            <a:r>
              <a:rPr sz="4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新建55万吨/年淀粉糖项目</a:t>
            </a:r>
            <a:endParaRPr sz="4000">
              <a:solidFill>
                <a:schemeClr val="bg1"/>
              </a:solidFill>
              <a:latin typeface="黑体"/>
              <a:ea typeface="黑体"/>
              <a:cs typeface="黑体"/>
            </a:endParaRPr>
          </a:p>
          <a:p xmlns:a="http://schemas.openxmlformats.org/drawingml/2006/main">
            <a:pPr marL="0" indent="0" algn="l">
              <a:lnSpc>
                <a:spcPct val="132000"/>
              </a:lnSpc>
              <a:buNone/>
            </a:pPr>
            <a:r>
              <a:rPr sz="3200" b="1">
                <a:solidFill>
                  <a:srgbClr val="FFFF00"/>
                </a:solidFill>
                <a:latin typeface="黑体"/>
                <a:ea typeface="黑体"/>
                <a:cs typeface="黑体"/>
              </a:rPr>
              <a:t>AI</a:t>
            </a:r>
            <a:r>
              <a:rPr sz="3200" b="1">
                <a:solidFill>
                  <a:srgbClr val="FFFF00"/>
                </a:solidFill>
                <a:latin typeface="黑体"/>
                <a:ea typeface="黑体"/>
                <a:cs typeface="黑体"/>
              </a:rPr>
              <a:t>全流程智能化系统蓝图</a:t>
            </a:r>
            <a:r>
              <a:rPr sz="3200" b="1">
                <a:solidFill>
                  <a:srgbClr val="FFFF00"/>
                </a:solidFill>
                <a:latin typeface="黑体"/>
                <a:ea typeface="黑体"/>
                <a:cs typeface="黑体"/>
              </a:rPr>
              <a:t>方案</a:t>
            </a:r>
            <a:endParaRPr sz="3200" b="1">
              <a:solidFill>
                <a:srgbClr val="FFFF00"/>
              </a:solidFill>
              <a:latin typeface="黑体"/>
              <a:ea typeface="黑体"/>
              <a:cs typeface="黑体"/>
            </a:endParaRPr>
          </a:p>
        </p:txBody>
      </p:sp>
      <p:pic>
        <p:nvPicPr>
          <p:cNvPr id="26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e44c7583d4c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0495" y="5939155"/>
            <a:ext cx="4140200" cy="676910"/>
          </a:xfrm>
          <a:prstGeom xmlns:a="http://schemas.openxmlformats.org/drawingml/2006/main" prst="rect">
            <a:avLst/>
          </a:prstGeom>
        </p:spPr>
      </p:pic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226C6D2-4A89-4A02-8E2C-3DEE47C9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095" y="5321935"/>
            <a:ext cx="3891280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汇报人：张仔</a:t>
            </a:r>
            <a:r>
              <a:rPr sz="20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洁</a:t>
            </a:r>
            <a:endParaRPr sz="2000" b="1"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1243f2ae04e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630" y="268605"/>
            <a:ext cx="1282065" cy="5829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25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FD7F4DE-1D73-4B7A-9377-89CF65CC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6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4be4d692e45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8D8F5BE-0CB9-4CFC-A93A-F846831E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5725" tIns="38100" rIns="857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7、SCOS供应链优化四模块：以业务对象为线索，形成闭环能力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s2-subtitle-v2">
            <a:extLst xmlns:a="http://schemas.openxmlformats.org/drawingml/2006/main">
              <a:ext uri="{FF2B5EF4-FFF2-40B4-BE49-F238E27FC236}">
                <a16:creationId xmlns:a16="http://schemas.microsoft.com/office/drawing/2014/main" id="{1CFC390D-9B67-42E1-953D-52141F6E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74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围绕需求、资源、供应商、成本四类事实，在同一套规则下生成可执行方案。</a:t>
            </a:r>
          </a:p>
        </p:txBody>
      </p:sp>
      <p:sp>
        <p:nvSpPr>
          <p:cNvPr id="8" name="s2-kicker-v2">
            <a:extLst xmlns:a="http://schemas.openxmlformats.org/drawingml/2006/main">
              <a:ext uri="{FF2B5EF4-FFF2-40B4-BE49-F238E27FC236}">
                <a16:creationId xmlns:a16="http://schemas.microsoft.com/office/drawing/2014/main" id="{65BF9210-7A0C-4B7B-9DC5-598D134C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四个模块 · 四类决策问题 · 一套事实底座</a:t>
            </a:r>
          </a:p>
        </p:txBody>
      </p:sp>
      <p:sp>
        <p:nvSpPr>
          <p:cNvPr id="9" name="s2-card-01">
            <a:extLst xmlns:a="http://schemas.openxmlformats.org/drawingml/2006/main">
              <a:ext uri="{FF2B5EF4-FFF2-40B4-BE49-F238E27FC236}">
                <a16:creationId xmlns:a16="http://schemas.microsoft.com/office/drawing/2014/main" id="{153FEC7A-F581-49C5-9A4C-311BED67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3429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2-card-accent-01">
            <a:extLst xmlns:a="http://schemas.openxmlformats.org/drawingml/2006/main">
              <a:ext uri="{FF2B5EF4-FFF2-40B4-BE49-F238E27FC236}">
                <a16:creationId xmlns:a16="http://schemas.microsoft.com/office/drawing/2014/main" id="{66860A5F-FDFD-4860-A435-513FB7E7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66675" cy="1619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B9F2"/>
          </a:solidFill>
          <a:ln xmlns:a="http://schemas.openxmlformats.org/drawingml/2006/main" w="0">
            <a:solidFill>
              <a:srgbClr val="08B9F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s2-num-01">
            <a:extLst xmlns:a="http://schemas.openxmlformats.org/drawingml/2006/main">
              <a:ext uri="{FF2B5EF4-FFF2-40B4-BE49-F238E27FC236}">
                <a16:creationId xmlns:a16="http://schemas.microsoft.com/office/drawing/2014/main" id="{C862C76E-64EB-452D-8D98-871F2983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3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e8de4430b4f84"/>
          <a:stretch xmlns:a="http://schemas.openxmlformats.org/drawingml/2006/main"/>
        </p:blipFill>
        <p:spPr>
          <a:xfrm xmlns:a="http://schemas.openxmlformats.org/drawingml/2006/main">
            <a:off x="1276350" y="17145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s2-title-01">
            <a:extLst xmlns:a="http://schemas.openxmlformats.org/drawingml/2006/main">
              <a:ext uri="{FF2B5EF4-FFF2-40B4-BE49-F238E27FC236}">
                <a16:creationId xmlns:a16="http://schemas.microsoft.com/office/drawing/2014/main" id="{37B6ABFA-7510-4AAB-9E20-A18C3CB8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04975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精益生产排程</a:t>
            </a:r>
          </a:p>
        </p:txBody>
      </p:sp>
      <p:sp>
        <p:nvSpPr>
          <p:cNvPr id="14" name="s2-rule-01">
            <a:extLst xmlns:a="http://schemas.openxmlformats.org/drawingml/2006/main">
              <a:ext uri="{FF2B5EF4-FFF2-40B4-BE49-F238E27FC236}">
                <a16:creationId xmlns:a16="http://schemas.microsoft.com/office/drawing/2014/main" id="{A186CC22-BFD7-49DF-A1BA-845A2F23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3048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D5470"/>
            </a:solidFill>
            <a:prstDash val="solid"/>
          </a:ln>
        </p:spPr>
      </p:sp>
      <p:sp>
        <p:nvSpPr>
          <p:cNvPr id="15" name="s2-input-01">
            <a:extLst xmlns:a="http://schemas.openxmlformats.org/drawingml/2006/main">
              <a:ext uri="{FF2B5EF4-FFF2-40B4-BE49-F238E27FC236}">
                <a16:creationId xmlns:a16="http://schemas.microsoft.com/office/drawing/2014/main" id="{835A5D95-F898-4B3D-BF28-39C57C77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输入  订单优先级 / BOM工艺 / 资源状态 / 在途物料</a:t>
            </a:r>
          </a:p>
        </p:txBody>
      </p:sp>
      <p:sp>
        <p:nvSpPr>
          <p:cNvPr id="16" name="s2-model-01">
            <a:extLst xmlns:a="http://schemas.openxmlformats.org/drawingml/2006/main">
              <a:ext uri="{FF2B5EF4-FFF2-40B4-BE49-F238E27FC236}">
                <a16:creationId xmlns:a16="http://schemas.microsoft.com/office/drawing/2014/main" id="{D2047551-5CB2-42C9-9B4E-73022BC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  约束排程 · 瓶颈识别 · 版本锁定</a:t>
            </a:r>
          </a:p>
        </p:txBody>
      </p:sp>
      <p:sp>
        <p:nvSpPr>
          <p:cNvPr id="17" name="s2-output-01">
            <a:extLst xmlns:a="http://schemas.openxmlformats.org/drawingml/2006/main">
              <a:ext uri="{FF2B5EF4-FFF2-40B4-BE49-F238E27FC236}">
                <a16:creationId xmlns:a16="http://schemas.microsoft.com/office/drawing/2014/main" id="{021B2486-5DB0-4046-A8D9-A73F9B4F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输出  详细作业计划 · ATP · 模拟预警</a:t>
            </a:r>
          </a:p>
        </p:txBody>
      </p:sp>
      <p:sp>
        <p:nvSpPr>
          <p:cNvPr id="18" name="s2-card-02">
            <a:extLst xmlns:a="http://schemas.openxmlformats.org/drawingml/2006/main">
              <a:ext uri="{FF2B5EF4-FFF2-40B4-BE49-F238E27FC236}">
                <a16:creationId xmlns:a16="http://schemas.microsoft.com/office/drawing/2014/main" id="{FCC5D5E6-0756-4B78-B813-B254D9D4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3429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s2-card-accent-02">
            <a:extLst xmlns:a="http://schemas.openxmlformats.org/drawingml/2006/main">
              <a:ext uri="{FF2B5EF4-FFF2-40B4-BE49-F238E27FC236}">
                <a16:creationId xmlns:a16="http://schemas.microsoft.com/office/drawing/2014/main" id="{967A52C6-4ACB-49CA-8F52-06B73327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66675" cy="1619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5D48A"/>
          </a:solidFill>
          <a:ln xmlns:a="http://schemas.openxmlformats.org/drawingml/2006/main" w="0">
            <a:solidFill>
              <a:srgbClr val="55D48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s2-num-02">
            <a:extLst xmlns:a="http://schemas.openxmlformats.org/drawingml/2006/main">
              <a:ext uri="{FF2B5EF4-FFF2-40B4-BE49-F238E27FC236}">
                <a16:creationId xmlns:a16="http://schemas.microsoft.com/office/drawing/2014/main" id="{248189E6-8376-4E83-B1B1-9DD04A14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3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611a6c6634c5f"/>
          <a:stretch xmlns:a="http://schemas.openxmlformats.org/drawingml/2006/main"/>
        </p:blipFill>
        <p:spPr>
          <a:xfrm xmlns:a="http://schemas.openxmlformats.org/drawingml/2006/main">
            <a:off x="4953000" y="17145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2" name="s2-title-02">
            <a:extLst xmlns:a="http://schemas.openxmlformats.org/drawingml/2006/main">
              <a:ext uri="{FF2B5EF4-FFF2-40B4-BE49-F238E27FC236}">
                <a16:creationId xmlns:a16="http://schemas.microsoft.com/office/drawing/2014/main" id="{DDD2BFE1-D228-42CB-9F04-38EB26C5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04975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安全库存优化</a:t>
            </a:r>
          </a:p>
        </p:txBody>
      </p:sp>
      <p:sp>
        <p:nvSpPr>
          <p:cNvPr id="23" name="s2-rule-02">
            <a:extLst xmlns:a="http://schemas.openxmlformats.org/drawingml/2006/main">
              <a:ext uri="{FF2B5EF4-FFF2-40B4-BE49-F238E27FC236}">
                <a16:creationId xmlns:a16="http://schemas.microsoft.com/office/drawing/2014/main" id="{186B398E-59B4-4806-8D35-1D37CED6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3048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D5470"/>
            </a:solidFill>
            <a:prstDash val="solid"/>
          </a:ln>
        </p:spPr>
      </p:sp>
      <p:sp>
        <p:nvSpPr>
          <p:cNvPr id="24" name="s2-input-02">
            <a:extLst xmlns:a="http://schemas.openxmlformats.org/drawingml/2006/main">
              <a:ext uri="{FF2B5EF4-FFF2-40B4-BE49-F238E27FC236}">
                <a16:creationId xmlns:a16="http://schemas.microsoft.com/office/drawing/2014/main" id="{10B3D36B-C149-44F7-95EB-1D8A48D6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输入  需求预测 / 提前期 / 服务水平 / 持有成本</a:t>
            </a:r>
          </a:p>
        </p:txBody>
      </p:sp>
      <p:sp>
        <p:nvSpPr>
          <p:cNvPr id="25" name="s2-model-02">
            <a:extLst xmlns:a="http://schemas.openxmlformats.org/drawingml/2006/main">
              <a:ext uri="{FF2B5EF4-FFF2-40B4-BE49-F238E27FC236}">
                <a16:creationId xmlns:a16="http://schemas.microsoft.com/office/drawing/2014/main" id="{E39F1F5F-B2E1-4021-B437-8C7C6036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  R,s,S滚动策略 · 7天冻结 · 异常重算</a:t>
            </a:r>
          </a:p>
        </p:txBody>
      </p:sp>
      <p:sp>
        <p:nvSpPr>
          <p:cNvPr id="26" name="s2-output-02">
            <a:extLst xmlns:a="http://schemas.openxmlformats.org/drawingml/2006/main">
              <a:ext uri="{FF2B5EF4-FFF2-40B4-BE49-F238E27FC236}">
                <a16:creationId xmlns:a16="http://schemas.microsoft.com/office/drawing/2014/main" id="{456B6F3A-B95F-4614-8BBE-1572E4CA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输出  安全库存 · 补货日期量 · 缺货风险</a:t>
            </a:r>
          </a:p>
        </p:txBody>
      </p:sp>
      <p:sp>
        <p:nvSpPr>
          <p:cNvPr id="27" name="s2-card-03">
            <a:extLst xmlns:a="http://schemas.openxmlformats.org/drawingml/2006/main">
              <a:ext uri="{FF2B5EF4-FFF2-40B4-BE49-F238E27FC236}">
                <a16:creationId xmlns:a16="http://schemas.microsoft.com/office/drawing/2014/main" id="{DA3ADCCE-B56A-45B3-94A6-F128ECED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429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s2-card-accent-03">
            <a:extLst xmlns:a="http://schemas.openxmlformats.org/drawingml/2006/main">
              <a:ext uri="{FF2B5EF4-FFF2-40B4-BE49-F238E27FC236}">
                <a16:creationId xmlns:a16="http://schemas.microsoft.com/office/drawing/2014/main" id="{F824D18C-71DC-43E9-857A-AD5AEABF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66675" cy="1619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AE2B"/>
          </a:solidFill>
          <a:ln xmlns:a="http://schemas.openxmlformats.org/drawingml/2006/main" w="0">
            <a:solidFill>
              <a:srgbClr val="FFAE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s2-num-03">
            <a:extLst xmlns:a="http://schemas.openxmlformats.org/drawingml/2006/main">
              <a:ext uri="{FF2B5EF4-FFF2-40B4-BE49-F238E27FC236}">
                <a16:creationId xmlns:a16="http://schemas.microsoft.com/office/drawing/2014/main" id="{8C48497B-81EE-4569-85DD-62969B7A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35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9d2cd0ded48bc"/>
          <a:stretch xmlns:a="http://schemas.openxmlformats.org/drawingml/2006/main"/>
        </p:blipFill>
        <p:spPr>
          <a:xfrm xmlns:a="http://schemas.openxmlformats.org/drawingml/2006/main">
            <a:off x="1276350" y="3505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1" name="s2-title-03">
            <a:extLst xmlns:a="http://schemas.openxmlformats.org/drawingml/2006/main">
              <a:ext uri="{FF2B5EF4-FFF2-40B4-BE49-F238E27FC236}">
                <a16:creationId xmlns:a16="http://schemas.microsoft.com/office/drawing/2014/main" id="{45B3199C-6BAC-45D8-90E2-7767B798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95675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采购决策优化</a:t>
            </a:r>
          </a:p>
        </p:txBody>
      </p:sp>
      <p:sp>
        <p:nvSpPr>
          <p:cNvPr id="32" name="s2-rule-03">
            <a:extLst xmlns:a="http://schemas.openxmlformats.org/drawingml/2006/main">
              <a:ext uri="{FF2B5EF4-FFF2-40B4-BE49-F238E27FC236}">
                <a16:creationId xmlns:a16="http://schemas.microsoft.com/office/drawing/2014/main" id="{3DA06898-9B4D-4BB9-98BD-E94A4886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3048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D5470"/>
            </a:solidFill>
            <a:prstDash val="solid"/>
          </a:ln>
        </p:spPr>
      </p:sp>
      <p:sp>
        <p:nvSpPr>
          <p:cNvPr id="33" name="s2-input-03">
            <a:extLst xmlns:a="http://schemas.openxmlformats.org/drawingml/2006/main">
              <a:ext uri="{FF2B5EF4-FFF2-40B4-BE49-F238E27FC236}">
                <a16:creationId xmlns:a16="http://schemas.microsoft.com/office/drawing/2014/main" id="{75ACCD2C-3B52-4811-9274-FB491D08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输入  物料需求 / 库存 / 供应商画像 / 交付约束</a:t>
            </a:r>
          </a:p>
        </p:txBody>
      </p:sp>
      <p:sp>
        <p:nvSpPr>
          <p:cNvPr id="34" name="s2-model-03">
            <a:extLst xmlns:a="http://schemas.openxmlformats.org/drawingml/2006/main">
              <a:ext uri="{FF2B5EF4-FFF2-40B4-BE49-F238E27FC236}">
                <a16:creationId xmlns:a16="http://schemas.microsoft.com/office/drawing/2014/main" id="{70DB1AA4-B787-4F71-A5D2-A379366E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  供应商评分 · 总拥有成本 · 可行性校验</a:t>
            </a:r>
          </a:p>
        </p:txBody>
      </p:sp>
      <p:sp>
        <p:nvSpPr>
          <p:cNvPr id="35" name="s2-output-03">
            <a:extLst xmlns:a="http://schemas.openxmlformats.org/drawingml/2006/main">
              <a:ext uri="{FF2B5EF4-FFF2-40B4-BE49-F238E27FC236}">
                <a16:creationId xmlns:a16="http://schemas.microsoft.com/office/drawing/2014/main" id="{CB4C3EBB-319A-4C6E-B8B8-D6831E8E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输出  采购量 · 分配方案 · 到货日 · 合同建议</a:t>
            </a:r>
          </a:p>
        </p:txBody>
      </p:sp>
      <p:sp>
        <p:nvSpPr>
          <p:cNvPr id="36" name="s2-card-04">
            <a:extLst xmlns:a="http://schemas.openxmlformats.org/drawingml/2006/main">
              <a:ext uri="{FF2B5EF4-FFF2-40B4-BE49-F238E27FC236}">
                <a16:creationId xmlns:a16="http://schemas.microsoft.com/office/drawing/2014/main" id="{8D131A9F-8C22-4E38-9ABA-80977C03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3429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C7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s2-card-accent-04">
            <a:extLst xmlns:a="http://schemas.openxmlformats.org/drawingml/2006/main">
              <a:ext uri="{FF2B5EF4-FFF2-40B4-BE49-F238E27FC236}">
                <a16:creationId xmlns:a16="http://schemas.microsoft.com/office/drawing/2014/main" id="{5F6405A4-3767-49CE-A161-180CBA16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66675" cy="1619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D52B"/>
          </a:solidFill>
          <a:ln xmlns:a="http://schemas.openxmlformats.org/drawingml/2006/main" w="0">
            <a:solidFill>
              <a:srgbClr val="C7D5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s2-num-04">
            <a:extLst xmlns:a="http://schemas.openxmlformats.org/drawingml/2006/main">
              <a:ext uri="{FF2B5EF4-FFF2-40B4-BE49-F238E27FC236}">
                <a16:creationId xmlns:a16="http://schemas.microsoft.com/office/drawing/2014/main" id="{3E6513E0-15B3-45F7-B974-B7FB8B2D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350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996fe71604f7f"/>
          <a:stretch xmlns:a="http://schemas.openxmlformats.org/drawingml/2006/main"/>
        </p:blipFill>
        <p:spPr>
          <a:xfrm xmlns:a="http://schemas.openxmlformats.org/drawingml/2006/main">
            <a:off x="4953000" y="3505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0" name="s2-title-04">
            <a:extLst xmlns:a="http://schemas.openxmlformats.org/drawingml/2006/main">
              <a:ext uri="{FF2B5EF4-FFF2-40B4-BE49-F238E27FC236}">
                <a16:creationId xmlns:a16="http://schemas.microsoft.com/office/drawing/2014/main" id="{5EC6FCAB-8B27-4282-8AB1-4E546D2C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95675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统计与成本核算</a:t>
            </a:r>
          </a:p>
        </p:txBody>
      </p:sp>
      <p:sp>
        <p:nvSpPr>
          <p:cNvPr id="41" name="s2-rule-04">
            <a:extLst xmlns:a="http://schemas.openxmlformats.org/drawingml/2006/main">
              <a:ext uri="{FF2B5EF4-FFF2-40B4-BE49-F238E27FC236}">
                <a16:creationId xmlns:a16="http://schemas.microsoft.com/office/drawing/2014/main" id="{62EBB433-3CFA-4BEE-862C-A3D08A6F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3048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D5470"/>
            </a:solidFill>
            <a:prstDash val="solid"/>
          </a:ln>
        </p:spPr>
      </p:sp>
      <p:sp>
        <p:nvSpPr>
          <p:cNvPr id="42" name="s2-input-04">
            <a:extLst xmlns:a="http://schemas.openxmlformats.org/drawingml/2006/main">
              <a:ext uri="{FF2B5EF4-FFF2-40B4-BE49-F238E27FC236}">
                <a16:creationId xmlns:a16="http://schemas.microsoft.com/office/drawing/2014/main" id="{E36A225F-F9EF-43F5-ABBE-79F5FFC5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输入  采购 / 仓储 / 生产 / 包装运输费用</a:t>
            </a:r>
          </a:p>
        </p:txBody>
      </p:sp>
      <p:sp>
        <p:nvSpPr>
          <p:cNvPr id="43" name="s2-model-04">
            <a:extLst xmlns:a="http://schemas.openxmlformats.org/drawingml/2006/main">
              <a:ext uri="{FF2B5EF4-FFF2-40B4-BE49-F238E27FC236}">
                <a16:creationId xmlns:a16="http://schemas.microsoft.com/office/drawing/2014/main" id="{EA8EFBF7-7E71-435F-A2D6-4A25CB0A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模型  批次成本引擎 · 归集分摊 · 版本复核</a:t>
            </a:r>
          </a:p>
        </p:txBody>
      </p:sp>
      <p:sp>
        <p:nvSpPr>
          <p:cNvPr id="44" name="s2-output-04">
            <a:extLst xmlns:a="http://schemas.openxmlformats.org/drawingml/2006/main">
              <a:ext uri="{FF2B5EF4-FFF2-40B4-BE49-F238E27FC236}">
                <a16:creationId xmlns:a16="http://schemas.microsoft.com/office/drawing/2014/main" id="{662EAFC7-CA30-4E3F-B43F-379DEFC5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输出  产品 / 客户 / 订单利润 · 差异追溯</a:t>
            </a:r>
          </a:p>
        </p:txBody>
      </p:sp>
      <p:sp>
        <p:nvSpPr>
          <p:cNvPr id="45" name="s2-hero-frame">
            <a:extLst xmlns:a="http://schemas.openxmlformats.org/drawingml/2006/main">
              <a:ext uri="{FF2B5EF4-FFF2-40B4-BE49-F238E27FC236}">
                <a16:creationId xmlns:a16="http://schemas.microsoft.com/office/drawing/2014/main" id="{E4DE5E3A-B0EB-4C1C-B846-53959BC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371850" cy="3409950"/>
          </a:xfrm>
          <a:prstGeom xmlns:a="http://schemas.openxmlformats.org/drawingml/2006/main" prst="roundRect">
            <a:avLst>
              <a:gd name="adj" fmla="val 6215"/>
            </a:avLst>
          </a:prstGeom>
          <a:solidFill xmlns:a="http://schemas.openxmlformats.org/drawingml/2006/main">
            <a:srgbClr val="0A1A25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95c80b6a3471a"/>
          <a:srcRect xmlns:a="http://schemas.openxmlformats.org/drawingml/2006/main" l="2837" t="0" r="28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752600"/>
            <a:ext cx="3067050" cy="1790700"/>
          </a:xfrm>
          <a:prstGeom xmlns:a="http://schemas.openxmlformats.org/drawingml/2006/main" prst="roundRect">
            <a:avLst>
              <a:gd name="adj" fmla="val 8511"/>
            </a:avLst>
          </a:prstGeom>
        </p:spPr>
      </p:pic>
      <p:sp>
        <p:nvSpPr>
          <p:cNvPr id="47" name="s2-hero-label">
            <a:extLst xmlns:a="http://schemas.openxmlformats.org/drawingml/2006/main">
              <a:ext uri="{FF2B5EF4-FFF2-40B4-BE49-F238E27FC236}">
                <a16:creationId xmlns:a16="http://schemas.microsoft.com/office/drawing/2014/main" id="{F87916A9-6FF4-47AF-B32B-C251C14D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业务现场 / 经营决策</a:t>
            </a:r>
          </a:p>
        </p:txBody>
      </p:sp>
      <p:sp>
        <p:nvSpPr>
          <p:cNvPr id="48" name="s2-hero-title">
            <a:extLst xmlns:a="http://schemas.openxmlformats.org/drawingml/2006/main">
              <a:ext uri="{FF2B5EF4-FFF2-40B4-BE49-F238E27FC236}">
                <a16:creationId xmlns:a16="http://schemas.microsoft.com/office/drawing/2014/main" id="{B5A039CB-9923-456E-B53A-A00B8800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35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四个模块共用一张“事实地图”</a:t>
            </a:r>
          </a:p>
        </p:txBody>
      </p:sp>
      <p:sp>
        <p:nvSpPr>
          <p:cNvPr id="49" name="s2-hero-body">
            <a:extLst xmlns:a="http://schemas.openxmlformats.org/drawingml/2006/main">
              <a:ext uri="{FF2B5EF4-FFF2-40B4-BE49-F238E27FC236}">
                <a16:creationId xmlns:a16="http://schemas.microsoft.com/office/drawing/2014/main" id="{A45D5471-3F8A-45DC-95DE-ED834108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9550"/>
            <a:ext cx="278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数据基座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→ 模型服务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→ 决策应用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→ 执行回流</a:t>
            </a:r>
          </a:p>
        </p:txBody>
      </p:sp>
      <p:sp>
        <p:nvSpPr>
          <p:cNvPr id="50" name="s2-hero-rule">
            <a:extLst xmlns:a="http://schemas.openxmlformats.org/drawingml/2006/main">
              <a:ext uri="{FF2B5EF4-FFF2-40B4-BE49-F238E27FC236}">
                <a16:creationId xmlns:a16="http://schemas.microsoft.com/office/drawing/2014/main" id="{B210F175-B99F-4F2E-BB8B-792134B9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19650"/>
            <a:ext cx="2781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D5470"/>
            </a:solidFill>
            <a:prstDash val="solid"/>
          </a:ln>
        </p:spPr>
      </p:sp>
      <p:sp>
        <p:nvSpPr>
          <p:cNvPr id="51" name="s2-hero-footer">
            <a:extLst xmlns:a="http://schemas.openxmlformats.org/drawingml/2006/main">
              <a:ext uri="{FF2B5EF4-FFF2-40B4-BE49-F238E27FC236}">
                <a16:creationId xmlns:a16="http://schemas.microsoft.com/office/drawing/2014/main" id="{C2401EE3-4C00-4D22-A41C-C2D44DB1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958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计划、库存、采购、成本互相校验</a:t>
            </a:r>
          </a:p>
        </p:txBody>
      </p:sp>
      <p:sp>
        <p:nvSpPr>
          <p:cNvPr id="52" name="s2-flow-bg">
            <a:extLst xmlns:a="http://schemas.openxmlformats.org/drawingml/2006/main">
              <a:ext uri="{FF2B5EF4-FFF2-40B4-BE49-F238E27FC236}">
                <a16:creationId xmlns:a16="http://schemas.microsoft.com/office/drawing/2014/main" id="{82AA91FA-1E9C-49CD-ADF4-7AA4E0DF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6325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02B36"/>
          </a:solidFill>
          <a:ln xmlns:a="http://schemas.openxmlformats.org/drawingml/2006/main" w="15240">
            <a:solidFill>
              <a:srgbClr val="1D547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s2-flow-label">
            <a:extLst xmlns:a="http://schemas.openxmlformats.org/drawingml/2006/main">
              <a:ext uri="{FF2B5EF4-FFF2-40B4-BE49-F238E27FC236}">
                <a16:creationId xmlns:a16="http://schemas.microsoft.com/office/drawing/2014/main" id="{3692A0C4-5A13-410C-9EF3-9221602C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业务主线</a:t>
            </a:r>
          </a:p>
        </p:txBody>
      </p:sp>
      <p:sp>
        <p:nvSpPr>
          <p:cNvPr id="54" name="s2-flow-a-0">
            <a:extLst xmlns:a="http://schemas.openxmlformats.org/drawingml/2006/main">
              <a:ext uri="{FF2B5EF4-FFF2-40B4-BE49-F238E27FC236}">
                <a16:creationId xmlns:a16="http://schemas.microsoft.com/office/drawing/2014/main" id="{F559F829-8ABA-4822-AF7D-D645E618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需求预测</a:t>
            </a:r>
          </a:p>
        </p:txBody>
      </p:sp>
      <p:sp>
        <p:nvSpPr>
          <p:cNvPr id="55" name="s2-flow-b-0">
            <a:extLst xmlns:a="http://schemas.openxmlformats.org/drawingml/2006/main">
              <a:ext uri="{FF2B5EF4-FFF2-40B4-BE49-F238E27FC236}">
                <a16:creationId xmlns:a16="http://schemas.microsoft.com/office/drawing/2014/main" id="{CE389428-B836-420B-9CA8-56AE41D3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626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计划排程</a:t>
            </a:r>
          </a:p>
        </p:txBody>
      </p:sp>
      <p:sp>
        <p:nvSpPr>
          <p:cNvPr id="56" name="s2-flow-arrow-0">
            <a:extLst xmlns:a="http://schemas.openxmlformats.org/drawingml/2006/main">
              <a:ext uri="{FF2B5EF4-FFF2-40B4-BE49-F238E27FC236}">
                <a16:creationId xmlns:a16="http://schemas.microsoft.com/office/drawing/2014/main" id="{09083840-11CE-4C68-809D-0EDA303F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5514975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B9F2"/>
          </a:solidFill>
          <a:ln xmlns:a="http://schemas.openxmlformats.org/drawingml/2006/main" w="0">
            <a:solidFill>
              <a:srgbClr val="08B9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s2-flow-a-1">
            <a:extLst xmlns:a="http://schemas.openxmlformats.org/drawingml/2006/main">
              <a:ext uri="{FF2B5EF4-FFF2-40B4-BE49-F238E27FC236}">
                <a16:creationId xmlns:a16="http://schemas.microsoft.com/office/drawing/2014/main" id="{8FA302E7-E482-4D7E-BA6B-D23ECACF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14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安全库存</a:t>
            </a:r>
          </a:p>
        </p:txBody>
      </p:sp>
      <p:sp>
        <p:nvSpPr>
          <p:cNvPr id="58" name="s2-flow-b-1">
            <a:extLst xmlns:a="http://schemas.openxmlformats.org/drawingml/2006/main">
              <a:ext uri="{FF2B5EF4-FFF2-40B4-BE49-F238E27FC236}">
                <a16:creationId xmlns:a16="http://schemas.microsoft.com/office/drawing/2014/main" id="{9FB45F9C-DA7A-4FC0-AE2A-FF2D9364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626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0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补货协同</a:t>
            </a:r>
          </a:p>
        </p:txBody>
      </p:sp>
      <p:sp>
        <p:nvSpPr>
          <p:cNvPr id="59" name="s2-flow-arrow-1">
            <a:extLst xmlns:a="http://schemas.openxmlformats.org/drawingml/2006/main">
              <a:ext uri="{FF2B5EF4-FFF2-40B4-BE49-F238E27FC236}">
                <a16:creationId xmlns:a16="http://schemas.microsoft.com/office/drawing/2014/main" id="{4D6C95FF-766E-441D-B882-8A7B2876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5514975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48A"/>
          </a:solidFill>
          <a:ln xmlns:a="http://schemas.openxmlformats.org/drawingml/2006/main" w="0">
            <a:solidFill>
              <a:srgbClr val="55D4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s2-flow-a-2">
            <a:extLst xmlns:a="http://schemas.openxmlformats.org/drawingml/2006/main">
              <a:ext uri="{FF2B5EF4-FFF2-40B4-BE49-F238E27FC236}">
                <a16:creationId xmlns:a16="http://schemas.microsoft.com/office/drawing/2014/main" id="{558EAFFE-10E7-42FD-A702-2A6273C9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14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采购组合</a:t>
            </a:r>
          </a:p>
        </p:txBody>
      </p:sp>
      <p:sp>
        <p:nvSpPr>
          <p:cNvPr id="61" name="s2-flow-b-2">
            <a:extLst xmlns:a="http://schemas.openxmlformats.org/drawingml/2006/main">
              <a:ext uri="{FF2B5EF4-FFF2-40B4-BE49-F238E27FC236}">
                <a16:creationId xmlns:a16="http://schemas.microsoft.com/office/drawing/2014/main" id="{CFCB0B40-63C4-461D-B7AF-0EC00173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626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0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到货兑现</a:t>
            </a:r>
          </a:p>
        </p:txBody>
      </p:sp>
      <p:sp>
        <p:nvSpPr>
          <p:cNvPr id="62" name="s2-flow-arrow-2">
            <a:extLst xmlns:a="http://schemas.openxmlformats.org/drawingml/2006/main">
              <a:ext uri="{FF2B5EF4-FFF2-40B4-BE49-F238E27FC236}">
                <a16:creationId xmlns:a16="http://schemas.microsoft.com/office/drawing/2014/main" id="{C78A4040-6FAA-4DBC-AF18-B04D0490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5514975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AE2B"/>
          </a:solidFill>
          <a:ln xmlns:a="http://schemas.openxmlformats.org/drawingml/2006/main" w="0">
            <a:solidFill>
              <a:srgbClr val="FFAE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s2-flow-a-3">
            <a:extLst xmlns:a="http://schemas.openxmlformats.org/drawingml/2006/main">
              <a:ext uri="{FF2B5EF4-FFF2-40B4-BE49-F238E27FC236}">
                <a16:creationId xmlns:a16="http://schemas.microsoft.com/office/drawing/2014/main" id="{2A16B7D3-5FFD-4FD3-8164-A7969717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14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批次成本</a:t>
            </a:r>
          </a:p>
        </p:txBody>
      </p:sp>
      <p:sp>
        <p:nvSpPr>
          <p:cNvPr id="64" name="s2-flow-b-3">
            <a:extLst xmlns:a="http://schemas.openxmlformats.org/drawingml/2006/main">
              <a:ext uri="{FF2B5EF4-FFF2-40B4-BE49-F238E27FC236}">
                <a16:creationId xmlns:a16="http://schemas.microsoft.com/office/drawing/2014/main" id="{D9B9FA4D-1959-497D-965B-F0779E10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626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0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经营复盘</a:t>
            </a:r>
          </a:p>
        </p:txBody>
      </p:sp>
    </p:spTree>
    <p:extLst>
      <p:ext uri="{BB962C8B-B14F-4D97-AF65-F5344CB8AC3E}">
        <p14:creationId xmlns:p14="http://schemas.microsoft.com/office/powerpoint/2010/main" val="817406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8C45DC-51B9-4548-BF34-33A78EAC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4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34fb6e52142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670A34E-07ED-4881-A9B1-EF940E63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5725" tIns="38100" rIns="857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7、SCOS带来的变化：从“开会找答案”到“平台给方案”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s3-subtitle-v2">
            <a:extLst xmlns:a="http://schemas.openxmlformats.org/drawingml/2006/main">
              <a:ext uri="{FF2B5EF4-FFF2-40B4-BE49-F238E27FC236}">
                <a16:creationId xmlns:a16="http://schemas.microsoft.com/office/drawing/2014/main" id="{F486AE1D-E9CE-4674-BECB-D991A49C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74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参考第12、13页：同一事实底座让决策前置、异常显性化、执行结果可回流。</a:t>
            </a:r>
          </a:p>
        </p:txBody>
      </p:sp>
      <p:sp>
        <p:nvSpPr>
          <p:cNvPr id="8" name="s3-current-frame">
            <a:extLst xmlns:a="http://schemas.openxmlformats.org/drawingml/2006/main">
              <a:ext uri="{FF2B5EF4-FFF2-40B4-BE49-F238E27FC236}">
                <a16:creationId xmlns:a16="http://schemas.microsoft.com/office/drawing/2014/main" id="{79B4A8E1-E086-4BE2-A000-CEAA3E4E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2686050" cy="24384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0B1A24"/>
          </a:solidFill>
          <a:ln xmlns:a="http://schemas.openxmlformats.org/drawingml/2006/main" w="15240">
            <a:solidFill>
              <a:srgbClr val="5161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c4b72df36467f"/>
          <a:srcRect xmlns:a="http://schemas.openxmlformats.org/drawingml/2006/main" l="0" t="25402" r="0" b="25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38300"/>
            <a:ext cx="2419350" cy="1885950"/>
          </a:xfrm>
          <a:prstGeom xmlns:a="http://schemas.openxmlformats.org/drawingml/2006/main" prst="roundRect">
            <a:avLst>
              <a:gd name="adj" fmla="val 8081"/>
            </a:avLst>
          </a:prstGeom>
        </p:spPr>
      </p:pic>
      <p:sp>
        <p:nvSpPr>
          <p:cNvPr id="10" name="s3-current-label">
            <a:extLst xmlns:a="http://schemas.openxmlformats.org/drawingml/2006/main">
              <a:ext uri="{FF2B5EF4-FFF2-40B4-BE49-F238E27FC236}">
                <a16:creationId xmlns:a16="http://schemas.microsoft.com/office/drawing/2014/main" id="{AEF96BC7-BD13-4311-B58D-906B0420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现状｜会议驱动</a:t>
            </a:r>
          </a:p>
        </p:txBody>
      </p:sp>
      <p:sp>
        <p:nvSpPr>
          <p:cNvPr id="11" name="s3-current-note">
            <a:extLst xmlns:a="http://schemas.openxmlformats.org/drawingml/2006/main">
              <a:ext uri="{FF2B5EF4-FFF2-40B4-BE49-F238E27FC236}">
                <a16:creationId xmlns:a16="http://schemas.microsoft.com/office/drawing/2014/main" id="{FA75AC1D-534A-47A4-90EC-08ABF027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周期性汇总 · 事后复盘 · 手工追进度</a:t>
            </a:r>
          </a:p>
        </p:txBody>
      </p:sp>
      <p:sp>
        <p:nvSpPr>
          <p:cNvPr id="12" name="s3-middle-kicker">
            <a:extLst xmlns:a="http://schemas.openxmlformats.org/drawingml/2006/main">
              <a:ext uri="{FF2B5EF4-FFF2-40B4-BE49-F238E27FC236}">
                <a16:creationId xmlns:a16="http://schemas.microsoft.com/office/drawing/2014/main" id="{BB39ED65-4E9E-4E01-B84A-10E9C523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428750"/>
            <a:ext cx="417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SCOS把“事实”变成“动作”</a:t>
            </a:r>
          </a:p>
        </p:txBody>
      </p:sp>
      <p:sp>
        <p:nvSpPr>
          <p:cNvPr id="13" name="s3-layer-0">
            <a:extLst xmlns:a="http://schemas.openxmlformats.org/drawingml/2006/main">
              <a:ext uri="{FF2B5EF4-FFF2-40B4-BE49-F238E27FC236}">
                <a16:creationId xmlns:a16="http://schemas.microsoft.com/office/drawing/2014/main" id="{76520787-3B56-483D-857B-702742E7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14500"/>
            <a:ext cx="31432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C3242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s3-layer-head-0">
            <a:extLst xmlns:a="http://schemas.openxmlformats.org/drawingml/2006/main">
              <a:ext uri="{FF2B5EF4-FFF2-40B4-BE49-F238E27FC236}">
                <a16:creationId xmlns:a16="http://schemas.microsoft.com/office/drawing/2014/main" id="{FC470265-AFDA-42C8-A775-60B34E8B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9070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统一事实</a:t>
            </a:r>
          </a:p>
        </p:txBody>
      </p:sp>
      <p:sp>
        <p:nvSpPr>
          <p:cNvPr id="15" name="s3-layer-body-0">
            <a:extLst xmlns:a="http://schemas.openxmlformats.org/drawingml/2006/main">
              <a:ext uri="{FF2B5EF4-FFF2-40B4-BE49-F238E27FC236}">
                <a16:creationId xmlns:a16="http://schemas.microsoft.com/office/drawing/2014/main" id="{AA0120F6-DC82-4215-96E8-E22C1C60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907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订单 · 物料 · 产能 · 成本</a:t>
            </a:r>
          </a:p>
        </p:txBody>
      </p:sp>
      <p:sp>
        <p:nvSpPr>
          <p:cNvPr id="16" name="s3-layer-arrow-0">
            <a:extLst xmlns:a="http://schemas.openxmlformats.org/drawingml/2006/main">
              <a:ext uri="{FF2B5EF4-FFF2-40B4-BE49-F238E27FC236}">
                <a16:creationId xmlns:a16="http://schemas.microsoft.com/office/drawing/2014/main" id="{7894B3C5-15CB-4FDE-9C00-16099022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19700" y="2266950"/>
            <a:ext cx="1905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B9F2"/>
          </a:solidFill>
          <a:ln xmlns:a="http://schemas.openxmlformats.org/drawingml/2006/main" w="0">
            <a:solidFill>
              <a:srgbClr val="08B9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s3-layer-1">
            <a:extLst xmlns:a="http://schemas.openxmlformats.org/drawingml/2006/main">
              <a:ext uri="{FF2B5EF4-FFF2-40B4-BE49-F238E27FC236}">
                <a16:creationId xmlns:a16="http://schemas.microsoft.com/office/drawing/2014/main" id="{B80946AC-DEAF-4F82-BFBD-C4A3C27B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31432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C3242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s3-layer-head-1">
            <a:extLst xmlns:a="http://schemas.openxmlformats.org/drawingml/2006/main">
              <a:ext uri="{FF2B5EF4-FFF2-40B4-BE49-F238E27FC236}">
                <a16:creationId xmlns:a16="http://schemas.microsoft.com/office/drawing/2014/main" id="{3E2BBD5D-2698-4E2D-89D7-587CE3A3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模型推演</a:t>
            </a:r>
          </a:p>
        </p:txBody>
      </p:sp>
      <p:sp>
        <p:nvSpPr>
          <p:cNvPr id="19" name="s3-layer-body-1">
            <a:extLst xmlns:a="http://schemas.openxmlformats.org/drawingml/2006/main">
              <a:ext uri="{FF2B5EF4-FFF2-40B4-BE49-F238E27FC236}">
                <a16:creationId xmlns:a16="http://schemas.microsoft.com/office/drawing/2014/main" id="{E3808E1B-C800-47F3-B8A0-66A4044E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预测 · 约束 · 情景模拟</a:t>
            </a:r>
          </a:p>
        </p:txBody>
      </p:sp>
      <p:sp>
        <p:nvSpPr>
          <p:cNvPr id="20" name="s3-layer-arrow-1">
            <a:extLst xmlns:a="http://schemas.openxmlformats.org/drawingml/2006/main">
              <a:ext uri="{FF2B5EF4-FFF2-40B4-BE49-F238E27FC236}">
                <a16:creationId xmlns:a16="http://schemas.microsoft.com/office/drawing/2014/main" id="{BE27B6FE-8966-4F65-9393-D4B53F5E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19700" y="2933700"/>
            <a:ext cx="1905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AE2B"/>
          </a:solidFill>
          <a:ln xmlns:a="http://schemas.openxmlformats.org/drawingml/2006/main" w="0">
            <a:solidFill>
              <a:srgbClr val="FFAE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s3-layer-2">
            <a:extLst xmlns:a="http://schemas.openxmlformats.org/drawingml/2006/main">
              <a:ext uri="{FF2B5EF4-FFF2-40B4-BE49-F238E27FC236}">
                <a16:creationId xmlns:a16="http://schemas.microsoft.com/office/drawing/2014/main" id="{714201C2-AE80-476D-9CBB-C4998A86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31432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C3242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s3-layer-head-2">
            <a:extLst xmlns:a="http://schemas.openxmlformats.org/drawingml/2006/main">
              <a:ext uri="{FF2B5EF4-FFF2-40B4-BE49-F238E27FC236}">
                <a16:creationId xmlns:a16="http://schemas.microsoft.com/office/drawing/2014/main" id="{7A84CEC3-E452-41EE-B959-C74ABE6E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2420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异常闭环</a:t>
            </a:r>
          </a:p>
        </p:txBody>
      </p:sp>
      <p:sp>
        <p:nvSpPr>
          <p:cNvPr id="23" name="s3-layer-body-2">
            <a:extLst xmlns:a="http://schemas.openxmlformats.org/drawingml/2006/main">
              <a:ext uri="{FF2B5EF4-FFF2-40B4-BE49-F238E27FC236}">
                <a16:creationId xmlns:a16="http://schemas.microsoft.com/office/drawing/2014/main" id="{C1931A13-303B-4D30-8378-B778E855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242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推送 · 确认 · 执行回流</a:t>
            </a:r>
          </a:p>
        </p:txBody>
      </p:sp>
      <p:sp>
        <p:nvSpPr>
          <p:cNvPr id="24" name="s3-target-frame">
            <a:extLst xmlns:a="http://schemas.openxmlformats.org/drawingml/2006/main">
              <a:ext uri="{FF2B5EF4-FFF2-40B4-BE49-F238E27FC236}">
                <a16:creationId xmlns:a16="http://schemas.microsoft.com/office/drawing/2014/main" id="{7239B1DA-7E31-4AC4-95BA-BDE0D51C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3371850" cy="24384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0B1A24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5462df1224460"/>
          <a:srcRect xmlns:a="http://schemas.openxmlformats.org/drawingml/2006/main" l="1785" t="0" r="1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638300"/>
            <a:ext cx="3067050" cy="1885950"/>
          </a:xfrm>
          <a:prstGeom xmlns:a="http://schemas.openxmlformats.org/drawingml/2006/main" prst="roundRect">
            <a:avLst>
              <a:gd name="adj" fmla="val 8081"/>
            </a:avLst>
          </a:prstGeom>
        </p:spPr>
      </p:pic>
      <p:sp>
        <p:nvSpPr>
          <p:cNvPr id="26" name="s3-target-label">
            <a:extLst xmlns:a="http://schemas.openxmlformats.org/drawingml/2006/main">
              <a:ext uri="{FF2B5EF4-FFF2-40B4-BE49-F238E27FC236}">
                <a16:creationId xmlns:a16="http://schemas.microsoft.com/office/drawing/2014/main" id="{D76A7AC2-3A21-41C9-A257-DEED3E70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目标｜驾驶舱驱动</a:t>
            </a:r>
          </a:p>
        </p:txBody>
      </p:sp>
      <p:sp>
        <p:nvSpPr>
          <p:cNvPr id="27" name="s3-target-note">
            <a:extLst xmlns:a="http://schemas.openxmlformats.org/drawingml/2006/main">
              <a:ext uri="{FF2B5EF4-FFF2-40B4-BE49-F238E27FC236}">
                <a16:creationId xmlns:a16="http://schemas.microsoft.com/office/drawing/2014/main" id="{D51D89E9-8DF4-4C41-B2FE-91CCA5B0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按节点看异常 · 按方案决策 · 执行回流</a:t>
            </a:r>
          </a:p>
        </p:txBody>
      </p:sp>
      <p:cxnSp>
        <p:nvCxnSpPr>
          <p:cNvPr id="72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390900" y="1981200"/>
            <a:ext cx="34290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C71D9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6877050" y="2724150"/>
            <a:ext cx="121920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EA36B"/>
            </a:solidFill>
            <a:prstDash val="solid"/>
            <a:tailEnd type="triangle" w="sm" len="sm"/>
          </a:ln>
        </p:spPr>
      </p:cxnSp>
      <p:sp>
        <p:nvSpPr>
          <p:cNvPr id="30" name="s3-role-label">
            <a:extLst xmlns:a="http://schemas.openxmlformats.org/drawingml/2006/main">
              <a:ext uri="{FF2B5EF4-FFF2-40B4-BE49-F238E27FC236}">
                <a16:creationId xmlns:a16="http://schemas.microsoft.com/office/drawing/2014/main" id="{105B89D0-CC18-4979-8A8E-BA82931A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管理角色的可感知变化</a:t>
            </a:r>
          </a:p>
        </p:txBody>
      </p:sp>
      <p:sp>
        <p:nvSpPr>
          <p:cNvPr id="31" name="s3-role-01">
            <a:extLst xmlns:a="http://schemas.openxmlformats.org/drawingml/2006/main">
              <a:ext uri="{FF2B5EF4-FFF2-40B4-BE49-F238E27FC236}">
                <a16:creationId xmlns:a16="http://schemas.microsoft.com/office/drawing/2014/main" id="{CEB224C5-A3EF-4386-891A-AA0E3A84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381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s3-role-n-01">
            <a:extLst xmlns:a="http://schemas.openxmlformats.org/drawingml/2006/main">
              <a:ext uri="{FF2B5EF4-FFF2-40B4-BE49-F238E27FC236}">
                <a16:creationId xmlns:a16="http://schemas.microsoft.com/office/drawing/2014/main" id="{FBB1FFB9-4F05-4D61-A097-45AFA64C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3" name="s3-role-l-01">
            <a:extLst xmlns:a="http://schemas.openxmlformats.org/drawingml/2006/main">
              <a:ext uri="{FF2B5EF4-FFF2-40B4-BE49-F238E27FC236}">
                <a16:creationId xmlns:a16="http://schemas.microsoft.com/office/drawing/2014/main" id="{6C06A8EA-9341-4B7E-B68F-32F574FB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815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计划管理</a:t>
            </a:r>
          </a:p>
        </p:txBody>
      </p:sp>
      <p:sp>
        <p:nvSpPr>
          <p:cNvPr id="34" name="s3-role-p-01">
            <a:extLst xmlns:a="http://schemas.openxmlformats.org/drawingml/2006/main">
              <a:ext uri="{FF2B5EF4-FFF2-40B4-BE49-F238E27FC236}">
                <a16:creationId xmlns:a16="http://schemas.microsoft.com/office/drawing/2014/main" id="{BD56592B-A80F-4CAE-91D7-DCA4895C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凭经验排产  →  看智能建议</a:t>
            </a:r>
          </a:p>
        </p:txBody>
      </p:sp>
      <p:sp>
        <p:nvSpPr>
          <p:cNvPr id="35" name="s3-role-02">
            <a:extLst xmlns:a="http://schemas.openxmlformats.org/drawingml/2006/main">
              <a:ext uri="{FF2B5EF4-FFF2-40B4-BE49-F238E27FC236}">
                <a16:creationId xmlns:a16="http://schemas.microsoft.com/office/drawing/2014/main" id="{05562432-58F6-4A65-8923-73F496CE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76750"/>
            <a:ext cx="2381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s3-role-n-02">
            <a:extLst xmlns:a="http://schemas.openxmlformats.org/drawingml/2006/main">
              <a:ext uri="{FF2B5EF4-FFF2-40B4-BE49-F238E27FC236}">
                <a16:creationId xmlns:a16="http://schemas.microsoft.com/office/drawing/2014/main" id="{9F47AB80-3532-4D2E-B10D-4494737F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91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7" name="s3-role-l-02">
            <a:extLst xmlns:a="http://schemas.openxmlformats.org/drawingml/2006/main">
              <a:ext uri="{FF2B5EF4-FFF2-40B4-BE49-F238E27FC236}">
                <a16:creationId xmlns:a16="http://schemas.microsoft.com/office/drawing/2014/main" id="{B1609B97-5C81-4097-9F92-CBA024FE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815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会议机制</a:t>
            </a:r>
          </a:p>
        </p:txBody>
      </p:sp>
      <p:sp>
        <p:nvSpPr>
          <p:cNvPr id="38" name="s3-role-p-02">
            <a:extLst xmlns:a="http://schemas.openxmlformats.org/drawingml/2006/main">
              <a:ext uri="{FF2B5EF4-FFF2-40B4-BE49-F238E27FC236}">
                <a16:creationId xmlns:a16="http://schemas.microsoft.com/office/drawing/2014/main" id="{D0E5CEBE-EDE5-402D-A183-16B481EA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76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天天开会  →  开异常会</a:t>
            </a:r>
          </a:p>
        </p:txBody>
      </p:sp>
      <p:sp>
        <p:nvSpPr>
          <p:cNvPr id="39" name="s3-role-03">
            <a:extLst xmlns:a="http://schemas.openxmlformats.org/drawingml/2006/main">
              <a:ext uri="{FF2B5EF4-FFF2-40B4-BE49-F238E27FC236}">
                <a16:creationId xmlns:a16="http://schemas.microsoft.com/office/drawing/2014/main" id="{15D124AB-7EE6-48E9-B634-4E7672FD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76750"/>
            <a:ext cx="2381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s3-role-n-03">
            <a:extLst xmlns:a="http://schemas.openxmlformats.org/drawingml/2006/main">
              <a:ext uri="{FF2B5EF4-FFF2-40B4-BE49-F238E27FC236}">
                <a16:creationId xmlns:a16="http://schemas.microsoft.com/office/drawing/2014/main" id="{39924E8B-150C-4B7B-8F7F-42A5B6E4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91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1" name="s3-role-l-03">
            <a:extLst xmlns:a="http://schemas.openxmlformats.org/drawingml/2006/main">
              <a:ext uri="{FF2B5EF4-FFF2-40B4-BE49-F238E27FC236}">
                <a16:creationId xmlns:a16="http://schemas.microsoft.com/office/drawing/2014/main" id="{25E9A05A-A86A-416F-9D64-8D460930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815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供应协同</a:t>
            </a:r>
          </a:p>
        </p:txBody>
      </p:sp>
      <p:sp>
        <p:nvSpPr>
          <p:cNvPr id="42" name="s3-role-p-03">
            <a:extLst xmlns:a="http://schemas.openxmlformats.org/drawingml/2006/main">
              <a:ext uri="{FF2B5EF4-FFF2-40B4-BE49-F238E27FC236}">
                <a16:creationId xmlns:a16="http://schemas.microsoft.com/office/drawing/2014/main" id="{95406C25-55CE-483F-B12F-7B8B927F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76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催进度  →  看节点</a:t>
            </a:r>
          </a:p>
        </p:txBody>
      </p:sp>
      <p:sp>
        <p:nvSpPr>
          <p:cNvPr id="43" name="s3-role-04">
            <a:extLst xmlns:a="http://schemas.openxmlformats.org/drawingml/2006/main">
              <a:ext uri="{FF2B5EF4-FFF2-40B4-BE49-F238E27FC236}">
                <a16:creationId xmlns:a16="http://schemas.microsoft.com/office/drawing/2014/main" id="{3941B4BA-6B62-4AB7-8FB5-EAFCC80C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76750"/>
            <a:ext cx="2381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s3-role-n-04">
            <a:extLst xmlns:a="http://schemas.openxmlformats.org/drawingml/2006/main">
              <a:ext uri="{FF2B5EF4-FFF2-40B4-BE49-F238E27FC236}">
                <a16:creationId xmlns:a16="http://schemas.microsoft.com/office/drawing/2014/main" id="{5F44A18B-6CB5-49D3-8F71-303C0FB5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91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5" name="s3-role-l-04">
            <a:extLst xmlns:a="http://schemas.openxmlformats.org/drawingml/2006/main">
              <a:ext uri="{FF2B5EF4-FFF2-40B4-BE49-F238E27FC236}">
                <a16:creationId xmlns:a16="http://schemas.microsoft.com/office/drawing/2014/main" id="{4AB04574-744A-417B-ADF8-27121A90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815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财务复盘</a:t>
            </a:r>
          </a:p>
        </p:txBody>
      </p:sp>
      <p:sp>
        <p:nvSpPr>
          <p:cNvPr id="46" name="s3-role-p-04">
            <a:extLst xmlns:a="http://schemas.openxmlformats.org/drawingml/2006/main">
              <a:ext uri="{FF2B5EF4-FFF2-40B4-BE49-F238E27FC236}">
                <a16:creationId xmlns:a16="http://schemas.microsoft.com/office/drawing/2014/main" id="{653B52CC-08E1-4FF0-A3B9-E4CBEDFF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76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手工对账  →  看KPI</a:t>
            </a:r>
          </a:p>
        </p:txBody>
      </p:sp>
      <p:sp>
        <p:nvSpPr>
          <p:cNvPr id="47" name="s3-foot-v2">
            <a:extLst xmlns:a="http://schemas.openxmlformats.org/drawingml/2006/main">
              <a:ext uri="{FF2B5EF4-FFF2-40B4-BE49-F238E27FC236}">
                <a16:creationId xmlns:a16="http://schemas.microsoft.com/office/drawing/2014/main" id="{C69C50F1-3AF1-4B5C-AB28-4409537D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74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管理者不再追数据，而是在同一事实底座上判断、决策、复盘。</a:t>
            </a:r>
          </a:p>
        </p:txBody>
      </p:sp>
    </p:spTree>
    <p:extLst>
      <p:ext uri="{BB962C8B-B14F-4D97-AF65-F5344CB8AC3E}">
        <p14:creationId xmlns:p14="http://schemas.microsoft.com/office/powerpoint/2010/main" val="970499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9FC4482-1126-41C5-8DE1-3B3E188E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5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3e4f7ca7e40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3B2781E-EC36-4FB5-9F8D-43026A6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5725" tIns="38100" rIns="857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7、供应链优化价值总结：把精益方法变成可追踪的经营结果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s4-subtitle-v2">
            <a:extLst xmlns:a="http://schemas.openxmlformats.org/drawingml/2006/main">
              <a:ext uri="{FF2B5EF4-FFF2-40B4-BE49-F238E27FC236}">
                <a16:creationId xmlns:a16="http://schemas.microsoft.com/office/drawing/2014/main" id="{027DC5C1-F651-4476-A027-ECD95B7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74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价值由计划、执行、成本与经营指标的连续证据来证明；先统一口径，再持续采集。</a:t>
            </a:r>
          </a:p>
        </p:txBody>
      </p:sp>
      <p:sp>
        <p:nvSpPr>
          <p:cNvPr id="10" name="s4-path-label">
            <a:extLst xmlns:a="http://schemas.openxmlformats.org/drawingml/2006/main">
              <a:ext uri="{FF2B5EF4-FFF2-40B4-BE49-F238E27FC236}">
                <a16:creationId xmlns:a16="http://schemas.microsoft.com/office/drawing/2014/main" id="{863F3ACE-779C-44AC-B990-9FE400AD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一条价值链：从业务动作到经营结果</a:t>
            </a:r>
          </a:p>
        </p:txBody>
      </p:sp>
      <p:sp>
        <p:nvSpPr>
          <p:cNvPr id="11" name="s4-step-01">
            <a:extLst xmlns:a="http://schemas.openxmlformats.org/drawingml/2006/main">
              <a:ext uri="{FF2B5EF4-FFF2-40B4-BE49-F238E27FC236}">
                <a16:creationId xmlns:a16="http://schemas.microsoft.com/office/drawing/2014/main" id="{64507B7D-5941-4E55-8C7A-37F7399E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4859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4-step-n-01">
            <a:extLst xmlns:a="http://schemas.openxmlformats.org/drawingml/2006/main">
              <a:ext uri="{FF2B5EF4-FFF2-40B4-BE49-F238E27FC236}">
                <a16:creationId xmlns:a16="http://schemas.microsoft.com/office/drawing/2014/main" id="{9F40C0D3-B088-4F5B-8FC1-D3A62C96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s4-step-h-01">
            <a:extLst xmlns:a="http://schemas.openxmlformats.org/drawingml/2006/main">
              <a:ext uri="{FF2B5EF4-FFF2-40B4-BE49-F238E27FC236}">
                <a16:creationId xmlns:a16="http://schemas.microsoft.com/office/drawing/2014/main" id="{B0CA64A6-759D-422F-A9F2-A6ACD2C6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383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计划可执行</a:t>
            </a:r>
          </a:p>
        </p:txBody>
      </p:sp>
      <p:sp>
        <p:nvSpPr>
          <p:cNvPr id="14" name="s4-step-b-01">
            <a:extLst xmlns:a="http://schemas.openxmlformats.org/drawingml/2006/main">
              <a:ext uri="{FF2B5EF4-FFF2-40B4-BE49-F238E27FC236}">
                <a16:creationId xmlns:a16="http://schemas.microsoft.com/office/drawing/2014/main" id="{531DD1B3-096B-4723-8D42-C2DA45C7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交付承诺可计算</a:t>
            </a:r>
          </a:p>
        </p:txBody>
      </p:sp>
      <p:sp>
        <p:nvSpPr>
          <p:cNvPr id="15" name="s4-step-02">
            <a:extLst xmlns:a="http://schemas.openxmlformats.org/drawingml/2006/main">
              <a:ext uri="{FF2B5EF4-FFF2-40B4-BE49-F238E27FC236}">
                <a16:creationId xmlns:a16="http://schemas.microsoft.com/office/drawing/2014/main" id="{800E6584-EF73-4F62-A978-A8CDA2C8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66950"/>
            <a:ext cx="14859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s4-step-n-02">
            <a:extLst xmlns:a="http://schemas.openxmlformats.org/drawingml/2006/main">
              <a:ext uri="{FF2B5EF4-FFF2-40B4-BE49-F238E27FC236}">
                <a16:creationId xmlns:a16="http://schemas.microsoft.com/office/drawing/2014/main" id="{843840BD-C8CC-4CA8-B30C-D123F13F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622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s4-step-h-02">
            <a:extLst xmlns:a="http://schemas.openxmlformats.org/drawingml/2006/main">
              <a:ext uri="{FF2B5EF4-FFF2-40B4-BE49-F238E27FC236}">
                <a16:creationId xmlns:a16="http://schemas.microsoft.com/office/drawing/2014/main" id="{1911B1A4-7543-460D-B049-0D217F26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5267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物料可保障</a:t>
            </a:r>
          </a:p>
        </p:txBody>
      </p:sp>
      <p:sp>
        <p:nvSpPr>
          <p:cNvPr id="18" name="s4-step-b-02">
            <a:extLst xmlns:a="http://schemas.openxmlformats.org/drawingml/2006/main">
              <a:ext uri="{FF2B5EF4-FFF2-40B4-BE49-F238E27FC236}">
                <a16:creationId xmlns:a16="http://schemas.microsoft.com/office/drawing/2014/main" id="{C5131296-97F0-4B75-93B9-33F23306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051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库存与采购协同</a:t>
            </a:r>
          </a:p>
        </p:txBody>
      </p:sp>
      <p:sp>
        <p:nvSpPr>
          <p:cNvPr id="19" name="s4-step-03">
            <a:extLst xmlns:a="http://schemas.openxmlformats.org/drawingml/2006/main">
              <a:ext uri="{FF2B5EF4-FFF2-40B4-BE49-F238E27FC236}">
                <a16:creationId xmlns:a16="http://schemas.microsoft.com/office/drawing/2014/main" id="{1136F050-148F-48A5-B7B5-7D185D7D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14859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s4-step-n-03">
            <a:extLst xmlns:a="http://schemas.openxmlformats.org/drawingml/2006/main">
              <a:ext uri="{FF2B5EF4-FFF2-40B4-BE49-F238E27FC236}">
                <a16:creationId xmlns:a16="http://schemas.microsoft.com/office/drawing/2014/main" id="{5E47D96B-643E-487C-B2B9-DA277112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765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s4-step-h-03">
            <a:extLst xmlns:a="http://schemas.openxmlformats.org/drawingml/2006/main">
              <a:ext uri="{FF2B5EF4-FFF2-40B4-BE49-F238E27FC236}">
                <a16:creationId xmlns:a16="http://schemas.microsoft.com/office/drawing/2014/main" id="{5C48F4A7-D743-4238-BD39-0A8DBD08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670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成本可解释</a:t>
            </a:r>
          </a:p>
        </p:txBody>
      </p:sp>
      <p:sp>
        <p:nvSpPr>
          <p:cNvPr id="22" name="s4-step-b-03">
            <a:extLst xmlns:a="http://schemas.openxmlformats.org/drawingml/2006/main">
              <a:ext uri="{FF2B5EF4-FFF2-40B4-BE49-F238E27FC236}">
                <a16:creationId xmlns:a16="http://schemas.microsoft.com/office/drawing/2014/main" id="{F83B56B6-322F-4C9E-BB22-D25CBB14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194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批次利润可穿透</a:t>
            </a:r>
          </a:p>
        </p:txBody>
      </p:sp>
      <p:sp>
        <p:nvSpPr>
          <p:cNvPr id="23" name="s4-step-04">
            <a:extLst xmlns:a="http://schemas.openxmlformats.org/drawingml/2006/main">
              <a:ext uri="{FF2B5EF4-FFF2-40B4-BE49-F238E27FC236}">
                <a16:creationId xmlns:a16="http://schemas.microsoft.com/office/drawing/2014/main" id="{C1811878-56D6-4B5E-8792-B5E7DD23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4859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15240">
            <a:solidFill>
              <a:srgbClr val="C7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s4-step-n-04">
            <a:extLst xmlns:a="http://schemas.openxmlformats.org/drawingml/2006/main">
              <a:ext uri="{FF2B5EF4-FFF2-40B4-BE49-F238E27FC236}">
                <a16:creationId xmlns:a16="http://schemas.microsoft.com/office/drawing/2014/main" id="{6C36909A-F673-4664-AE40-E56709DB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909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050" b="1">
                <a:solidFill>
                  <a:srgbClr val="C7D52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C7D5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s4-step-h-04">
            <a:extLst xmlns:a="http://schemas.openxmlformats.org/drawingml/2006/main">
              <a:ext uri="{FF2B5EF4-FFF2-40B4-BE49-F238E27FC236}">
                <a16:creationId xmlns:a16="http://schemas.microsoft.com/office/drawing/2014/main" id="{A1C45734-EF43-4255-A22D-077C7C54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8137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决策可复盘</a:t>
            </a:r>
          </a:p>
        </p:txBody>
      </p:sp>
      <p:sp>
        <p:nvSpPr>
          <p:cNvPr id="26" name="s4-step-b-04">
            <a:extLst xmlns:a="http://schemas.openxmlformats.org/drawingml/2006/main">
              <a:ext uri="{FF2B5EF4-FFF2-40B4-BE49-F238E27FC236}">
                <a16:creationId xmlns:a16="http://schemas.microsoft.com/office/drawing/2014/main" id="{F86E4E93-0CCF-4A17-BF08-2315B198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338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38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结果回流可沉淀</a:t>
            </a:r>
          </a:p>
        </p:txBody>
      </p:sp>
      <p:sp>
        <p:nvSpPr>
          <p:cNvPr id="27" name="s4-step-arrow-1">
            <a:extLst xmlns:a="http://schemas.openxmlformats.org/drawingml/2006/main">
              <a:ext uri="{FF2B5EF4-FFF2-40B4-BE49-F238E27FC236}">
                <a16:creationId xmlns:a16="http://schemas.microsoft.com/office/drawing/2014/main" id="{A04AE87E-5741-4260-9CCD-A46136A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076450" y="21145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48A"/>
          </a:solidFill>
          <a:ln xmlns:a="http://schemas.openxmlformats.org/drawingml/2006/main" w="0">
            <a:solidFill>
              <a:srgbClr val="55D4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s4-step-arrow-2">
            <a:extLst xmlns:a="http://schemas.openxmlformats.org/drawingml/2006/main">
              <a:ext uri="{FF2B5EF4-FFF2-40B4-BE49-F238E27FC236}">
                <a16:creationId xmlns:a16="http://schemas.microsoft.com/office/drawing/2014/main" id="{06110B02-E81D-4AA8-B80B-42F61FC3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3695700" y="26289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AE2B"/>
          </a:solidFill>
          <a:ln xmlns:a="http://schemas.openxmlformats.org/drawingml/2006/main" w="0">
            <a:solidFill>
              <a:srgbClr val="FFAE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s4-step-arrow-3">
            <a:extLst xmlns:a="http://schemas.openxmlformats.org/drawingml/2006/main">
              <a:ext uri="{FF2B5EF4-FFF2-40B4-BE49-F238E27FC236}">
                <a16:creationId xmlns:a16="http://schemas.microsoft.com/office/drawing/2014/main" id="{B8EF87C7-7147-4E1E-8512-37CA91B8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5314950" y="31432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52B"/>
          </a:solidFill>
          <a:ln xmlns:a="http://schemas.openxmlformats.org/drawingml/2006/main" w="0">
            <a:solidFill>
              <a:srgbClr val="C7D5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s4-path-note">
            <a:extLst xmlns:a="http://schemas.openxmlformats.org/drawingml/2006/main">
              <a:ext uri="{FF2B5EF4-FFF2-40B4-BE49-F238E27FC236}">
                <a16:creationId xmlns:a16="http://schemas.microsoft.com/office/drawing/2014/main" id="{B952CE7C-51DE-4B4B-93B0-2FCB56ED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609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精益生产回归的标志：每次改善都有口径、有证据、有复盘。</a:t>
            </a:r>
          </a:p>
        </p:txBody>
      </p:sp>
      <p:sp>
        <p:nvSpPr>
          <p:cNvPr id="31" name="s4-hero-frame">
            <a:extLst xmlns:a="http://schemas.openxmlformats.org/drawingml/2006/main">
              <a:ext uri="{FF2B5EF4-FFF2-40B4-BE49-F238E27FC236}">
                <a16:creationId xmlns:a16="http://schemas.microsoft.com/office/drawing/2014/main" id="{8EC7E303-AC71-4C67-8162-2B90E525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4229100" cy="2971800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0A1A25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827ad28f449a0"/>
          <a:srcRect xmlns:a="http://schemas.openxmlformats.org/drawingml/2006/main" l="0" t="198" r="0" b="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91400" y="1562100"/>
            <a:ext cx="3924300" cy="2152650"/>
          </a:xfrm>
          <a:prstGeom xmlns:a="http://schemas.openxmlformats.org/drawingml/2006/main" prst="roundRect">
            <a:avLst>
              <a:gd name="adj" fmla="val 7080"/>
            </a:avLst>
          </a:prstGeom>
        </p:spPr>
      </p:pic>
      <p:sp>
        <p:nvSpPr>
          <p:cNvPr id="33" name="s4-hero-title">
            <a:extLst xmlns:a="http://schemas.openxmlformats.org/drawingml/2006/main">
              <a:ext uri="{FF2B5EF4-FFF2-40B4-BE49-F238E27FC236}">
                <a16:creationId xmlns:a16="http://schemas.microsoft.com/office/drawing/2014/main" id="{BF2751F6-6DA8-4940-B44F-B4033227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从“算数据”回到“做改善”</a:t>
            </a:r>
          </a:p>
        </p:txBody>
      </p:sp>
      <p:sp>
        <p:nvSpPr>
          <p:cNvPr id="34" name="s4-hero-body">
            <a:extLst xmlns:a="http://schemas.openxmlformats.org/drawingml/2006/main">
              <a:ext uri="{FF2B5EF4-FFF2-40B4-BE49-F238E27FC236}">
                <a16:creationId xmlns:a16="http://schemas.microsoft.com/office/drawing/2014/main" id="{A85A1B11-B177-4BC1-9032-7559D4E9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5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交付保障 · 资金占用受控 · 经营决策有据</a:t>
            </a:r>
          </a:p>
        </p:txBody>
      </p:sp>
      <p:sp>
        <p:nvSpPr>
          <p:cNvPr id="35" name="s4-kpi-label-v2">
            <a:extLst xmlns:a="http://schemas.openxmlformats.org/drawingml/2006/main">
              <a:ext uri="{FF2B5EF4-FFF2-40B4-BE49-F238E27FC236}">
                <a16:creationId xmlns:a16="http://schemas.microsoft.com/office/drawing/2014/main" id="{3553EF3A-BE33-4200-80B0-49BF32CF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指标框架｜不预设结果，先定义可验收口径</a:t>
            </a:r>
          </a:p>
        </p:txBody>
      </p:sp>
      <p:sp>
        <p:nvSpPr>
          <p:cNvPr id="36" name="s4-kpi-v2-0">
            <a:extLst xmlns:a="http://schemas.openxmlformats.org/drawingml/2006/main">
              <a:ext uri="{FF2B5EF4-FFF2-40B4-BE49-F238E27FC236}">
                <a16:creationId xmlns:a16="http://schemas.microsoft.com/office/drawing/2014/main" id="{BD66C5EF-15EC-4408-866E-381F79F3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2419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s4-kpi-head-v2-0">
            <a:extLst xmlns:a="http://schemas.openxmlformats.org/drawingml/2006/main">
              <a:ext uri="{FF2B5EF4-FFF2-40B4-BE49-F238E27FC236}">
                <a16:creationId xmlns:a16="http://schemas.microsoft.com/office/drawing/2014/main" id="{5211D7EA-D172-4A0D-807D-BA34EA43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调度会议次数 / 月</a:t>
            </a:r>
          </a:p>
        </p:txBody>
      </p:sp>
      <p:sp>
        <p:nvSpPr>
          <p:cNvPr id="38" name="s4-kpi-body-v2-0">
            <a:extLst xmlns:a="http://schemas.openxmlformats.org/drawingml/2006/main">
              <a:ext uri="{FF2B5EF4-FFF2-40B4-BE49-F238E27FC236}">
                <a16:creationId xmlns:a16="http://schemas.microsoft.com/office/drawing/2014/main" id="{260158A8-FC70-40C4-B64D-6C5C31AB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从定期汇总转向异常触发</a:t>
            </a:r>
          </a:p>
        </p:txBody>
      </p:sp>
      <p:sp>
        <p:nvSpPr>
          <p:cNvPr id="39" name="s4-kpi-v2-1">
            <a:extLst xmlns:a="http://schemas.openxmlformats.org/drawingml/2006/main">
              <a:ext uri="{FF2B5EF4-FFF2-40B4-BE49-F238E27FC236}">
                <a16:creationId xmlns:a16="http://schemas.microsoft.com/office/drawing/2014/main" id="{DDAC0601-A8F6-4B21-8D28-67DF069C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57750"/>
            <a:ext cx="2419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s4-kpi-head-v2-1">
            <a:extLst xmlns:a="http://schemas.openxmlformats.org/drawingml/2006/main">
              <a:ext uri="{FF2B5EF4-FFF2-40B4-BE49-F238E27FC236}">
                <a16:creationId xmlns:a16="http://schemas.microsoft.com/office/drawing/2014/main" id="{1158FA1F-2BA3-48C6-9D3C-8DA454C4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815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可提前识别风险场景数</a:t>
            </a:r>
          </a:p>
        </p:txBody>
      </p:sp>
      <p:sp>
        <p:nvSpPr>
          <p:cNvPr id="41" name="s4-kpi-body-v2-1">
            <a:extLst xmlns:a="http://schemas.openxmlformats.org/drawingml/2006/main">
              <a:ext uri="{FF2B5EF4-FFF2-40B4-BE49-F238E27FC236}">
                <a16:creationId xmlns:a16="http://schemas.microsoft.com/office/drawing/2014/main" id="{5BF18C94-9404-4501-A164-7B091610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57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0">
                <a:solidFill>
                  <a:srgbClr val="FFAE2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FFAE2B"/>
                </a:solidFill>
                <a:latin typeface="微软雅黑"/>
                <a:ea typeface="微软雅黑"/>
                <a:cs typeface="微软雅黑"/>
              </a:rPr>
              <a:t>响应窗口前置</a:t>
            </a:r>
          </a:p>
        </p:txBody>
      </p:sp>
      <p:sp>
        <p:nvSpPr>
          <p:cNvPr id="42" name="s4-kpi-v2-2">
            <a:extLst xmlns:a="http://schemas.openxmlformats.org/drawingml/2006/main">
              <a:ext uri="{FF2B5EF4-FFF2-40B4-BE49-F238E27FC236}">
                <a16:creationId xmlns:a16="http://schemas.microsoft.com/office/drawing/2014/main" id="{FF01020C-12F8-4F02-A5F5-BD4018DD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2419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s4-kpi-head-v2-2">
            <a:extLst xmlns:a="http://schemas.openxmlformats.org/drawingml/2006/main">
              <a:ext uri="{FF2B5EF4-FFF2-40B4-BE49-F238E27FC236}">
                <a16:creationId xmlns:a16="http://schemas.microsoft.com/office/drawing/2014/main" id="{7BA1F279-6D13-4B3F-AADF-088B7E4F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815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系统生成经营方案场景数</a:t>
            </a:r>
          </a:p>
        </p:txBody>
      </p:sp>
      <p:sp>
        <p:nvSpPr>
          <p:cNvPr id="44" name="s4-kpi-body-v2-2">
            <a:extLst xmlns:a="http://schemas.openxmlformats.org/drawingml/2006/main">
              <a:ext uri="{FF2B5EF4-FFF2-40B4-BE49-F238E27FC236}">
                <a16:creationId xmlns:a16="http://schemas.microsoft.com/office/drawing/2014/main" id="{A6D33D48-3459-4AB4-B92C-3854627E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0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方案可追溯、可复用</a:t>
            </a:r>
          </a:p>
        </p:txBody>
      </p:sp>
      <p:sp>
        <p:nvSpPr>
          <p:cNvPr id="45" name="s4-kpi-v2-3">
            <a:extLst xmlns:a="http://schemas.openxmlformats.org/drawingml/2006/main">
              <a:ext uri="{FF2B5EF4-FFF2-40B4-BE49-F238E27FC236}">
                <a16:creationId xmlns:a16="http://schemas.microsoft.com/office/drawing/2014/main" id="{E9CC029F-436D-4709-A146-39A3438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57750"/>
            <a:ext cx="2419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s4-kpi-head-v2-3">
            <a:extLst xmlns:a="http://schemas.openxmlformats.org/drawingml/2006/main">
              <a:ext uri="{FF2B5EF4-FFF2-40B4-BE49-F238E27FC236}">
                <a16:creationId xmlns:a16="http://schemas.microsoft.com/office/drawing/2014/main" id="{2794DC36-0C50-4D49-B822-E58FDE21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815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情景推演采纳率（%）</a:t>
            </a:r>
          </a:p>
        </p:txBody>
      </p:sp>
      <p:sp>
        <p:nvSpPr>
          <p:cNvPr id="47" name="s4-kpi-body-v2-3">
            <a:extLst xmlns:a="http://schemas.openxmlformats.org/drawingml/2006/main">
              <a:ext uri="{FF2B5EF4-FFF2-40B4-BE49-F238E27FC236}">
                <a16:creationId xmlns:a16="http://schemas.microsoft.com/office/drawing/2014/main" id="{94841FDF-6840-45AE-B606-D1F26D1D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57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97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8B9F2"/>
                </a:solidFill>
                <a:latin typeface="微软雅黑"/>
                <a:ea typeface="微软雅黑"/>
                <a:cs typeface="微软雅黑"/>
              </a:rPr>
              <a:t>推演进入真实决策</a:t>
            </a:r>
          </a:p>
        </p:txBody>
      </p:sp>
      <p:sp>
        <p:nvSpPr>
          <p:cNvPr id="48" name="s4-foot-v2">
            <a:extLst xmlns:a="http://schemas.openxmlformats.org/drawingml/2006/main">
              <a:ext uri="{FF2B5EF4-FFF2-40B4-BE49-F238E27FC236}">
                <a16:creationId xmlns:a16="http://schemas.microsoft.com/office/drawing/2014/main" id="{F4C5991E-AC45-495B-ADD3-74BF6489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1074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蓝图交付重点：口径统一、流程可执行、结果可追溯、价值可复盘。</a:t>
            </a:r>
          </a:p>
        </p:txBody>
      </p:sp>
    </p:spTree>
    <p:extLst>
      <p:ext uri="{BB962C8B-B14F-4D97-AF65-F5344CB8AC3E}">
        <p14:creationId xmlns:p14="http://schemas.microsoft.com/office/powerpoint/2010/main" val="2102544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C4AE64C-2410-44CE-A21E-6E608A8B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1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a0d094bcf47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6EBBC8E-CA0A-466F-9047-D69C8006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543665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淀粉糖生产运营业务现状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VS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未来蓝图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24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经营管理智能辅助决策升级</a:t>
            </a:r>
            <a:endParaRPr sz="2400"/>
          </a:p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C81B5AF0-5847-4B49-B3F7-FE6A388B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97000"/>
            <a:ext cx="2870200" cy="482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a0d094bcf47ce">
            <a:extLst>
              <a:ext uri="{96DAC541-7B7A-43D3-8B79-37D633B846F1}">
                <asvg:svgBlip xmlns:asvg="http://schemas.microsoft.com/office/drawing/2016/SVG/main" r:embed="R6e116cfbdd27473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1651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3A7B4767-C90B-4239-8FDD-047C45CD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25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现状</a:t>
            </a:r>
            <a:endParaRPr sz="1100"/>
          </a:p>
        </p:txBody>
      </p:sp>
      <p:cxnSp>
        <p:nvCxnSpPr>
          <p:cNvPr id="116" name="Connector 20"/>
          <p:cNvCxnSpPr/>
          <p:nvPr/>
        </p:nvCxnSpPr>
        <p:spPr>
          <a:xfrm xmlns:a="http://schemas.openxmlformats.org/drawingml/2006/main" rot="-17539">
            <a:off x="3238516" y="2152650"/>
            <a:ext cx="24892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13F7462F-3951-4AF0-9080-2ECB85F0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955" y="2433320"/>
            <a:ext cx="2616200" cy="29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⽆智能辅助决策系统，当前采⽤“周期性回顾+经验驱动”的经营决策模式：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1.决策时效：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经营分析主要依赖⽉度或周度会议，数据汇总存在⼀定的周期，侧重于对过去⼀段时间业绩的事后复盘。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2.分析深度：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⽬前主要通过报表展示历史统计数据，尚未引⼊多维度的模拟仿真⼯具（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What-if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分析），难以在决策前对不同策略（如排产调整、原料波动）的影响进⾏量化预演。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30B8AFEF-E272-468D-A140-65D6101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397000"/>
            <a:ext cx="2870200" cy="482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3B82F6">
                <a:alpha val="7000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ed85e9ecd4d99">
            <a:extLst>
              <a:ext uri="{96DAC541-7B7A-43D3-8B79-37D633B846F1}">
                <asvg:svgBlip xmlns:asvg="http://schemas.microsoft.com/office/drawing/2016/SVG/main" r:embed="Rbb380f1a58f642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5700" y="1651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9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87C918A7-137C-42B1-93BC-7D5C7528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1625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未来</a:t>
            </a:r>
            <a:endParaRPr sz="1100"/>
          </a:p>
        </p:txBody>
      </p:sp>
      <p:cxnSp>
        <p:nvCxnSpPr>
          <p:cNvPr id="121" name="Connector 27"/>
          <p:cNvCxnSpPr/>
          <p:nvPr/>
        </p:nvCxnSpPr>
        <p:spPr>
          <a:xfrm xmlns:a="http://schemas.openxmlformats.org/drawingml/2006/main" rot="-17539">
            <a:off x="6235716" y="2152650"/>
            <a:ext cx="24892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B82F6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C8D94AAB-F454-4BF1-B71D-0BB1F859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1397000"/>
            <a:ext cx="2870200" cy="482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8000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3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2c08b7ee64a0e">
            <a:extLst>
              <a:ext uri="{96DAC541-7B7A-43D3-8B79-37D633B846F1}">
                <asvg:svgBlip xmlns:asvg="http://schemas.microsoft.com/office/drawing/2016/SVG/main" r:embed="Re0684012942941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2900" y="1651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6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9DF9AA1E-03E7-4DBB-8444-A4ED41B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1625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A580C"/>
                </a:solidFill>
                <a:latin typeface="Noto Sans SC"/>
                <a:ea typeface="Noto Sans SC"/>
                <a:cs typeface="Noto Sans SC"/>
              </a:rPr>
              <a:t>关键跃升</a:t>
            </a:r>
            <a:endParaRPr sz="1100"/>
          </a:p>
        </p:txBody>
      </p:sp>
      <p:cxnSp>
        <p:nvCxnSpPr>
          <p:cNvPr id="125" name="Connector 34"/>
          <p:cNvCxnSpPr/>
          <p:nvPr/>
        </p:nvCxnSpPr>
        <p:spPr>
          <a:xfrm xmlns:a="http://schemas.openxmlformats.org/drawingml/2006/main" rot="-17539">
            <a:off x="9232916" y="2152650"/>
            <a:ext cx="24892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1CA9127-1174-4949-8450-26BE2ABE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" y="914400"/>
            <a:ext cx="3012440" cy="587121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172A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F2F2FB2-75E4-40F9-952C-E558647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10" y="58185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19 </a:t>
            </a:r>
            <a:r>
              <a:rPr sz="12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经营管理智能辅助决策</a:t>
            </a:r>
            <a:endParaRPr sz="12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33AC482-2183-40D0-89CF-063714CC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9367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12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质量追溯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6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BE21EFE-F757-4A80-B286-05DE60F5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24911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13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成本追溯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7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AD86476-4139-430E-A417-4BC0DE24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04546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14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设备运维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8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BF5B13A-834C-4BB7-B6C8-F5A4E865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6004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15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能碳管理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9" name="AutoShape 8">
            <a:extLst xmlns:a="http://schemas.openxmlformats.org/drawingml/2006/main">
              <a:ext uri="{FF2B5EF4-FFF2-40B4-BE49-F238E27FC236}">
                <a16:creationId xmlns:a16="http://schemas.microsoft.com/office/drawing/2014/main" id="{6E83C9E4-2CC5-4C98-9B17-819B12F3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15544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16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横向使能：数据与集成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0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CFC791A-FEA7-4E88-9431-DB36A3B3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70979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17 横向使能：⾃动化分层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B57F47D-00BE-4F8B-A223-7ABFACAD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138239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01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订单接收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8BD1207-F166-41D0-90E3-036F9299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19367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02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原料采购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71DB1E3-4592-4A0C-9418-FEACF6CF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24911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algn="l">
              <a:lnSpc>
                <a:spcPct val="125000"/>
              </a:lnSpc>
              <a:buClrTx/>
              <a:buSzTx/>
              <a:buFontTx/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03 计划排产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9354D68-4C68-450F-8F8E-C77C191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304546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04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调度执⾏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8564443-F5CC-4EA4-BDF4-D0E71624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36004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05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原料转运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存储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FC898E2-D7C1-4B4B-A71E-6B98AEB4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415544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06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⽣产作业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D82F44D-20E6-4E63-97E8-7270F294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471043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07 过程暂存(中间品)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78A2294-D36A-46F5-8120-753D3CD8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52641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08 质量检测分析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C35E7E79-C6D8-4482-A5F2-AC76FB54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58185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09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异常管理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3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04F85967-BB19-487D-8761-1C95D131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37222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10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成品⼊库仓储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7F766FFE-4443-4172-979E-92D8106F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" y="948690"/>
            <a:ext cx="156273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>
                    <a:lumMod val="60000"/>
                    <a:lumOff val="40000"/>
                  </a:schemeClr>
                </a:solidFill>
              </a:rPr>
              <a:t>对比分析维度</a:t>
            </a:r>
            <a:endParaRPr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03F94A7A-3F4F-4BF3-9C7F-A13C3030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70810"/>
            <a:ext cx="2616200" cy="29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1.管理驾驶舱：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汇聚CRM、SAP、SCOS、MES、WMS、QMS/LIMS、WMS、TMS、EMS、EAM、PHM、TMS等数据，展示订单履约、产量、库存、质量、能耗、设备和成本指标。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2.智能辅助决策与全局寻优：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结合数据与模型，在排产、采购、订单交付、经济效益分析、库存安全、物流优化、安全管理等场景，系统⾃动输出“异常根因—未来趋势—调整预案”。管理者从“⼈找数据做决策”升级为“AI推送决策⼈确认”，实现全局多⽬标寻优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endParaRPr sz="1200" b="1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3.模拟推演：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⽀持原料价格波动、产能负荷、能源价格、库存策略、异常停机等场景的“What-if”测算，为排产采购、销售和经营决策提供依据。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EA95563D-930E-4997-8564-8531C3DA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765" y="2433320"/>
            <a:ext cx="2616200" cy="29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从事后统计与经验粗放管理向事前预演与模型精益智控转变；实现跨⼯序、跨部⻔的分钟级决策响应，推动企业从“被动处置”向“主动预判、系统调控”跨越。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8680D57-82CE-4D66-9814-EA5AA975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38239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11 </a:t>
            </a: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发货交付与成品出⼚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1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14B6205-1DFC-4F59-B157-8CE89A15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52641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18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AI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赋能经营管理与实时⼯艺控制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829756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88E3969-35E4-4008-8D8D-0D55E1C5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10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cda651ad042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DEAECBF-918D-44D1-BDB6-AB9E04BE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总体</a:t>
            </a: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架构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676C83B-9B8E-4F91-A4BD-B702BEEE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4732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35E4CA3-B679-4879-8D08-0204592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01800"/>
            <a:ext cx="12954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经营管理层</a:t>
            </a:r>
            <a:endParaRPr b="1" i="0" u="none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3858925-061A-4FBC-8355-6377C8F6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73200"/>
            <a:ext cx="89154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24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DDFB634-27B9-47B4-AF20-0BE70996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01800"/>
            <a:ext cx="4191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SCOS</a:t>
            </a: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驾驶舱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11" name="Connector 11"/>
          <p:cNvCxnSpPr/>
          <p:nvPr/>
        </p:nvCxnSpPr>
        <p:spPr>
          <a:xfrm xmlns:a="http://schemas.openxmlformats.org/drawingml/2006/main" rot="5114181">
            <a:off x="5956300" y="23561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28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BEBDF4CC-7711-4798-9D8E-DBDBB1A4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4384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2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78E9EBD-AC28-45ED-B60C-9B174D30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62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应用</a:t>
            </a: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服务</a:t>
            </a: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46F80A7-CC45-49B1-8BAA-31CD8078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14097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1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C78C6D82-B172-4E44-AED0-052E5675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2616200"/>
            <a:ext cx="135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精益生产排程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6619B23D-1850-444F-8AB6-B35983A5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2438400"/>
            <a:ext cx="14097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3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EEF7EA57-785E-49E3-869A-97498762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616200"/>
            <a:ext cx="135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安全库存优化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CD51CB9C-10E7-4FDD-945B-EA2E9BD1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635" y="2438400"/>
            <a:ext cx="29203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5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D44728E-8F3C-4CC1-844C-8058538A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635" y="2616200"/>
            <a:ext cx="281876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采购优化管理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6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AE55B811-C6DE-459E-95A5-223FEB8F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9035"/>
            <a:ext cx="28187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7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0127B699-256E-4568-8679-BC52A213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0" y="2616835"/>
            <a:ext cx="255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统计与成本核算分析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22" name="Connector 26"/>
          <p:cNvCxnSpPr/>
          <p:nvPr/>
        </p:nvCxnSpPr>
        <p:spPr>
          <a:xfrm xmlns:a="http://schemas.openxmlformats.org/drawingml/2006/main" rot="5114181">
            <a:off x="5956300" y="33213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43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5FA7954F-33BA-4CAE-A151-F23C433B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036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44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B26D3835-E970-46A3-90D7-453E5F34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优化决策层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132BEFE9-5138-4B2C-B4A5-C85BF545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3600"/>
            <a:ext cx="2921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46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FB45E819-131D-4AB6-AE1D-C25C673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3581400"/>
            <a:ext cx="27178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优化引擎 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7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5F670BCC-B687-497B-AB1E-E7CCE275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3600"/>
            <a:ext cx="2921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48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E65365ED-68D3-4C96-91FE-D825F66C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3581400"/>
            <a:ext cx="271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需求预测模型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D8F03126-C965-4317-B481-343448D0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3600"/>
            <a:ext cx="28187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0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D5F6EAB6-99A1-4FA5-AE97-C22B143B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81400"/>
            <a:ext cx="271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规则引擎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31" name="Connector 35"/>
          <p:cNvCxnSpPr/>
          <p:nvPr/>
        </p:nvCxnSpPr>
        <p:spPr>
          <a:xfrm xmlns:a="http://schemas.openxmlformats.org/drawingml/2006/main" rot="5114181">
            <a:off x="5956300" y="42865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52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F301CEEE-9E46-4B97-B599-EB415A18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3688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3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91EA8385-2441-4F8C-A221-C9FE39A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66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数据层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4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6392C3EE-AE20-4B04-A3DF-C651C35D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68800"/>
            <a:ext cx="88893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5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D3086059-A972-40E6-9964-2C729D0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4546600"/>
            <a:ext cx="871029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数据中台：主数据　·　业务数据　·　数据仓库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36" name="Connector 40"/>
          <p:cNvCxnSpPr/>
          <p:nvPr/>
        </p:nvCxnSpPr>
        <p:spPr>
          <a:xfrm xmlns:a="http://schemas.openxmlformats.org/drawingml/2006/main" rot="5114181">
            <a:off x="5956300" y="52517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57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72A01A26-CCBC-470B-863F-4E7A4EAE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8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998698FA-9D7E-45D3-94B6-F0B6B002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118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集成层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9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84B36179-E4FA-4FD0-9603-F876BA5D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0" name="AutoShape 44">
            <a:extLst xmlns:a="http://schemas.openxmlformats.org/drawingml/2006/main">
              <a:ext uri="{FF2B5EF4-FFF2-40B4-BE49-F238E27FC236}">
                <a16:creationId xmlns:a16="http://schemas.microsoft.com/office/drawing/2014/main" id="{8BCF6FE8-80CA-4146-9174-E511344D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SAP 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1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66C58B40-A2D4-4552-95A1-F5524FD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2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4DF6EC93-8E39-490E-AAA6-77DE0C96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MES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3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4D4FB4D5-C1CA-49A7-95E7-1419A099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4" name="AutoShape 48">
            <a:extLst xmlns:a="http://schemas.openxmlformats.org/drawingml/2006/main">
              <a:ext uri="{FF2B5EF4-FFF2-40B4-BE49-F238E27FC236}">
                <a16:creationId xmlns:a16="http://schemas.microsoft.com/office/drawing/2014/main" id="{CEA453D0-013F-45D7-8C59-7C70003B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WMS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5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98A3D03A-B9DA-4AE1-9B8E-8ADA4F0F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6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CF25F1E0-1F61-4CE7-A367-634C7BE4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TMS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7" name="AutoShape 51">
            <a:extLst xmlns:a="http://schemas.openxmlformats.org/drawingml/2006/main">
              <a:ext uri="{FF2B5EF4-FFF2-40B4-BE49-F238E27FC236}">
                <a16:creationId xmlns:a16="http://schemas.microsoft.com/office/drawing/2014/main" id="{8A9F5482-CD52-4C2C-A142-36A05BD5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0" y="5334000"/>
            <a:ext cx="185483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8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0E41DEEC-AF91-4F20-961B-216D15EA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11800"/>
            <a:ext cx="182943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CRM</a:t>
            </a: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等其他系统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589628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74A690C-02B9-4FB5-84E2-386C8E2E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7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be318fcf449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9F6138C-227D-45C4-8E23-0D09108E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模型算法驱动生产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精益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排程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7E005B3-95C3-4118-BE94-02C90B15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把交付优先级、库存补货、产能设备与原辅包到货约束汇聚到统一排程，形成上下游一致的时间承诺。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D541BB1-442C-4AB1-94BE-E8EBB44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多约束汇聚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7C039D0-4055-4A2F-8369-33FBD06C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CE064DD6-84D6-4D1C-B7A0-05FC9A86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52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959A5E-F174-4D23-826D-C8002912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" y="20955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订单与需求预测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0E27F5-1CDE-43C9-BC36-CCE7845E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优先级/交期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>
            <a:extLst xmlns:a="http://schemas.openxmlformats.org/drawingml/2006/main">
              <a:ext uri="{FF2B5EF4-FFF2-40B4-BE49-F238E27FC236}">
                <a16:creationId xmlns:a16="http://schemas.microsoft.com/office/drawing/2014/main" id="{90CC05E3-AE0B-4B10-A9F1-B0D72B5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383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1FEADC78-3C02-4917-8E3F-5F1D995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52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23D4FF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1AA10D3-EF3E-444C-AA10-0562BCC6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BOM/</a:t>
            </a: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工艺路线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701C136-7E17-4C73-8FAB-FCE4D273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35" y="3190875"/>
            <a:ext cx="13550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产品结构和生产步骤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右箭头 32">
            <a:extLst xmlns:a="http://schemas.openxmlformats.org/drawingml/2006/main">
              <a:ext uri="{FF2B5EF4-FFF2-40B4-BE49-F238E27FC236}">
                <a16:creationId xmlns:a16="http://schemas.microsoft.com/office/drawing/2014/main" id="{1F6A239E-6C0B-4450-AA93-10DBA811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1942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17EFDBCB-7300-47B4-98DD-C8CAF711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1524000" cy="87693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B348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83C6AF5-B9F0-46EE-80BA-EB71756D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资源</a:t>
            </a: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54CA952-B039-4202-B09D-C4BE7179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384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设备、模具、人力等关键资源的当前可用性与产能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右箭头 36">
            <a:extLst xmlns:a="http://schemas.openxmlformats.org/drawingml/2006/main">
              <a:ext uri="{FF2B5EF4-FFF2-40B4-BE49-F238E27FC236}">
                <a16:creationId xmlns:a16="http://schemas.microsoft.com/office/drawing/2014/main" id="{C20049F7-6D18-473A-A7DF-0161A794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004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336880E-57AE-42AD-8BF3-1D1B2698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5505"/>
            <a:ext cx="1524000" cy="8604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53D38A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A51B53D-270A-4AA6-B7AD-CEEA8DD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218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库存与采购在途信息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5B2552E-AF33-4E88-B1EC-955755A8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2033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当前可用物料及预计到货的采购订单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右箭头 44">
            <a:extLst xmlns:a="http://schemas.openxmlformats.org/drawingml/2006/main">
              <a:ext uri="{FF2B5EF4-FFF2-40B4-BE49-F238E27FC236}">
                <a16:creationId xmlns:a16="http://schemas.microsoft.com/office/drawing/2014/main" id="{4962BEA1-EA5E-453D-86DA-24D1B31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6600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6" name="六边形 45">
            <a:extLst xmlns:a="http://schemas.openxmlformats.org/drawingml/2006/main">
              <a:ext uri="{FF2B5EF4-FFF2-40B4-BE49-F238E27FC236}">
                <a16:creationId xmlns:a16="http://schemas.microsoft.com/office/drawing/2014/main" id="{1D51D36D-8985-4A2A-B4F7-757EF56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2381250" cy="23812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82B39"/>
          </a:solidFill>
          <a:ln xmlns:a="http://schemas.openxmlformats.org/drawingml/2006/main" w="28575">
            <a:solidFill>
              <a:srgbClr val="23D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05146ED-4DF6-4202-ADED-12964F2E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81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约束排程引擎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61E5E8F-756A-42EE-9ABD-051D4900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需求合并与优先级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产能负荷平衡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瓶颈/冲突识别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计划版本与锁定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右箭头 48">
            <a:extLst xmlns:a="http://schemas.openxmlformats.org/drawingml/2006/main">
              <a:ext uri="{FF2B5EF4-FFF2-40B4-BE49-F238E27FC236}">
                <a16:creationId xmlns:a16="http://schemas.microsoft.com/office/drawing/2014/main" id="{CE767F76-4CFC-4ED2-8269-0729ED89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D4FF"/>
          </a:solidFill>
          <a:ln xmlns:a="http://schemas.openxmlformats.org/drawingml/2006/main" w="0">
            <a:solidFill>
              <a:srgbClr val="23D4FF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B418991-815D-4E89-9C5D-18707B5B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计划执行泳道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3B2888A-544E-4DDA-B24F-010EEC12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9547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3C5EAC52-36A7-42A5-BD68-6220AC73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FCF61556-939B-4CA0-B492-D97BECA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24075"/>
            <a:ext cx="1085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详细的生产作业计划</a:t>
            </a:r>
            <a:endParaRPr sz="1275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9FAB14D6-D7F7-43D8-A96F-1CF0AC17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240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明确各工序、设备、班次的具体任务与时间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6644404A-FB1E-4971-8CF3-8291C3A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9082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23D4FF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8633456B-EED9-4164-9244-1223B31B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670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可承诺量（</a:t>
            </a:r>
            <a:r>
              <a: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ATP）</a:t>
            </a:r>
            <a:endParaRPr sz="1275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AE55271-A47A-4BA3-B036-3EA16B98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6702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向销售端提供可靠的、基于实际产能和物料的交付日期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D8A59EA8-DECC-4847-9531-A5D6AEC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53D38A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9070ACC8-3561-4B37-9ACE-F280CB72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997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计划模拟与预警</a:t>
            </a:r>
            <a:endParaRPr sz="1275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E826EEF1-D45B-4F5A-A080-62AB1A9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9975"/>
            <a:ext cx="353123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模拟不同策略下的产出和交付结果，并对潜在的交期风险进行预警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6AA590D9-CE99-4CD3-A428-421F977C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7672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FFB348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8ED790CE-2AED-46ED-B7FB-A5C258F0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异常</a:t>
            </a: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状况自行</a:t>
            </a: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调整</a:t>
            </a:r>
            <a:endParaRPr sz="1275" b="1">
              <a:solidFill>
                <a:srgbClr val="FFB3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AF6C8855-E1A2-47A3-82BC-DAEE0F8C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529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需求波动、资源瓶颈、原</a:t>
            </a: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辅料到货准时性与质量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左箭头 63">
            <a:extLst xmlns:a="http://schemas.openxmlformats.org/drawingml/2006/main">
              <a:ext uri="{FF2B5EF4-FFF2-40B4-BE49-F238E27FC236}">
                <a16:creationId xmlns:a16="http://schemas.microsoft.com/office/drawing/2014/main" id="{4114918E-3320-4473-82E7-1ACB876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73342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72A00840-1AC4-48B8-A532-C001554B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435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实际产量 / 完工时间 / 设备状态 / 物料消耗 / 订单变化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BBCB1B8C-5756-4428-B6AF-B350C3F5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857875"/>
            <a:ext cx="752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23D4FF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6C2CB2C-A14A-44CF-A8C3-2FB5A7F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150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协同价值</a:t>
            </a:r>
            <a:endParaRPr sz="1350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2E5B75B2-3D1D-4CA4-AB89-EFF092F1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00775"/>
            <a:ext cx="72390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提前暴露产能、物料和交期冲突，提升计划可执行性，减少临时协调与被动救火。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4018850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95040DD-DD21-46BF-B8B6-C3B5585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10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7823c479b4f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B20A61-2FEA-4C41-B06C-1105BDAD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安全库存水位智能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优化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58CADDC-BF6E-44D8-B96E-2CC1EBC2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B363792-2334-4BFB-B962-2519C735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214D155-4868-4D6C-86D3-8CE92782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3BB4EB8-69F3-4BE3-8875-0B8275FE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30E68A-79BF-4753-BA01-9A8D8340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631DCC-726F-46E1-AB36-E787298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542B1F0-74A9-41FF-A604-E065957E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00C5CF1-FD03-4C40-A68B-16347D1B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76E7E285-F45F-46F8-99AA-F85A5503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CCE53E0-EAC8-4539-B15F-FCB24B2F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安全库存 / s / S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8C03718F-FD24-4A85-848E-EBB4FA1E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9FFF6C1-58DA-4018-821E-521DF1CC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补货日期与数量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64EC6C45-F159-49A4-B084-DED2354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DEB92C0-25CC-4D13-8D1C-6CC9D54E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384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预计库存水位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26614760-8F24-4988-9B4E-A8BB63B9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7D7118F3-2BB0-4903-8D36-AFC1F60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缺货/容量风险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05E0A33C-3FAF-442E-A67F-15C4167B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19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ACFE3F1-3B38-4D33-AE21-E1B29664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计划员确认发布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04CEE2B4-A5A4-4A90-B351-F9005CBE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028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FE852CA-D4E8-4459-96DF-3459E9A4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生产排程承接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06D99DDB-B31D-4673-AD6E-4AF3643E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1927609-3747-4DB6-A058-ACEC1C97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生产入库执行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81052A51-61AB-40E1-831D-6EA61F0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33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ED1EB9F-5C62-49B4-BC91-B7338344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驾驶舱预警跟踪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右箭头 59">
            <a:extLst xmlns:a="http://schemas.openxmlformats.org/drawingml/2006/main">
              <a:ext uri="{FF2B5EF4-FFF2-40B4-BE49-F238E27FC236}">
                <a16:creationId xmlns:a16="http://schemas.microsoft.com/office/drawing/2014/main" id="{D06C4008-888D-466A-9D70-A6110B6A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1" name="右箭头 60">
            <a:extLst xmlns:a="http://schemas.openxmlformats.org/drawingml/2006/main">
              <a:ext uri="{FF2B5EF4-FFF2-40B4-BE49-F238E27FC236}">
                <a16:creationId xmlns:a16="http://schemas.microsoft.com/office/drawing/2014/main" id="{54C14AE2-AA33-479A-9577-21CDF7C8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62" name="右箭头 61">
            <a:extLst xmlns:a="http://schemas.openxmlformats.org/drawingml/2006/main">
              <a:ext uri="{FF2B5EF4-FFF2-40B4-BE49-F238E27FC236}">
                <a16:creationId xmlns:a16="http://schemas.microsoft.com/office/drawing/2014/main" id="{E55195F5-0513-4523-A8DF-531ADC01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22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3F8ED588-3FA6-46B5-9D50-BD7857BE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833"/>
          </a:solidFill>
          <a:ln xmlns:a="http://schemas.openxmlformats.org/drawingml/2006/main" w="28575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E1D0E86-3325-46EB-9759-C77CC46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动态库存策略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6F88B711-AF14-4ADB-B95D-2CCDD150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(R,s,S) 参数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逐日库存推演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共享库容与罐位兼容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7天锁定与异常重算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下箭头 65">
            <a:extLst xmlns:a="http://schemas.openxmlformats.org/drawingml/2006/main">
              <a:ext uri="{FF2B5EF4-FFF2-40B4-BE49-F238E27FC236}">
                <a16:creationId xmlns:a16="http://schemas.microsoft.com/office/drawing/2014/main" id="{FD597DC0-F1A1-4959-80B9-7272C135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945" y="5067300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67" name="左箭头 66">
            <a:extLst xmlns:a="http://schemas.openxmlformats.org/drawingml/2006/main">
              <a:ext uri="{FF2B5EF4-FFF2-40B4-BE49-F238E27FC236}">
                <a16:creationId xmlns:a16="http://schemas.microsoft.com/office/drawing/2014/main" id="{B6F976E1-4034-4D7F-AF06-FD1FA109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0962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上箭头 67">
            <a:extLst xmlns:a="http://schemas.openxmlformats.org/drawingml/2006/main">
              <a:ext uri="{FF2B5EF4-FFF2-40B4-BE49-F238E27FC236}">
                <a16:creationId xmlns:a16="http://schemas.microsoft.com/office/drawing/2014/main" id="{5AD1D0F2-0253-4A99-B448-157933A5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5067300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128524C5-23C4-4A77-A27C-4F621336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实际出货 / 实际入库 / 偏差与预警 / 参数效果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>
            <a:extLst xmlns:a="http://schemas.openxmlformats.org/drawingml/2006/main">
              <a:ext uri="{FF2B5EF4-FFF2-40B4-BE49-F238E27FC236}">
                <a16:creationId xmlns:a16="http://schemas.microsoft.com/office/drawing/2014/main" id="{25A0C926-5CB6-4459-AEA8-97C241B4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C6505B03-176C-4CD9-832E-A97CC48F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以服务水平牵引库存结构优化</a:t>
            </a:r>
            <a:endParaRPr sz="1350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83EDAC79-EC94-4FB2-80BD-F472DFCE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245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降低缺货与呆滞风险，提升库存周转和订单保障能力，让库存从静态经验值变为动态经营参数。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E8505F88-7692-4DE1-8659-38D379A6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把需求变化、库存状态与生产补充能力统一到逐日库存轨迹中，在保障交付的同时控制资金占用和库容风险。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0A2125F0-94E3-4114-A0BE-674672D2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2019300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D876ED3-722A-4BA3-B060-D9303B7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027050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1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需求预测与历史数据</a:t>
            </a:r>
            <a:endParaRPr sz="1090" b="1">
              <a:solidFill>
                <a:schemeClr val="accent1">
                  <a:lumMod val="20000"/>
                  <a:lumOff val="80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用于预测未来消耗量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20C40F0F-D660-46DF-A057-73841973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2718435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92F0C1A-86B6-4086-8845-CFF1643B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726184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提前期与补货规则</a:t>
            </a:r>
            <a:endParaRPr sz="1090" b="0">
              <a:solidFill>
                <a:schemeClr val="accent2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采购、制造及运输的提前期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974A03E7-F01B-46D4-86D3-BB707572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3411220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A191E8-98FF-434D-A961-7128BA07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3418969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5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服务水平目标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企业希望达到的库存满足率（如95%）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D2FADDDE-0D63-4546-8A59-B2EB99DC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410" y="4131310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1C99D50-CDF9-4FF2-89DC-EFA9F7C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085" y="4139059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成本参数</a:t>
            </a:r>
            <a:endParaRPr sz="1090">
              <a:solidFill>
                <a:schemeClr val="accent6">
                  <a:lumMod val="20000"/>
                  <a:lumOff val="80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包括库存持有成本、订货成本、缺货成本等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85595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C526946-C127-4D2D-8EE2-DBDCBE17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9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396b839914a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8B2FB24-A787-4410-B072-11DC00D9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数据驱动采购决策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优化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1E22277-6BCE-4305-8D2E-470F61C4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以上游已发布原材料需求为唯一需求口径，在满足供应、质量和到货约束的前提下优化供应商组合与综合采购成本。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9769BEC-1F1B-4DD2-9A4D-6152C18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D981111-B083-46DF-9C53-BD44A83E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FF18207-C8DE-493A-A6B8-11DA4273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5403F0B-4826-4D8C-82EA-3AA44D68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86DAF70-6D07-4DB5-9B50-7710403A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576A8CF-0B1B-444A-8B52-721AE32A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F65D676-8F32-4268-86FB-FD9D39AC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30C9572-56AC-4EE1-8DC5-6225F770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7C15A659-CBF5-4F7D-A090-A3A68EC1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2019300"/>
            <a:ext cx="1981200" cy="6007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F5D33CE-4007-4629-B476-2F71F9F8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028825"/>
            <a:ext cx="1847850" cy="591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6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物料需求计划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由生产计划直接驱动的原材料和零部件需求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7D2EC547-40AD-497F-AAA2-4206B8A3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02404F5B-6530-4BEB-8243-2059DA06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月度采购总量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4612F33D-1745-47F2-AE4E-4B4E1E6E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F3186B98-B1A4-448E-9D38-A59DA958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供应商分配方案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552F6E76-098B-473D-A451-F1BD6F10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F319263-A951-44E9-AB89-241FE96E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384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建议到货日期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C1639E86-3158-450E-8B3C-74716D1E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38668409-72D4-48D7-BEE2-18EE18B4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锁价/合同建议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086261F3-4DAD-43F9-839C-EB9EA8D6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19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EA30423-ED78-4F48-8872-7B29DB8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业务确认与审批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EF86584C-0F95-48F5-9E0A-F3C901A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0AAE4EF9-5F54-4E79-9C41-54C530E9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E采 / SAP下单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E81889AD-4550-40E2-84E2-90B3B1B6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3D1DB762-CC4A-44C3-8A9A-2CA22D1E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供应商发货到厂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95007135-F2B7-4FB9-874B-2AB8C8E4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33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78F7D68-0712-4C2B-BD59-C51745C2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质检与订单更新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右箭头 59">
            <a:extLst xmlns:a="http://schemas.openxmlformats.org/drawingml/2006/main">
              <a:ext uri="{FF2B5EF4-FFF2-40B4-BE49-F238E27FC236}">
                <a16:creationId xmlns:a16="http://schemas.microsoft.com/office/drawing/2014/main" id="{142C0AD6-D908-4DBA-9F51-2D04D70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1" name="右箭头 60">
            <a:extLst xmlns:a="http://schemas.openxmlformats.org/drawingml/2006/main">
              <a:ext uri="{FF2B5EF4-FFF2-40B4-BE49-F238E27FC236}">
                <a16:creationId xmlns:a16="http://schemas.microsoft.com/office/drawing/2014/main" id="{A5AB2FDE-ED2B-4340-9DA8-04C4F921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62" name="右箭头 61">
            <a:extLst xmlns:a="http://schemas.openxmlformats.org/drawingml/2006/main">
              <a:ext uri="{FF2B5EF4-FFF2-40B4-BE49-F238E27FC236}">
                <a16:creationId xmlns:a16="http://schemas.microsoft.com/office/drawing/2014/main" id="{C85BA00F-6059-4C67-9744-8FD2C28B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22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A7EF8300-1CE0-4A1F-9ADD-0F69092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833"/>
          </a:solidFill>
          <a:ln xmlns:a="http://schemas.openxmlformats.org/drawingml/2006/main" w="28575">
            <a:solidFill>
              <a:srgbClr val="53D38A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553E8825-C646-4EC4-AEE1-DC328297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采购组合优化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D8B47F7-EF17-45B4-AB76-01B87DAD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分期待采购需求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供应商准入与评分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综合成本最优化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到货可行性校验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下箭头 65">
            <a:extLst xmlns:a="http://schemas.openxmlformats.org/drawingml/2006/main">
              <a:ext uri="{FF2B5EF4-FFF2-40B4-BE49-F238E27FC236}">
                <a16:creationId xmlns:a16="http://schemas.microsoft.com/office/drawing/2014/main" id="{14466CA5-DEB9-4C72-A68D-FE61468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0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67" name="左箭头 66">
            <a:extLst xmlns:a="http://schemas.openxmlformats.org/drawingml/2006/main">
              <a:ext uri="{FF2B5EF4-FFF2-40B4-BE49-F238E27FC236}">
                <a16:creationId xmlns:a16="http://schemas.microsoft.com/office/drawing/2014/main" id="{2E1531DA-2B49-4AA7-BA4A-218045EF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0962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68" name="上箭头 67">
            <a:extLst xmlns:a="http://schemas.openxmlformats.org/drawingml/2006/main">
              <a:ext uri="{FF2B5EF4-FFF2-40B4-BE49-F238E27FC236}">
                <a16:creationId xmlns:a16="http://schemas.microsoft.com/office/drawing/2014/main" id="{97F3A8F1-449A-4EF5-89F7-09F57C3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386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AB4A4432-0B92-4B2E-A384-9FB46E55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实际价格 / 到货数量与日期 / 质量 / 供应商履约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>
            <a:extLst xmlns:a="http://schemas.openxmlformats.org/drawingml/2006/main">
              <a:ext uri="{FF2B5EF4-FFF2-40B4-BE49-F238E27FC236}">
                <a16:creationId xmlns:a16="http://schemas.microsoft.com/office/drawing/2014/main" id="{E0A324EE-099E-4AFF-A662-3F5834B7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53D38A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11D54ED5-9E48-443B-A763-7EEBC0F1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从单价采购升级为总成本与供应安全协同优化</a:t>
            </a:r>
            <a:endParaRPr sz="1350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E281B930-3830-4166-9C30-2AFD2D13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245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减少重复采购和缺口风险，提升多供应商组合决策效率，并为供应中断提供可解释的备选方案。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8243586C-811B-4403-84FF-80160C6E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045" y="2745740"/>
            <a:ext cx="1981200" cy="6007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7C6255E-8049-484F-9EA5-47893BC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720" y="291782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库存水位信息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实时库存数据，用于精准计算净需求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E9AF4B4A-3F21-40DC-AF42-D70251F8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8965" y="3482340"/>
            <a:ext cx="1981200" cy="6007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85D4F6A-B8A9-4908-8DFE-8CF63272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915" y="3654425"/>
            <a:ext cx="200533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供应商画像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包括供应商的交货表现、质量水平、历史价格和合同条款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33115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AED229A-7196-40AF-A024-2341B522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4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752b441c748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648FCD8-4F31-464D-96C1-017E6284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全自动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统计与成本核算分析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B1EFB54-0EA7-4F45-92ED-0B6443ED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FFFFFF"/>
                </a:solidFill>
              </a:rPr>
              <a:t>成本分摊—批次价值链与多维利润分析</a:t>
            </a:r>
            <a:endParaRPr b="1">
              <a:solidFill>
                <a:srgbClr val="FFFFFF"/>
              </a:solidFill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成本沿实物流和批次链逐级归集、分摊与传递，最终穿透到销售订单、客户和产品经营结果。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4ED6584-BDC7-4431-B992-DBD648C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成本形成链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6424AED-4775-4BA6-B528-E8F8B948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D298E83A-FCED-4A8C-9EFF-3FDCA35B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9FD0CE-22B6-4975-B6F5-8683FB0E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采购入厂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0232C82-7C10-411A-864C-A4AB2982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采购价/运费/入库费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D6C01252-D0F8-439F-B429-CA84623A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288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3E7AEF4-69D6-4A56-8F4C-277E4C7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23D4F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56C91A0-5C1C-4008-87BE-75F86CB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仓储投料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7FFD34E-0CFA-4531-8093-EC837A6E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移库/装卸/人工费用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070F7DD1-E5D7-4D88-B7C9-7DE750DD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288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D4FF"/>
          </a:solidFill>
          <a:ln xmlns:a="http://schemas.openxmlformats.org/drawingml/2006/main" w="0">
            <a:solidFill>
              <a:srgbClr val="23D4FF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711B659-E68B-4016-B29F-A1D75B1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53D38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1B1FDA4-679C-42CA-9253-2BBCDB44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生产加工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373A9AE-15BE-46E6-8D4A-C13671A6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投料批次/能源/制造费用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右箭头 20">
            <a:extLst xmlns:a="http://schemas.openxmlformats.org/drawingml/2006/main">
              <a:ext uri="{FF2B5EF4-FFF2-40B4-BE49-F238E27FC236}">
                <a16:creationId xmlns:a16="http://schemas.microsoft.com/office/drawing/2014/main" id="{76D08E9A-64EA-4748-9EA3-AA5683E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3913C8EC-C13A-4C61-9E9E-6B431995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AA337E4-D845-4C11-9A6B-29CA5DA7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订单交付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A1043B8-EDD6-463C-905C-86B65E36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包装/运输/销售订单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下箭头 24">
            <a:extLst xmlns:a="http://schemas.openxmlformats.org/drawingml/2006/main">
              <a:ext uri="{FF2B5EF4-FFF2-40B4-BE49-F238E27FC236}">
                <a16:creationId xmlns:a16="http://schemas.microsoft.com/office/drawing/2014/main" id="{1A94217D-23C8-49BA-A426-D17F497F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9087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8375FA32-489B-4F1C-8841-CF119D85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62375"/>
            <a:ext cx="4048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2833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2BFED1D-FF58-45DB-91F8-B8AEB28E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6971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批次成本引擎</a:t>
            </a:r>
            <a:endParaRPr sz="280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6127E0A-83F2-4F9A-907B-4AEA5B61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8625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>
            <a:extLst xmlns:a="http://schemas.openxmlformats.org/drawingml/2006/main">
              <a:ext uri="{FF2B5EF4-FFF2-40B4-BE49-F238E27FC236}">
                <a16:creationId xmlns:a16="http://schemas.microsoft.com/office/drawing/2014/main" id="{26BE3070-DE33-43F6-91AD-AC1890B1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6E36FF8-EA37-46B8-B241-6EA03534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81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价值分析树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2AA6A6BD-8130-4C23-917D-D8E5EE7A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576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83E68042-6559-4484-8D0D-91D43789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B4959B5-26C3-4E47-B723-B40F34FC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195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8A1F7EA3-3B67-4015-A565-5497613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100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32642AD-028D-4571-A6AB-555BF82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195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942B97B0-5C33-4048-8FCE-11A3AE81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0C60500-1F81-4AB9-BC47-7A19DAD8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910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供应商贡献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B0C4DA98-5187-4426-8A60-DA7FF746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815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E2466E1-3F6E-4E7F-9F75-B17A1768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910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销售订单利润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81C65B15-7C32-4A42-A59E-778D2430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90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A09051C-55E7-413C-9A16-5B132DE7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62525"/>
            <a:ext cx="3057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成本差异追溯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401A90EF-0A5D-4F4D-B43D-2570C89D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9112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财务复核与规则版本管理贯穿归集、分摊和发布全过程</a:t>
            </a:r>
            <a:endParaRPr sz="112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2F5028B-07F9-4443-A980-87360821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15000"/>
            <a:ext cx="7524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FFF200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ABFC004-4CC5-453F-BA9C-AAF3BD5F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72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经营价值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2B0C5F7-0082-4BD6-A1F2-D8152843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57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让供应链决策看见真实成本和利润，为采购、排程与库存策略提供统一价值尺度。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847892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DD7CCE-7007-410D-8F77-3C869561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7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e9356844d49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31BDDA5-0EC0-498C-95E1-277CC036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智慧运营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驾驶舱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47BEE2F-2FFE-4B8D-88DC-5FAFD91A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以统一态势为中心，向外连接指标监测、异常处置、情景推演和正式业务调整，形成整齐可追踪的管理闭环。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F49BD8F-BD7D-45F8-BCBF-E370CE3A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F2A"/>
          </a:solidFill>
          <a:ln xmlns:a="http://schemas.openxmlformats.org/drawingml/2006/main" w="19050">
            <a:solidFill>
              <a:schemeClr val="accent2"/>
            </a:solidFill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7AF4238E-69FF-4594-91BC-4A315C28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67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3442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7325AD0-69B9-4D1D-8018-2CD9FDAF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24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供应链态势中枢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197A255-5FFF-41A9-8082-CBEB6782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67125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 · 地图 · 专题视图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红黄绿健康度 · 影响链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3E9BBB0-3574-44A3-BAC5-F454EDE0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运营闭环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C4AFA98-88F0-4F85-8133-7365877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9338DB9-D4EB-4C29-9F10-A5487791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决策闭环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9FD7C03-57FC-4609-812C-A3B82204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954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62B80BE3-8868-42DC-8B6A-30A3C90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7E2FB19-D733-4AF4-8705-F969A91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汇聚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71D51C6-6C2B-4F50-A94B-9B2B5C99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跨模块结果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1B0BDD14-8E5A-4001-8984-E06AFE10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764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D427999F-C310-4ED9-9997-67FDBC72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71E0022-618E-43B7-B4D9-AAE8B79B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识别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D2A812-576E-4737-BD29-E5895740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432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异常与预警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右箭头 22">
            <a:extLst xmlns:a="http://schemas.openxmlformats.org/drawingml/2006/main">
              <a:ext uri="{FF2B5EF4-FFF2-40B4-BE49-F238E27FC236}">
                <a16:creationId xmlns:a16="http://schemas.microsoft.com/office/drawing/2014/main" id="{D9E163C6-68E9-4ED9-8F3B-E24EA99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622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53E81691-C9FE-467D-B4C7-1866406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1D55AA4-B27A-4A07-8B5A-6D906D73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钻取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B0906D0-7E07-4E81-B259-2BC8191A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290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明细与根因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右箭头 26">
            <a:extLst xmlns:a="http://schemas.openxmlformats.org/drawingml/2006/main">
              <a:ext uri="{FF2B5EF4-FFF2-40B4-BE49-F238E27FC236}">
                <a16:creationId xmlns:a16="http://schemas.microsoft.com/office/drawing/2014/main" id="{DC56BA15-F13F-463D-A2B7-6D033485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480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C0793208-5C15-4239-A96B-B145B172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70DF0B6-658F-4815-B5D9-8A5FB3B2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处置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25E302D-F9B1-46E3-88D3-3B0A3CF7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派发与跟踪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右箭头 30">
            <a:extLst xmlns:a="http://schemas.openxmlformats.org/drawingml/2006/main">
              <a:ext uri="{FF2B5EF4-FFF2-40B4-BE49-F238E27FC236}">
                <a16:creationId xmlns:a16="http://schemas.microsoft.com/office/drawing/2014/main" id="{FA289ADC-59E9-4C0F-BCE9-E363AECF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8AACF0AA-10DA-4240-B638-257EEDEC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9D4A033-D61E-455B-A33B-7E4AA9AB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验证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6007EE5-FCFC-4297-86C2-37A2EE0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006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恢复后关闭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右箭头 34">
            <a:extLst xmlns:a="http://schemas.openxmlformats.org/drawingml/2006/main">
              <a:ext uri="{FF2B5EF4-FFF2-40B4-BE49-F238E27FC236}">
                <a16:creationId xmlns:a16="http://schemas.microsoft.com/office/drawing/2014/main" id="{6D97F93E-32B9-4AE9-A771-3BC329EC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96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6" name="左箭头 35">
            <a:extLst xmlns:a="http://schemas.openxmlformats.org/drawingml/2006/main">
              <a:ext uri="{FF2B5EF4-FFF2-40B4-BE49-F238E27FC236}">
                <a16:creationId xmlns:a16="http://schemas.microsoft.com/office/drawing/2014/main" id="{3F323AC1-F8C3-4244-9316-28F16262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764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C58C2500-DCCC-414C-9A3D-42EB77F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FF20805-1FE0-4A46-ADE3-2465493D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621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设定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3A67DBB-1AF5-4CD8-B611-8C66AF1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574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情景参数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左箭头 39">
            <a:extLst xmlns:a="http://schemas.openxmlformats.org/drawingml/2006/main">
              <a:ext uri="{FF2B5EF4-FFF2-40B4-BE49-F238E27FC236}">
                <a16:creationId xmlns:a16="http://schemas.microsoft.com/office/drawing/2014/main" id="{311622E9-C470-4A7F-81C9-FFDC09EB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622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5E729C43-4295-477F-8C79-755B3E5E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DBA0BFB-58B4-4941-B42B-35DF94CE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479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冻结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117732E-1D2B-47B2-AD44-90806333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432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基线快照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左箭头 43">
            <a:extLst xmlns:a="http://schemas.openxmlformats.org/drawingml/2006/main">
              <a:ext uri="{FF2B5EF4-FFF2-40B4-BE49-F238E27FC236}">
                <a16:creationId xmlns:a16="http://schemas.microsoft.com/office/drawing/2014/main" id="{7B1DAED2-0277-4863-8A51-E8DCC2BE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480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E5784C81-E701-4DE6-A893-7CB15611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671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0543E9F-4165-4033-B96B-4F5168EF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337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编排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DE84D26-0F58-44A0-A0A5-80168A7D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8290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专业模型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左箭头 47">
            <a:extLst xmlns:a="http://schemas.openxmlformats.org/drawingml/2006/main">
              <a:ext uri="{FF2B5EF4-FFF2-40B4-BE49-F238E27FC236}">
                <a16:creationId xmlns:a16="http://schemas.microsoft.com/office/drawing/2014/main" id="{F742CBF0-29B4-410A-A44C-340C11D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338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BAA331B3-7CB5-4F65-B177-6234879E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529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0E7221B-687C-4E57-803E-4826960F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95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对比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823E29F8-95BD-4093-8314-A5E2B671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5148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成本/服务/风险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左箭头 51">
            <a:extLst xmlns:a="http://schemas.openxmlformats.org/drawingml/2006/main">
              <a:ext uri="{FF2B5EF4-FFF2-40B4-BE49-F238E27FC236}">
                <a16:creationId xmlns:a16="http://schemas.microsoft.com/office/drawing/2014/main" id="{3ED2804E-C9A1-411A-A0FE-6398BF8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196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DDDDD09C-4C14-40C2-942E-5FC483C6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387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A9FB8A0-4015-4584-BA76-85AFAB9F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053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采纳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0E2BE2E8-013A-4E87-9AC1-61FE624A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2006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正式调整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40D9A281-A0F7-470A-80DC-36897412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770" y="2238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7681F29-B440-4985-858D-55A80930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445" y="22479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库存健康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A8E93C7D-BDC4-4246-AC95-4073DFBF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85" y="2238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3F7074D9-913D-46CD-BFE4-3CB235F4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2479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交付达成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E4D7DDA3-8113-4562-A6BC-E5199915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945" y="46767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F548691-1E66-448B-9988-9ECF4432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620" y="46863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采购执行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BF0C60C9-F2F5-464C-A68F-5FAF0EA8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67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D2670F1-143C-49BB-8DFB-BC8F75E0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767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左箭头 63">
            <a:extLst xmlns:a="http://schemas.openxmlformats.org/drawingml/2006/main">
              <a:ext uri="{FF2B5EF4-FFF2-40B4-BE49-F238E27FC236}">
                <a16:creationId xmlns:a16="http://schemas.microsoft.com/office/drawing/2014/main" id="{87F56F5C-91A3-4D8D-99A0-62323162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55245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10B5E147-4228-414C-9236-FD048CAD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正式执行结果回流态势监测；新问题进入沙盘评估并驱动下一轮改进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A9ACC57F-ED27-490F-BD5A-D42EB1E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191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看全局  ·  找异常  ·  做推演  ·  促协同  ·  跟闭环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2" name="图片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8067b916440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835" y="875030"/>
            <a:ext cx="9561195" cy="50488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70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7D3E34A8-7308-43ED-9313-6208E43D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" y="5946140"/>
            <a:ext cx="1164082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88A7004-2F09-42AD-A526-CF80C81D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345" y="4942205"/>
            <a:ext cx="7202170" cy="80899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8490A48-3FA5-4AAF-B561-2899AEF3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155" y="1405255"/>
            <a:ext cx="2081530" cy="2418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07B3A3FC-5623-4323-9CC5-4C614AD1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235" y="1412875"/>
            <a:ext cx="2081530" cy="2418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FE144240-8273-4061-B9B1-4FDA1402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1412240"/>
            <a:ext cx="2081530" cy="2418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7BD09CA-BE3C-4493-AB0D-A847BF52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" y="3823335"/>
            <a:ext cx="2382520" cy="9436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ED8376D4-1CF6-4EC9-85F9-3DF4DA52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" y="1191895"/>
            <a:ext cx="2382520" cy="9436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4EC9FD1-87FE-4ED7-BBE2-3C6E2DEE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2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b7a9f20014a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D7D8020-1D87-413D-8BBF-440B83B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34491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模型数据驱动下的经营决策升级</a:t>
            </a:r>
            <a:endParaRPr sz="2400" b="1" i="0" u="none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90C62B7-77C2-4F31-B4A7-FBA3656F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" y="5946140"/>
            <a:ext cx="5302885" cy="810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业务对象：生产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采购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销售</a:t>
            </a:r>
            <a:br/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业务范围：物料流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信息流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资金流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E7F085B1-84BD-4979-8CB2-D962A371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0" y="5946140"/>
            <a:ext cx="5302885" cy="810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业务环节：需求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计划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排产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执行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报工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跟踪</a:t>
            </a:r>
            <a:br/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业务管理：订单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生产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仓储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发货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3" name="文本框 132">
            <a:extLst xmlns:a="http://schemas.openxmlformats.org/drawingml/2006/main">
              <a:ext uri="{FF2B5EF4-FFF2-40B4-BE49-F238E27FC236}">
                <a16:creationId xmlns:a16="http://schemas.microsoft.com/office/drawing/2014/main" id="{49F4D644-D7C8-4266-827A-F80DB488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310" y="4942205"/>
            <a:ext cx="720217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每批、每类产品、每个车次产品的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利润是多少？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工厂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每月每周每天每个工序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的成本是多少？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4" name="文本框 133">
            <a:extLst xmlns:a="http://schemas.openxmlformats.org/drawingml/2006/main">
              <a:ext uri="{FF2B5EF4-FFF2-40B4-BE49-F238E27FC236}">
                <a16:creationId xmlns:a16="http://schemas.microsoft.com/office/drawing/2014/main" id="{B720DF60-978B-465C-A5A7-E5BD1B5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110" y="4635500"/>
            <a:ext cx="95821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物料流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5" name="文本框 134">
            <a:extLst xmlns:a="http://schemas.openxmlformats.org/drawingml/2006/main">
              <a:ext uri="{FF2B5EF4-FFF2-40B4-BE49-F238E27FC236}">
                <a16:creationId xmlns:a16="http://schemas.microsoft.com/office/drawing/2014/main" id="{CC454089-7050-45BD-97E1-9D0CA910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570" y="4635500"/>
            <a:ext cx="90551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资金流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6" name="文本框 135">
            <a:extLst xmlns:a="http://schemas.openxmlformats.org/drawingml/2006/main">
              <a:ext uri="{FF2B5EF4-FFF2-40B4-BE49-F238E27FC236}">
                <a16:creationId xmlns:a16="http://schemas.microsoft.com/office/drawing/2014/main" id="{31BD91EF-2D11-4E9D-BE49-E53E8D9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40" y="4635500"/>
            <a:ext cx="95821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7" name="直接箭头连接符 137"/>
          <p:cNvCxnSpPr/>
          <p:nvPr/>
        </p:nvCxnSpPr>
        <p:spPr>
          <a:xfrm xmlns:a="http://schemas.openxmlformats.org/drawingml/2006/main">
            <a:off x="4342765" y="4804410"/>
            <a:ext cx="1115695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stealth" w="med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8" name="直接箭头连接符 139"/>
          <p:cNvCxnSpPr/>
          <p:nvPr/>
        </p:nvCxnSpPr>
        <p:spPr>
          <a:xfrm xmlns:a="http://schemas.openxmlformats.org/drawingml/2006/main">
            <a:off x="6780900" y="4788853"/>
            <a:ext cx="1116000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stealth" w="med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9" name="直接箭头连接符 140"/>
          <p:cNvCxnSpPr/>
          <p:nvPr/>
        </p:nvCxnSpPr>
        <p:spPr>
          <a:xfrm xmlns:a="http://schemas.openxmlformats.org/drawingml/2006/main">
            <a:off x="9254860" y="4809173"/>
            <a:ext cx="1116000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stealth" w="med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7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C480CD97-188D-4748-A194-62D3CB2B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" y="1191895"/>
            <a:ext cx="2383790" cy="942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原料怎么采购？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供应商如何选择？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客户如何分级？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853E69E1-537C-4464-920C-B9A83C8E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" y="2166620"/>
            <a:ext cx="2383155" cy="16567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产供销运如何平衡优化？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生产模式如何选择？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订单如何满足？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交期如何保障？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如何执行生产？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紧急事件如何应对？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A1E18481-9945-4651-89D6-7918535B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" y="4812030"/>
            <a:ext cx="2384425" cy="6692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0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供应链如何跟踪？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0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信息如何共享？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663FFCD1-3006-4770-B99A-B82B6011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05" y="3830955"/>
            <a:ext cx="2384425" cy="9251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库存如何优化？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运输成本如何控制？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仓库网络怎么设计？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BA44AE5-4275-4B7C-8EBC-DDA4521F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1565910"/>
            <a:ext cx="281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100"/>
          </a:p>
        </p:txBody>
      </p:sp>
      <p:sp>
        <p:nvSpPr>
          <p:cNvPr id="1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AD48CF9-EACB-40C7-BBD4-C0FA870C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1540510"/>
            <a:ext cx="1160145" cy="359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数据基座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5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8fb5c7b634de6">
            <a:extLst>
              <a:ext uri="{96DAC541-7B7A-43D3-8B79-37D633B846F1}">
                <asvg:svgBlip xmlns:asvg="http://schemas.microsoft.com/office/drawing/2016/SVG/main" r:embed="Rf6ffa5a284b3435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95670" y="1540510"/>
            <a:ext cx="215265" cy="333375"/>
          </a:xfrm>
          <a:prstGeom xmlns:a="http://schemas.openxmlformats.org/drawingml/2006/main" prst="rect">
            <a:avLst/>
          </a:prstGeom>
        </p:spPr>
      </p:pic>
      <p:cxnSp>
        <p:nvCxnSpPr>
          <p:cNvPr id="257" name="Connector 10"/>
          <p:cNvCxnSpPr/>
          <p:nvPr/>
        </p:nvCxnSpPr>
        <p:spPr>
          <a:xfrm xmlns:a="http://schemas.openxmlformats.org/drawingml/2006/main" rot="21584515">
            <a:off x="4437380" y="2021205"/>
            <a:ext cx="184023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B0E01E6C-6AAB-4C01-9F0F-22DD00FC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380" y="2207260"/>
            <a:ext cx="1840230" cy="1487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统一数据服务层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标准 API</a:t>
            </a:r>
            <a:endParaRPr sz="1100">
              <a:solidFill>
                <a:schemeClr val="bg1"/>
              </a:solidFill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实时数据平台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事件订阅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外部数据接入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价格/天气/路况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关键运营 KPI 延迟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≤ 5s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BFC0F85-0B1A-4302-9C49-50CA7C99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65910"/>
            <a:ext cx="281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100"/>
          </a:p>
        </p:txBody>
      </p:sp>
      <p:sp>
        <p:nvSpPr>
          <p:cNvPr id="2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BEC3F71E-2FA6-4EA7-BF32-F93C6D2C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55" y="1540510"/>
            <a:ext cx="1160145" cy="359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模型中枢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61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3ecda9634488f">
            <a:extLst>
              <a:ext uri="{96DAC541-7B7A-43D3-8B79-37D633B846F1}">
                <asvg:svgBlip xmlns:asvg="http://schemas.microsoft.com/office/drawing/2016/SVG/main" r:embed="R841494ee5ccd40f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3605" y="1540510"/>
            <a:ext cx="215265" cy="333375"/>
          </a:xfrm>
          <a:prstGeom xmlns:a="http://schemas.openxmlformats.org/drawingml/2006/main" prst="rect">
            <a:avLst/>
          </a:prstGeom>
        </p:spPr>
      </p:pic>
      <p:cxnSp>
        <p:nvCxnSpPr>
          <p:cNvPr id="262" name="Connector 16"/>
          <p:cNvCxnSpPr/>
          <p:nvPr/>
        </p:nvCxnSpPr>
        <p:spPr>
          <a:xfrm xmlns:a="http://schemas.openxmlformats.org/drawingml/2006/main" rot="21584515">
            <a:off x="6965315" y="2021205"/>
            <a:ext cx="184023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6852200-5A2A-4C30-8D60-251A50F7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315" y="2207260"/>
            <a:ext cx="1840230" cy="1487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数学优化求解器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多目标建模</a:t>
            </a:r>
            <a:endParaRPr sz="1100">
              <a:solidFill>
                <a:schemeClr val="bg1"/>
              </a:solidFill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模型服务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预测/情景模拟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模型资产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精益排程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库存优化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成本核算模型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72h 详细排程求解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≤ 5min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73B0C3A-9C0E-4CCB-BD83-45DB6FA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565910"/>
            <a:ext cx="281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100"/>
          </a:p>
        </p:txBody>
      </p:sp>
      <p:sp>
        <p:nvSpPr>
          <p:cNvPr id="3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756DA540-A125-41DF-91FD-E1566A07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190" y="1540510"/>
            <a:ext cx="1160145" cy="359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决策应用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66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5370f700645aa">
            <a:extLst>
              <a:ext uri="{96DAC541-7B7A-43D3-8B79-37D633B846F1}">
                <asvg:svgBlip xmlns:asvg="http://schemas.microsoft.com/office/drawing/2016/SVG/main" r:embed="R8475bdda6c9942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1540" y="1540510"/>
            <a:ext cx="215265" cy="333375"/>
          </a:xfrm>
          <a:prstGeom xmlns:a="http://schemas.openxmlformats.org/drawingml/2006/main" prst="rect">
            <a:avLst/>
          </a:prstGeom>
        </p:spPr>
      </p:pic>
      <p:cxnSp>
        <p:nvCxnSpPr>
          <p:cNvPr id="267" name="Connector 22"/>
          <p:cNvCxnSpPr/>
          <p:nvPr/>
        </p:nvCxnSpPr>
        <p:spPr>
          <a:xfrm xmlns:a="http://schemas.openxmlformats.org/drawingml/2006/main" rot="21584515">
            <a:off x="9493250" y="2021205"/>
            <a:ext cx="184023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A720BFC7-FDD5-4505-9156-325E9CD9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250" y="2207260"/>
            <a:ext cx="1840230" cy="1487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采购决策优化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总拥有成本最优</a:t>
            </a:r>
            <a:endParaRPr sz="1100">
              <a:solidFill>
                <a:schemeClr val="bg1"/>
              </a:solidFill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精益生产排程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安全库存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全程追溯协同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驾驶舱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数据—模型—应用—反馈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闭环迭代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269" name="Connector 24"/>
          <p:cNvCxnSpPr/>
          <p:nvPr/>
        </p:nvCxnSpPr>
        <p:spPr>
          <a:xfrm xmlns:a="http://schemas.openxmlformats.org/drawingml/2006/main" rot="21532602">
            <a:off x="6410325" y="2662555"/>
            <a:ext cx="42291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70" name="Connector 25"/>
          <p:cNvCxnSpPr/>
          <p:nvPr/>
        </p:nvCxnSpPr>
        <p:spPr>
          <a:xfrm xmlns:a="http://schemas.openxmlformats.org/drawingml/2006/main" rot="21532602">
            <a:off x="8938260" y="2662555"/>
            <a:ext cx="42291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B708EDA0-4ABD-425E-96ED-1D535C2A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" y="1035050"/>
            <a:ext cx="2667000" cy="448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BD9866A6-A505-4E5A-9C44-7F38060B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" y="927100"/>
            <a:ext cx="2662555" cy="466217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cxnSp>
        <p:nvCxnSpPr>
          <p:cNvPr id="273" name="Connector 26"/>
          <p:cNvCxnSpPr/>
          <p:nvPr/>
        </p:nvCxnSpPr>
        <p:spPr>
          <a:xfrm xmlns:a="http://schemas.openxmlformats.org/drawingml/2006/main" rot="5340734" flipH="0" flipV="0">
            <a:off x="10557257" y="4184210"/>
            <a:ext cx="582287" cy="820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4" name="Connector 27"/>
          <p:cNvCxnSpPr/>
          <p:nvPr/>
        </p:nvCxnSpPr>
        <p:spPr>
          <a:xfrm xmlns:a="http://schemas.openxmlformats.org/drawingml/2006/main" rot="10794364" flipH="0" flipV="0">
            <a:off x="4724340" y="4422189"/>
            <a:ext cx="6124060" cy="820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5" name="Connector 28"/>
          <p:cNvCxnSpPr/>
          <p:nvPr/>
        </p:nvCxnSpPr>
        <p:spPr>
          <a:xfrm xmlns:a="http://schemas.openxmlformats.org/drawingml/2006/main" rot="-5459265" flipH="0" flipV="0">
            <a:off x="4433196" y="4184210"/>
            <a:ext cx="582287" cy="820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53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107B1F83-E681-49EC-AA75-BB657CB1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490" y="418782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执行数据回流 · 持续校准模型，驱动经营决策持续升级</a:t>
            </a:r>
            <a:endParaRPr sz="11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4" name="直接连接符 53">
            <a:extLst xmlns:a="http://schemas.openxmlformats.org/drawingml/2006/main">
              <a:ext uri="{FF2B5EF4-FFF2-40B4-BE49-F238E27FC236}">
                <a16:creationId xmlns:a16="http://schemas.microsoft.com/office/drawing/2014/main" id="{D20BA741-7A50-49AD-A26F-D0FAC90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962015"/>
            <a:ext cx="0" cy="81280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067273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BCCAAA4-7E19-4011-870C-4856E977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7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7e05ed5b14a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BC8AB03-4512-4A48-9E9B-BD62FEA6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34491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平台驱动的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管理角色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转变</a:t>
            </a:r>
            <a:endParaRPr sz="2400" b="1" i="0" u="none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0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3972f10124dc0"/>
          <a:srcRect xmlns:a="http://schemas.openxmlformats.org/drawingml/2006/main" l="367" t="25287" r="-719" b="7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965" y="1619885"/>
            <a:ext cx="3610610" cy="3819525"/>
          </a:xfrm>
          <a:prstGeom xmlns:a="http://schemas.openxmlformats.org/drawingml/2006/main" prst="rect">
            <a:avLst/>
          </a:prstGeom>
        </p:spPr>
      </p:pic>
      <p:pic>
        <p:nvPicPr>
          <p:cNvPr id="81" name="图片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a3013d1c54d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8655" y="995045"/>
            <a:ext cx="2530475" cy="1418590"/>
          </a:xfrm>
          <a:prstGeom xmlns:a="http://schemas.openxmlformats.org/drawingml/2006/main" prst="ellipse">
            <a:avLst/>
          </a:prstGeom>
        </p:spPr>
      </p:pic>
      <p:pic>
        <p:nvPicPr>
          <p:cNvPr id="82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d4d1cd89046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8310" y="2822575"/>
            <a:ext cx="2944495" cy="1633855"/>
          </a:xfrm>
          <a:prstGeom xmlns:a="http://schemas.openxmlformats.org/drawingml/2006/main" prst="ellipse">
            <a:avLst/>
          </a:prstGeom>
        </p:spPr>
      </p:pic>
      <p:pic>
        <p:nvPicPr>
          <p:cNvPr id="8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b0239ee7c42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9920" y="4924425"/>
            <a:ext cx="2569210" cy="1431925"/>
          </a:xfrm>
          <a:prstGeom xmlns:a="http://schemas.openxmlformats.org/drawingml/2006/main" prst="ellipse">
            <a:avLst/>
          </a:prstGeom>
        </p:spPr>
      </p:pic>
      <p:pic>
        <p:nvPicPr>
          <p:cNvPr id="8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b61fe6803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0715" y="4924425"/>
            <a:ext cx="2525395" cy="1426845"/>
          </a:xfrm>
          <a:prstGeom xmlns:a="http://schemas.openxmlformats.org/drawingml/2006/main" prst="ellipse">
            <a:avLst/>
          </a:prstGeom>
        </p:spPr>
      </p:pic>
      <p:pic>
        <p:nvPicPr>
          <p:cNvPr id="8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125e9814647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245" y="995045"/>
            <a:ext cx="2662555" cy="1458595"/>
          </a:xfrm>
          <a:prstGeom xmlns:a="http://schemas.openxmlformats.org/drawingml/2006/main" prst="ellipse">
            <a:avLst/>
          </a:prstGeom>
        </p:spPr>
      </p:pic>
      <p:cxnSp>
        <p:nvCxnSpPr>
          <p:cNvPr id="86" name="直接连接符 7"/>
          <p:cNvCxnSpPr>
            <a:stCxn xmlns:a="http://schemas.openxmlformats.org/drawingml/2006/main" id="52" idx="5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6638290" y="2205990"/>
            <a:ext cx="591185" cy="855980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87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33d88ce12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0910" y="2644775"/>
            <a:ext cx="1299210" cy="1142365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56F77BE-562F-4DE0-8A7B-AA73420B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190" y="2534285"/>
            <a:ext cx="1701800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从"找料"变</a:t>
            </a:r>
            <a:r>
              <a:rPr sz="1000" b="1">
                <a:ln w="15875"/>
                <a:solidFill>
                  <a:srgbClr val="92D050"/>
                </a:solidFill>
              </a:rPr>
              <a:t>"审料"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从"追单"变</a:t>
            </a:r>
            <a:r>
              <a:rPr sz="1000" b="1">
                <a:ln w="15875"/>
                <a:solidFill>
                  <a:srgbClr val="92D050"/>
                </a:solidFill>
              </a:rPr>
              <a:t>"管异常" 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从"建档案"变</a:t>
            </a:r>
            <a:r>
              <a:rPr sz="1000" b="1">
                <a:ln w="15875"/>
                <a:solidFill>
                  <a:srgbClr val="92D050"/>
                </a:solidFill>
              </a:rPr>
              <a:t>"做评估"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从"手工对账"变</a:t>
            </a:r>
            <a:r>
              <a:rPr sz="1000" b="1">
                <a:ln w="15875"/>
                <a:solidFill>
                  <a:srgbClr val="92D050"/>
                </a:solidFill>
              </a:rPr>
              <a:t>"看报告</a:t>
            </a:r>
            <a:r>
              <a:rPr sz="1000">
                <a:ln w="15875"/>
                <a:solidFill>
                  <a:srgbClr val="92D050"/>
                </a:solidFill>
              </a:rPr>
              <a:t>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从"到处询价"变</a:t>
            </a:r>
            <a:r>
              <a:rPr sz="1000" b="1">
                <a:ln w="15875"/>
                <a:solidFill>
                  <a:srgbClr val="92D050"/>
                </a:solidFill>
              </a:rPr>
              <a:t>"谈战略"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0" name="环形箭头 19">
            <a:extLst xmlns:a="http://schemas.openxmlformats.org/drawingml/2006/main">
              <a:ext uri="{FF2B5EF4-FFF2-40B4-BE49-F238E27FC236}">
                <a16:creationId xmlns:a16="http://schemas.microsoft.com/office/drawing/2014/main" id="{90EC7F95-082F-4438-80A3-487F4314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810" y="3761105"/>
            <a:ext cx="1760855" cy="15405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 xmlns:a="http://schemas.openxmlformats.org/drawingml/2006/main">
              <a:ext uri="{FF2B5EF4-FFF2-40B4-BE49-F238E27FC236}">
                <a16:creationId xmlns:a16="http://schemas.microsoft.com/office/drawing/2014/main" id="{F60A5DE5-ABA1-48C9-A673-AF1217B7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65170" y="1932305"/>
            <a:ext cx="1588770" cy="16167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3" name="右箭头 22">
            <a:extLst xmlns:a="http://schemas.openxmlformats.org/drawingml/2006/main">
              <a:ext uri="{FF2B5EF4-FFF2-40B4-BE49-F238E27FC236}">
                <a16:creationId xmlns:a16="http://schemas.microsoft.com/office/drawing/2014/main" id="{F81D67D2-93DB-45F9-BD16-A65AA6DA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655" y="3429000"/>
            <a:ext cx="969010" cy="38989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环形箭头 23">
            <a:extLst xmlns:a="http://schemas.openxmlformats.org/drawingml/2006/main">
              <a:ext uri="{FF2B5EF4-FFF2-40B4-BE49-F238E27FC236}">
                <a16:creationId xmlns:a16="http://schemas.microsoft.com/office/drawing/2014/main" id="{9E84ED88-519A-43A6-A4F2-F3803BD3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810" y="3787140"/>
            <a:ext cx="1760855" cy="15405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  <a:gradFill xmlns:a="http://schemas.openxmlformats.org/drawingml/2006/main"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5" name="环形箭头 24">
            <a:extLst xmlns:a="http://schemas.openxmlformats.org/drawingml/2006/main">
              <a:ext uri="{FF2B5EF4-FFF2-40B4-BE49-F238E27FC236}">
                <a16:creationId xmlns:a16="http://schemas.microsoft.com/office/drawing/2014/main" id="{DDFB0A6F-F315-483B-93E7-1D673AB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65170" y="1958340"/>
            <a:ext cx="1588770" cy="16167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  <a:gradFill xmlns:a="http://schemas.openxmlformats.org/drawingml/2006/main"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6" name="右箭头 25">
            <a:extLst xmlns:a="http://schemas.openxmlformats.org/drawingml/2006/main">
              <a:ext uri="{FF2B5EF4-FFF2-40B4-BE49-F238E27FC236}">
                <a16:creationId xmlns:a16="http://schemas.microsoft.com/office/drawing/2014/main" id="{4339768E-44DB-4C5E-A466-0A3EEB3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655" y="3455035"/>
            <a:ext cx="969010" cy="38989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3BABDCE-64BB-4E51-B900-E84F7592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70" y="2489835"/>
            <a:ext cx="1743075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从"接电话"变</a:t>
            </a:r>
            <a:r>
              <a:rPr sz="1000" b="1">
                <a:ln w="15875"/>
                <a:solidFill>
                  <a:srgbClr val="92D050"/>
                </a:solidFill>
              </a:rPr>
              <a:t>"看推送"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从"催进度"变"</a:t>
            </a:r>
            <a:r>
              <a:rPr sz="1000" b="1">
                <a:ln w="15875"/>
                <a:solidFill>
                  <a:srgbClr val="92D050"/>
                </a:solidFill>
              </a:rPr>
              <a:t>看节点"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从"做报价"变</a:t>
            </a:r>
            <a:r>
              <a:rPr sz="1000" b="1">
                <a:ln w="15875"/>
                <a:solidFill>
                  <a:srgbClr val="92D050"/>
                </a:solidFill>
              </a:rPr>
              <a:t>"审报价"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从"跑客户"变</a:t>
            </a:r>
            <a:r>
              <a:rPr sz="1000" b="1">
                <a:ln w="15875"/>
                <a:solidFill>
                  <a:srgbClr val="92D050"/>
                </a:solidFill>
              </a:rPr>
              <a:t>"做客户经营"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从"凭经验"变</a:t>
            </a:r>
            <a:r>
              <a:rPr sz="1000" b="1">
                <a:ln w="15875"/>
                <a:solidFill>
                  <a:srgbClr val="92D050"/>
                </a:solidFill>
              </a:rPr>
              <a:t>"看预测"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10F3AAD-6DB9-4827-A187-286DAD31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89400"/>
            <a:ext cx="1743075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从"编计划"变</a:t>
            </a:r>
            <a:r>
              <a:rPr sz="1000" b="1">
                <a:ln w="15875"/>
                <a:solidFill>
                  <a:srgbClr val="92D050"/>
                </a:solidFill>
              </a:rPr>
              <a:t>"审计划"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从"盯现场"变</a:t>
            </a:r>
            <a:r>
              <a:rPr sz="1000" b="1">
                <a:ln w="15875"/>
                <a:solidFill>
                  <a:srgbClr val="92D050"/>
                </a:solidFill>
              </a:rPr>
              <a:t>"看大屏"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从"天天开会"变</a:t>
            </a:r>
            <a:r>
              <a:rPr sz="1000" b="1">
                <a:ln w="15875"/>
                <a:solidFill>
                  <a:srgbClr val="92D050"/>
                </a:solidFill>
              </a:rPr>
              <a:t>"开异常会"</a:t>
            </a:r>
            <a:r>
              <a:rPr sz="1000">
                <a:ln w="15875"/>
                <a:solidFill>
                  <a:srgbClr val="92D050"/>
                </a:solidFill>
              </a:rPr>
              <a:t> 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从"手排插单"变</a:t>
            </a:r>
            <a:r>
              <a:rPr sz="1000" b="1">
                <a:ln w="15875"/>
                <a:solidFill>
                  <a:srgbClr val="92D050"/>
                </a:solidFill>
              </a:rPr>
              <a:t>"一键重排"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从"算账"变</a:t>
            </a:r>
            <a:r>
              <a:rPr sz="1000" b="1">
                <a:ln w="15875"/>
                <a:solidFill>
                  <a:srgbClr val="92D050"/>
                </a:solidFill>
              </a:rPr>
              <a:t>"看 </a:t>
            </a:r>
            <a:r>
              <a:rPr sz="1000" b="1">
                <a:ln w="15875"/>
                <a:solidFill>
                  <a:srgbClr val="92D050"/>
                </a:solidFill>
              </a:rPr>
              <a:t>KPI"</a:t>
            </a:r>
            <a:r>
              <a:rPr sz="1000" b="1">
                <a:ln w="15875"/>
                <a:solidFill>
                  <a:srgbClr val="92D050"/>
                </a:solidFill>
              </a:rPr>
              <a:t>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3EDB58EB-E0C8-4909-A4F5-32126E6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780" y="4114165"/>
            <a:ext cx="1845945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从"找货"变</a:t>
            </a:r>
            <a:r>
              <a:rPr sz="1000" b="1">
                <a:ln w="15875"/>
                <a:solidFill>
                  <a:srgbClr val="92D050"/>
                </a:solidFill>
              </a:rPr>
              <a:t>"看任务"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从"人工盘点"变</a:t>
            </a:r>
            <a:r>
              <a:rPr sz="1000" b="1">
                <a:ln w="15875"/>
                <a:solidFill>
                  <a:srgbClr val="92D050"/>
                </a:solidFill>
              </a:rPr>
              <a:t>"审盘点"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从"杂乱排队"变</a:t>
            </a:r>
            <a:r>
              <a:rPr sz="1000" b="1">
                <a:ln w="15875"/>
                <a:solidFill>
                  <a:srgbClr val="92D050"/>
                </a:solidFill>
              </a:rPr>
              <a:t>"自动调度"</a:t>
            </a:r>
            <a:r>
              <a:rPr sz="1000">
                <a:ln w="15875"/>
                <a:solidFill>
                  <a:srgbClr val="92D050"/>
                </a:solidFill>
              </a:rPr>
              <a:t> </a:t>
            </a:r>
            <a:endParaRPr sz="1000">
              <a:ln w="15875"/>
              <a:solidFill>
                <a:srgbClr val="92D050"/>
              </a:solidFill>
            </a:endParaR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D414F3EA-4F75-4378-BE7E-74665800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1075" y="4678680"/>
            <a:ext cx="2065020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从"看报表"变</a:t>
            </a:r>
            <a:r>
              <a:rPr sz="1000" b="1">
                <a:ln w="15875"/>
                <a:solidFill>
                  <a:srgbClr val="92D050"/>
                </a:solidFill>
              </a:rPr>
              <a:t>"看驾驶舱"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从"逐项审批"变</a:t>
            </a:r>
            <a:r>
              <a:rPr sz="1000" b="1">
                <a:ln w="15875"/>
                <a:solidFill>
                  <a:srgbClr val="92D050"/>
                </a:solidFill>
              </a:rPr>
              <a:t>"批例外" 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从"凭经验排兵"变</a:t>
            </a:r>
            <a:r>
              <a:rPr sz="1000" b="1">
                <a:ln w="15875"/>
                <a:solidFill>
                  <a:srgbClr val="92D050"/>
                </a:solidFill>
              </a:rPr>
              <a:t>"看智能建议"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从"盯数字"变</a:t>
            </a:r>
            <a:r>
              <a:rPr sz="1000" b="1">
                <a:ln w="15875"/>
                <a:solidFill>
                  <a:srgbClr val="92D050"/>
                </a:solidFill>
              </a:rPr>
              <a:t>"盯异常" 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从"管执行"变</a:t>
            </a:r>
            <a:r>
              <a:rPr sz="1000" b="1">
                <a:ln w="15875"/>
                <a:solidFill>
                  <a:srgbClr val="92D050"/>
                </a:solidFill>
              </a:rPr>
              <a:t>"管变革"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cxnSp>
        <p:nvCxnSpPr>
          <p:cNvPr id="99" name="直接连接符 32"/>
          <p:cNvCxnSpPr>
            <a:endCxn xmlns:a="http://schemas.openxmlformats.org/drawingml/2006/main" id="53" idx="7"/>
          </p:cNvCxnSpPr>
          <p:nvPr/>
        </p:nvCxnSpPr>
        <p:spPr>
          <a:xfrm xmlns:a="http://schemas.openxmlformats.org/drawingml/2006/main" flipH="1">
            <a:off x="9311640" y="2412365"/>
            <a:ext cx="814070" cy="649605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0" name="直接连接符 33"/>
          <p:cNvCxnSpPr>
            <a:stCxn xmlns:a="http://schemas.openxmlformats.org/drawingml/2006/main" id="5" idx="7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V="1">
            <a:off x="6632575" y="4217035"/>
            <a:ext cx="596900" cy="916940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1" name="直接连接符 34"/>
          <p:cNvCxnSpPr>
            <a:stCxn xmlns:a="http://schemas.openxmlformats.org/drawingml/2006/main" id="6" idx="1"/>
            <a:endCxn xmlns:a="http://schemas.openxmlformats.org/drawingml/2006/main" id="53" idx="5"/>
          </p:cNvCxnSpPr>
          <p:nvPr/>
        </p:nvCxnSpPr>
        <p:spPr>
          <a:xfrm xmlns:a="http://schemas.openxmlformats.org/drawingml/2006/main" flipH="1" flipV="1">
            <a:off x="9311640" y="4217035"/>
            <a:ext cx="588645" cy="916305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378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b3e98df4d4e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365"/>
          </a:xfrm>
          <a:prstGeom xmlns:a="http://schemas.openxmlformats.org/drawingml/2006/main" prst="rect">
            <a:avLst/>
          </a:prstGeom>
        </p:spPr>
      </p:pic>
      <p:pic>
        <p:nvPicPr>
          <p:cNvPr id="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35485a46049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85300" y="268605"/>
            <a:ext cx="2336800" cy="2286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pic>
        <p:nvPicPr>
          <p:cNvPr id="2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2892b9fea47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630" y="268605"/>
            <a:ext cx="1282065" cy="582930"/>
          </a:xfrm>
          <a:prstGeom xmlns:a="http://schemas.openxmlformats.org/drawingml/2006/main" prst="rect">
            <a:avLst/>
          </a:prstGeom>
        </p:spPr>
      </p:pic>
      <p:sp>
        <p:nvSpPr>
          <p:cNvPr id="5" name="矩形: 圆角 72">
            <a:extLst xmlns:a="http://schemas.openxmlformats.org/drawingml/2006/main">
              <a:ext uri="{FF2B5EF4-FFF2-40B4-BE49-F238E27FC236}">
                <a16:creationId xmlns:a16="http://schemas.microsoft.com/office/drawing/2014/main" id="{70B4B7FA-BB97-40EA-91C7-73F73EA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1132840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共同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愿景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/>
              <a:ea typeface="Arial Bold"/>
              <a:cs typeface="Arial Bold"/>
            </a:endParaRPr>
          </a:p>
        </p:txBody>
      </p:sp>
      <p:sp>
        <p:nvSpPr>
          <p:cNvPr id="8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1CCB5BA5-31E0-41D8-BDE9-5FAF7D4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1694815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建行业首个</a:t>
            </a: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全流程标杆，创智慧工厂+智能实验室融合范式。</a:t>
            </a:r>
            <a:endParaRPr sz="1800" b="1" i="0" u="none" kern="0" cap="none" spc="0" baseline="0">
              <a:ln>
                <a:noFill/>
              </a:ln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: 圆角 75">
            <a:extLst xmlns:a="http://schemas.openxmlformats.org/drawingml/2006/main">
              <a:ext uri="{FF2B5EF4-FFF2-40B4-BE49-F238E27FC236}">
                <a16:creationId xmlns:a16="http://schemas.microsoft.com/office/drawing/2014/main" id="{62D35161-0EA4-4D36-A120-3BE9EC49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3380740"/>
            <a:ext cx="851408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协同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价值观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: 圆角 76">
            <a:extLst xmlns:a="http://schemas.openxmlformats.org/drawingml/2006/main">
              <a:ext uri="{FF2B5EF4-FFF2-40B4-BE49-F238E27FC236}">
                <a16:creationId xmlns:a16="http://schemas.microsoft.com/office/drawing/2014/main" id="{8ACA7C57-F030-440C-9996-9624D99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3942715"/>
            <a:ext cx="851408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="1" i="0" u="none" cap="none" spc="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安全零事故、进度零失控、质量零妥协、沟通零障碍、知识零保留</a:t>
            </a:r>
            <a:endParaRPr b="1" i="0" u="none" kern="0" cap="none" spc="0" baseline="0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: 圆角 78">
            <a:extLst xmlns:a="http://schemas.openxmlformats.org/drawingml/2006/main">
              <a:ext uri="{FF2B5EF4-FFF2-40B4-BE49-F238E27FC236}">
                <a16:creationId xmlns:a16="http://schemas.microsoft.com/office/drawing/2014/main" id="{2EF5CF26-8F5B-4C7B-AA52-173B6C06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2256790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初心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使命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/>
              <a:ea typeface="Arial Bold"/>
              <a:cs typeface="Arial Bold"/>
            </a:endParaRPr>
          </a:p>
        </p:txBody>
      </p:sp>
      <p:sp>
        <p:nvSpPr>
          <p:cNvPr id="14" name="矩形: 圆角 79">
            <a:extLst xmlns:a="http://schemas.openxmlformats.org/drawingml/2006/main">
              <a:ext uri="{FF2B5EF4-FFF2-40B4-BE49-F238E27FC236}">
                <a16:creationId xmlns:a16="http://schemas.microsoft.com/office/drawing/2014/main" id="{5DDAD909-1D5E-4F9F-8134-0B8FD0A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2818765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让工艺更精准、让质量更可控、让运营更高效、让人员更轻松</a:t>
            </a:r>
            <a:endParaRPr sz="1800" b="1" i="0" u="none" kern="0" cap="none" spc="0" baseline="0">
              <a:ln>
                <a:noFill/>
              </a:ln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10475655"/>
      </p:ext>
    </p:extLst>
  </p:cSld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2026-09-02T02:39:18.9660000Z</dcterms:created>
  <dcterms:modified xsi:type="dcterms:W3CDTF">2026-09-02T02:39:18.9660000Z</dcterms:modified>
</coreProperties>
</file>