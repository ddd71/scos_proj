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Masters/slideMaster13.xml" ContentType="application/vnd.openxmlformats-officedocument.presentationml.slideMaster+xml"/>
  <Override PartName="/ppt/slideMasters/theme/theme14.xml" ContentType="application/vnd.openxmlformats-officedocument.theme+xml"/>
  <Override PartName="/ppt/slideMasters/slideMaster14.xml" ContentType="application/vnd.openxmlformats-officedocument.presentationml.slideMaster+xml"/>
  <Override PartName="/ppt/slideMasters/theme/theme1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2f285a7904a56" /><Relationship Type="http://schemas.openxmlformats.org/officeDocument/2006/relationships/extended-properties" Target="/docProps/app.xml" Id="R1864ad080529464f" /><Relationship Type="http://schemas.openxmlformats.org/officeDocument/2006/relationships/officeDocument" Target="/ppt/presentation.xml" Id="R53f8728b1f5f48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6e5a0fd22f4f71"/>
    <p:sldMasterId xmlns:r="http://schemas.openxmlformats.org/officeDocument/2006/relationships" id="2147483651" r:id="R5f184d1ac9804643"/>
    <p:sldMasterId xmlns:r="http://schemas.openxmlformats.org/officeDocument/2006/relationships" id="2147483654" r:id="Rb9a38c9532db4b72"/>
    <p:sldMasterId xmlns:r="http://schemas.openxmlformats.org/officeDocument/2006/relationships" id="2147483664" r:id="R1064398c0a884fd3"/>
    <p:sldMasterId xmlns:r="http://schemas.openxmlformats.org/officeDocument/2006/relationships" id="2147483667" r:id="R9a83694f9c5648d9"/>
    <p:sldMasterId xmlns:r="http://schemas.openxmlformats.org/officeDocument/2006/relationships" id="2147483670" r:id="R0f5c1dfec2234ffb"/>
    <p:sldMasterId xmlns:r="http://schemas.openxmlformats.org/officeDocument/2006/relationships" id="2147483673" r:id="Rfaed35654a814dea"/>
    <p:sldMasterId xmlns:r="http://schemas.openxmlformats.org/officeDocument/2006/relationships" id="2147483676" r:id="R2d9e5d6874374706"/>
    <p:sldMasterId xmlns:r="http://schemas.openxmlformats.org/officeDocument/2006/relationships" id="2147483679" r:id="R2b48c19fde6d44a0"/>
    <p:sldMasterId xmlns:r="http://schemas.openxmlformats.org/officeDocument/2006/relationships" id="2147483682" r:id="Ra94871814666469c"/>
    <p:sldMasterId xmlns:r="http://schemas.openxmlformats.org/officeDocument/2006/relationships" id="2147483685" r:id="R17aef2b968bc45aa"/>
    <p:sldMasterId xmlns:r="http://schemas.openxmlformats.org/officeDocument/2006/relationships" id="2147483688" r:id="R7b7b7514fa1241ea"/>
    <p:sldMasterId xmlns:r="http://schemas.openxmlformats.org/officeDocument/2006/relationships" id="2147483691" r:id="R5eeeec6151a441d7"/>
    <p:sldMasterId xmlns:r="http://schemas.openxmlformats.org/officeDocument/2006/relationships" id="2147483694" r:id="R12cb587335b9411a"/>
  </p:sldMasterIdLst>
  <p:notesMasterIdLst>
    <p:notesMasterId xmlns:r="http://schemas.openxmlformats.org/officeDocument/2006/relationships" r:id="R8129ae4e40f94504"/>
  </p:notesMasterIdLst>
  <p:sldIdLst>
    <p:sldId xmlns:r="http://schemas.openxmlformats.org/officeDocument/2006/relationships" id="256" r:id="Rd53898a520b84cf7"/>
    <p:sldId xmlns:r="http://schemas.openxmlformats.org/officeDocument/2006/relationships" id="257" r:id="R434205a6b77647a8"/>
    <p:sldId xmlns:r="http://schemas.openxmlformats.org/officeDocument/2006/relationships" id="258" r:id="Rd803453ad9314735"/>
    <p:sldId xmlns:r="http://schemas.openxmlformats.org/officeDocument/2006/relationships" id="259" r:id="R30cc3d2ae82449d8"/>
    <p:sldId xmlns:r="http://schemas.openxmlformats.org/officeDocument/2006/relationships" id="260" r:id="R380f3c6f23ba4889"/>
    <p:sldId xmlns:r="http://schemas.openxmlformats.org/officeDocument/2006/relationships" id="261" r:id="R72b5486edf7c48f9"/>
    <p:sldId xmlns:r="http://schemas.openxmlformats.org/officeDocument/2006/relationships" id="262" r:id="R760acdb374784997"/>
    <p:sldId xmlns:r="http://schemas.openxmlformats.org/officeDocument/2006/relationships" id="263" r:id="R394df6cee44f445d"/>
    <p:sldId xmlns:r="http://schemas.openxmlformats.org/officeDocument/2006/relationships" id="264" r:id="R5d1981070d9f488f"/>
    <p:sldId xmlns:r="http://schemas.openxmlformats.org/officeDocument/2006/relationships" id="265" r:id="R1b64437eeeb14ad9"/>
    <p:sldId xmlns:r="http://schemas.openxmlformats.org/officeDocument/2006/relationships" id="266" r:id="R46ccbd8e66ca4fc1"/>
    <p:sldId xmlns:r="http://schemas.openxmlformats.org/officeDocument/2006/relationships" id="267" r:id="R397e8d77a0c9493e"/>
    <p:sldId xmlns:r="http://schemas.openxmlformats.org/officeDocument/2006/relationships" id="268" r:id="R6579647b270c4779"/>
    <p:sldId xmlns:r="http://schemas.openxmlformats.org/officeDocument/2006/relationships" id="269" r:id="R3f9645e73371416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a9c1859cb44895" /><Relationship Type="http://schemas.openxmlformats.org/officeDocument/2006/relationships/slideMaster" Target="/ppt/slideMasters/slideMaster1.xml" Id="Raa6e5a0fd22f4f71" /><Relationship Type="http://schemas.openxmlformats.org/officeDocument/2006/relationships/slideMaster" Target="/ppt/slideMasters/slideMaster2.xml" Id="R5f184d1ac9804643" /><Relationship Type="http://schemas.openxmlformats.org/officeDocument/2006/relationships/slideMaster" Target="/ppt/slideMasters/slideMaster3.xml" Id="Rb9a38c9532db4b72" /><Relationship Type="http://schemas.openxmlformats.org/officeDocument/2006/relationships/slideMaster" Target="/ppt/slideMasters/slideMaster4.xml" Id="R1064398c0a884fd3" /><Relationship Type="http://schemas.openxmlformats.org/officeDocument/2006/relationships/slideMaster" Target="/ppt/slideMasters/slideMaster5.xml" Id="R9a83694f9c5648d9" /><Relationship Type="http://schemas.openxmlformats.org/officeDocument/2006/relationships/slideMaster" Target="/ppt/slideMasters/slideMaster6.xml" Id="R0f5c1dfec2234ffb" /><Relationship Type="http://schemas.openxmlformats.org/officeDocument/2006/relationships/slideMaster" Target="/ppt/slideMasters/slideMaster7.xml" Id="Rfaed35654a814dea" /><Relationship Type="http://schemas.openxmlformats.org/officeDocument/2006/relationships/slideMaster" Target="/ppt/slideMasters/slideMaster8.xml" Id="R2d9e5d6874374706" /><Relationship Type="http://schemas.openxmlformats.org/officeDocument/2006/relationships/slideMaster" Target="/ppt/slideMasters/slideMaster9.xml" Id="R2b48c19fde6d44a0" /><Relationship Type="http://schemas.openxmlformats.org/officeDocument/2006/relationships/slideMaster" Target="/ppt/slideMasters/slideMaster10.xml" Id="Ra94871814666469c" /><Relationship Type="http://schemas.openxmlformats.org/officeDocument/2006/relationships/slideMaster" Target="/ppt/slideMasters/slideMaster11.xml" Id="R17aef2b968bc45aa" /><Relationship Type="http://schemas.openxmlformats.org/officeDocument/2006/relationships/slideMaster" Target="/ppt/slideMasters/slideMaster12.xml" Id="R7b7b7514fa1241ea" /><Relationship Type="http://schemas.openxmlformats.org/officeDocument/2006/relationships/slideMaster" Target="/ppt/slideMasters/slideMaster13.xml" Id="R5eeeec6151a441d7" /><Relationship Type="http://schemas.openxmlformats.org/officeDocument/2006/relationships/slideMaster" Target="/ppt/slideMasters/slideMaster14.xml" Id="R12cb587335b9411a" /><Relationship Type="http://schemas.openxmlformats.org/officeDocument/2006/relationships/notesMaster" Target="/ppt/notesMasters/notesMaster1.xml" Id="R8129ae4e40f94504" /><Relationship Type="http://schemas.openxmlformats.org/officeDocument/2006/relationships/presProps" Target="/ppt/presProps.xml" Id="R604a096c96ac479a" /><Relationship Type="http://schemas.openxmlformats.org/officeDocument/2006/relationships/viewProps" Target="/ppt/viewProps.xml" Id="Rb738e218a6e34d15" /><Relationship Type="http://schemas.openxmlformats.org/officeDocument/2006/relationships/tableStyles" Target="/ppt/tableStyles.xml" Id="R0b8836210df54498" /><Relationship Type="http://schemas.openxmlformats.org/officeDocument/2006/relationships/slide" Target="/ppt/slides/slide1.xml" Id="Rd53898a520b84cf7" /><Relationship Type="http://schemas.openxmlformats.org/officeDocument/2006/relationships/slide" Target="/ppt/slides/slide2.xml" Id="R434205a6b77647a8" /><Relationship Type="http://schemas.openxmlformats.org/officeDocument/2006/relationships/slide" Target="/ppt/slides/slide3.xml" Id="Rd803453ad9314735" /><Relationship Type="http://schemas.openxmlformats.org/officeDocument/2006/relationships/slide" Target="/ppt/slides/slide4.xml" Id="R30cc3d2ae82449d8" /><Relationship Type="http://schemas.openxmlformats.org/officeDocument/2006/relationships/slide" Target="/ppt/slides/slide5.xml" Id="R380f3c6f23ba4889" /><Relationship Type="http://schemas.openxmlformats.org/officeDocument/2006/relationships/slide" Target="/ppt/slides/slide6.xml" Id="R72b5486edf7c48f9" /><Relationship Type="http://schemas.openxmlformats.org/officeDocument/2006/relationships/slide" Target="/ppt/slides/slide7.xml" Id="R760acdb374784997" /><Relationship Type="http://schemas.openxmlformats.org/officeDocument/2006/relationships/slide" Target="/ppt/slides/slide8.xml" Id="R394df6cee44f445d" /><Relationship Type="http://schemas.openxmlformats.org/officeDocument/2006/relationships/slide" Target="/ppt/slides/slide9.xml" Id="R5d1981070d9f488f" /><Relationship Type="http://schemas.openxmlformats.org/officeDocument/2006/relationships/slide" Target="/ppt/slides/slide10.xml" Id="R1b64437eeeb14ad9" /><Relationship Type="http://schemas.openxmlformats.org/officeDocument/2006/relationships/slide" Target="/ppt/slides/slide11.xml" Id="R46ccbd8e66ca4fc1" /><Relationship Type="http://schemas.openxmlformats.org/officeDocument/2006/relationships/slide" Target="/ppt/slides/slide12.xml" Id="R397e8d77a0c9493e" /><Relationship Type="http://schemas.openxmlformats.org/officeDocument/2006/relationships/slide" Target="/ppt/slides/slide13.xml" Id="R6579647b270c4779" /><Relationship Type="http://schemas.openxmlformats.org/officeDocument/2006/relationships/slide" Target="/ppt/slides/slide14.xml" Id="R3f9645e7337141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6.xml" Id="R9176b616108a44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6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e660e158c24f5a" /><Relationship Type="http://schemas.openxmlformats.org/officeDocument/2006/relationships/notesMaster" Target="/ppt/notesMasters/notesMaster1.xml" Id="R8830870559bf4a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0189168994c97" /><Relationship Type="http://schemas.openxmlformats.org/officeDocument/2006/relationships/notesMaster" Target="/ppt/notesMasters/notesMaster1.xml" Id="Rba26c91ef15543d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cc8025a8b84201" /><Relationship Type="http://schemas.openxmlformats.org/officeDocument/2006/relationships/notesMaster" Target="/ppt/notesMasters/notesMaster1.xml" Id="R6ed7da1f64184c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60ddd7d1e646b8" /><Relationship Type="http://schemas.openxmlformats.org/officeDocument/2006/relationships/notesMaster" Target="/ppt/notesMasters/notesMaster1.xml" Id="Rb11dc82d04be45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646cc867d64468" /><Relationship Type="http://schemas.openxmlformats.org/officeDocument/2006/relationships/notesMaster" Target="/ppt/notesMasters/notesMaster1.xml" Id="R67b81a3904a1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1a8c595e7f4f75" /><Relationship Type="http://schemas.openxmlformats.org/officeDocument/2006/relationships/notesMaster" Target="/ppt/notesMasters/notesMaster1.xml" Id="R1dd04b85904f40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814f1615c4808" /><Relationship Type="http://schemas.openxmlformats.org/officeDocument/2006/relationships/notesMaster" Target="/ppt/notesMasters/notesMaster1.xml" Id="R0ac8b1db97054a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097451b8d942f9" /><Relationship Type="http://schemas.openxmlformats.org/officeDocument/2006/relationships/notesMaster" Target="/ppt/notesMasters/notesMaster1.xml" Id="Re6f3d0f670fd4b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23e8fd580f4106" /><Relationship Type="http://schemas.openxmlformats.org/officeDocument/2006/relationships/notesMaster" Target="/ppt/notesMasters/notesMaster1.xml" Id="R101137c3d62d42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a719d60f7040ac" /><Relationship Type="http://schemas.openxmlformats.org/officeDocument/2006/relationships/notesMaster" Target="/ppt/notesMasters/notesMaster1.xml" Id="R0d7e1bda91bf46d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2b3a8775b904d40" /><Relationship Type="http://schemas.openxmlformats.org/officeDocument/2006/relationships/notesMaster" Target="/ppt/notesMasters/notesMaster1.xml" Id="R5c64a348b6904d2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b9d60b8c5f4b73" /><Relationship Type="http://schemas.openxmlformats.org/officeDocument/2006/relationships/notesMaster" Target="/ppt/notesMasters/notesMaster1.xml" Id="Rd8b1f6102be540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0085ba102934f74" /><Relationship Type="http://schemas.openxmlformats.org/officeDocument/2006/relationships/notesMaster" Target="/ppt/notesMasters/notesMaster1.xml" Id="Ra6af05af7ccf49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ff7e9f70fba4e71" /><Relationship Type="http://schemas.openxmlformats.org/officeDocument/2006/relationships/notesMaster" Target="/ppt/notesMasters/notesMaster1.xml" Id="R3bf792776ea347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供应链优化PPT修改.pptx（页2提要；页7-11模块内容）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供应链优化PPT修改.pptx（页12模型数据驱动闭环；页13管理角色转变）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供应链优化PPT修改.pptx（页4量化指标提要；页12-13价值逻辑）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c67f48e61474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68562335fd4b62" /><Relationship Type="http://schemas.openxmlformats.org/officeDocument/2006/relationships/image" Target="/ppt/media/image.png" Id="Rb137939047d14a1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c902093ec6b41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2551fb05334469" /><Relationship Type="http://schemas.openxmlformats.org/officeDocument/2006/relationships/image" Target="/ppt/media/image.png" Id="R56149a5701484d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96bd3b4865643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7440d629276449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6072dc3b82e4a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11a3d5e0174e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cd0e4bb41d14b2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f19d4214b3457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dc69d74e226428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9d1e3be5864b2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4605dd70619427c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eecc6a873fe4b7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78adf485833467b" /><Relationship Type="http://schemas.openxmlformats.org/officeDocument/2006/relationships/image" Target="/ppt/media/image.png" Id="R070d9152172f4374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73762079e274e4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e4c5573ed4d14454" /><Relationship Type="http://schemas.openxmlformats.org/officeDocument/2006/relationships/image" Target="/ppt/media/image.png" Id="R2baab20d27c2401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b14351447b0b461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2cbb25a6f0be4135" /><Relationship Type="http://schemas.openxmlformats.org/officeDocument/2006/relationships/image" Target="/ppt/media/image.png" Id="Rceb74b0b7310438f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7fb6f80c13e04b4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3371d562e0cc4548" /><Relationship Type="http://schemas.openxmlformats.org/officeDocument/2006/relationships/image" Target="/ppt/media/image.png" Id="R4458beb693ef4e8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154d99ab3d14f3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27f59842911f403a" /><Relationship Type="http://schemas.openxmlformats.org/officeDocument/2006/relationships/image" Target="/ppt/media/image.png" Id="R432d19f7dcc146b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eb3affef50654faf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75dc073321264a25" /><Relationship Type="http://schemas.openxmlformats.org/officeDocument/2006/relationships/image" Target="/ppt/media/image.png" Id="Rdbc4f99434be420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e7f53f6925ec433a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90305764f1094061" /><Relationship Type="http://schemas.openxmlformats.org/officeDocument/2006/relationships/image" Target="/ppt/media/image.png" Id="Reda483bc0e3f46c0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bb65ff76ce1d4d9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4d28de498bec4fdc" /><Relationship Type="http://schemas.openxmlformats.org/officeDocument/2006/relationships/image" Target="/ppt/media/image.png" Id="R904ddeeb07194ca1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73c7bd25e63045ba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965d45cbab074664" /><Relationship Type="http://schemas.openxmlformats.org/officeDocument/2006/relationships/image" Target="/ppt/media/image.png" Id="R2e45ff80c5c6479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64d38297e9e44f7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3.xml" Id="R8cfc8d3202ec45ea" /><Relationship Type="http://schemas.openxmlformats.org/officeDocument/2006/relationships/image" Target="/ppt/media/image.png" Id="R1b878a28d45b409e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f6582536504941e8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4.xml" Id="R0d53b99921a34958" /><Relationship Type="http://schemas.openxmlformats.org/officeDocument/2006/relationships/image" Target="/ppt/media/image.png" Id="R76723b8e4d3544e0" /></Relationships>
</file>

<file path=ppt/slideLayouts/slideLayout1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125BC7B-EA3F-446F-BFE6-D87D27038BB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AFAD7D4-BF42-49B2-A27D-0BC1636E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7939047d14a1a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2997A09-6417-4453-B72D-AE2F2E31BD7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6A704D68-2021-411D-944D-E2D7167F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49a5701484d1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showMasterSp="0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444AD9B-16D4-4CC5-8C59-E6681C42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8112416-A6EA-49C9-9490-48CF488F0A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60401" y="1512888"/>
            <a:ext cx="7913565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 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D23B977-357F-400E-AE83-C9F7970D21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60401" y="3992563"/>
            <a:ext cx="7913565" cy="9318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7" name="文本占位符 6">
            <a:extLst xmlns:a="http://schemas.openxmlformats.org/drawingml/2006/main">
              <a:ext uri="{FF2B5EF4-FFF2-40B4-BE49-F238E27FC236}">
                <a16:creationId xmlns:a16="http://schemas.microsoft.com/office/drawing/2014/main" id="{C9AD88CD-017A-4820-A6FB-320EC8402C4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867649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r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228600" lvl="0" indent="-228600" algn="r">
              <a:spcBef>
                <a:spcPct val="0"/>
              </a:spcBef>
              <a:buNone/>
            </a:pPr>
            <a:r>
              <a:t>Speaker name and title</a:t>
            </a:r>
            <a:endParaRPr/>
          </a:p>
        </p:txBody>
      </p:sp>
      <p:sp>
        <p:nvSpPr>
          <p:cNvPr id="8" name="文本占位符 7">
            <a:extLst xmlns:a="http://schemas.openxmlformats.org/drawingml/2006/main">
              <a:ext uri="{FF2B5EF4-FFF2-40B4-BE49-F238E27FC236}">
                <a16:creationId xmlns:a16="http://schemas.microsoft.com/office/drawing/2014/main" id="{D81E5955-EBA4-461D-94C4-BAEA2CEE28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3100" y="6109859"/>
            <a:ext cx="3651251" cy="180659"/>
          </a:xfrm>
        </p:spPr>
        <p:txBody>
          <a:bodyPr xmlns:a="http://schemas.openxmlformats.org/drawingml/2006/main" vert="horz" wrap="none" lIns="91440" tIns="45720" rIns="91440" bIns="45720" anchor="ctr">
            <a:noAutofit/>
          </a:bodyPr>
          <a:lstStyle xmlns:a="http://schemas.openxmlformats.org/drawingml/2006/main">
            <a:lvl1pPr marL="0" indent="0" algn="l">
              <a:buNone/>
              <a:defRPr sz="1000" b="0">
                <a:ln>
                  <a:noFill/>
                </a:ln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OfficePLUS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C52FC310-BAD7-4975-AD28-72182728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734169" y="5676332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38C91EBF-A0BF-4BB6-B225-01BC2451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1897579" y="4512922"/>
            <a:ext cx="4690154" cy="4690154"/>
          </a:xfrm>
          <a:prstGeom xmlns:a="http://schemas.openxmlformats.org/drawingml/2006/main" prst="arc">
            <a:avLst>
              <a:gd name="adj1" fmla="val 12847544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弧形 5">
            <a:extLst xmlns:a="http://schemas.openxmlformats.org/drawingml/2006/main">
              <a:ext uri="{FF2B5EF4-FFF2-40B4-BE49-F238E27FC236}">
                <a16:creationId xmlns:a16="http://schemas.microsoft.com/office/drawing/2014/main" id="{600FF5E4-1499-4E50-8066-59D6EB9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0" flipV="0">
            <a:off x="-2998951" y="3411550"/>
            <a:ext cx="6892898" cy="6892898"/>
          </a:xfrm>
          <a:prstGeom xmlns:a="http://schemas.openxmlformats.org/drawingml/2006/main" prst="arc">
            <a:avLst>
              <a:gd name="adj1" fmla="val 11885142"/>
              <a:gd name="adj2" fmla="val 18112891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7" name="弧形 6">
            <a:extLst xmlns:a="http://schemas.openxmlformats.org/drawingml/2006/main">
              <a:ext uri="{FF2B5EF4-FFF2-40B4-BE49-F238E27FC236}">
                <a16:creationId xmlns:a16="http://schemas.microsoft.com/office/drawing/2014/main" id="{483FB25F-0902-469D-929B-CC9FD41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-4411160" y="1999341"/>
            <a:ext cx="9717317" cy="9717317"/>
          </a:xfrm>
          <a:prstGeom xmlns:a="http://schemas.openxmlformats.org/drawingml/2006/main" prst="arc">
            <a:avLst>
              <a:gd name="adj1" fmla="val 885225"/>
              <a:gd name="adj2" fmla="val 7131830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BF9C3155-091E-4F52-9D10-55D7B98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0" flipV="0">
            <a:off x="-5935416" y="475085"/>
            <a:ext cx="12765829" cy="12765829"/>
          </a:xfrm>
          <a:prstGeom xmlns:a="http://schemas.openxmlformats.org/drawingml/2006/main" prst="arc">
            <a:avLst>
              <a:gd name="adj1" fmla="val 12663326"/>
              <a:gd name="adj2" fmla="val 1898460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ABA67CF9-09C8-4C8A-9CA8-9E1CFCCC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0332" y="-762568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弧形 18">
            <a:extLst xmlns:a="http://schemas.openxmlformats.org/drawingml/2006/main">
              <a:ext uri="{FF2B5EF4-FFF2-40B4-BE49-F238E27FC236}">
                <a16:creationId xmlns:a16="http://schemas.microsoft.com/office/drawing/2014/main" id="{DD1A04BE-F70D-4AC9-9C2C-C7AC9A8B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93598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弧形 19">
            <a:extLst xmlns:a="http://schemas.openxmlformats.org/drawingml/2006/main">
              <a:ext uri="{FF2B5EF4-FFF2-40B4-BE49-F238E27FC236}">
                <a16:creationId xmlns:a16="http://schemas.microsoft.com/office/drawing/2014/main" id="{DE752667-4458-4331-A739-7E95B13B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9846922" y="-1925978"/>
            <a:ext cx="4690154" cy="4690154"/>
          </a:xfrm>
          <a:prstGeom xmlns:a="http://schemas.openxmlformats.org/drawingml/2006/main" prst="arc">
            <a:avLst>
              <a:gd name="adj1" fmla="val 11969093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弧形 20">
            <a:extLst xmlns:a="http://schemas.openxmlformats.org/drawingml/2006/main">
              <a:ext uri="{FF2B5EF4-FFF2-40B4-BE49-F238E27FC236}">
                <a16:creationId xmlns:a16="http://schemas.microsoft.com/office/drawing/2014/main" id="{B998C436-2144-4B2A-97AB-74683CA8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8745550" y="-3027350"/>
            <a:ext cx="6892898" cy="6892898"/>
          </a:xfrm>
          <a:prstGeom xmlns:a="http://schemas.openxmlformats.org/drawingml/2006/main" prst="arc">
            <a:avLst>
              <a:gd name="adj1" fmla="val 11997002"/>
              <a:gd name="adj2" fmla="val 18351143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6" name="弧形 15">
            <a:extLst xmlns:a="http://schemas.openxmlformats.org/drawingml/2006/main">
              <a:ext uri="{FF2B5EF4-FFF2-40B4-BE49-F238E27FC236}">
                <a16:creationId xmlns:a16="http://schemas.microsoft.com/office/drawing/2014/main" id="{5F1DDFB9-65D1-43B2-8E75-1554F1DC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0" flipV="0">
            <a:off x="7333341" y="-4439559"/>
            <a:ext cx="9717317" cy="9717317"/>
          </a:xfrm>
          <a:prstGeom xmlns:a="http://schemas.openxmlformats.org/drawingml/2006/main" prst="arc">
            <a:avLst>
              <a:gd name="adj1" fmla="val 11968596"/>
              <a:gd name="adj2" fmla="val 1813159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76F1F4-3BFA-4E7A-867D-1A05A0A29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257448" y="3015885"/>
            <a:ext cx="5677105" cy="693823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4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0689A8-09C4-4B79-8763-6F689DAF39F3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3257448" y="3736693"/>
            <a:ext cx="5677105" cy="9657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title style</a:t>
            </a:r>
            <a:endParaRPr/>
          </a:p>
        </p:txBody>
      </p:sp>
      <p:sp>
        <p:nvSpPr>
          <p:cNvPr id="22" name="文本占位符 21">
            <a:extLst xmlns:a="http://schemas.openxmlformats.org/drawingml/2006/main">
              <a:ext uri="{FF2B5EF4-FFF2-40B4-BE49-F238E27FC236}">
                <a16:creationId xmlns:a16="http://schemas.microsoft.com/office/drawing/2014/main" id="{B0EB339F-B4FC-4778-BCA7-60A5B51D45D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71003" y="367812"/>
            <a:ext cx="1043876" cy="830164"/>
          </a:xfr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01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日期占位符 5">
            <a:extLst xmlns:a="http://schemas.openxmlformats.org/drawingml/2006/main">
              <a:ext uri="{FF2B5EF4-FFF2-40B4-BE49-F238E27FC236}">
                <a16:creationId xmlns:a16="http://schemas.microsoft.com/office/drawing/2014/main" id="{07CBF742-0B44-4940-BB30-CD2916D6196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页脚占位符 6">
            <a:extLst xmlns:a="http://schemas.openxmlformats.org/drawingml/2006/main">
              <a:ext uri="{FF2B5EF4-FFF2-40B4-BE49-F238E27FC236}">
                <a16:creationId xmlns:a16="http://schemas.microsoft.com/office/drawing/2014/main" id="{9C77E07B-08AA-4A0B-84B1-D4F837246D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CD130E05-8F24-4015-88DA-BFC9E3C1B2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任意多边形: 形状 10">
            <a:extLst xmlns:a="http://schemas.openxmlformats.org/drawingml/2006/main">
              <a:ext uri="{FF2B5EF4-FFF2-40B4-BE49-F238E27FC236}">
                <a16:creationId xmlns:a16="http://schemas.microsoft.com/office/drawing/2014/main" id="{AD7785DE-74F9-4440-8429-59A32265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1318" y="0"/>
            <a:ext cx="684" cy="13546"/>
          </a:xfrm>
          <a:custGeom xmlns:a="http://schemas.openxmlformats.org/drawingml/2006/main"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 w="14015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endParaRPr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 xmlns:a="http://schemas.openxmlformats.org/drawingml/2006/main">
              <a:ext uri="{FF2B5EF4-FFF2-40B4-BE49-F238E27FC236}">
                <a16:creationId xmlns:a16="http://schemas.microsoft.com/office/drawing/2014/main" id="{FF4F0291-B00B-49EC-B2A5-4BFC960BB51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769100" y="5255017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indent="0">
              <a:buNone/>
            </a:pPr>
            <a:r>
              <a:t>Signature</a:t>
            </a:r>
            <a:endParaRPr/>
          </a:p>
        </p:txBody>
      </p:sp>
      <p:sp>
        <p:nvSpPr>
          <p:cNvPr id="27" name="文本占位符 26">
            <a:extLst xmlns:a="http://schemas.openxmlformats.org/drawingml/2006/main">
              <a:ext uri="{FF2B5EF4-FFF2-40B4-BE49-F238E27FC236}">
                <a16:creationId xmlns:a16="http://schemas.microsoft.com/office/drawing/2014/main" id="{2C05BDC2-7CE9-48FF-B528-597A6044953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769100" y="5513549"/>
            <a:ext cx="4843552" cy="258532"/>
          </a:xfrm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0" indent="0" algn="l">
              <a:buNone/>
              <a:defRPr sz="1200" b="0">
                <a:ln>
                  <a:noFill/>
                </a:ln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Date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B84B587-057F-4CED-9B48-D54102E2160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69100" y="3247008"/>
            <a:ext cx="4843552" cy="113767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 xmlns:a="http://schemas.openxmlformats.org/drawingml/2006/main">
            <a:pPr lvl="0">
              <a:buNone/>
            </a:pPr>
            <a:r>
              <a:t>Thank you</a:t>
            </a:r>
            <a:endParaRPr/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FED71C64-333C-4EB2-9114-6AA7BA5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8207422" y="2065340"/>
            <a:ext cx="2363334" cy="236333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弧形 12">
            <a:extLst xmlns:a="http://schemas.openxmlformats.org/drawingml/2006/main">
              <a:ext uri="{FF2B5EF4-FFF2-40B4-BE49-F238E27FC236}">
                <a16:creationId xmlns:a16="http://schemas.microsoft.com/office/drawing/2014/main" id="{7B519172-374A-42BF-BABF-49898070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8681123"/>
              <a:gd name="adj2" fmla="val 14615283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弧形 13">
            <a:extLst xmlns:a="http://schemas.openxmlformats.org/drawingml/2006/main">
              <a:ext uri="{FF2B5EF4-FFF2-40B4-BE49-F238E27FC236}">
                <a16:creationId xmlns:a16="http://schemas.microsoft.com/office/drawing/2014/main" id="{0698FFDA-E150-430C-AEC3-E2E5E06D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7044012" y="901930"/>
            <a:ext cx="4690154" cy="4690154"/>
          </a:xfrm>
          <a:prstGeom xmlns:a="http://schemas.openxmlformats.org/drawingml/2006/main" prst="arc">
            <a:avLst>
              <a:gd name="adj1" fmla="val 5884870"/>
              <a:gd name="adj2" fmla="val 16719650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5"/>
                </a:gs>
                <a:gs pos="52000">
                  <a:schemeClr val="accent3"/>
                </a:gs>
                <a:gs pos="100000">
                  <a:schemeClr val="accent1"/>
                </a:gs>
              </a:gsLst>
              <a:lin ang="1020000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弧形 14">
            <a:extLst xmlns:a="http://schemas.openxmlformats.org/drawingml/2006/main">
              <a:ext uri="{FF2B5EF4-FFF2-40B4-BE49-F238E27FC236}">
                <a16:creationId xmlns:a16="http://schemas.microsoft.com/office/drawing/2014/main" id="{E59342BE-53F3-495C-8DA3-8A0EDEC5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1003651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1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8" name="弧形 7">
            <a:extLst xmlns:a="http://schemas.openxmlformats.org/drawingml/2006/main">
              <a:ext uri="{FF2B5EF4-FFF2-40B4-BE49-F238E27FC236}">
                <a16:creationId xmlns:a16="http://schemas.microsoft.com/office/drawing/2014/main" id="{4C91454B-F9A1-4358-92C8-565283E4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66892" flipH="1" flipV="0">
            <a:off x="-15942640" y="-199442"/>
            <a:ext cx="6892898" cy="6892898"/>
          </a:xfrm>
          <a:prstGeom xmlns:a="http://schemas.openxmlformats.org/drawingml/2006/main" prst="arc">
            <a:avLst>
              <a:gd name="adj1" fmla="val 17964632"/>
              <a:gd name="adj2" fmla="val 20655375"/>
            </a:avLst>
          </a:prstGeom>
          <a:noFill xmlns:a="http://schemas.openxmlformats.org/drawingml/2006/main"/>
          <a:ln xmlns:a="http://schemas.openxmlformats.org/drawingml/2006/main" w="635000">
            <a:gradFill>
              <a:gsLst>
                <a:gs pos="0">
                  <a:schemeClr val="accent6"/>
                </a:gs>
                <a:gs pos="100000">
                  <a:schemeClr val="accent6">
                    <a:alpha val="50000"/>
                  </a:schemeClr>
                </a:gs>
              </a:gsLst>
              <a:lin ang="0" scaled="0"/>
            </a:gra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弧形 8">
            <a:extLst xmlns:a="http://schemas.openxmlformats.org/drawingml/2006/main">
              <a:ext uri="{FF2B5EF4-FFF2-40B4-BE49-F238E27FC236}">
                <a16:creationId xmlns:a16="http://schemas.microsoft.com/office/drawing/2014/main" id="{A897A7C3-D355-44D8-A792-90832208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480051" flipH="1" flipV="0">
            <a:off x="-14530431" y="-1611651"/>
            <a:ext cx="9717317" cy="9717317"/>
          </a:xfrm>
          <a:prstGeom xmlns:a="http://schemas.openxmlformats.org/drawingml/2006/main" prst="arc">
            <a:avLst>
              <a:gd name="adj1" fmla="val 11003651"/>
              <a:gd name="adj2" fmla="val 17440526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5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  <p:sp>
        <p:nvSpPr>
          <p:cNvPr id="10" name="弧形 9">
            <a:extLst xmlns:a="http://schemas.openxmlformats.org/drawingml/2006/main">
              <a:ext uri="{FF2B5EF4-FFF2-40B4-BE49-F238E27FC236}">
                <a16:creationId xmlns:a16="http://schemas.microsoft.com/office/drawing/2014/main" id="{F4EF81D0-3E3D-48EB-AE63-AD3B2DBF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15952" flipH="1" flipV="0">
            <a:off x="-13006175" y="-3135907"/>
            <a:ext cx="12765829" cy="12765829"/>
          </a:xfrm>
          <a:prstGeom xmlns:a="http://schemas.openxmlformats.org/drawingml/2006/main" prst="arc">
            <a:avLst>
              <a:gd name="adj1" fmla="val 2152946"/>
              <a:gd name="adj2" fmla="val 6967338"/>
            </a:avLst>
          </a:prstGeom>
          <a:noFill xmlns:a="http://schemas.openxmlformats.org/drawingml/2006/main"/>
          <a:ln xmlns:a="http://schemas.openxmlformats.org/drawingml/2006/main" w="635000">
            <a:solidFill>
              <a:schemeClr val="accent5">
                <a:lumMod val="50000"/>
                <a:lumOff val="50000"/>
                <a:alpha val="2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lvl="0" algn="ctr">
              <a:buNone/>
            </a:pP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E87F3B7A-1186-4F39-9D53-676E47D0B5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F6A99F-2216-4A3C-AFB9-69804E6C89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9BFAE1B-F094-4B4B-B9D7-BBA5A9FDFF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1.xml><?xml version="1.0" encoding="utf-8"?>
<p:sldLayout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79DC728-AE0C-4826-9DE7-4CE5AD01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585" y="2071370"/>
            <a:ext cx="30988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>
              <a:solidFill>
                <a:schemeClr val="bg1"/>
              </a:solidFill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DE0D3AE-EE61-41E2-8296-0A93F1461E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C3BB0AFA-3B77-45BE-8386-9D801366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d9152172f4374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120C8AB-7C1F-4E12-8D83-FBD4291860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3E7F268-9CC7-4920-B71C-880FF7AD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ab20d27c2401c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FEDE330-4E41-45D3-A5FE-DCB4F4A1427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7F146FE4-B932-4EF1-B8EA-97147889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74b0b7310438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F0BE862-F3BE-431C-BC4E-195560B7BD2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9076A93-DAEC-4C5B-ABA5-10DC07D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8beb693ef4e8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1E9139F-06E0-46C3-9FD4-693515B35B4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5F5C1B7F-4A11-479A-BE68-C175AF7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d19f7dcc146bf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DD4769D-6C40-49E3-A0EC-82C280F6FE26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85670E0-7FDD-4CF8-87CA-B1F2681D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4f99434be420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6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7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0CBAB50-02D1-4E84-8114-AE3BE8FFAA2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FB92757-46D5-40E8-A705-DAA2157F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a483bc0e3f46c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9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56388BCC-2821-4E24-B776-157ACCFC20F3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F3DCC65A-6690-4459-BE2E-C3A8F8D1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ddeeb07194ca1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0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1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5230C75-C8D1-4ED1-A6E1-E14A777F3DE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8D9AAD86-EDAA-46B6-9DA0-FD94AA3C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45ff80c5c6479d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31B2D54-E42C-4E7D-94B6-63A43F0FBE0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AFAA9FF3-1CD6-464F-8FC4-52545D6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78a28d45b409e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5.xml><?xml version="1.0" encoding="utf-8"?>
<p:sldLayout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812536-2AC2-40F8-9640-C7735DC09BFF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04850" y="445770"/>
            <a:ext cx="9598025" cy="4654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buNone/>
              <a:defRPr>
                <a:solidFill>
                  <a:schemeClr val="bg1"/>
                </a:solidFill>
              </a:defRPr>
            </a:lvl3pPr>
            <a:lvl4pPr>
              <a:buNone/>
              <a:defRPr>
                <a:solidFill>
                  <a:schemeClr val="bg1"/>
                </a:solidFill>
              </a:defRPr>
            </a:lvl4pPr>
            <a:lvl5pPr>
              <a:buNone/>
              <a:defRPr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7" name="圆: 空心 1">
            <a:extLst xmlns:a="http://schemas.openxmlformats.org/drawingml/2006/main">
              <a:ext uri="{FF2B5EF4-FFF2-40B4-BE49-F238E27FC236}">
                <a16:creationId xmlns:a16="http://schemas.microsoft.com/office/drawing/2014/main" id="{0EB0CC73-A860-4C20-871F-2F8C9FDB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3502" y="282709"/>
            <a:ext cx="643788" cy="64439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562">
                <a:srgbClr val="0569E5">
                  <a:lumMod val="20000"/>
                  <a:lumOff val="80000"/>
                </a:srgbClr>
              </a:gs>
              <a:gs pos="13000">
                <a:srgbClr val="0569E5">
                  <a:lumMod val="60000"/>
                  <a:lumOff val="40000"/>
                </a:srgbClr>
              </a:gs>
              <a:gs pos="61000">
                <a:srgbClr val="0569E5">
                  <a:alpha val="0"/>
                </a:srgbClr>
              </a:gs>
              <a:gs pos="29000">
                <a:srgbClr val="0569E5">
                  <a:alpha val="96000"/>
                </a:srgbClr>
              </a:gs>
            </a:gsLst>
            <a:lin ang="27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rgbClr val="0569E5">
              <a:shade val="50000"/>
            </a:srgbClr>
          </a:lnRef>
          <a:fillRef xmlns:a="http://schemas.openxmlformats.org/drawingml/2006/main" idx="1">
            <a:srgbClr val="0569E5"/>
          </a:fillRef>
          <a:effectRef xmlns:a="http://schemas.openxmlformats.org/drawingml/2006/main" idx="0">
            <a:srgbClr val="0569E5"/>
          </a:effectRef>
          <a:fontRef xmlns:a="http://schemas.openxmlformats.org/drawingml/2006/main" idx="minor">
            <a:srgbClr val="FFFFFF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1" name="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23b8e4d3544e0">
            <a:duotone>
              <a:srgbClr val="0569E5">
                <a:shade val="45000"/>
                <a:satMod val="135000"/>
              </a:srgbClr>
              <a:prstClr val="white"/>
            </a:duoton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77989" flipH="0" flipV="1">
            <a:off x="335083" y="147553"/>
            <a:ext cx="654683" cy="57829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3f78c35094be6" /><Relationship Type="http://schemas.openxmlformats.org/officeDocument/2006/relationships/slideLayout" Target="/ppt/slideLayouts/slideLayout1.xml" Id="Rbb06b5dca0094ab4" /><Relationship Type="http://schemas.openxmlformats.org/officeDocument/2006/relationships/slideLayout" Target="/ppt/slideLayouts/slideLayout2.xml" Id="R5873a3857d024c8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e75b494b183400a" /><Relationship Type="http://schemas.openxmlformats.org/officeDocument/2006/relationships/slideLayout" Target="/ppt/slideLayouts/slideLayout3.xml" Id="R4410df8572cf4729" /><Relationship Type="http://schemas.openxmlformats.org/officeDocument/2006/relationships/slideLayout" Target="/ppt/slideLayouts/slideLayout4.xml" Id="R944c8fd104e44df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c4df91b2f55480a" /><Relationship Type="http://schemas.openxmlformats.org/officeDocument/2006/relationships/slideLayout" Target="/ppt/slideLayouts/slideLayout5.xml" Id="R46d19433612d41a2" /><Relationship Type="http://schemas.openxmlformats.org/officeDocument/2006/relationships/slideLayout" Target="/ppt/slideLayouts/slideLayout6.xml" Id="R7f5f47b10a584648" /><Relationship Type="http://schemas.openxmlformats.org/officeDocument/2006/relationships/slideLayout" Target="/ppt/slideLayouts/slideLayout7.xml" Id="R0b25aeb2e52a46d2" /><Relationship Type="http://schemas.openxmlformats.org/officeDocument/2006/relationships/slideLayout" Target="/ppt/slideLayouts/slideLayout8.xml" Id="Rbb31212dc4434cfd" /><Relationship Type="http://schemas.openxmlformats.org/officeDocument/2006/relationships/slideLayout" Target="/ppt/slideLayouts/slideLayout9.xml" Id="R5978bd5e52ff4dee" /><Relationship Type="http://schemas.openxmlformats.org/officeDocument/2006/relationships/slideLayout" Target="/ppt/slideLayouts/slideLayout10.xml" Id="Rf3685ddd797f4b25" /><Relationship Type="http://schemas.openxmlformats.org/officeDocument/2006/relationships/slideLayout" Target="/ppt/slideLayouts/slideLayout11.xml" Id="Rcf9a2b8aa50b426d" /><Relationship Type="http://schemas.openxmlformats.org/officeDocument/2006/relationships/slideLayout" Target="/ppt/slideLayouts/slideLayout12.xml" Id="R0dd34f15d0394ac3" /><Relationship Type="http://schemas.openxmlformats.org/officeDocument/2006/relationships/slideLayout" Target="/ppt/slideLayouts/slideLayout13.xml" Id="Recaeee60c26f4e88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f2e516f4253b4e47" /><Relationship Type="http://schemas.openxmlformats.org/officeDocument/2006/relationships/slideLayout" Target="/ppt/slideLayouts/slideLayout14.xml" Id="R4b6a39525ecd437c" /><Relationship Type="http://schemas.openxmlformats.org/officeDocument/2006/relationships/slideLayout" Target="/ppt/slideLayouts/slideLayout15.xml" Id="R576d05eae441465c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ec513a718138487d" /><Relationship Type="http://schemas.openxmlformats.org/officeDocument/2006/relationships/slideLayout" Target="/ppt/slideLayouts/slideLayout16.xml" Id="R69b1500cedf143f1" /><Relationship Type="http://schemas.openxmlformats.org/officeDocument/2006/relationships/slideLayout" Target="/ppt/slideLayouts/slideLayout17.xml" Id="R82474b6ba7124588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473745a0e3cc4a1d" /><Relationship Type="http://schemas.openxmlformats.org/officeDocument/2006/relationships/slideLayout" Target="/ppt/slideLayouts/slideLayout18.xml" Id="Rae16a7487f4445d0" /><Relationship Type="http://schemas.openxmlformats.org/officeDocument/2006/relationships/slideLayout" Target="/ppt/slideLayouts/slideLayout19.xml" Id="Re59603d0e050444c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fd3165dbd3384fb6" /><Relationship Type="http://schemas.openxmlformats.org/officeDocument/2006/relationships/slideLayout" Target="/ppt/slideLayouts/slideLayout20.xml" Id="R86c654357eec457c" /><Relationship Type="http://schemas.openxmlformats.org/officeDocument/2006/relationships/slideLayout" Target="/ppt/slideLayouts/slideLayout21.xml" Id="R1c4ca5751335401e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614cd2d6425e4956" /><Relationship Type="http://schemas.openxmlformats.org/officeDocument/2006/relationships/slideLayout" Target="/ppt/slideLayouts/slideLayout22.xml" Id="Rdb35532de58d4c68" /><Relationship Type="http://schemas.openxmlformats.org/officeDocument/2006/relationships/slideLayout" Target="/ppt/slideLayouts/slideLayout23.xml" Id="R32919fc08d5b410f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9cdb7fcb0eab42b8" /><Relationship Type="http://schemas.openxmlformats.org/officeDocument/2006/relationships/slideLayout" Target="/ppt/slideLayouts/slideLayout24.xml" Id="Refe5926109354ffa" /><Relationship Type="http://schemas.openxmlformats.org/officeDocument/2006/relationships/slideLayout" Target="/ppt/slideLayouts/slideLayout25.xml" Id="Rf2162351b4274e40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4dc5a73379a64452" /><Relationship Type="http://schemas.openxmlformats.org/officeDocument/2006/relationships/slideLayout" Target="/ppt/slideLayouts/slideLayout26.xml" Id="Rffeac84185074974" /><Relationship Type="http://schemas.openxmlformats.org/officeDocument/2006/relationships/slideLayout" Target="/ppt/slideLayouts/slideLayout27.xml" Id="Rd507dba433ee4c7a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55b3015b9853416f" /><Relationship Type="http://schemas.openxmlformats.org/officeDocument/2006/relationships/slideLayout" Target="/ppt/slideLayouts/slideLayout28.xml" Id="R5e13831cb1be4588" /><Relationship Type="http://schemas.openxmlformats.org/officeDocument/2006/relationships/slideLayout" Target="/ppt/slideLayouts/slideLayout29.xml" Id="R1d49c79942074069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3fbd5b74d785446c" /><Relationship Type="http://schemas.openxmlformats.org/officeDocument/2006/relationships/slideLayout" Target="/ppt/slideLayouts/slideLayout30.xml" Id="R2f306cfee70946bd" /><Relationship Type="http://schemas.openxmlformats.org/officeDocument/2006/relationships/slideLayout" Target="/ppt/slideLayouts/slideLayout31.xml" Id="R9b91f829a30d4539" /></Relationships>
</file>

<file path=ppt/slideMasters/_rels/slideMaster13.xml.rels>&#65279;<?xml version="1.0" encoding="utf-8"?><Relationships xmlns="http://schemas.openxmlformats.org/package/2006/relationships"><Relationship Type="http://schemas.openxmlformats.org/officeDocument/2006/relationships/theme" Target="/ppt/slideMasters/theme/theme14.xml" Id="Rfe9893478b1d4248" /><Relationship Type="http://schemas.openxmlformats.org/officeDocument/2006/relationships/slideLayout" Target="/ppt/slideLayouts/slideLayout32.xml" Id="R917489826c7b4ad3" /><Relationship Type="http://schemas.openxmlformats.org/officeDocument/2006/relationships/slideLayout" Target="/ppt/slideLayouts/slideLayout33.xml" Id="Rb4bfe2141d894049" /></Relationships>
</file>

<file path=ppt/slideMasters/_rels/slideMaster14.xml.rels>&#65279;<?xml version="1.0" encoding="utf-8"?><Relationships xmlns="http://schemas.openxmlformats.org/package/2006/relationships"><Relationship Type="http://schemas.openxmlformats.org/officeDocument/2006/relationships/theme" Target="/ppt/slideMasters/theme/theme15.xml" Id="Rc90f3f79c83b479e" /><Relationship Type="http://schemas.openxmlformats.org/officeDocument/2006/relationships/slideLayout" Target="/ppt/slideLayouts/slideLayout34.xml" Id="Rcf46d0a07e964a35" /><Relationship Type="http://schemas.openxmlformats.org/officeDocument/2006/relationships/slideLayout" Target="/ppt/slideLayouts/slideLayout35.xml" Id="R01544dd7afdb45d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6b5dca0094ab4"/>
    <p:sldLayoutId xmlns:r="http://schemas.openxmlformats.org/officeDocument/2006/relationships" id="2147483650" r:id="R5873a3857d024c8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2" r:id="R4410df8572cf4729"/>
    <p:sldLayoutId xmlns:r="http://schemas.openxmlformats.org/officeDocument/2006/relationships" id="2147483653" r:id="R944c8fd104e44df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0ACCC21-7151-4D70-964B-898443E4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FBD51A6-FB84-401B-BAD0-7E328F1635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0402" y="0"/>
            <a:ext cx="10858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456DE90-96F7-44E5-BA1B-409A05451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60402" y="1130300"/>
            <a:ext cx="10858500" cy="5003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五级</a:t>
            </a:r>
            <a:endParaRPr/>
          </a:p>
        </p:txBody>
      </p:sp>
      <p:sp>
        <p:nvSpPr>
          <p:cNvPr id="10" name="日期占位符 9">
            <a:extLst xmlns:a="http://schemas.openxmlformats.org/drawingml/2006/main">
              <a:ext uri="{FF2B5EF4-FFF2-40B4-BE49-F238E27FC236}">
                <a16:creationId xmlns:a16="http://schemas.microsoft.com/office/drawing/2014/main" id="{31A339D6-6B5F-4B25-AF18-4859475C12B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5401732" y="6235704"/>
            <a:ext cx="1388536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页脚占位符 10">
            <a:extLst xmlns:a="http://schemas.openxmlformats.org/drawingml/2006/main">
              <a:ext uri="{FF2B5EF4-FFF2-40B4-BE49-F238E27FC236}">
                <a16:creationId xmlns:a16="http://schemas.microsoft.com/office/drawing/2014/main" id="{E0563071-DF16-49A2-9A03-551390AA94D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60402" y="6235704"/>
            <a:ext cx="4140201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r>
              <a:t>请在插入菜单</a:t>
            </a:r>
            <a:r>
              <a:t>—</a:t>
            </a:r>
            <a:r>
              <a:t>页眉和页脚中修改此文本</a:t>
            </a:r>
            <a:endParaRPr/>
          </a:p>
        </p:txBody>
      </p:sp>
      <p:sp>
        <p:nvSpPr>
          <p:cNvPr id="12" name="灯片编号占位符 11">
            <a:extLst xmlns:a="http://schemas.openxmlformats.org/drawingml/2006/main">
              <a:ext uri="{FF2B5EF4-FFF2-40B4-BE49-F238E27FC236}">
                <a16:creationId xmlns:a16="http://schemas.microsoft.com/office/drawing/2014/main" id="{F8BC58B6-2D1A-411E-8FF6-CCC3BC0B9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71305" y="6235704"/>
            <a:ext cx="2547595" cy="206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46d19433612d41a2"/>
    <p:sldLayoutId xmlns:r="http://schemas.openxmlformats.org/officeDocument/2006/relationships" id="2147483656" r:id="R7f5f47b10a584648"/>
    <p:sldLayoutId xmlns:r="http://schemas.openxmlformats.org/officeDocument/2006/relationships" id="2147483657" r:id="R0b25aeb2e52a46d2"/>
    <p:sldLayoutId xmlns:r="http://schemas.openxmlformats.org/officeDocument/2006/relationships" id="2147483658" r:id="Rbb31212dc4434cfd"/>
    <p:sldLayoutId xmlns:r="http://schemas.openxmlformats.org/officeDocument/2006/relationships" id="2147483659" r:id="R5978bd5e52ff4dee"/>
    <p:sldLayoutId xmlns:r="http://schemas.openxmlformats.org/officeDocument/2006/relationships" id="2147483660" r:id="Rf3685ddd797f4b25"/>
    <p:sldLayoutId xmlns:r="http://schemas.openxmlformats.org/officeDocument/2006/relationships" id="2147483661" r:id="Rcf9a2b8aa50b426d"/>
    <p:sldLayoutId xmlns:r="http://schemas.openxmlformats.org/officeDocument/2006/relationships" id="2147483662" r:id="R0dd34f15d0394ac3"/>
    <p:sldLayoutId xmlns:r="http://schemas.openxmlformats.org/officeDocument/2006/relationships" id="2147483663" r:id="Recaeee60c26f4e8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4b6a39525ecd437c"/>
    <p:sldLayoutId xmlns:r="http://schemas.openxmlformats.org/officeDocument/2006/relationships" id="2147483666" r:id="R576d05eae441465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69b1500cedf143f1"/>
    <p:sldLayoutId xmlns:r="http://schemas.openxmlformats.org/officeDocument/2006/relationships" id="2147483669" r:id="R82474b6ba7124588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ae16a7487f4445d0"/>
    <p:sldLayoutId xmlns:r="http://schemas.openxmlformats.org/officeDocument/2006/relationships" id="2147483672" r:id="Re59603d0e050444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4" r:id="R86c654357eec457c"/>
    <p:sldLayoutId xmlns:r="http://schemas.openxmlformats.org/officeDocument/2006/relationships" id="2147483675" r:id="R1c4ca5751335401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77" r:id="Rdb35532de58d4c68"/>
    <p:sldLayoutId xmlns:r="http://schemas.openxmlformats.org/officeDocument/2006/relationships" id="2147483678" r:id="R32919fc08d5b410f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0" r:id="Refe5926109354ffa"/>
    <p:sldLayoutId xmlns:r="http://schemas.openxmlformats.org/officeDocument/2006/relationships" id="2147483681" r:id="Rf2162351b4274e40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3" r:id="Rffeac84185074974"/>
    <p:sldLayoutId xmlns:r="http://schemas.openxmlformats.org/officeDocument/2006/relationships" id="2147483684" r:id="Rd507dba433ee4c7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6" r:id="R5e13831cb1be4588"/>
    <p:sldLayoutId xmlns:r="http://schemas.openxmlformats.org/officeDocument/2006/relationships" id="2147483687" r:id="R1d49c7994207406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9" r:id="R2f306cfee70946bd"/>
    <p:sldLayoutId xmlns:r="http://schemas.openxmlformats.org/officeDocument/2006/relationships" id="2147483690" r:id="R9b91f829a30d453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2" r:id="R917489826c7b4ad3"/>
    <p:sldLayoutId xmlns:r="http://schemas.openxmlformats.org/officeDocument/2006/relationships" id="2147483693" r:id="Rb4bfe2141d89404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1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95" r:id="Rcf46d0a07e964a35"/>
    <p:sldLayoutId xmlns:r="http://schemas.openxmlformats.org/officeDocument/2006/relationships" id="2147483696" r:id="R01544dd7afdb45d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5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7.xml><?xml version="1.0" encoding="utf-8"?>
<a:theme xmlns:a="http://schemas.openxmlformats.org/drawingml/2006/main" name="2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8.xml><?xml version="1.0" encoding="utf-8"?>
<a:theme xmlns:a="http://schemas.openxmlformats.org/drawingml/2006/main" name="2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9.xml><?xml version="1.0" encoding="utf-8"?>
<a:theme xmlns:a="http://schemas.openxmlformats.org/drawingml/2006/main" name="2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0.xml><?xml version="1.0" encoding="utf-8"?>
<a:theme xmlns:a="http://schemas.openxmlformats.org/drawingml/2006/main" name="6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1.xml><?xml version="1.0" encoding="utf-8"?>
<a:theme xmlns:a="http://schemas.openxmlformats.org/drawingml/2006/main" name="6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2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1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0c8c21f4a4ba8" /><Relationship Type="http://schemas.openxmlformats.org/officeDocument/2006/relationships/image" Target="/ppt/media/image2.png" Id="R03915c7b27dd46e8" /><Relationship Type="http://schemas.openxmlformats.org/officeDocument/2006/relationships/image" Target="/ppt/media/image3.png" Id="R5db6e95d2cfe4b55" /><Relationship Type="http://schemas.openxmlformats.org/officeDocument/2006/relationships/image" Target="/ppt/media/image4.png" Id="R68470c7224a84bd6" /><Relationship Type="http://schemas.openxmlformats.org/officeDocument/2006/relationships/image" Target="/ppt/media/image5.png" Id="R52bb8cdd39a2462e" /><Relationship Type="http://schemas.openxmlformats.org/officeDocument/2006/relationships/image" Target="/ppt/media/image6.png" Id="Ra95bd6caeb4a45f7" /><Relationship Type="http://schemas.openxmlformats.org/officeDocument/2006/relationships/notesSlide" Target="/ppt/notesSlides/notesSlide1.xml" Id="Rc3b73e66cd3445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0.xml" Id="R500e54429b034f2a" /><Relationship Type="http://schemas.openxmlformats.org/officeDocument/2006/relationships/image" Target="/ppt/media/image.png" Id="Rd3ca07325b454fc6" /><Relationship Type="http://schemas.openxmlformats.org/officeDocument/2006/relationships/image" Target="/ppt/media/image7.png" Id="R5bb3247f10cc4fa9" /><Relationship Type="http://schemas.openxmlformats.org/officeDocument/2006/relationships/image" Target="/ppt/media/image8.png" Id="R6139c01e8f064ada" /><Relationship Type="http://schemas.openxmlformats.org/officeDocument/2006/relationships/image" Target="/ppt/media/image9.png" Id="Rd0316258181c4dc1" /><Relationship Type="http://schemas.openxmlformats.org/officeDocument/2006/relationships/image" Target="/ppt/media/image10.png" Id="R4afd673216f84520" /><Relationship Type="http://schemas.openxmlformats.org/officeDocument/2006/relationships/notesSlide" Target="/ppt/notesSlides/notesSlide2.xml" Id="Rfb645e18cc9349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2.xml" Id="Rc0c8f9a8793d4cab" /><Relationship Type="http://schemas.openxmlformats.org/officeDocument/2006/relationships/image" Target="/ppt/media/image.png" Id="R0f9a7ec858c149a1" /><Relationship Type="http://schemas.openxmlformats.org/officeDocument/2006/relationships/image" Target="/ppt/media/image11.png" Id="Re3fcb90a72334cbe" /><Relationship Type="http://schemas.openxmlformats.org/officeDocument/2006/relationships/notesSlide" Target="/ppt/notesSlides/notesSlide3.xml" Id="R4f62cb4ee51943a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4.xml" Id="Rd0a5d6c8aea64180" /><Relationship Type="http://schemas.openxmlformats.org/officeDocument/2006/relationships/image" Target="/ppt/media/image.png" Id="Rf5fa61063cbc4100" /><Relationship Type="http://schemas.openxmlformats.org/officeDocument/2006/relationships/notesSlide" Target="/ppt/notesSlides/notesSlide4.xml" Id="Ra511e2747ccb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c7775bfa66ae4577" /><Relationship Type="http://schemas.openxmlformats.org/officeDocument/2006/relationships/image" Target="/ppt/media/image.png" Id="R0683b5e83b824292" /><Relationship Type="http://schemas.openxmlformats.org/officeDocument/2006/relationships/image" Target="/ppt/media/image.svg" Id="R7099f7c963484f3a" /><Relationship Type="http://schemas.openxmlformats.org/officeDocument/2006/relationships/image" Target="/ppt/media/image2.svg" Id="R94f3cdd075b84181" /><Relationship Type="http://schemas.openxmlformats.org/officeDocument/2006/relationships/image" Target="/ppt/media/image2.png" Id="R4d916f7177bf475c" /><Relationship Type="http://schemas.openxmlformats.org/officeDocument/2006/relationships/image" Target="/ppt/media/image3.svg" Id="R02c6f40691ab48ba" /><Relationship Type="http://schemas.openxmlformats.org/officeDocument/2006/relationships/image" Target="/ppt/media/image3.png" Id="Re77ca3f662884dbd" /><Relationship Type="http://schemas.openxmlformats.org/officeDocument/2006/relationships/notesSlide" Target="/ppt/notesSlides/notesSlide5.xml" Id="R83ea94a4a1b04e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d28ceed79704018" /><Relationship Type="http://schemas.openxmlformats.org/officeDocument/2006/relationships/image" Target="/ppt/media/image.png" Id="Rae056c467e5b4837" /><Relationship Type="http://schemas.openxmlformats.org/officeDocument/2006/relationships/notesSlide" Target="/ppt/notesSlides/notesSlide6.xml" Id="Rb75e84ce94724d4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bc8165876ae54e77" /><Relationship Type="http://schemas.openxmlformats.org/officeDocument/2006/relationships/image" Target="/ppt/media/image.png" Id="Reb3fbc7787844caf" /><Relationship Type="http://schemas.openxmlformats.org/officeDocument/2006/relationships/notesSlide" Target="/ppt/notesSlides/notesSlide7.xml" Id="R89882c86c6de43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0bb2b15ed3b04f71" /><Relationship Type="http://schemas.openxmlformats.org/officeDocument/2006/relationships/image" Target="/ppt/media/image.png" Id="R5aa9e56cfd194515" /><Relationship Type="http://schemas.openxmlformats.org/officeDocument/2006/relationships/notesSlide" Target="/ppt/notesSlides/notesSlide8.xml" Id="Re72c01d792e043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6.xml" Id="Re6669cf96278422c" /><Relationship Type="http://schemas.openxmlformats.org/officeDocument/2006/relationships/image" Target="/ppt/media/image.png" Id="Rd2cc2e19b3044903" /><Relationship Type="http://schemas.openxmlformats.org/officeDocument/2006/relationships/notesSlide" Target="/ppt/notesSlides/notesSlide9.xml" Id="R992c34a7965747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84b063c148a4045" /><Relationship Type="http://schemas.openxmlformats.org/officeDocument/2006/relationships/image" Target="/ppt/media/image.png" Id="Re01acb846adc4681" /><Relationship Type="http://schemas.openxmlformats.org/officeDocument/2006/relationships/notesSlide" Target="/ppt/notesSlides/notesSlide10.xml" Id="R1dcbab13c99e4f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5dedf2184da94aba" /><Relationship Type="http://schemas.openxmlformats.org/officeDocument/2006/relationships/image" Target="/ppt/media/image.png" Id="R8e4dca47a4e54d34" /><Relationship Type="http://schemas.openxmlformats.org/officeDocument/2006/relationships/image" Target="/ppt/media/image12.png" Id="Rca38554e4eec4c50" /><Relationship Type="http://schemas.openxmlformats.org/officeDocument/2006/relationships/notesSlide" Target="/ppt/notesSlides/notesSlide11.xml" Id="R8eddf39ecd7945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6.xml" Id="Rfdc25a933e454a65" /><Relationship Type="http://schemas.openxmlformats.org/officeDocument/2006/relationships/image" Target="/ppt/media/image.png" Id="R06959f3a2b4141b5" /><Relationship Type="http://schemas.openxmlformats.org/officeDocument/2006/relationships/image" Target="/ppt/media/image4.svg" Id="R900489a5a41c4ace" /><Relationship Type="http://schemas.openxmlformats.org/officeDocument/2006/relationships/image" Target="/ppt/media/image4.png" Id="Rdda978133db543ea" /><Relationship Type="http://schemas.openxmlformats.org/officeDocument/2006/relationships/image" Target="/ppt/media/image5.svg" Id="R7ca4c92372a54551" /><Relationship Type="http://schemas.openxmlformats.org/officeDocument/2006/relationships/image" Target="/ppt/media/image5.png" Id="R8a1266e8117a4472" /><Relationship Type="http://schemas.openxmlformats.org/officeDocument/2006/relationships/image" Target="/ppt/media/image6.svg" Id="R8c4303634f9149d2" /><Relationship Type="http://schemas.openxmlformats.org/officeDocument/2006/relationships/image" Target="/ppt/media/image6.png" Id="R8ebca15422f74a8f" /><Relationship Type="http://schemas.openxmlformats.org/officeDocument/2006/relationships/notesSlide" Target="/ppt/notesSlides/notesSlide12.xml" Id="Rd8f10984c59744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8.xml" Id="R9ec87939c59a4aca" /><Relationship Type="http://schemas.openxmlformats.org/officeDocument/2006/relationships/image" Target="/ppt/media/image.png" Id="Rc2de61f0ca6f4314" /><Relationship Type="http://schemas.openxmlformats.org/officeDocument/2006/relationships/image" Target="/ppt/media/image13.png" Id="Rb0077b0dbad64d73" /><Relationship Type="http://schemas.openxmlformats.org/officeDocument/2006/relationships/image" Target="/ppt/media/image14.png" Id="Rce01d28195b84a33" /><Relationship Type="http://schemas.openxmlformats.org/officeDocument/2006/relationships/image" Target="/ppt/media/image15.png" Id="Rd247ecb265e04787" /><Relationship Type="http://schemas.openxmlformats.org/officeDocument/2006/relationships/image" Target="/ppt/media/image16.png" Id="Rb2b50147959a4dca" /><Relationship Type="http://schemas.openxmlformats.org/officeDocument/2006/relationships/image" Target="/ppt/media/image17.png" Id="Ree4e0aad3a3844d1" /><Relationship Type="http://schemas.openxmlformats.org/officeDocument/2006/relationships/image" Target="/ppt/media/image18.png" Id="Rf663d689945a4882" /><Relationship Type="http://schemas.openxmlformats.org/officeDocument/2006/relationships/image" Target="/ppt/media/image19.png" Id="R79fee59525184b63" /><Relationship Type="http://schemas.openxmlformats.org/officeDocument/2006/relationships/notesSlide" Target="/ppt/notesSlides/notesSlide13.xml" Id="R656b63dad95c4a4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4b394bdd23944ad" /><Relationship Type="http://schemas.openxmlformats.org/officeDocument/2006/relationships/image" Target="/ppt/media/image20.png" Id="R29598f4d61c044c3" /><Relationship Type="http://schemas.openxmlformats.org/officeDocument/2006/relationships/image" Target="/ppt/media/image3.png" Id="Ra45a79bf63cc4e4d" /><Relationship Type="http://schemas.openxmlformats.org/officeDocument/2006/relationships/image" Target="/ppt/media/image6.png" Id="R145ef13db9fc4200" /><Relationship Type="http://schemas.openxmlformats.org/officeDocument/2006/relationships/notesSlide" Target="/ppt/notesSlides/notesSlide14.xml" Id="Rd7cd16a3804d41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15c7b27dd46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5070313" y="746125"/>
            <a:ext cx="8856429" cy="6642322"/>
          </a:xfrm>
          <a:prstGeom xmlns:a="http://schemas.openxmlformats.org/drawingml/2006/main" prst="rect">
            <a:avLst/>
          </a:prstGeom>
        </p:spPr>
      </p:pic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13819C8-D5FA-4EDF-9138-5FFCC3EA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27500"/>
            <a:ext cx="4064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algn="l">
              <a:buNone/>
            </a:pPr>
            <a:endParaRPr sz="1400"/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8A8A198E-971B-4EE7-AB9A-8FCED79B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" y="2489200"/>
            <a:ext cx="7112000" cy="4191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b6e95d2cfe4b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470c7224a84bd6"/>
          <a:srcRect xmlns:a="http://schemas.openxmlformats.org/drawingml/2006/main" l="0" t="26682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10800000" flipV="1">
            <a:off x="0" y="2984500"/>
            <a:ext cx="9410700" cy="3873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71F19A2-7689-4913-9E55-55F1244F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7340"/>
            <a:ext cx="7738110" cy="482600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non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r>
              <a:rPr sz="18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让工业更智能，让客户更成功</a:t>
            </a:r>
            <a:r>
              <a:rPr sz="1800" b="0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</a:t>
            </a:r>
            <a:endParaRPr sz="1100"/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23D7E33-54DC-46DA-A771-DF40DA2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20" y="2373630"/>
            <a:ext cx="645414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b"/>
          <a:lstStyle xmlns:a="http://schemas.openxmlformats.org/drawingml/2006/main"/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中粮生物科技太仓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4000">
                <a:solidFill>
                  <a:schemeClr val="bg1"/>
                </a:solidFill>
                <a:latin typeface="黑体"/>
                <a:ea typeface="黑体"/>
                <a:cs typeface="黑体"/>
              </a:rPr>
              <a:t>新建55万吨/年淀粉糖项目</a:t>
            </a:r>
            <a:endParaRPr sz="4000">
              <a:solidFill>
                <a:schemeClr val="bg1"/>
              </a:solidFill>
              <a:latin typeface="黑体"/>
              <a:ea typeface="黑体"/>
              <a:cs typeface="黑体"/>
            </a:endParaRPr>
          </a:p>
          <a:p xmlns:a="http://schemas.openxmlformats.org/drawingml/2006/main">
            <a:pPr marL="0" indent="0" algn="l">
              <a:lnSpc>
                <a:spcPct val="132000"/>
              </a:lnSpc>
              <a:buNone/>
            </a:pP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AI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全流程智能化系统蓝图</a:t>
            </a:r>
            <a:r>
              <a:rPr sz="3200" b="1">
                <a:solidFill>
                  <a:srgbClr val="FFFF00"/>
                </a:solidFill>
                <a:latin typeface="黑体"/>
                <a:ea typeface="黑体"/>
                <a:cs typeface="黑体"/>
              </a:rPr>
              <a:t>方案</a:t>
            </a:r>
            <a:endParaRPr sz="3200" b="1">
              <a:solidFill>
                <a:srgbClr val="FFFF00"/>
              </a:solidFill>
              <a:latin typeface="黑体"/>
              <a:ea typeface="黑体"/>
              <a:cs typeface="黑体"/>
            </a:endParaRPr>
          </a:p>
        </p:txBody>
      </p:sp>
      <p:pic>
        <p:nvPicPr>
          <p:cNvPr id="26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b8cdd39a246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0495" y="5939155"/>
            <a:ext cx="4140200" cy="676910"/>
          </a:xfrm>
          <a:prstGeom xmlns:a="http://schemas.openxmlformats.org/drawingml/2006/main" prst="rect">
            <a:avLst/>
          </a:prstGeom>
        </p:spPr>
      </p:pic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0226C6D2-4A89-4A02-8E2C-3DEE47C9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0095" y="5321935"/>
            <a:ext cx="3891280" cy="617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汇报人：张仔</a:t>
            </a:r>
            <a:r>
              <a:rPr sz="2000" b="1">
                <a:solidFill>
                  <a:prstClr val="white"/>
                </a:solidFill>
                <a:latin typeface="微软雅黑"/>
                <a:ea typeface="微软雅黑"/>
                <a:cs typeface="微软雅黑"/>
              </a:rPr>
              <a:t>洁</a:t>
            </a:r>
            <a:endParaRPr sz="2000" b="1">
              <a:solidFill>
                <a:prstClr val="white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bd6caeb4a45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2254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FD7F4DE-1D73-4B7A-9377-89CF65CC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ca07325b454fc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8D8F5BE-0CB9-4CFC-A93A-F846831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7、SCOS供应链优化四模块：从计划到经营的协同底座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2-subtitle">
            <a:extLst xmlns:a="http://schemas.openxmlformats.org/drawingml/2006/main">
              <a:ext uri="{FF2B5EF4-FFF2-40B4-BE49-F238E27FC236}">
                <a16:creationId xmlns:a16="http://schemas.microsoft.com/office/drawing/2014/main" id="{92E826DF-2393-4D0E-BA6A-E33D8866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同一份订单、物料、产能与成本事实，分别回答“怎么排、备多少、买什么、算清楚”。</a:t>
            </a:r>
          </a:p>
        </p:txBody>
      </p:sp>
      <p:sp>
        <p:nvSpPr>
          <p:cNvPr id="8" name="s2-lean">
            <a:extLst xmlns:a="http://schemas.openxmlformats.org/drawingml/2006/main">
              <a:ext uri="{FF2B5EF4-FFF2-40B4-BE49-F238E27FC236}">
                <a16:creationId xmlns:a16="http://schemas.microsoft.com/office/drawing/2014/main" id="{4C68591A-8003-4EF1-94EA-A523AADD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092936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0" tIns="11430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精益生产排程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订单优先级 × 产能约束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输出可执行的日 / 周计划</a:t>
            </a:r>
          </a:p>
        </p:txBody>
      </p:sp>
      <p:sp>
        <p:nvSpPr>
          <p:cNvPr id="9" name="s2-stock">
            <a:extLst xmlns:a="http://schemas.openxmlformats.org/drawingml/2006/main">
              <a:ext uri="{FF2B5EF4-FFF2-40B4-BE49-F238E27FC236}">
                <a16:creationId xmlns:a16="http://schemas.microsoft.com/office/drawing/2014/main" id="{B8946F2F-5711-48FD-AFB5-83DDD873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0020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092936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0" tIns="11430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安全库存优化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需求预测 × 服务水平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动态给出补货点与风险区间</a:t>
            </a:r>
          </a:p>
        </p:txBody>
      </p:sp>
      <p:sp>
        <p:nvSpPr>
          <p:cNvPr id="10" name="s2-proc">
            <a:extLst xmlns:a="http://schemas.openxmlformats.org/drawingml/2006/main">
              <a:ext uri="{FF2B5EF4-FFF2-40B4-BE49-F238E27FC236}">
                <a16:creationId xmlns:a16="http://schemas.microsoft.com/office/drawing/2014/main" id="{41C01476-6922-4955-946B-3BC87B25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092936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0" tIns="11430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采购决策优化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供应商画像 × 交付约束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形成可解释的组合方案</a:t>
            </a:r>
          </a:p>
        </p:txBody>
      </p:sp>
      <p:sp>
        <p:nvSpPr>
          <p:cNvPr id="11" name="s2-cost">
            <a:extLst xmlns:a="http://schemas.openxmlformats.org/drawingml/2006/main">
              <a:ext uri="{FF2B5EF4-FFF2-40B4-BE49-F238E27FC236}">
                <a16:creationId xmlns:a16="http://schemas.microsoft.com/office/drawing/2014/main" id="{4FB14CC7-478A-40C4-A88E-06EFC4C6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43350"/>
            <a:ext cx="3238500" cy="1162050"/>
          </a:xfrm>
          <a:prstGeom xmlns:a="http://schemas.openxmlformats.org/drawingml/2006/main" prst="roundRect">
            <a:avLst>
              <a:gd name="adj" fmla="val 11475"/>
            </a:avLst>
          </a:prstGeom>
          <a:solidFill xmlns:a="http://schemas.openxmlformats.org/drawingml/2006/main">
            <a:srgbClr val="092936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0" tIns="11430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统计与成本核算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批次成本 × 利润穿透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支持经营复盘与价值分析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3247f10cc4fa9"/>
          <a:stretch xmlns:a="http://schemas.openxmlformats.org/drawingml/2006/main"/>
        </p:blipFill>
        <p:spPr>
          <a:xfrm xmlns:a="http://schemas.openxmlformats.org/drawingml/2006/main">
            <a:off x="895350" y="18097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39c01e8f064ada"/>
          <a:stretch xmlns:a="http://schemas.openxmlformats.org/drawingml/2006/main"/>
        </p:blipFill>
        <p:spPr>
          <a:xfrm xmlns:a="http://schemas.openxmlformats.org/drawingml/2006/main">
            <a:off x="8439150" y="180975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16258181c4dc1"/>
          <a:stretch xmlns:a="http://schemas.openxmlformats.org/drawingml/2006/main"/>
        </p:blipFill>
        <p:spPr>
          <a:xfrm xmlns:a="http://schemas.openxmlformats.org/drawingml/2006/main">
            <a:off x="895350" y="4152900"/>
            <a:ext cx="400050" cy="400050"/>
          </a:xfrm>
          <a:prstGeom xmlns:a="http://schemas.openxmlformats.org/drawingml/2006/main" prst="rect">
            <a:avLst/>
          </a:prstGeom>
        </p:spPr>
      </p:pic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d673216f84520"/>
          <a:stretch xmlns:a="http://schemas.openxmlformats.org/drawingml/2006/main"/>
        </p:blipFill>
        <p:spPr>
          <a:xfrm xmlns:a="http://schemas.openxmlformats.org/drawingml/2006/main">
            <a:off x="8439150" y="415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6" name="s2-hub">
            <a:extLst xmlns:a="http://schemas.openxmlformats.org/drawingml/2006/main">
              <a:ext uri="{FF2B5EF4-FFF2-40B4-BE49-F238E27FC236}">
                <a16:creationId xmlns:a16="http://schemas.microsoft.com/office/drawing/2014/main" id="{EAC1CF27-37CE-4B62-AE64-545966F0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281940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152400" tIns="114300" rIns="1524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SCOS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供应链优化中枢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统一数据 · 规则模型</a:t>
            </a:r>
          </a:p>
          <a:p xmlns:a="http://schemas.openxmlformats.org/drawingml/2006/main">
            <a:pPr algn="ctr">
              <a:lnSpc>
                <a:spcPct val="90000"/>
              </a:lnSpc>
              <a:buNone/>
              <a:def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结果可解释 · 执行可回流</a:t>
            </a:r>
          </a:p>
        </p:txBody>
      </p:sp>
      <p:sp>
        <p:nvSpPr>
          <p:cNvPr id="17" name="s2-hub-note">
            <a:extLst xmlns:a="http://schemas.openxmlformats.org/drawingml/2006/main">
              <a:ext uri="{FF2B5EF4-FFF2-40B4-BE49-F238E27FC236}">
                <a16:creationId xmlns:a16="http://schemas.microsoft.com/office/drawing/2014/main" id="{2BE0BF80-1063-4E1E-8757-3D31E89A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95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方案不是终点，执行反馈持续校准</a:t>
            </a:r>
          </a:p>
        </p:txBody>
      </p: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943350" y="2181225"/>
            <a:ext cx="74295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C71D9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505700" y="2181225"/>
            <a:ext cx="74295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EA36B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943350" y="3238500"/>
            <a:ext cx="7429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2EA36B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 flipV="1">
            <a:off x="7505700" y="3238500"/>
            <a:ext cx="742950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FFAE2B"/>
            </a:solidFill>
            <a:prstDash val="solid"/>
            <a:tailEnd type="triangle" w="sm" len="sm"/>
          </a:ln>
        </p:spPr>
      </p:cxnSp>
      <p:sp>
        <p:nvSpPr>
          <p:cNvPr id="22" name="s2-axis">
            <a:extLst xmlns:a="http://schemas.openxmlformats.org/drawingml/2006/main">
              <a:ext uri="{FF2B5EF4-FFF2-40B4-BE49-F238E27FC236}">
                <a16:creationId xmlns:a16="http://schemas.microsoft.com/office/drawing/2014/main" id="{77FD1215-E15A-4C58-836F-78975B6D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57300"/>
            <a:ext cx="0" cy="4000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1D5470"/>
            </a:solidFill>
            <a:prstDash val="dash"/>
          </a:ln>
        </p:spPr>
      </p:sp>
      <p:sp>
        <p:nvSpPr>
          <p:cNvPr id="23" name="s2-bottom">
            <a:extLst xmlns:a="http://schemas.openxmlformats.org/drawingml/2006/main">
              <a:ext uri="{FF2B5EF4-FFF2-40B4-BE49-F238E27FC236}">
                <a16:creationId xmlns:a16="http://schemas.microsoft.com/office/drawing/2014/main" id="{9AD16DFD-0F36-4EAC-B8CA-B242F14C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91150"/>
            <a:ext cx="419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业务落点：计划更稳｜库存更优｜采购更协同｜成本可追溯</a:t>
            </a:r>
          </a:p>
        </p:txBody>
      </p:sp>
    </p:spTree>
    <p:extLst>
      <p:ext uri="{BB962C8B-B14F-4D97-AF65-F5344CB8AC3E}">
        <p14:creationId xmlns:p14="http://schemas.microsoft.com/office/powerpoint/2010/main" val="8174068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C8C45DC-51B9-4548-BF34-33A78EA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a7ec858c149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670A34E-07ED-4881-A9B1-EF940E63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7、SCOS带来的变化：从经验驱动转向数据—模型—执行闭环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s3-subtitle">
            <a:extLst xmlns:a="http://schemas.openxmlformats.org/drawingml/2006/main">
              <a:ext uri="{FF2B5EF4-FFF2-40B4-BE49-F238E27FC236}">
                <a16:creationId xmlns:a16="http://schemas.microsoft.com/office/drawing/2014/main" id="{1D5317D8-ED75-49FF-9B3D-B7B4A497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把“看不全、反应慢、难复盘”变成“看全局、能推演、可追责”的日常工作方式。</a:t>
            </a:r>
          </a:p>
        </p:txBody>
      </p:sp>
      <p:sp>
        <p:nvSpPr>
          <p:cNvPr id="8" name="s3-lane-label">
            <a:extLst xmlns:a="http://schemas.openxmlformats.org/drawingml/2006/main">
              <a:ext uri="{FF2B5EF4-FFF2-40B4-BE49-F238E27FC236}">
                <a16:creationId xmlns:a16="http://schemas.microsoft.com/office/drawing/2014/main" id="{343BFC84-4F7A-496A-AD27-3083B233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716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经营方式</a:t>
            </a:r>
          </a:p>
        </p:txBody>
      </p:sp>
      <p:sp>
        <p:nvSpPr>
          <p:cNvPr id="9" name="s3-current">
            <a:extLst xmlns:a="http://schemas.openxmlformats.org/drawingml/2006/main">
              <a:ext uri="{FF2B5EF4-FFF2-40B4-BE49-F238E27FC236}">
                <a16:creationId xmlns:a16="http://schemas.microsoft.com/office/drawing/2014/main" id="{2912E0A9-E54F-44B6-9319-6E6645AD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202A3A"/>
          </a:solidFill>
          <a:ln xmlns:a="http://schemas.openxmlformats.org/drawingml/2006/main" w="15240">
            <a:solidFill>
              <a:srgbClr val="4B5A7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现状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周期性汇总｜事后复盘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手工追进度｜靠经验排产</a:t>
            </a:r>
          </a:p>
        </p:txBody>
      </p:sp>
      <p:sp>
        <p:nvSpPr>
          <p:cNvPr id="10" name="s3-platform">
            <a:extLst xmlns:a="http://schemas.openxmlformats.org/drawingml/2006/main">
              <a:ext uri="{FF2B5EF4-FFF2-40B4-BE49-F238E27FC236}">
                <a16:creationId xmlns:a16="http://schemas.microsoft.com/office/drawing/2014/main" id="{74D60C5B-A2D5-43D6-BD97-50A08C7A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47800"/>
            <a:ext cx="2933700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15240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SCOS中枢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统一事实 + 规则模型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情景推演 + 可解释建议</a:t>
            </a:r>
          </a:p>
        </p:txBody>
      </p:sp>
      <p:sp>
        <p:nvSpPr>
          <p:cNvPr id="11" name="s3-target">
            <a:extLst xmlns:a="http://schemas.openxmlformats.org/drawingml/2006/main">
              <a:ext uri="{FF2B5EF4-FFF2-40B4-BE49-F238E27FC236}">
                <a16:creationId xmlns:a16="http://schemas.microsoft.com/office/drawing/2014/main" id="{3204895F-A41D-464A-8707-2CE17CDC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00200"/>
            <a:ext cx="28575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C31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95250" rIns="1524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目标工作方式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按节点看异常｜按方案决策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执行回流｜经验沉淀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562350" y="21336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C71D9"/>
            </a:solidFill>
            <a:prstDash val="solid"/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562850" y="2133600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EA36B"/>
            </a:solidFill>
            <a:prstDash val="solid"/>
            <a:tailEnd type="triangle" w="med" len="med"/>
          </a:ln>
        </p:spPr>
      </p:cxn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cb90a72334cbe"/>
          <a:stretch xmlns:a="http://schemas.openxmlformats.org/drawingml/2006/main"/>
        </p:blipFill>
        <p:spPr>
          <a:xfrm xmlns:a="http://schemas.openxmlformats.org/drawingml/2006/main">
            <a:off x="10477500" y="1015050"/>
            <a:ext cx="876300" cy="770251"/>
          </a:xfrm>
          <a:prstGeom xmlns:a="http://schemas.openxmlformats.org/drawingml/2006/main" prst="rect">
            <a:avLst/>
          </a:prstGeom>
        </p:spPr>
      </p:pic>
      <p:sp>
        <p:nvSpPr>
          <p:cNvPr id="15" name="s3-matrix-label">
            <a:extLst xmlns:a="http://schemas.openxmlformats.org/drawingml/2006/main">
              <a:ext uri="{FF2B5EF4-FFF2-40B4-BE49-F238E27FC236}">
                <a16:creationId xmlns:a16="http://schemas.microsoft.com/office/drawing/2014/main" id="{E4FC4DB1-DD4A-4680-80B7-6A6132C4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管理角色的可感知变化</a:t>
            </a:r>
          </a:p>
        </p:txBody>
      </p:sp>
      <p:sp>
        <p:nvSpPr>
          <p:cNvPr id="16" name="s3-pair-1">
            <a:extLst xmlns:a="http://schemas.openxmlformats.org/drawingml/2006/main">
              <a:ext uri="{FF2B5EF4-FFF2-40B4-BE49-F238E27FC236}">
                <a16:creationId xmlns:a16="http://schemas.microsoft.com/office/drawing/2014/main" id="{7D74F68E-9DB0-4AE1-BDF7-00EC8CBE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凭经验排产  →  看智能建议</a:t>
            </a:r>
          </a:p>
        </p:txBody>
      </p:sp>
      <p:sp>
        <p:nvSpPr>
          <p:cNvPr id="17" name="s3-pair-2">
            <a:extLst xmlns:a="http://schemas.openxmlformats.org/drawingml/2006/main">
              <a:ext uri="{FF2B5EF4-FFF2-40B4-BE49-F238E27FC236}">
                <a16:creationId xmlns:a16="http://schemas.microsoft.com/office/drawing/2014/main" id="{2D9A6B34-D12B-42DA-8A55-C6F61D4C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天天开会  →  开异常会</a:t>
            </a:r>
          </a:p>
        </p:txBody>
      </p:sp>
      <p:sp>
        <p:nvSpPr>
          <p:cNvPr id="18" name="s3-pair-3">
            <a:extLst xmlns:a="http://schemas.openxmlformats.org/drawingml/2006/main">
              <a:ext uri="{FF2B5EF4-FFF2-40B4-BE49-F238E27FC236}">
                <a16:creationId xmlns:a16="http://schemas.microsoft.com/office/drawing/2014/main" id="{1D32CB5E-32D3-4335-8BC5-17DA1C69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8615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催进度  →  看节点</a:t>
            </a:r>
          </a:p>
        </p:txBody>
      </p:sp>
      <p:sp>
        <p:nvSpPr>
          <p:cNvPr id="19" name="s3-pair-4">
            <a:extLst xmlns:a="http://schemas.openxmlformats.org/drawingml/2006/main">
              <a:ext uri="{FF2B5EF4-FFF2-40B4-BE49-F238E27FC236}">
                <a16:creationId xmlns:a16="http://schemas.microsoft.com/office/drawing/2014/main" id="{78AD4895-C5AB-4F8F-A280-3C33F294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手工对账  →  看KPI</a:t>
            </a:r>
          </a:p>
        </p:txBody>
      </p:sp>
      <p:sp>
        <p:nvSpPr>
          <p:cNvPr id="20" name="s3-pair-5">
            <a:extLst xmlns:a="http://schemas.openxmlformats.org/drawingml/2006/main">
              <a:ext uri="{FF2B5EF4-FFF2-40B4-BE49-F238E27FC236}">
                <a16:creationId xmlns:a16="http://schemas.microsoft.com/office/drawing/2014/main" id="{3DFDF964-1377-447D-9FB2-89D98456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5770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到处询价  →  谈战略</a:t>
            </a:r>
          </a:p>
        </p:txBody>
      </p:sp>
      <p:sp>
        <p:nvSpPr>
          <p:cNvPr id="21" name="s3-pair-6">
            <a:extLst xmlns:a="http://schemas.openxmlformats.org/drawingml/2006/main">
              <a:ext uri="{FF2B5EF4-FFF2-40B4-BE49-F238E27FC236}">
                <a16:creationId xmlns:a16="http://schemas.microsoft.com/office/drawing/2014/main" id="{CF030ED7-4F89-4ECD-9915-1B59AA6C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7700"/>
            <a:ext cx="28575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2000"/>
              </a:lnSpc>
              <a:buNone/>
              <a:def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算账复盘  →  看利润穿透</a:t>
            </a:r>
          </a:p>
        </p:txBody>
      </p:sp>
      <p:sp>
        <p:nvSpPr>
          <p:cNvPr id="22" name="s3-footer">
            <a:extLst xmlns:a="http://schemas.openxmlformats.org/drawingml/2006/main">
              <a:ext uri="{FF2B5EF4-FFF2-40B4-BE49-F238E27FC236}">
                <a16:creationId xmlns:a16="http://schemas.microsoft.com/office/drawing/2014/main" id="{C354F3C2-DDC2-47AE-92D2-478D9990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变化不是增加报表，而是把决策前置、异常显性化、执行结果带回模型。</a:t>
            </a:r>
          </a:p>
        </p:txBody>
      </p:sp>
    </p:spTree>
    <p:extLst>
      <p:ext uri="{BB962C8B-B14F-4D97-AF65-F5344CB8AC3E}">
        <p14:creationId xmlns:p14="http://schemas.microsoft.com/office/powerpoint/2010/main" val="970499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9FC4482-1126-41C5-8DE1-3B3E188E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3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a61063cbc41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63B2781E-EC36-4FB5-9F8D-43026A6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5725" tIns="38100" rIns="85725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  <a:def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7、供应链优化价值总结：把精益方法变成可追踪的经营结果</a:t>
            </a:r>
            <a:endParaRPr sz="2400" b="1" i="0" u="none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s4-subtitle">
            <a:extLst xmlns:a="http://schemas.openxmlformats.org/drawingml/2006/main">
              <a:ext uri="{FF2B5EF4-FFF2-40B4-BE49-F238E27FC236}">
                <a16:creationId xmlns:a16="http://schemas.microsoft.com/office/drawing/2014/main" id="{28786D09-C8B4-4D1D-BD78-ED26F925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09650"/>
            <a:ext cx="1074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价值不靠口号呈现，而由计划、执行、成本与经营指标的连续证据来证明。</a:t>
            </a:r>
          </a:p>
        </p:txBody>
      </p:sp>
      <p:sp>
        <p:nvSpPr>
          <p:cNvPr id="10" name="s4-c1">
            <a:extLst xmlns:a="http://schemas.openxmlformats.org/drawingml/2006/main">
              <a:ext uri="{FF2B5EF4-FFF2-40B4-BE49-F238E27FC236}">
                <a16:creationId xmlns:a16="http://schemas.microsoft.com/office/drawing/2014/main" id="{6CF4B6F6-9D6B-43DD-8D07-4A5B4CCB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22669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计划更稳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交付承诺可计算</a:t>
            </a:r>
          </a:p>
        </p:txBody>
      </p:sp>
      <p:sp>
        <p:nvSpPr>
          <p:cNvPr id="11" name="s4-c2">
            <a:extLst xmlns:a="http://schemas.openxmlformats.org/drawingml/2006/main">
              <a:ext uri="{FF2B5EF4-FFF2-40B4-BE49-F238E27FC236}">
                <a16:creationId xmlns:a16="http://schemas.microsoft.com/office/drawing/2014/main" id="{4F035D2F-E867-4CD1-A3AC-BC056183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62100"/>
            <a:ext cx="22669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C3242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执行更快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异常响应前置</a:t>
            </a:r>
          </a:p>
        </p:txBody>
      </p:sp>
      <p:sp>
        <p:nvSpPr>
          <p:cNvPr id="12" name="s4-c3">
            <a:extLst xmlns:a="http://schemas.openxmlformats.org/drawingml/2006/main">
              <a:ext uri="{FF2B5EF4-FFF2-40B4-BE49-F238E27FC236}">
                <a16:creationId xmlns:a16="http://schemas.microsoft.com/office/drawing/2014/main" id="{387088D5-298D-49CE-9B0F-8EA19C5C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562100"/>
            <a:ext cx="22669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123C31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成本更清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批次利润可穿透</a:t>
            </a:r>
          </a:p>
        </p:txBody>
      </p:sp>
      <p:sp>
        <p:nvSpPr>
          <p:cNvPr id="13" name="s4-c4">
            <a:extLst xmlns:a="http://schemas.openxmlformats.org/drawingml/2006/main">
              <a:ext uri="{FF2B5EF4-FFF2-40B4-BE49-F238E27FC236}">
                <a16:creationId xmlns:a16="http://schemas.microsoft.com/office/drawing/2014/main" id="{9FB5BAE7-6079-4D92-8DDA-72C8D068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562100"/>
            <a:ext cx="22669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3A2C16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经营可控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复盘结果可沉淀</a:t>
            </a:r>
          </a:p>
        </p:txBody>
      </p:sp>
      <p:cxnSp>
        <p:nvCxnSpPr>
          <p:cNvPr id="38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971800" y="2009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8B9F2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95950" y="2009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55D48A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420100" y="2009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FFAE2B"/>
            </a:solidFill>
            <a:prstDash val="solid"/>
            <a:tailEnd type="triangle" w="sm" len="sm"/>
          </a:ln>
        </p:spPr>
      </p:cxnSp>
      <p:sp>
        <p:nvSpPr>
          <p:cNvPr id="17" name="s4-chain-note">
            <a:extLst xmlns:a="http://schemas.openxmlformats.org/drawingml/2006/main">
              <a:ext uri="{FF2B5EF4-FFF2-40B4-BE49-F238E27FC236}">
                <a16:creationId xmlns:a16="http://schemas.microsoft.com/office/drawing/2014/main" id="{1E38FA09-E036-4A5A-B9E0-37810A04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证据链：计划版本 → 执行节点 → 实际成本 → 经营复盘</a:t>
            </a:r>
          </a:p>
        </p:txBody>
      </p:sp>
      <p:sp>
        <p:nvSpPr>
          <p:cNvPr id="18" name="s4-kpi-label">
            <a:extLst xmlns:a="http://schemas.openxmlformats.org/drawingml/2006/main">
              <a:ext uri="{FF2B5EF4-FFF2-40B4-BE49-F238E27FC236}">
                <a16:creationId xmlns:a16="http://schemas.microsoft.com/office/drawing/2014/main" id="{BFF7684E-CE8B-4834-8010-2FE679D3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2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指标框架（先定义口径，再持续采集）</a:t>
            </a:r>
          </a:p>
        </p:txBody>
      </p:sp>
      <p:sp>
        <p:nvSpPr>
          <p:cNvPr id="19" name="s4-kpi-1">
            <a:extLst xmlns:a="http://schemas.openxmlformats.org/drawingml/2006/main">
              <a:ext uri="{FF2B5EF4-FFF2-40B4-BE49-F238E27FC236}">
                <a16:creationId xmlns:a16="http://schemas.microsoft.com/office/drawing/2014/main" id="{E3441617-4F23-49A4-A924-383B2846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71850"/>
            <a:ext cx="24193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3335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调度会议组织次数 / 月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从“定期汇总”转向“异常触发”</a:t>
            </a:r>
          </a:p>
        </p:txBody>
      </p:sp>
      <p:sp>
        <p:nvSpPr>
          <p:cNvPr id="20" name="s4-kpi-mark-1">
            <a:extLst xmlns:a="http://schemas.openxmlformats.org/drawingml/2006/main">
              <a:ext uri="{FF2B5EF4-FFF2-40B4-BE49-F238E27FC236}">
                <a16:creationId xmlns:a16="http://schemas.microsoft.com/office/drawing/2014/main" id="{E05694F8-5326-4847-BCE8-E65CE99A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1" name="s4-kpi-2">
            <a:extLst xmlns:a="http://schemas.openxmlformats.org/drawingml/2006/main">
              <a:ext uri="{FF2B5EF4-FFF2-40B4-BE49-F238E27FC236}">
                <a16:creationId xmlns:a16="http://schemas.microsoft.com/office/drawing/2014/main" id="{281708E8-FF06-42C1-80A2-C4AF5D7A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71850"/>
            <a:ext cx="24193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FFAE2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3335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经营风险可提前识别场景数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风险前置，响应窗口可见</a:t>
            </a:r>
          </a:p>
        </p:txBody>
      </p:sp>
      <p:sp>
        <p:nvSpPr>
          <p:cNvPr id="22" name="s4-kpi-mark-2">
            <a:extLst xmlns:a="http://schemas.openxmlformats.org/drawingml/2006/main">
              <a:ext uri="{FF2B5EF4-FFF2-40B4-BE49-F238E27FC236}">
                <a16:creationId xmlns:a16="http://schemas.microsoft.com/office/drawing/2014/main" id="{89FD32C6-B430-424B-880E-B8E4B473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s4-kpi-3">
            <a:extLst xmlns:a="http://schemas.openxmlformats.org/drawingml/2006/main">
              <a:ext uri="{FF2B5EF4-FFF2-40B4-BE49-F238E27FC236}">
                <a16:creationId xmlns:a16="http://schemas.microsoft.com/office/drawing/2014/main" id="{2D8809F9-A435-489F-99A1-4495A137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24193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3335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系统自动给出经营方案的场景数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方案可追溯、可复用</a:t>
            </a:r>
          </a:p>
        </p:txBody>
      </p:sp>
      <p:sp>
        <p:nvSpPr>
          <p:cNvPr id="24" name="s4-kpi-mark-3">
            <a:extLst xmlns:a="http://schemas.openxmlformats.org/drawingml/2006/main">
              <a:ext uri="{FF2B5EF4-FFF2-40B4-BE49-F238E27FC236}">
                <a16:creationId xmlns:a16="http://schemas.microsoft.com/office/drawing/2014/main" id="{945E224A-90F2-4082-9A41-C4659333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5" name="s4-kpi-4">
            <a:extLst xmlns:a="http://schemas.openxmlformats.org/drawingml/2006/main">
              <a:ext uri="{FF2B5EF4-FFF2-40B4-BE49-F238E27FC236}">
                <a16:creationId xmlns:a16="http://schemas.microsoft.com/office/drawing/2014/main" id="{F742B0A3-D569-4E15-8369-62D4FF4D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71850"/>
            <a:ext cx="2419350" cy="1028700"/>
          </a:xfrm>
          <a:prstGeom xmlns:a="http://schemas.openxmlformats.org/drawingml/2006/main" prst="roundRect">
            <a:avLst>
              <a:gd name="adj" fmla="val 12963"/>
            </a:avLst>
          </a:prstGeom>
          <a:solidFill xmlns:a="http://schemas.openxmlformats.org/drawingml/2006/main">
            <a:srgbClr val="0B1E29"/>
          </a:solidFill>
          <a:ln xmlns:a="http://schemas.openxmlformats.org/drawingml/2006/main" w="15240">
            <a:solidFill>
              <a:srgbClr val="08B9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3335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情景推演结果采纳率（%）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推演结果进入真实决策</a:t>
            </a:r>
          </a:p>
        </p:txBody>
      </p:sp>
      <p:sp>
        <p:nvSpPr>
          <p:cNvPr id="26" name="s4-kpi-mark-4">
            <a:extLst xmlns:a="http://schemas.openxmlformats.org/drawingml/2006/main">
              <a:ext uri="{FF2B5EF4-FFF2-40B4-BE49-F238E27FC236}">
                <a16:creationId xmlns:a16="http://schemas.microsoft.com/office/drawing/2014/main" id="{E4DF98BD-B9B3-42E9-9C88-B72CF246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671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7" name="s4-value">
            <a:extLst xmlns:a="http://schemas.openxmlformats.org/drawingml/2006/main">
              <a:ext uri="{FF2B5EF4-FFF2-40B4-BE49-F238E27FC236}">
                <a16:creationId xmlns:a16="http://schemas.microsoft.com/office/drawing/2014/main" id="{8D96B8C0-3B36-40A0-803C-32F26666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24400"/>
            <a:ext cx="1074420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02B36"/>
          </a:solidFill>
          <a:ln xmlns:a="http://schemas.openxmlformats.org/drawingml/2006/main" w="15240">
            <a:solidFill>
              <a:srgbClr val="55D48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wrap="square" lIns="228600" tIns="114300" rIns="2286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精益生产的回归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2F5F7"/>
                </a:solidFill>
                <a:latin typeface="微软雅黑"/>
                <a:ea typeface="微软雅黑"/>
                <a:cs typeface="微软雅黑"/>
              </a:rPr>
              <a:t>让订单、产能、库存、采购、成本在同一套事实下协同；用可量化指标验证改善是否真正发生。</a:t>
            </a:r>
          </a:p>
        </p:txBody>
      </p:sp>
      <p:sp>
        <p:nvSpPr>
          <p:cNvPr id="28" name="s4-value-tag">
            <a:extLst xmlns:a="http://schemas.openxmlformats.org/drawingml/2006/main">
              <a:ext uri="{FF2B5EF4-FFF2-40B4-BE49-F238E27FC236}">
                <a16:creationId xmlns:a16="http://schemas.microsoft.com/office/drawing/2014/main" id="{0E61B108-1E89-4884-9278-91D305CB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55D48A"/>
                </a:solidFill>
                <a:latin typeface="微软雅黑"/>
                <a:ea typeface="微软雅黑"/>
                <a:cs typeface="微软雅黑"/>
              </a:rPr>
              <a:t>落地价值</a:t>
            </a:r>
          </a:p>
        </p:txBody>
      </p:sp>
      <p:sp>
        <p:nvSpPr>
          <p:cNvPr id="29" name="s4-foot">
            <a:extLst xmlns:a="http://schemas.openxmlformats.org/drawingml/2006/main">
              <a:ext uri="{FF2B5EF4-FFF2-40B4-BE49-F238E27FC236}">
                <a16:creationId xmlns:a16="http://schemas.microsoft.com/office/drawing/2014/main" id="{4CB2876B-06FD-45ED-974A-58F23D5E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0744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9DB4C2"/>
                </a:solidFill>
                <a:latin typeface="微软雅黑"/>
                <a:ea typeface="微软雅黑"/>
                <a:cs typeface="微软雅黑"/>
              </a:rPr>
              <a:t>蓝图交付重点：口径统一、流程可执行、结果可追溯、价值可复盘。</a:t>
            </a:r>
          </a:p>
        </p:txBody>
      </p:sp>
    </p:spTree>
    <p:extLst>
      <p:ext uri="{BB962C8B-B14F-4D97-AF65-F5344CB8AC3E}">
        <p14:creationId xmlns:p14="http://schemas.microsoft.com/office/powerpoint/2010/main" val="210254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6C4AE64C-2410-44CE-A21E-6E608A8B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3b5e83b8242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6EBBC8E-CA0A-466F-9047-D69C80065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543665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淀粉糖生产运营业务现状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VS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未来蓝图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24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经营管理智能辅助决策升级</a:t>
            </a:r>
            <a:endParaRPr sz="2400"/>
          </a:p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C81B5AF0-5847-4B49-B3F7-FE6A388B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>
              <a:alpha val="100000"/>
            </a:srgbClr>
          </a:solidFill>
          <a:ln xmlns:a="http://schemas.openxmlformats.org/drawingml/2006/main" w="12700" cmpd="sng">
            <a:solidFill>
              <a:srgbClr val="CBD5E1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4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83b5e83b824292">
            <a:extLst>
              <a:ext uri="{96DAC541-7B7A-43D3-8B79-37D633B846F1}">
                <asvg:svgBlip xmlns:asvg="http://schemas.microsoft.com/office/drawing/2016/SVG/main" r:embed="R7099f7c963484f3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3A7B4767-C90B-4239-8FDD-047C45CD4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0F172A"/>
                </a:solidFill>
                <a:latin typeface="Noto Sans SC"/>
                <a:ea typeface="Noto Sans SC"/>
                <a:cs typeface="Noto Sans SC"/>
              </a:rPr>
              <a:t>现状</a:t>
            </a:r>
            <a:endParaRPr sz="1100"/>
          </a:p>
        </p:txBody>
      </p:sp>
      <p:cxnSp>
        <p:nvCxnSpPr>
          <p:cNvPr id="116" name="Connector 20"/>
          <p:cNvCxnSpPr/>
          <p:nvPr/>
        </p:nvCxnSpPr>
        <p:spPr>
          <a:xfrm xmlns:a="http://schemas.openxmlformats.org/drawingml/2006/main" rot="-17539">
            <a:off x="32385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13F7462F-3951-4AF0-9080-2ECB85F0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595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⽆智能辅助决策系统，当前采⽤“周期性回顾+经验驱动”的经营决策模式：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1.决策时效：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经营分析主要依赖⽉度或周度会议，数据汇总存在⼀定的周期，侧重于对过去⼀段时间业绩的事后复盘。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2.分析深度：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⽬前主要通过报表展示历史统计数据，尚未引⼊多维度的模拟仿真⼯具（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What-if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分析），难以在决策前对不同策略（如排产调整、原料波动）的影响进⾏量化预演。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7" name="AutoShape 24">
            <a:extLst xmlns:a="http://schemas.openxmlformats.org/drawingml/2006/main">
              <a:ext uri="{FF2B5EF4-FFF2-40B4-BE49-F238E27FC236}">
                <a16:creationId xmlns:a16="http://schemas.microsoft.com/office/drawing/2014/main" id="{30B8AFEF-E272-468D-A140-65D61011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FF6FF">
              <a:alpha val="100000"/>
            </a:srgbClr>
          </a:solidFill>
          <a:ln xmlns:a="http://schemas.openxmlformats.org/drawingml/2006/main" w="12700" cmpd="sng">
            <a:solidFill>
              <a:srgbClr val="3B82F6">
                <a:alpha val="7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9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16f7177bf475c">
            <a:extLst>
              <a:ext uri="{96DAC541-7B7A-43D3-8B79-37D633B846F1}">
                <asvg:svgBlip xmlns:asvg="http://schemas.microsoft.com/office/drawing/2016/SVG/main" r:embed="R94f3cdd075b8418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57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9" name="AutoShape 26">
            <a:extLst xmlns:a="http://schemas.openxmlformats.org/drawingml/2006/main">
              <a:ext uri="{FF2B5EF4-FFF2-40B4-BE49-F238E27FC236}">
                <a16:creationId xmlns:a16="http://schemas.microsoft.com/office/drawing/2014/main" id="{87C918A7-137C-42B1-93BC-7D5C7528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67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2563EB"/>
                </a:solidFill>
                <a:latin typeface="Noto Sans SC"/>
                <a:ea typeface="Noto Sans SC"/>
                <a:cs typeface="Noto Sans SC"/>
              </a:rPr>
              <a:t>未来</a:t>
            </a:r>
            <a:endParaRPr sz="1100"/>
          </a:p>
        </p:txBody>
      </p:sp>
      <p:cxnSp>
        <p:nvCxnSpPr>
          <p:cNvPr id="121" name="Connector 27"/>
          <p:cNvCxnSpPr/>
          <p:nvPr/>
        </p:nvCxnSpPr>
        <p:spPr>
          <a:xfrm xmlns:a="http://schemas.openxmlformats.org/drawingml/2006/main" rot="-17539">
            <a:off x="62357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3B82F6">
                <a:alpha val="7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C8D94AAB-F454-4BF1-B71D-0BB1F85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2400" y="1397000"/>
            <a:ext cx="2870200" cy="4826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7ED">
              <a:alpha val="100000"/>
            </a:srgbClr>
          </a:solidFill>
          <a:ln xmlns:a="http://schemas.openxmlformats.org/drawingml/2006/main" w="12700" cmpd="sng">
            <a:solidFill>
              <a:srgbClr val="F97316">
                <a:alpha val="80000"/>
              </a:srgbClr>
            </a:solidFill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3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ca3f662884dbd">
            <a:extLst>
              <a:ext uri="{96DAC541-7B7A-43D3-8B79-37D633B846F1}">
                <asvg:svgBlip xmlns:asvg="http://schemas.microsoft.com/office/drawing/2016/SVG/main" r:embed="R02c6f40691ab48b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32900" y="16510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6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9DF9AA1E-03E7-4DBB-8444-A4ED41BF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900" y="162560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rgbClr val="EA580C"/>
                </a:solidFill>
                <a:latin typeface="Noto Sans SC"/>
                <a:ea typeface="Noto Sans SC"/>
                <a:cs typeface="Noto Sans SC"/>
              </a:rPr>
              <a:t>关键跃升</a:t>
            </a:r>
            <a:endParaRPr sz="1100"/>
          </a:p>
        </p:txBody>
      </p:sp>
      <p:cxnSp>
        <p:nvCxnSpPr>
          <p:cNvPr id="125" name="Connector 34"/>
          <p:cNvCxnSpPr/>
          <p:nvPr/>
        </p:nvCxnSpPr>
        <p:spPr>
          <a:xfrm xmlns:a="http://schemas.openxmlformats.org/drawingml/2006/main" rot="-17539">
            <a:off x="9232916" y="2152650"/>
            <a:ext cx="24892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8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1CA9127-1174-4949-8450-26BE2ABE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" y="914400"/>
            <a:ext cx="3012440" cy="587121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172A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F2F2FB2-75E4-40F9-952C-E5586473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61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563E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19 </a:t>
            </a:r>
            <a:r>
              <a:rPr sz="12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经营管理智能辅助决策</a:t>
            </a:r>
            <a:endParaRPr sz="12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5" name="AutoShape 4">
            <a:extLst xmlns:a="http://schemas.openxmlformats.org/drawingml/2006/main">
              <a:ext uri="{FF2B5EF4-FFF2-40B4-BE49-F238E27FC236}">
                <a16:creationId xmlns:a16="http://schemas.microsoft.com/office/drawing/2014/main" id="{533AC482-2183-40D0-89CF-063714CC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质量追溯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6" name="AutoShape 5">
            <a:extLst xmlns:a="http://schemas.openxmlformats.org/drawingml/2006/main">
              <a:ext uri="{FF2B5EF4-FFF2-40B4-BE49-F238E27FC236}">
                <a16:creationId xmlns:a16="http://schemas.microsoft.com/office/drawing/2014/main" id="{7BE21EFE-F757-4A80-B286-05DE60F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13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成本追溯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AD86476-4139-430E-A417-4BC0DE24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设备运维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8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BF5B13A-834C-4BB7-B6C8-F5A4E8651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能碳管理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9" name="AutoShape 8">
            <a:extLst xmlns:a="http://schemas.openxmlformats.org/drawingml/2006/main">
              <a:ext uri="{FF2B5EF4-FFF2-40B4-BE49-F238E27FC236}">
                <a16:creationId xmlns:a16="http://schemas.microsoft.com/office/drawing/2014/main" id="{6E83C9E4-2CC5-4C98-9B17-819B12F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横向使能：数据与集成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0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CFC791A-FEA7-4E88-9431-DB36A3B3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7097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17 横向使能：⾃动化分层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B57F47D-00BE-4F8B-A223-7ABFACA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01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订单接收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D1207-F166-41D0-90E3-036F9299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19367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02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原料采购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71DB1E3-4592-4A0C-9418-FEACF6CF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24911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algn="l">
              <a:lnSpc>
                <a:spcPct val="125000"/>
              </a:lnSpc>
              <a:buClrTx/>
              <a:buSzTx/>
              <a:buFontTx/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03 计划排产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9354D68-4C68-450F-8F8E-C77C191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04546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04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调度执⾏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8564443-F5CC-4EA4-BDF4-D0E71624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36004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05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原料转运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存储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FFC898E2-D7C1-4B4B-A71E-6B98AEB4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15544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06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⽣产作业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ED82F44D-20E6-4E63-97E8-7270F29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471043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07 过程暂存(中间品)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278A2294-D36A-46F5-8120-753D3CD8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08 质量检测分析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7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C35E7E79-C6D8-4482-A5F2-AC76FB54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" y="581850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09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异常管理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3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04F85967-BB19-487D-8761-1C95D131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637222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10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成品⼊库仓储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7F766FFE-4443-4172-979E-92D8106F7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" y="948690"/>
            <a:ext cx="1562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accent1">
                    <a:lumMod val="60000"/>
                    <a:lumOff val="40000"/>
                  </a:schemeClr>
                </a:solidFill>
              </a:rPr>
              <a:t>对比分析维度</a:t>
            </a:r>
            <a:endParaRPr b="1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3F94A7A-3F4F-4BF3-9C7F-A13C3030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7081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1.管理驾驶舱：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汇聚CRM、SAP、SCOS、MES、WMS、QMS/LIMS、WMS、TMS、EMS、EAM、PHM、TMS等数据，展示订单履约、产量、库存、质量、能耗、设备和成本指标。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2.智能辅助决策与全局寻优：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结合数据与模型，在排产、采购、订单交付、经济效益分析、库存安全、物流优化、安全管理等场景，系统⾃动输出“异常根因—未来趋势—调整预案”。管理者从“⼈找数据做决策”升级为“AI推送决策⼈确认”，实现全局多⽬标寻优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endParaRPr sz="1200" b="1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3.模拟推演：</a:t>
            </a: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⽀持原料价格波动、产能负荷、能源价格、库存策略、异常停机等场景的“What-if”测算，为排产采购、销售和经营决策提供依据。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EA95563D-930E-4997-8564-8531C3DA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65" y="2433320"/>
            <a:ext cx="2616200" cy="299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从事后统计与经验粗放管理向事前预演与模型精益智控转变；实现跨⼯序、跨部⻔的分钟级决策响应，推动企业从“被动处置”向“主动预判、系统调控”跨越。</a:t>
            </a:r>
            <a:endParaRPr sz="1200" b="0" i="0" u="none">
              <a:solidFill>
                <a:srgbClr val="37415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9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8680D57-82CE-4D66-9814-EA5AA975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382395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11 </a:t>
            </a:r>
            <a:r>
              <a:rPr sz="120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发货交付与成品出⼚</a:t>
            </a:r>
            <a:endParaRPr sz="120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81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14B6205-1DFC-4F59-B157-8CE89A15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264150"/>
            <a:ext cx="1375410" cy="4476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293B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127000" indent="0" algn="l">
              <a:lnSpc>
                <a:spcPct val="125000"/>
              </a:lnSpc>
              <a:buNone/>
            </a:pP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18 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AI</a:t>
            </a:r>
            <a:r>
              <a:rPr sz="1200" b="0" i="0" u="none">
                <a:solidFill>
                  <a:srgbClr val="94A3B8"/>
                </a:solidFill>
                <a:latin typeface="Noto Sans SC"/>
                <a:ea typeface="Noto Sans SC"/>
                <a:cs typeface="Noto Sans SC"/>
              </a:rPr>
              <a:t>赋能经营管理与实时⼯艺控制</a:t>
            </a:r>
            <a:endParaRPr sz="1200" b="0" i="0" u="none">
              <a:solidFill>
                <a:srgbClr val="94A3B8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8297561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88E3969-35E4-4008-8D8D-0D55E1C5F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056c467e5b48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DEAECBF-918D-44D1-BDB6-AB9E04BE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总体</a:t>
            </a:r>
            <a:r>
              <a:rPr sz="2400" b="1" i="0" u="none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架构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utoShape 5">
            <a:extLst xmlns:a="http://schemas.openxmlformats.org/drawingml/2006/main">
              <a:ext uri="{FF2B5EF4-FFF2-40B4-BE49-F238E27FC236}">
                <a16:creationId xmlns:a16="http://schemas.microsoft.com/office/drawing/2014/main" id="{D676C83B-9B8E-4F91-A4BD-B702BEEE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4732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35E4CA3-B679-4879-8D08-0204592B8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01800"/>
            <a:ext cx="12954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b="1" i="0" u="none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经营管理层</a:t>
            </a:r>
            <a:endParaRPr b="1" i="0" u="none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3858925-061A-4FBC-8355-6377C8F6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73200"/>
            <a:ext cx="89154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4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DDFB634-27B9-47B4-AF20-0BE70996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01800"/>
            <a:ext cx="4191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SCOS</a:t>
            </a: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驾驶舱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11" name="Connector 11"/>
          <p:cNvCxnSpPr/>
          <p:nvPr/>
        </p:nvCxnSpPr>
        <p:spPr>
          <a:xfrm xmlns:a="http://schemas.openxmlformats.org/drawingml/2006/main" rot="5114181">
            <a:off x="5956300" y="23561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28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BEBDF4CC-7711-4798-9D8E-DBDBB1A4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4384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29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978E9EBD-AC28-45ED-B60C-9B174D30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162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应用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服务</a:t>
            </a: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0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46F80A7-CC45-49B1-8BAA-31CD8078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1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C78C6D82-B172-4E44-AED0-052E5675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2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6619B23D-1850-444F-8AB6-B35983A5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2438400"/>
            <a:ext cx="14097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3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EEF7EA57-785E-49E3-869A-97498762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2616200"/>
            <a:ext cx="135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安全库存优化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4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CD51CB9C-10E7-4FDD-945B-EA2E9BD1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438400"/>
            <a:ext cx="2920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5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4D44728E-8F3C-4CC1-844C-8058538A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635" y="2616200"/>
            <a:ext cx="281876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采购优化管理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6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AE55B811-C6DE-459E-95A5-223FEB8F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39035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37" name="AutoShape 21">
            <a:extLst xmlns:a="http://schemas.openxmlformats.org/drawingml/2006/main">
              <a:ext uri="{FF2B5EF4-FFF2-40B4-BE49-F238E27FC236}">
                <a16:creationId xmlns:a16="http://schemas.microsoft.com/office/drawing/2014/main" id="{0127B699-256E-4568-8679-BC52A213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950" y="2616835"/>
            <a:ext cx="255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统计与成本核算分析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22" name="Connector 26"/>
          <p:cNvCxnSpPr/>
          <p:nvPr/>
        </p:nvCxnSpPr>
        <p:spPr>
          <a:xfrm xmlns:a="http://schemas.openxmlformats.org/drawingml/2006/main" rot="5114181">
            <a:off x="5956300" y="33213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43" name="AutoShape 27">
            <a:extLst xmlns:a="http://schemas.openxmlformats.org/drawingml/2006/main">
              <a:ext uri="{FF2B5EF4-FFF2-40B4-BE49-F238E27FC236}">
                <a16:creationId xmlns:a16="http://schemas.microsoft.com/office/drawing/2014/main" id="{5FA7954F-33BA-4CAE-A151-F23C433B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34036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4" name="AutoShape 28">
            <a:extLst xmlns:a="http://schemas.openxmlformats.org/drawingml/2006/main">
              <a:ext uri="{FF2B5EF4-FFF2-40B4-BE49-F238E27FC236}">
                <a16:creationId xmlns:a16="http://schemas.microsoft.com/office/drawing/2014/main" id="{B26D3835-E970-46A3-90D7-453E5F34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81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优化决策层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5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32BEFE9-5138-4B2C-B4A5-C85BF545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6" name="AutoShape 30">
            <a:extLst xmlns:a="http://schemas.openxmlformats.org/drawingml/2006/main">
              <a:ext uri="{FF2B5EF4-FFF2-40B4-BE49-F238E27FC236}">
                <a16:creationId xmlns:a16="http://schemas.microsoft.com/office/drawing/2014/main" id="{FB45E819-131D-4AB6-AE1D-C25C673B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3581400"/>
            <a:ext cx="27178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优化引擎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7" name="AutoShape 31">
            <a:extLst xmlns:a="http://schemas.openxmlformats.org/drawingml/2006/main">
              <a:ext uri="{FF2B5EF4-FFF2-40B4-BE49-F238E27FC236}">
                <a16:creationId xmlns:a16="http://schemas.microsoft.com/office/drawing/2014/main" id="{5F670BCC-B687-497B-AB1E-E7CCE275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3600"/>
            <a:ext cx="2921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48" name="AutoShape 32">
            <a:extLst xmlns:a="http://schemas.openxmlformats.org/drawingml/2006/main">
              <a:ext uri="{FF2B5EF4-FFF2-40B4-BE49-F238E27FC236}">
                <a16:creationId xmlns:a16="http://schemas.microsoft.com/office/drawing/2014/main" id="{E65365ED-68D3-4C96-91FE-D825F66C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6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需求预测模型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49" name="AutoShape 33">
            <a:extLst xmlns:a="http://schemas.openxmlformats.org/drawingml/2006/main">
              <a:ext uri="{FF2B5EF4-FFF2-40B4-BE49-F238E27FC236}">
                <a16:creationId xmlns:a16="http://schemas.microsoft.com/office/drawing/2014/main" id="{D8F03126-C965-4317-B481-343448D0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03600"/>
            <a:ext cx="28187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0" name="AutoShape 34">
            <a:extLst xmlns:a="http://schemas.openxmlformats.org/drawingml/2006/main">
              <a:ext uri="{FF2B5EF4-FFF2-40B4-BE49-F238E27FC236}">
                <a16:creationId xmlns:a16="http://schemas.microsoft.com/office/drawing/2014/main" id="{D5F6EAB6-99A1-4FA5-AE97-C22B143B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581400"/>
            <a:ext cx="271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规则引擎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1" name="Connector 35"/>
          <p:cNvCxnSpPr/>
          <p:nvPr/>
        </p:nvCxnSpPr>
        <p:spPr>
          <a:xfrm xmlns:a="http://schemas.openxmlformats.org/drawingml/2006/main" rot="5114181">
            <a:off x="5956300" y="42865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2" name="AutoShape 36">
            <a:extLst xmlns:a="http://schemas.openxmlformats.org/drawingml/2006/main">
              <a:ext uri="{FF2B5EF4-FFF2-40B4-BE49-F238E27FC236}">
                <a16:creationId xmlns:a16="http://schemas.microsoft.com/office/drawing/2014/main" id="{F301CEEE-9E46-4B97-B599-EB415A18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3688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3" name="AutoShape 37">
            <a:extLst xmlns:a="http://schemas.openxmlformats.org/drawingml/2006/main">
              <a:ext uri="{FF2B5EF4-FFF2-40B4-BE49-F238E27FC236}">
                <a16:creationId xmlns:a16="http://schemas.microsoft.com/office/drawing/2014/main" id="{91EA8385-2441-4F8C-A221-C9FE39AD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466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AutoShape 38">
            <a:extLst xmlns:a="http://schemas.openxmlformats.org/drawingml/2006/main">
              <a:ext uri="{FF2B5EF4-FFF2-40B4-BE49-F238E27FC236}">
                <a16:creationId xmlns:a16="http://schemas.microsoft.com/office/drawing/2014/main" id="{6392C3EE-AE20-4B04-A3DF-C651C35D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68800"/>
            <a:ext cx="888936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5" name="AutoShape 39">
            <a:extLst xmlns:a="http://schemas.openxmlformats.org/drawingml/2006/main">
              <a:ext uri="{FF2B5EF4-FFF2-40B4-BE49-F238E27FC236}">
                <a16:creationId xmlns:a16="http://schemas.microsoft.com/office/drawing/2014/main" id="{D3086059-A972-40E6-9964-2C729D08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600" y="4546600"/>
            <a:ext cx="871029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数据中台：主数据　·　业务数据　·　数据仓库</a:t>
            </a:r>
            <a:endParaRPr sz="13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136" name="Connector 40"/>
          <p:cNvCxnSpPr/>
          <p:nvPr/>
        </p:nvCxnSpPr>
        <p:spPr>
          <a:xfrm xmlns:a="http://schemas.openxmlformats.org/drawingml/2006/main" rot="5114181">
            <a:off x="5956300" y="5251714"/>
            <a:ext cx="1524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2563EB">
                <a:alpha val="70000"/>
              </a:srgbClr>
            </a:solidFill>
            <a:prstDash val="solid"/>
            <a:round/>
            <a:headEnd type="none" w="lg" len="lg"/>
            <a:tailEnd type="triangle" w="sm" len="sm"/>
          </a:ln>
        </p:spPr>
      </p:cxnSp>
      <p:sp>
        <p:nvSpPr>
          <p:cNvPr id="57" name="AutoShape 41">
            <a:extLst xmlns:a="http://schemas.openxmlformats.org/drawingml/2006/main">
              <a:ext uri="{FF2B5EF4-FFF2-40B4-BE49-F238E27FC236}">
                <a16:creationId xmlns:a16="http://schemas.microsoft.com/office/drawing/2014/main" id="{72A01A26-CCBC-470B-863F-4E7A4EAE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3970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rgbClr val="17556C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58" name="AutoShape 42">
            <a:extLst xmlns:a="http://schemas.openxmlformats.org/drawingml/2006/main">
              <a:ext uri="{FF2B5EF4-FFF2-40B4-BE49-F238E27FC236}">
                <a16:creationId xmlns:a16="http://schemas.microsoft.com/office/drawing/2014/main" id="{998698FA-9D7E-45D3-94B6-F0B6B002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118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集成层</a:t>
            </a:r>
            <a:endParaRPr b="1">
              <a:solidFill>
                <a:srgbClr val="FFFFFF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9" name="AutoShape 43">
            <a:extLst xmlns:a="http://schemas.openxmlformats.org/drawingml/2006/main">
              <a:ext uri="{FF2B5EF4-FFF2-40B4-BE49-F238E27FC236}">
                <a16:creationId xmlns:a16="http://schemas.microsoft.com/office/drawing/2014/main" id="{84B36179-E4FA-4FD0-9603-F876BA5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0" name="AutoShape 44">
            <a:extLst xmlns:a="http://schemas.openxmlformats.org/drawingml/2006/main">
              <a:ext uri="{FF2B5EF4-FFF2-40B4-BE49-F238E27FC236}">
                <a16:creationId xmlns:a16="http://schemas.microsoft.com/office/drawing/2014/main" id="{8BCF6FE8-80CA-4146-9174-E511344D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SAP 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1" name="AutoShape 45">
            <a:extLst xmlns:a="http://schemas.openxmlformats.org/drawingml/2006/main">
              <a:ext uri="{FF2B5EF4-FFF2-40B4-BE49-F238E27FC236}">
                <a16:creationId xmlns:a16="http://schemas.microsoft.com/office/drawing/2014/main" id="{66C58B40-A2D4-4552-95A1-F5524FDB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3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2" name="AutoShape 46">
            <a:extLst xmlns:a="http://schemas.openxmlformats.org/drawingml/2006/main">
              <a:ext uri="{FF2B5EF4-FFF2-40B4-BE49-F238E27FC236}">
                <a16:creationId xmlns:a16="http://schemas.microsoft.com/office/drawing/2014/main" id="{4DF6EC93-8E39-490E-AAA6-77DE0C96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MES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3" name="AutoShape 47">
            <a:extLst xmlns:a="http://schemas.openxmlformats.org/drawingml/2006/main">
              <a:ext uri="{FF2B5EF4-FFF2-40B4-BE49-F238E27FC236}">
                <a16:creationId xmlns:a16="http://schemas.microsoft.com/office/drawing/2014/main" id="{4D4FB4D5-C1CA-49A7-95E7-1419A099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76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4" name="AutoShape 48">
            <a:extLst xmlns:a="http://schemas.openxmlformats.org/drawingml/2006/main">
              <a:ext uri="{FF2B5EF4-FFF2-40B4-BE49-F238E27FC236}">
                <a16:creationId xmlns:a16="http://schemas.microsoft.com/office/drawing/2014/main" id="{CEA453D0-013F-45D7-8C59-7C70003B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WMS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5" name="AutoShape 49">
            <a:extLst xmlns:a="http://schemas.openxmlformats.org/drawingml/2006/main">
              <a:ext uri="{FF2B5EF4-FFF2-40B4-BE49-F238E27FC236}">
                <a16:creationId xmlns:a16="http://schemas.microsoft.com/office/drawing/2014/main" id="{98A3D03A-B9DA-4AE1-9B8E-8ADA4F0F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1701800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6" name="AutoShape 50">
            <a:extLst xmlns:a="http://schemas.openxmlformats.org/drawingml/2006/main">
              <a:ext uri="{FF2B5EF4-FFF2-40B4-BE49-F238E27FC236}">
                <a16:creationId xmlns:a16="http://schemas.microsoft.com/office/drawing/2014/main" id="{CF25F1E0-1F61-4CE7-A367-634C7BE4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8300" y="5511800"/>
            <a:ext cx="165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TMS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7" name="AutoShape 51">
            <a:extLst xmlns:a="http://schemas.openxmlformats.org/drawingml/2006/main">
              <a:ext uri="{FF2B5EF4-FFF2-40B4-BE49-F238E27FC236}">
                <a16:creationId xmlns:a16="http://schemas.microsoft.com/office/drawing/2014/main" id="{8A9F5482-CD52-4C2C-A142-36A05BD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200" y="5334000"/>
            <a:ext cx="1854835" cy="812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28575" cmpd="sng">
            <a:solidFill>
              <a:schemeClr val="accent5"/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endParaRPr/>
          </a:p>
        </p:txBody>
      </p:sp>
      <p:sp>
        <p:nvSpPr>
          <p:cNvPr id="68" name="AutoShape 52">
            <a:extLst xmlns:a="http://schemas.openxmlformats.org/drawingml/2006/main">
              <a:ext uri="{FF2B5EF4-FFF2-40B4-BE49-F238E27FC236}">
                <a16:creationId xmlns:a16="http://schemas.microsoft.com/office/drawing/2014/main" id="{0E41DEEC-AF91-4F20-961B-216D15EA6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511800"/>
            <a:ext cx="182943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25000"/>
              </a:lnSpc>
              <a:buClrTx/>
              <a:buSzTx/>
              <a:buFontTx/>
              <a:buNone/>
            </a:pP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CRM</a:t>
            </a:r>
            <a:r>
              <a:rPr sz="1300" b="1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等其他系统</a:t>
            </a:r>
            <a:endParaRPr sz="1300" b="1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</p:spTree>
    <p:extLst>
      <p:ext uri="{BB962C8B-B14F-4D97-AF65-F5344CB8AC3E}">
        <p14:creationId xmlns:p14="http://schemas.microsoft.com/office/powerpoint/2010/main" val="15896287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74A690C-02B9-4FB5-84E2-386C8E2E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fbc7787844ca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A9F6138C-227D-45C4-8E23-0D09108E4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模型算法驱动生产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精益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排程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7E005B3-95C3-4118-BE94-02C90B15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把交付优先级、库存补货、产能设备与原辅包到货约束汇聚到统一排程，形成上下游一致的时间承诺。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D541BB1-442C-4AB1-94BE-E8EBB445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多约束汇聚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7C039D0-4055-4A2F-8369-33FBD06C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CE064DD6-84D6-4D1C-B7A0-05FC9A86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8959A5E-F174-4D23-826D-C8002912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15" y="2095500"/>
            <a:ext cx="152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订单与需求预测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A0E27F5-1CDE-43C9-BC36-CCE7845E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优先级/交期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90CC05E3-AE0B-4B10-A9F1-B0D72B5E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383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0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1FEADC78-3C02-4917-8E3F-5F1D9953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1524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1AA10D3-EF3E-444C-AA10-0562BCC6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BOM/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工艺路线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701C136-7E17-4C73-8FAB-FCE4D273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35" y="3190875"/>
            <a:ext cx="135509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产品结构和生产步骤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1F6A239E-6C0B-4450-AA93-10DBA811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1942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17EFDBCB-7300-47B4-98DD-C8CAF711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524000" cy="87693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B348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83C6AF5-B9F0-46EE-80BA-EB71756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资源</a:t>
            </a: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状态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54CA952-B039-4202-B09D-C4BE7179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384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设备、模具、人力等关键资源的当前可用性与产能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右箭头 36">
            <a:extLst xmlns:a="http://schemas.openxmlformats.org/drawingml/2006/main">
              <a:ext uri="{FF2B5EF4-FFF2-40B4-BE49-F238E27FC236}">
                <a16:creationId xmlns:a16="http://schemas.microsoft.com/office/drawing/2014/main" id="{C20049F7-6D18-473A-A7DF-0161A794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0047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2" name="圆角矩形 41">
            <a:extLst xmlns:a="http://schemas.openxmlformats.org/drawingml/2006/main">
              <a:ext uri="{FF2B5EF4-FFF2-40B4-BE49-F238E27FC236}">
                <a16:creationId xmlns:a16="http://schemas.microsoft.com/office/drawing/2014/main" id="{3336880E-57AE-42AD-8BF3-1D1B2698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5505"/>
            <a:ext cx="1524000" cy="8604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6A51B53D-270A-4AA6-B7AD-CEEA8DDD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4218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库存与采购在途信息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95B2552E-AF33-4E88-B1EC-955755A8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20335"/>
            <a:ext cx="1276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当前可用物料及预计到货的采购订单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右箭头 44">
            <a:extLst xmlns:a="http://schemas.openxmlformats.org/drawingml/2006/main">
              <a:ext uri="{FF2B5EF4-FFF2-40B4-BE49-F238E27FC236}">
                <a16:creationId xmlns:a16="http://schemas.microsoft.com/office/drawing/2014/main" id="{4962BEA1-EA5E-453D-86DA-24D1B316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66005"/>
            <a:ext cx="619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6" name="六边形 45">
            <a:extLst xmlns:a="http://schemas.openxmlformats.org/drawingml/2006/main">
              <a:ext uri="{FF2B5EF4-FFF2-40B4-BE49-F238E27FC236}">
                <a16:creationId xmlns:a16="http://schemas.microsoft.com/office/drawing/2014/main" id="{1D51D36D-8985-4A2A-B4F7-757EF56B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2381250" cy="23812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082B39"/>
          </a:solidFill>
          <a:ln xmlns:a="http://schemas.openxmlformats.org/drawingml/2006/main" w="28575">
            <a:solidFill>
              <a:srgbClr val="23D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05146ED-4DF6-4202-ADED-12964F2E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813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约束排程引擎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61E5E8F-756A-42EE-9ABD-051D4900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619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需求合并与优先级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产能负荷平衡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瓶颈/冲突识别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计划版本与锁定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右箭头 48">
            <a:extLst xmlns:a="http://schemas.openxmlformats.org/drawingml/2006/main">
              <a:ext uri="{FF2B5EF4-FFF2-40B4-BE49-F238E27FC236}">
                <a16:creationId xmlns:a16="http://schemas.microsoft.com/office/drawing/2014/main" id="{CE767F76-4CFC-4ED2-8269-0729ED89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523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B418991-815D-4E89-9C5D-18707B5B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计划执行泳道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43B2888A-544E-4DDA-B24F-010EEC12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95475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3C5EAC52-36A7-42A5-BD68-6220AC73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FCF61556-939B-4CA0-B492-D97BECAB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24075"/>
            <a:ext cx="1085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详细的生产作业计划</a:t>
            </a:r>
            <a:endParaRPr sz="1275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9FAB14D6-D7F7-43D8-A96F-1CF0AC17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2407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明确各工序、设备、班次的具体任务与时间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圆角矩形 54">
            <a:extLst xmlns:a="http://schemas.openxmlformats.org/drawingml/2006/main">
              <a:ext uri="{FF2B5EF4-FFF2-40B4-BE49-F238E27FC236}">
                <a16:creationId xmlns:a16="http://schemas.microsoft.com/office/drawing/2014/main" id="{6644404A-FB1E-4971-8CF3-8291C3A6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8633456B-EED9-4164-9244-1223B31B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670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可承诺量（</a:t>
            </a:r>
            <a:r>
              <a:rPr sz="1275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ATP）</a:t>
            </a:r>
            <a:endParaRPr sz="1275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EAE55271-A47A-4BA3-B036-3EA16B98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67025"/>
            <a:ext cx="3695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向销售端提供可靠的、基于实际产能和物料的交付日期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D8A59EA8-DECC-4847-9531-A5D6AEC6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3377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9070ACC8-3561-4B37-9ACE-F280CB72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997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计划模拟与预警</a:t>
            </a:r>
            <a:endParaRPr sz="1275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E826EEF1-D45B-4F5A-A080-62AB1A9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09975"/>
            <a:ext cx="353123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模拟不同策略下的产出和交付结果，并对潜在的交期风险进行预警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圆角矩形 60">
            <a:extLst xmlns:a="http://schemas.openxmlformats.org/drawingml/2006/main">
              <a:ext uri="{FF2B5EF4-FFF2-40B4-BE49-F238E27FC236}">
                <a16:creationId xmlns:a16="http://schemas.microsoft.com/office/drawing/2014/main" id="{6AA590D9-CE99-4CD3-A428-421F977C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76725"/>
            <a:ext cx="4857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9232E"/>
          </a:solidFill>
          <a:ln xmlns:a="http://schemas.openxmlformats.org/drawingml/2006/main" w="14288">
            <a:solidFill>
              <a:srgbClr val="FFB348"/>
            </a:solidFill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8ED790CE-2AED-46ED-B7FB-A5C258F0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52925"/>
            <a:ext cx="95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异常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状况自行</a:t>
            </a:r>
            <a:r>
              <a:rPr sz="1275" b="1">
                <a:solidFill>
                  <a:srgbClr val="FFB348"/>
                </a:solidFill>
                <a:latin typeface="微软雅黑"/>
                <a:ea typeface="微软雅黑"/>
                <a:cs typeface="微软雅黑"/>
              </a:rPr>
              <a:t>调整</a:t>
            </a:r>
            <a:endParaRPr sz="1275" b="1">
              <a:solidFill>
                <a:srgbClr val="FFB34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F6C8855-E1A2-47A3-82BC-DAEE0F8C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52925"/>
            <a:ext cx="342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需求波动、资源瓶颈、原</a:t>
            </a: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辅料到货准时性与质量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4114918E-3320-4473-82E7-1ACB8762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81625"/>
            <a:ext cx="733425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72A00840-1AC4-48B8-A532-C001554B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435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实际产量 / 完工时间 / 设备状态 / 物料消耗 / 订单变化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圆角矩形 65">
            <a:extLst xmlns:a="http://schemas.openxmlformats.org/drawingml/2006/main">
              <a:ext uri="{FF2B5EF4-FFF2-40B4-BE49-F238E27FC236}">
                <a16:creationId xmlns:a16="http://schemas.microsoft.com/office/drawing/2014/main" id="{BBCB1B8C-5756-4428-B6AF-B350C3F5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57875"/>
            <a:ext cx="752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23D4FF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6C2CB2C-A14A-44CF-A8C3-2FB5A7F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150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3D4FF"/>
                </a:solidFill>
                <a:latin typeface="微软雅黑"/>
                <a:ea typeface="微软雅黑"/>
                <a:cs typeface="微软雅黑"/>
              </a:rPr>
              <a:t>协同价值</a:t>
            </a:r>
            <a:endParaRPr sz="1350" b="1">
              <a:solidFill>
                <a:srgbClr val="23D4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2E5B75B2-3D1D-4CA4-AB89-EFF092F1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00775"/>
            <a:ext cx="72390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提前暴露产能、物料和交期冲突，提升计划可执行性，减少临时协调与被动救火。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4018850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895040DD-DD21-46BF-B8B6-C3B55853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10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9e56cfd1945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0B20A61-2FEA-4C41-B06C-1105BDAD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安全库存水位智能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58CADDC-BF6E-44D8-B96E-2CC1EBC2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B363792-2334-4BFB-B962-2519C735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214D155-4868-4D6C-86D3-8CE9278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3BB4EB8-69F3-4BE3-8875-0B8275FE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030E68A-79BF-4753-BA01-9A8D8340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45631DCC-726F-46E1-AB36-E787298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542B1F0-74A9-41FF-A604-E065957E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00C5CF1-FD03-4C40-A68B-16347D1B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6E7E285-F45F-46F8-99AA-F85A55033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FCCE53E0-EAC8-4539-B15F-FCB24B2F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安全库存 / s / S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8C03718F-FD24-4A85-848E-EBB4FA1E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9FFF6C1-58DA-4018-821E-521DF1CC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补货日期与数量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64EC6C45-F159-49A4-B084-DED2354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DEB92C0-25CC-4D13-8D1C-6CC9D54E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预计库存水位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26614760-8F24-4988-9B4E-A8BB63B9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7D7118F3-2BB0-4903-8D36-AFC1F608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缺货/容量风险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5E0A33C-3FAF-442E-A67F-15C4167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7ACFE3F1-3B38-4D33-AE21-E1B29664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计划员确认发布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04CEE2B4-A5A4-4A90-B351-F9005CBE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0283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BFE852CA-D4E8-4459-96DF-3459E9A4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生产排程承接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06D99DDB-B31D-4673-AD6E-4AF3643E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1927609-3747-4DB6-A058-ACEC1C97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生产入库执行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81052A51-61AB-40E1-831D-6EA61F0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ED1EB9F-5C62-49B4-BC91-B7338344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驾驶舱预警跟踪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D06C4008-888D-466A-9D70-A6110B6A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54C14AE2-AA33-479A-9577-21CDF7C8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E55195F5-0513-4523-A8DF-531ADC0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3F8ED588-3FA6-46B5-9D50-BD7857BE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FE1D0E86-3325-46EB-9759-C77CC465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动态库存策略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6F88B711-AF14-4ADB-B95D-2CCDD150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(R,s,S) 参数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逐日库存推演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共享库容与罐位兼容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7天锁定与异常重算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FD597DC0-F1A1-4959-80B9-7272C135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945" y="506730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B6F976E1-4034-4D7F-AF06-FD1FA109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5AD1D0F2-0253-4A99-B448-157933A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15" y="5067300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128524C5-23C4-4A77-A27C-4F62133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实际出货 / 实际入库 / 偏差与预警 / 参数效果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25A0C926-5CB6-4459-AEA8-97C241B4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C6505B03-176C-4CD9-832E-A97CC48F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AEEF"/>
                </a:solidFill>
                <a:latin typeface="微软雅黑"/>
                <a:ea typeface="微软雅黑"/>
                <a:cs typeface="微软雅黑"/>
              </a:rPr>
              <a:t>以服务水平牵引库存结构优化</a:t>
            </a:r>
            <a:endParaRPr sz="1350" b="1">
              <a:solidFill>
                <a:srgbClr val="00AEE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83EDAC79-EC94-4FB2-80BD-F472DFCE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降低缺货与呆滞风险，提升库存周转和订单保障能力，让库存从静态经验值变为动态经营参数。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7" name="矩形 96">
            <a:extLst xmlns:a="http://schemas.openxmlformats.org/drawingml/2006/main">
              <a:ext uri="{FF2B5EF4-FFF2-40B4-BE49-F238E27FC236}">
                <a16:creationId xmlns:a16="http://schemas.microsoft.com/office/drawing/2014/main" id="{E8505F88-7692-4DE1-8659-38D379A69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把需求变化、库存状态与生产补充能力统一到逐日库存轨迹中，在保障交付的同时控制资金占用和库容风险。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0A2125F0-94E3-4114-A0BE-674672D2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D876ED3-722A-4BA3-B060-D9303B7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7050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1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需求预测与历史数据</a:t>
            </a:r>
            <a:endParaRPr sz="1090" b="1">
              <a:solidFill>
                <a:schemeClr val="accent1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用于预测未来消耗量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圆角矩形 4">
            <a:extLst xmlns:a="http://schemas.openxmlformats.org/drawingml/2006/main">
              <a:ext uri="{FF2B5EF4-FFF2-40B4-BE49-F238E27FC236}">
                <a16:creationId xmlns:a16="http://schemas.microsoft.com/office/drawing/2014/main" id="{20C40F0F-D660-46DF-A057-7384197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718435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92F0C1A-86B6-4086-8845-CFF1643B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726184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提前期与补货规则</a:t>
            </a:r>
            <a:endParaRPr sz="1090" b="0">
              <a:solidFill>
                <a:schemeClr val="accent2">
                  <a:lumMod val="60000"/>
                  <a:lumOff val="4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采购、制造及运输的提前期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974A03E7-F01B-46D4-86D3-BB70757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341122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EA191E8-98FF-434D-A961-7128BA07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341896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5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服务水平目标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企业希望达到的库存满足率（如95%）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D2FADDDE-0D63-4546-8A59-B2EB99DC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3410" y="4131310"/>
            <a:ext cx="1981200" cy="53264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1C99D50-CDF9-4FF2-89DC-EFA9F7C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085" y="4139059"/>
            <a:ext cx="1847850" cy="524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成本参数</a:t>
            </a:r>
            <a:endParaRPr sz="1090">
              <a:solidFill>
                <a:schemeClr val="accent6">
                  <a:lumMod val="20000"/>
                  <a:lumOff val="80000"/>
                </a:schemeClr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包括库存持有成本、订货成本、缺货成本等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855958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C526946-C127-4D2D-8EE2-DBDCBE17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9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c2e19b304490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B8B2FB24-A787-4410-B072-11DC00D9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数据驱动采购决策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优化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E22277-6BCE-4305-8D2E-470F61C4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以上游已发布原材料需求为唯一需求口径，在满足供应、质量和到货约束的前提下优化供应商组合与综合采购成本。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9769BEC-1F1B-4DD2-9A4D-6152C189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业务输入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D981111-B083-46DF-9C53-BD44A83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FF18207-C8DE-493A-A6B8-11DA427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811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模型与规则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5403F0B-4826-4D8C-82EA-3AA44D68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8573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86DAF70-6D07-4DB5-9B50-7710403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81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方案输出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576A8CF-0B1B-444A-8B52-721AE32A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573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F65D676-8F32-4268-86FB-FD9D39AC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1857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确认与执行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730C9572-56AC-4EE1-8DC5-6225F770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57375"/>
            <a:ext cx="1857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7C15A659-CBF5-4F7D-A090-A3A68EC1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" y="201930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F5D33CE-4007-4629-B476-2F71F9F8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5800" y="2028825"/>
            <a:ext cx="1847850" cy="5911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6">
                    <a:lumMod val="20000"/>
                    <a:lumOff val="80000"/>
                  </a:schemeClr>
                </a:solidFill>
                <a:latin typeface="微软雅黑"/>
                <a:ea typeface="微软雅黑"/>
                <a:cs typeface="微软雅黑"/>
              </a:rPr>
              <a:t>物料需求计划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由生产计划直接驱动的原材料和零部件需求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圆角矩形 43">
            <a:extLst xmlns:a="http://schemas.openxmlformats.org/drawingml/2006/main">
              <a:ext uri="{FF2B5EF4-FFF2-40B4-BE49-F238E27FC236}">
                <a16:creationId xmlns:a16="http://schemas.microsoft.com/office/drawing/2014/main" id="{7D2EC547-40AD-497F-AAA2-4206B8A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02404F5B-6530-4BEB-8243-2059DA06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02882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月度采购总量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圆角矩形 45">
            <a:extLst xmlns:a="http://schemas.openxmlformats.org/drawingml/2006/main">
              <a:ext uri="{FF2B5EF4-FFF2-40B4-BE49-F238E27FC236}">
                <a16:creationId xmlns:a16="http://schemas.microsoft.com/office/drawing/2014/main" id="{4612F33D-1745-47F2-AE4E-4B4E1E6E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F3186B98-B1A4-448E-9D38-A59DA958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253365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供应商分配方案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圆角矩形 47">
            <a:extLst xmlns:a="http://schemas.openxmlformats.org/drawingml/2006/main">
              <a:ext uri="{FF2B5EF4-FFF2-40B4-BE49-F238E27FC236}">
                <a16:creationId xmlns:a16="http://schemas.microsoft.com/office/drawing/2014/main" id="{552F6E76-098B-473D-A451-F1BD6F10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8950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0F319263-A951-44E9-AB89-241FE96E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038475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建议到货日期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圆角矩形 49">
            <a:extLst xmlns:a="http://schemas.openxmlformats.org/drawingml/2006/main">
              <a:ext uri="{FF2B5EF4-FFF2-40B4-BE49-F238E27FC236}">
                <a16:creationId xmlns:a16="http://schemas.microsoft.com/office/drawing/2014/main" id="{C1639E86-3158-450E-8B3C-74716D1E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2047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8668409-72D4-48D7-BEE2-18EE18B4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543300"/>
            <a:ext cx="1914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锁价/合同建议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圆角矩形 51">
            <a:extLst xmlns:a="http://schemas.openxmlformats.org/drawingml/2006/main">
              <a:ext uri="{FF2B5EF4-FFF2-40B4-BE49-F238E27FC236}">
                <a16:creationId xmlns:a16="http://schemas.microsoft.com/office/drawing/2014/main" id="{086261F3-4DAD-43F9-839C-EB9EA8D6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193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9EA30423-ED78-4F48-8872-7B29DB82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02882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业务确认与审批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圆角矩形 53">
            <a:extLst xmlns:a="http://schemas.openxmlformats.org/drawingml/2006/main">
              <a:ext uri="{FF2B5EF4-FFF2-40B4-BE49-F238E27FC236}">
                <a16:creationId xmlns:a16="http://schemas.microsoft.com/office/drawing/2014/main" id="{EF86584C-0F95-48F5-9E0A-F3C901A0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2412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AAE4EF9-5F54-4E79-9C41-54C530E9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53365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E采 / SAP下单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E81889AD-4550-40E2-84E2-90B3B1B6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289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3D1DB762-CC4A-44C3-8A9A-2CA22D1E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38475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供应商发货到厂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95007135-F2B7-4FB9-874B-2AB8C8E4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533775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A78F7D68-0712-4C2B-BD59-C51745C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43300"/>
            <a:ext cx="1962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质检与订单更新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右箭头 59">
            <a:extLst xmlns:a="http://schemas.openxmlformats.org/drawingml/2006/main">
              <a:ext uri="{FF2B5EF4-FFF2-40B4-BE49-F238E27FC236}">
                <a16:creationId xmlns:a16="http://schemas.microsoft.com/office/drawing/2014/main" id="{142C0AD6-D908-4DBA-9F51-2D04D704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1" name="右箭头 60">
            <a:extLst xmlns:a="http://schemas.openxmlformats.org/drawingml/2006/main">
              <a:ext uri="{FF2B5EF4-FFF2-40B4-BE49-F238E27FC236}">
                <a16:creationId xmlns:a16="http://schemas.microsoft.com/office/drawing/2014/main" id="{A5AB2FDE-ED2B-4340-9DA8-04C4F921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62275"/>
            <a:ext cx="4572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2" name="右箭头 61">
            <a:extLst xmlns:a="http://schemas.openxmlformats.org/drawingml/2006/main">
              <a:ext uri="{FF2B5EF4-FFF2-40B4-BE49-F238E27FC236}">
                <a16:creationId xmlns:a16="http://schemas.microsoft.com/office/drawing/2014/main" id="{C85BA00F-6059-4C67-9744-8FD2C28B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62275"/>
            <a:ext cx="3619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63" name="椭圆 62">
            <a:extLst xmlns:a="http://schemas.openxmlformats.org/drawingml/2006/main">
              <a:ext uri="{FF2B5EF4-FFF2-40B4-BE49-F238E27FC236}">
                <a16:creationId xmlns:a16="http://schemas.microsoft.com/office/drawing/2014/main" id="{A7EF8300-1CE0-4A1F-9ADD-0F69092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717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2833"/>
          </a:solidFill>
          <a:ln xmlns:a="http://schemas.openxmlformats.org/drawingml/2006/main" w="28575">
            <a:solidFill>
              <a:srgbClr val="53D38A"/>
            </a:solidFill>
            <a:prstDash val="solid"/>
          </a:ln>
        </p:spPr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553E8825-C646-4EC4-AEE1-DC32829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527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采购组合优化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CD8B47F7-EF17-45B4-AB76-01B87DAD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067050"/>
            <a:ext cx="1857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分期待采购需求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供应商准入与评分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综合成本最优化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到货可行性校验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下箭头 65">
            <a:extLst xmlns:a="http://schemas.openxmlformats.org/drawingml/2006/main">
              <a:ext uri="{FF2B5EF4-FFF2-40B4-BE49-F238E27FC236}">
                <a16:creationId xmlns:a16="http://schemas.microsoft.com/office/drawing/2014/main" id="{14466CA5-DEB9-4C72-A68D-FE61468F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095750"/>
            <a:ext cx="323850" cy="5238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67" name="左箭头 66">
            <a:extLst xmlns:a="http://schemas.openxmlformats.org/drawingml/2006/main">
              <a:ext uri="{FF2B5EF4-FFF2-40B4-BE49-F238E27FC236}">
                <a16:creationId xmlns:a16="http://schemas.microsoft.com/office/drawing/2014/main" id="{2E1531DA-2B49-4AA7-BA4A-218045EF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8096250" cy="3048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8" name="上箭头 67">
            <a:extLst xmlns:a="http://schemas.openxmlformats.org/drawingml/2006/main">
              <a:ext uri="{FF2B5EF4-FFF2-40B4-BE49-F238E27FC236}">
                <a16:creationId xmlns:a16="http://schemas.microsoft.com/office/drawing/2014/main" id="{97F3A8F1-449A-4EF5-89F7-09F57C3B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38625"/>
            <a:ext cx="323850" cy="52387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AB4A4432-0B92-4B2E-A384-9FB46E55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244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实际价格 / 到货数量与日期 / 质量 / 供应商履约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E0A324EE-099E-4AFF-A662-3F5834B7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81625"/>
            <a:ext cx="904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53D38A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11D54ED5-9E48-443B-A763-7EEBC0F1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387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53D38A"/>
                </a:solidFill>
                <a:latin typeface="微软雅黑"/>
                <a:ea typeface="微软雅黑"/>
                <a:cs typeface="微软雅黑"/>
              </a:rPr>
              <a:t>从单价采购升级为总成本与供应安全协同优化</a:t>
            </a:r>
            <a:endParaRPr sz="1350" b="1">
              <a:solidFill>
                <a:srgbClr val="53D38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E281B930-3830-4166-9C30-2AFD2D13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2452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减少重复采购和缺口风险，提升多供应商组合决策效率，并为供应中断提供可解释的备选方案。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8243586C-811B-4403-84FF-80160C6E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4045" y="27457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87C6255E-8049-484F-9EA5-47893BC0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0720" y="2917825"/>
            <a:ext cx="1847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2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库存水位信息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实时库存数据，用于精准计算净需求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E9AF4B4A-3F21-40DC-AF42-D70251F8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8965" y="3482340"/>
            <a:ext cx="1981200" cy="6007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A85D4F6A-B8A9-4908-8DFE-8CF63272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9915" y="3654425"/>
            <a:ext cx="200533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chemeClr val="accent4">
                    <a:lumMod val="60000"/>
                    <a:lumOff val="40000"/>
                  </a:schemeClr>
                </a:solidFill>
                <a:latin typeface="微软雅黑"/>
                <a:ea typeface="微软雅黑"/>
                <a:cs typeface="微软雅黑"/>
              </a:rPr>
              <a:t>供应商画像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包括供应商的交货表现、质量水平、历史价格和合同条款</a:t>
            </a:r>
            <a:endParaRPr sz="109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133115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AED229A-7196-40AF-A024-2341B5223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4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acb846adc46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648FCD8-4F31-464D-96C1-017E6284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全自动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统计与成本核算分析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B1EFB54-0EA7-4F45-92ED-0B6443ED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b="1">
                <a:solidFill>
                  <a:srgbClr val="FFFFFF"/>
                </a:solidFill>
              </a:rPr>
              <a:t>成本分摊—批次价值链与多维利润分析</a:t>
            </a:r>
            <a:endParaRPr b="1">
              <a:solidFill>
                <a:srgbClr val="FFFFFF"/>
              </a:solidFill>
            </a:endParaRPr>
          </a:p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成本沿实物流和批次链逐级归集、分摊与传递，最终穿透到销售订单、客户和产品经营结果。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4ED6584-BDC7-4431-B992-DBD648C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成本形成链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6424AED-4775-4BA6-B528-E8F8B9486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298E83A-FCED-4A8C-9EFF-3FDCA35B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D9FD0CE-22B6-4975-B6F5-8683FB0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采购入厂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0232C82-7C10-411A-864C-A4AB2982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采购价/运费/入库费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D6C01252-D0F8-439F-B429-CA84623A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A3E7AEF4-69D6-4A56-8F4C-277E4C72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23D4F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456C91A0-5C1C-4008-87BE-75F86CB7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仓储投料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FFD34E-0CFA-4531-8093-EC837A6E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移库/装卸/人工费用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070F7DD1-E5D7-4D88-B7C9-7DE750DD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3D4FF"/>
          </a:solidFill>
          <a:ln xmlns:a="http://schemas.openxmlformats.org/drawingml/2006/main" w="0">
            <a:solidFill>
              <a:srgbClr val="23D4F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0711B659-E68B-4016-B29F-A1D75B18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53D38A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11B1FDA4-679C-42CA-9253-2BBCDB44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生产加工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373A9AE-15BE-46E6-8D4A-C13671A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投料批次/能源/制造费用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76D08E9A-64EA-4748-9EA3-AA5683E9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3D38A"/>
          </a:solidFill>
          <a:ln xmlns:a="http://schemas.openxmlformats.org/drawingml/2006/main" w="0">
            <a:solidFill>
              <a:srgbClr val="53D38A"/>
            </a:solidFill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3913C8EC-C13A-4C61-9E9E-6B431995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195262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8AA337E4-D845-4C11-9A6B-29CA5DA7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62175"/>
            <a:ext cx="1762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订单交付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A1043B8-EDD6-463C-905C-86B65E366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457450"/>
            <a:ext cx="17049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包装/运输/销售订单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下箭头 24">
            <a:extLst xmlns:a="http://schemas.openxmlformats.org/drawingml/2006/main">
              <a:ext uri="{FF2B5EF4-FFF2-40B4-BE49-F238E27FC236}">
                <a16:creationId xmlns:a16="http://schemas.microsoft.com/office/drawing/2014/main" id="{1A94217D-23C8-49BA-A426-D17F497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90875"/>
            <a:ext cx="342900" cy="4953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26" name="圆角矩形 25">
            <a:extLst xmlns:a="http://schemas.openxmlformats.org/drawingml/2006/main">
              <a:ext uri="{FF2B5EF4-FFF2-40B4-BE49-F238E27FC236}">
                <a16:creationId xmlns:a16="http://schemas.microsoft.com/office/drawing/2014/main" id="{8375FA32-489B-4F1C-8841-CF119D85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62375"/>
            <a:ext cx="40481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B2833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2BFED1D-FF58-45DB-91F8-B8AEB28E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6971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批次成本引擎</a:t>
            </a:r>
            <a:endParaRPr sz="280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6127E0A-83F2-4F9A-907B-4AEA5B61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286250"/>
            <a:ext cx="3571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右箭头 28">
            <a:extLst xmlns:a="http://schemas.openxmlformats.org/drawingml/2006/main">
              <a:ext uri="{FF2B5EF4-FFF2-40B4-BE49-F238E27FC236}">
                <a16:creationId xmlns:a16="http://schemas.microsoft.com/office/drawing/2014/main" id="{26BE3070-DE33-43F6-91AD-AC1890B1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71950"/>
            <a:ext cx="5238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200"/>
          </a:solidFill>
          <a:ln xmlns:a="http://schemas.openxmlformats.org/drawingml/2006/main" w="0">
            <a:solidFill>
              <a:srgbClr val="FFF200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6E36FF8-EA37-46B8-B241-6EA03534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81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价值分析树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AA6A6BD-8130-4C23-917D-D8E5EE7A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57600"/>
            <a:ext cx="171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3E68042-6559-4484-8D0D-91D43789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B4959B5-26C3-4E47-B723-B40F34FC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8A1F7EA3-3B67-4015-A565-5497613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100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32642AD-028D-4571-A6AB-555BF826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8195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942B97B0-5C33-4048-8FCE-11A3AE81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00C60500-1F81-4AB9-BC47-7A19DAD8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供应商贡献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B0C4DA98-5187-4426-8A60-DA7FF746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381500"/>
            <a:ext cx="14763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F200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E2466E1-3F6E-4E7F-9F75-B17A1768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391025"/>
            <a:ext cx="1343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销售订单利润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81C65B15-7C32-4A42-A59E-778D243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3190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9A09051C-55E7-413C-9A16-5B132DE7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62525"/>
            <a:ext cx="30575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成本差异追溯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401A90EF-0A5D-4F4D-B43D-2570C89D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91125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财务复核与规则版本管理贯穿归集、分摊和发布全过程</a:t>
            </a:r>
            <a:endParaRPr sz="112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圆角矩形 42">
            <a:extLst xmlns:a="http://schemas.openxmlformats.org/drawingml/2006/main">
              <a:ext uri="{FF2B5EF4-FFF2-40B4-BE49-F238E27FC236}">
                <a16:creationId xmlns:a16="http://schemas.microsoft.com/office/drawing/2014/main" id="{E2F5028B-07F9-4443-A980-87360821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715000"/>
            <a:ext cx="7524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22D"/>
          </a:solidFill>
          <a:ln xmlns:a="http://schemas.openxmlformats.org/drawingml/2006/main" w="14288">
            <a:solidFill>
              <a:srgbClr val="FFF200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ABFC004-4CC5-453F-BA9C-AAF3BD5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经营价值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42B0C5F7-0082-4BD6-A1F2-D815284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0579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让供应链决策看见真实成本和利润，为采购、排程与库存策略提供统一价值尺度。</a:t>
            </a:r>
            <a:endParaRPr sz="10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endParaRPr sz="1050"/>
          </a:p>
        </p:txBody>
      </p:sp>
    </p:spTree>
    <p:extLst>
      <p:ext uri="{BB962C8B-B14F-4D97-AF65-F5344CB8AC3E}">
        <p14:creationId xmlns:p14="http://schemas.microsoft.com/office/powerpoint/2010/main" val="7847892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DD7CCE-7007-410D-8F77-3C8695610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0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4dca47a4e54d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431BDDA5-0EC0-498C-95E1-277CC036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960120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智慧运营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驾驶舱</a:t>
            </a:r>
            <a:endParaRPr sz="2400" b="1" i="0" u="none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47BEE2F-2FFE-4B8D-88DC-5FAFD91A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以统一态势为中心，向外连接指标监测、异常处置、情景推演和正式业务调整，形成整齐可追踪的管理闭环。</a:t>
            </a:r>
            <a:endParaRPr sz="1350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4F49BD8F-BD7D-45F8-BCBF-E370CE3A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F2A"/>
          </a:solidFill>
          <a:ln xmlns:a="http://schemas.openxmlformats.org/drawingml/2006/main" w="19050">
            <a:solidFill>
              <a:schemeClr val="accent2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7AF4238E-69FF-4594-91BC-4A315C2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67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3442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7325AD0-69B9-4D1D-8018-2CD9FDAF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1242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供应链态势中枢</a:t>
            </a:r>
            <a:endParaRPr sz="18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197A255-5FFF-41A9-8082-CBEB6782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67125"/>
            <a:ext cx="1762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KPI · 地图 · 专题视图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  <a:def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红黄绿健康度 · 影响链</a:t>
            </a:r>
            <a:endParaRPr sz="112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3E9BBB0-3574-44A3-BAC5-F454EDE0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运营闭环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0C4AFA98-88F0-4F85-8133-73658776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9338DB9-D4EB-4C29-9F10-A5487791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619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决策闭环</a:t>
            </a:r>
            <a:endParaRPr sz="1275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9FD7C03-57FC-4609-812C-A3B822046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95475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EF"/>
          </a:solidFill>
          <a:ln xmlns:a="http://schemas.openxmlformats.org/drawingml/2006/main" w="0">
            <a:solidFill>
              <a:srgbClr val="00AEEF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62B80BE3-8868-42DC-8B6A-30A3C901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7E2FB19-D733-4AF4-8705-F969A919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汇聚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71D51C6-6C2B-4F50-A94B-9B2B5C99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跨模块结果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1B0BDD14-8E5A-4001-8984-E06AFE10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D427999F-C310-4ED9-9997-67FDBC72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71E0022-618E-43B7-B4D9-AAE8B79B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识别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1D2A812-576E-4737-BD29-E589574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异常与预警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D9E163C6-68E9-4ED9-8F3B-E24EA996F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622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53E81691-C9FE-467D-B4C7-1866406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1D55AA4-B27A-4A07-8B5A-6D906D73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钻取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0B0906D0-7E07-4E81-B259-2BC8191A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明细与根因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右箭头 26">
            <a:extLst xmlns:a="http://schemas.openxmlformats.org/drawingml/2006/main">
              <a:ext uri="{FF2B5EF4-FFF2-40B4-BE49-F238E27FC236}">
                <a16:creationId xmlns:a16="http://schemas.microsoft.com/office/drawing/2014/main" id="{DC56BA15-F13F-463D-A2B7-6D0334856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6480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C0793208-5C15-4239-A96B-B145B172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70DF0B6-658F-4815-B5D9-8A5FB3B2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处置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5E302D-F9B1-46E3-88D3-3B0A3CF7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派发与跟踪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右箭头 30">
            <a:extLst xmlns:a="http://schemas.openxmlformats.org/drawingml/2006/main">
              <a:ext uri="{FF2B5EF4-FFF2-40B4-BE49-F238E27FC236}">
                <a16:creationId xmlns:a16="http://schemas.microsoft.com/office/drawing/2014/main" id="{FA289ADC-59E9-4C0F-BCE9-E363AEC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3338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8AACF0AA-10DA-4240-B638-257EEDEC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9D4A033-D61E-455B-A33B-7E4AA9AB6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验证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007EE5-FCFC-4297-86C2-37A2EE0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恢复后关闭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右箭头 34">
            <a:extLst xmlns:a="http://schemas.openxmlformats.org/drawingml/2006/main">
              <a:ext uri="{FF2B5EF4-FFF2-40B4-BE49-F238E27FC236}">
                <a16:creationId xmlns:a16="http://schemas.microsoft.com/office/drawing/2014/main" id="{6D97F93E-32B9-4AE9-A771-3BC329EC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19675"/>
            <a:ext cx="4572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6" name="左箭头 35">
            <a:extLst xmlns:a="http://schemas.openxmlformats.org/drawingml/2006/main">
              <a:ext uri="{FF2B5EF4-FFF2-40B4-BE49-F238E27FC236}">
                <a16:creationId xmlns:a16="http://schemas.microsoft.com/office/drawing/2014/main" id="{3F323AC1-F8C3-4244-9316-28F1626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2764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C58C2500-DCCC-414C-9A3D-42EB77FF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955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FF20805-1FE0-4A46-ADE3-2465493D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621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设定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B3A67DBB-1AF5-4CD8-B611-8C66AF13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4574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情景参数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左箭头 39">
            <a:extLst xmlns:a="http://schemas.openxmlformats.org/drawingml/2006/main">
              <a:ext uri="{FF2B5EF4-FFF2-40B4-BE49-F238E27FC236}">
                <a16:creationId xmlns:a16="http://schemas.microsoft.com/office/drawing/2014/main" id="{311622E9-C470-4A7F-81C9-FFDC09EB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622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5E729C43-4295-477F-8C79-755B3E5E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813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EDBA0BFB-58B4-4941-B42B-35DF94CE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479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冻结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117732E-1D2B-47B2-AD44-90806333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1432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基线快照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左箭头 43">
            <a:extLst xmlns:a="http://schemas.openxmlformats.org/drawingml/2006/main">
              <a:ext uri="{FF2B5EF4-FFF2-40B4-BE49-F238E27FC236}">
                <a16:creationId xmlns:a16="http://schemas.microsoft.com/office/drawing/2014/main" id="{7B1DAED2-0277-4863-8A51-E8DCC2BE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480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5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E5784C81-E701-4DE6-A893-7CB15611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671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20543E9F-4165-4033-B96B-4F5168E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337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编排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DDE84D26-0F58-44A0-A0A5-80168A7D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8290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专业模型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左箭头 47">
            <a:extLst xmlns:a="http://schemas.openxmlformats.org/drawingml/2006/main">
              <a:ext uri="{FF2B5EF4-FFF2-40B4-BE49-F238E27FC236}">
                <a16:creationId xmlns:a16="http://schemas.microsoft.com/office/drawing/2014/main" id="{F742CBF0-29B4-410A-A44C-340C11D6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338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49" name="圆角矩形 48">
            <a:extLst xmlns:a="http://schemas.openxmlformats.org/drawingml/2006/main">
              <a:ext uri="{FF2B5EF4-FFF2-40B4-BE49-F238E27FC236}">
                <a16:creationId xmlns:a16="http://schemas.microsoft.com/office/drawing/2014/main" id="{BAA331B3-7CB5-4F65-B177-6234879E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529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0E7221B-687C-4E57-803E-4826960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2195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对比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823E29F8-95BD-4093-8314-A5E2B671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5148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成本/服务/风险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左箭头 51">
            <a:extLst xmlns:a="http://schemas.openxmlformats.org/drawingml/2006/main">
              <a:ext uri="{FF2B5EF4-FFF2-40B4-BE49-F238E27FC236}">
                <a16:creationId xmlns:a16="http://schemas.microsoft.com/office/drawing/2014/main" id="{3ED2804E-C9A1-411A-A0FE-6398BF8A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19675"/>
            <a:ext cx="45720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556C"/>
          </a:solidFill>
          <a:ln xmlns:a="http://schemas.openxmlformats.org/drawingml/2006/main" w="0">
            <a:solidFill>
              <a:srgbClr val="17556C"/>
            </a:solidFill>
            <a:prstDash val="solid"/>
          </a:ln>
        </p:spPr>
      </p:sp>
      <p:sp>
        <p:nvSpPr>
          <p:cNvPr id="53" name="圆角矩形 52">
            <a:extLst xmlns:a="http://schemas.openxmlformats.org/drawingml/2006/main">
              <a:ext uri="{FF2B5EF4-FFF2-40B4-BE49-F238E27FC236}">
                <a16:creationId xmlns:a16="http://schemas.microsoft.com/office/drawing/2014/main" id="{DDDDD09C-4C14-40C2-942E-5FC483C6F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38700"/>
            <a:ext cx="1381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91820"/>
          </a:solidFill>
          <a:ln xmlns:a="http://schemas.openxmlformats.org/drawingml/2006/main" w="19050">
            <a:solidFill>
              <a:srgbClr val="FFF200"/>
            </a:solidFill>
            <a:prstDash val="solid"/>
          </a:ln>
        </p:spPr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2A9FB8A0-4015-4584-BA76-85AFAB9F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05375"/>
            <a:ext cx="1190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采纳</a:t>
            </a:r>
            <a:endParaRPr sz="14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E2BE2E8-013A-4E87-9AC1-61FE624A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5200650"/>
            <a:ext cx="113347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0">
                <a:solidFill>
                  <a:srgbClr val="AFC0CA"/>
                </a:solidFill>
                <a:latin typeface="微软雅黑"/>
                <a:ea typeface="微软雅黑"/>
                <a:cs typeface="微软雅黑"/>
              </a:rPr>
              <a:t>正式调整</a:t>
            </a:r>
            <a:endParaRPr sz="1015" b="0">
              <a:solidFill>
                <a:srgbClr val="AFC0C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6" name="圆角矩形 55">
            <a:extLst xmlns:a="http://schemas.openxmlformats.org/drawingml/2006/main">
              <a:ext uri="{FF2B5EF4-FFF2-40B4-BE49-F238E27FC236}">
                <a16:creationId xmlns:a16="http://schemas.microsoft.com/office/drawing/2014/main" id="{40D9A281-A0F7-470A-80DC-36897412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770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00AEE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7681F29-B440-4985-858D-55A80930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0445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库存健康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圆角矩形 57">
            <a:extLst xmlns:a="http://schemas.openxmlformats.org/drawingml/2006/main">
              <a:ext uri="{FF2B5EF4-FFF2-40B4-BE49-F238E27FC236}">
                <a16:creationId xmlns:a16="http://schemas.microsoft.com/office/drawing/2014/main" id="{A8E93C7D-BDC4-4246-AC95-4073DFBF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585" y="22383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53D38A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3F7074D9-913D-46CD-BFE4-3CB235F4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2479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交付达成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圆角矩形 59">
            <a:extLst xmlns:a="http://schemas.openxmlformats.org/drawingml/2006/main">
              <a:ext uri="{FF2B5EF4-FFF2-40B4-BE49-F238E27FC236}">
                <a16:creationId xmlns:a16="http://schemas.microsoft.com/office/drawing/2014/main" id="{E4D7DDA3-8113-4562-A6BC-E5199915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945" y="4676775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FFB348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0F548691-1E66-448B-9988-9ECF443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620" y="4686300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采购执行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圆角矩形 61">
            <a:extLst xmlns:a="http://schemas.openxmlformats.org/drawingml/2006/main">
              <a:ext uri="{FF2B5EF4-FFF2-40B4-BE49-F238E27FC236}">
                <a16:creationId xmlns:a16="http://schemas.microsoft.com/office/drawing/2014/main" id="{BF0C60C9-F2F5-464C-A68F-5FAF0EA83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466725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23D4FF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BD2670F1-143C-49BB-8DFB-BC8F75E0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676775"/>
            <a:ext cx="1295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产能负荷</a:t>
            </a:r>
            <a:endParaRPr sz="109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左箭头 63">
            <a:extLst xmlns:a="http://schemas.openxmlformats.org/drawingml/2006/main">
              <a:ext uri="{FF2B5EF4-FFF2-40B4-BE49-F238E27FC236}">
                <a16:creationId xmlns:a16="http://schemas.microsoft.com/office/drawing/2014/main" id="{87F56F5C-91A3-4D8D-99A0-62323162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55245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17485A"/>
          </a:solidFill>
          <a:ln xmlns:a="http://schemas.openxmlformats.org/drawingml/2006/main" w="0">
            <a:solidFill>
              <a:srgbClr val="17485A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10B5E147-4228-414C-9236-FD048CAD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769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正式执行结果回流态势监测；新问题进入沙盘评估并驱动下一轮改进</a:t>
            </a:r>
            <a:endParaRPr sz="1125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A9ACC57F-ED27-490F-BD5A-D42EB1EE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912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200"/>
                </a:solidFill>
                <a:latin typeface="微软雅黑"/>
                <a:ea typeface="微软雅黑"/>
                <a:cs typeface="微软雅黑"/>
              </a:rPr>
              <a:t>看全局  ·  找异常  ·  做推演  ·  促协同  ·  跟闭环</a:t>
            </a:r>
            <a:endParaRPr sz="1350" b="1">
              <a:solidFill>
                <a:srgbClr val="FFF20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2" name="图片 6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38554e4eec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835" y="875030"/>
            <a:ext cx="9561195" cy="504888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709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7D3E34A8-7308-43ED-9313-6208E43D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880" y="5946140"/>
            <a:ext cx="1164082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47" name="圆角矩形 46">
            <a:extLst xmlns:a="http://schemas.openxmlformats.org/drawingml/2006/main">
              <a:ext uri="{FF2B5EF4-FFF2-40B4-BE49-F238E27FC236}">
                <a16:creationId xmlns:a16="http://schemas.microsoft.com/office/drawing/2014/main" id="{488A7004-2F09-42AD-A526-CF80C81D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4345" y="4942205"/>
            <a:ext cx="7202170" cy="80899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48490A48-3FA5-4AAF-B561-2899AEF3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155" y="140525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07B3A3FC-5623-4323-9CC5-4C614AD1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3235" y="1412875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38" name="圆角矩形 37">
            <a:extLst xmlns:a="http://schemas.openxmlformats.org/drawingml/2006/main">
              <a:ext uri="{FF2B5EF4-FFF2-40B4-BE49-F238E27FC236}">
                <a16:creationId xmlns:a16="http://schemas.microsoft.com/office/drawing/2014/main" id="{FE144240-8273-4061-B9B1-4FDA1402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1175" y="1412240"/>
            <a:ext cx="2081530" cy="241808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chemeClr val="accent1">
              <a:lumMod val="50000"/>
            </a:scheme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A7BD09CA-BE3C-4493-AB0D-A847BF52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382333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ED8376D4-1CF6-4EC9-85F9-3DF4DA52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1191895"/>
            <a:ext cx="2382520" cy="94361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02832"/>
          </a:solidFill>
          <a:ln xmlns:a="http://schemas.openxmlformats.org/drawingml/2006/main" w="11430">
            <a:solidFill>
              <a:srgbClr val="17556C"/>
            </a:solidFill>
            <a:prstDash val="solid"/>
          </a:ln>
        </p:spPr>
      </p:sp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74EC9FD1-87FE-4ED7-BBE2-3C6E2DEE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239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59f3a2b4141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D7D8020-1D87-413D-8BBF-440B83B9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模型数据驱动下的经营决策升级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90C62B7-77C2-4F31-B4A7-FBA3656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业务对象：生产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采购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销售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业务范围：物料流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E7F085B1-84BD-4979-8CB2-D962A371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250" y="5946140"/>
            <a:ext cx="5302885" cy="8102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indent="0" algn="l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业务环节：需求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计划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排产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执行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报工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跟踪</a:t>
            </a:r>
            <a:br/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业务管理：订单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仓储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发货</a:t>
            </a:r>
            <a:endParaRPr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3" name="文本框 132">
            <a:extLst xmlns:a="http://schemas.openxmlformats.org/drawingml/2006/main">
              <a:ext uri="{FF2B5EF4-FFF2-40B4-BE49-F238E27FC236}">
                <a16:creationId xmlns:a16="http://schemas.microsoft.com/office/drawing/2014/main" id="{49F4D644-D7C8-4266-827A-F80DB488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310" y="4942205"/>
            <a:ext cx="720217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每批、每类产品、每个车次产品的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利润是多少？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工厂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每月每周每天每个工序</a:t>
            </a: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的成本是多少？</a:t>
            </a:r>
            <a:endParaRPr sz="2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4" name="文本框 133">
            <a:extLst xmlns:a="http://schemas.openxmlformats.org/drawingml/2006/main">
              <a:ext uri="{FF2B5EF4-FFF2-40B4-BE49-F238E27FC236}">
                <a16:creationId xmlns:a16="http://schemas.microsoft.com/office/drawing/2014/main" id="{B720DF60-978B-465C-A5A7-E5BD1B5E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1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物料流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5" name="文本框 134">
            <a:extLst xmlns:a="http://schemas.openxmlformats.org/drawingml/2006/main">
              <a:ext uri="{FF2B5EF4-FFF2-40B4-BE49-F238E27FC236}">
                <a16:creationId xmlns:a16="http://schemas.microsoft.com/office/drawing/2014/main" id="{CC454089-7050-45BD-97E1-9D0CA910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0570" y="4635500"/>
            <a:ext cx="90551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资金流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6" name="文本框 135">
            <a:extLst xmlns:a="http://schemas.openxmlformats.org/drawingml/2006/main">
              <a:ext uri="{FF2B5EF4-FFF2-40B4-BE49-F238E27FC236}">
                <a16:creationId xmlns:a16="http://schemas.microsoft.com/office/drawing/2014/main" id="{31BD91EF-2D11-4E9D-BE49-E53E8D90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40" y="4635500"/>
            <a:ext cx="958215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lvl="0" algn="ctr">
              <a:buClrTx/>
              <a:buSzTx/>
              <a:buFontTx/>
              <a:buNone/>
            </a:pPr>
            <a:r>
              <a:rPr sz="1600" b="1">
                <a:ln w="15875"/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信息流</a:t>
            </a:r>
            <a:endParaRPr sz="1600" b="1">
              <a:ln w="15875"/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47" name="直接箭头连接符 137"/>
          <p:cNvCxnSpPr/>
          <p:nvPr/>
        </p:nvCxnSpPr>
        <p:spPr>
          <a:xfrm xmlns:a="http://schemas.openxmlformats.org/drawingml/2006/main">
            <a:off x="4342765" y="4804410"/>
            <a:ext cx="1115695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8" name="直接箭头连接符 139"/>
          <p:cNvCxnSpPr/>
          <p:nvPr/>
        </p:nvCxnSpPr>
        <p:spPr>
          <a:xfrm xmlns:a="http://schemas.openxmlformats.org/drawingml/2006/main">
            <a:off x="6780900" y="478885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249" name="直接箭头连接符 140"/>
          <p:cNvCxnSpPr/>
          <p:nvPr/>
        </p:nvCxnSpPr>
        <p:spPr>
          <a:xfrm xmlns:a="http://schemas.openxmlformats.org/drawingml/2006/main">
            <a:off x="9254860" y="4809173"/>
            <a:ext cx="1116000" cy="0"/>
          </a:xfrm>
          <a:prstGeom xmlns:a="http://schemas.openxmlformats.org/drawingml/2006/main" prst="straightConnector1">
            <a:avLst/>
          </a:prstGeom>
          <a:ln xmlns:a="http://schemas.openxmlformats.org/drawingml/2006/main">
            <a:tailEnd type="stealth" w="med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77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C480CD97-188D-4748-A194-62D3CB2BA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" y="1191895"/>
            <a:ext cx="2383790" cy="9429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原料怎么采购？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供应商如何选择？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客户如何分级？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853E69E1-537C-4464-920C-B9A83C8E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2166620"/>
            <a:ext cx="2383155" cy="1656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产供销运如何平衡优化？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生产模式如何选择？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订单如何满足？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交期如何保障？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如何执行生产？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紧急事件如何应对？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A1E18481-9945-4651-89D6-7918535B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10" y="4812030"/>
            <a:ext cx="2384425" cy="6692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供应链如何跟踪？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0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信息如何共享？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Plan text.txt">
            <a:extLst xmlns:a="http://schemas.openxmlformats.org/drawingml/2006/main">
              <a:ext uri="{FF2B5EF4-FFF2-40B4-BE49-F238E27FC236}">
                <a16:creationId xmlns:a16="http://schemas.microsoft.com/office/drawing/2014/main" id="{663FFCD1-3006-4770-B99A-B82B60119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05" y="3830955"/>
            <a:ext cx="2384425" cy="92519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库存如何优化？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运输成本如何控制？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85750" lvl="0" indent="-285750" algn="l">
              <a:lnSpc>
                <a:spcPct val="110000"/>
              </a:lnSpc>
              <a:buClrTx/>
              <a:buSzTx/>
              <a:buFont typeface="Arial"/>
              <a:buChar char="•"/>
            </a:pPr>
            <a:r>
              <a:rPr sz="1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仓库网络怎么设计？</a:t>
            </a:r>
            <a:endParaRPr sz="1400" b="1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BA44AE5-4275-4B7C-8EBC-DDA4521F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389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01</a:t>
            </a:r>
            <a:endParaRPr sz="1100"/>
          </a:p>
        </p:txBody>
      </p:sp>
      <p:sp>
        <p:nvSpPr>
          <p:cNvPr id="1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2AD48CF9-EACB-40C7-BBD4-C0FA870C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932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数据基座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5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978133db543ea">
            <a:extLst>
              <a:ext uri="{96DAC541-7B7A-43D3-8B79-37D633B846F1}">
                <asvg:svgBlip xmlns:asvg="http://schemas.microsoft.com/office/drawing/2016/SVG/main" r:embed="R900489a5a41c4ac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9567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57" name="Connector 10"/>
          <p:cNvCxnSpPr/>
          <p:nvPr/>
        </p:nvCxnSpPr>
        <p:spPr>
          <a:xfrm xmlns:a="http://schemas.openxmlformats.org/drawingml/2006/main" rot="21584515">
            <a:off x="443738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B0E01E6C-6AAB-4C01-9F0F-22DD00FC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738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统一数据服务层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标准 API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实时数据平台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事件订阅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外部数据接入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价格/天气/路况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关键运营 KPI 延迟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5s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BFC0F85-0B1A-4302-9C49-50CA7C9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02</a:t>
            </a:r>
            <a:endParaRPr sz="1100"/>
          </a:p>
        </p:txBody>
      </p:sp>
      <p:sp>
        <p:nvSpPr>
          <p:cNvPr id="2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BEC3F71E-2FA6-4EA7-BF32-F93C6D2C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7255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模型中枢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1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266e8117a4472">
            <a:extLst>
              <a:ext uri="{96DAC541-7B7A-43D3-8B79-37D633B846F1}">
                <asvg:svgBlip xmlns:asvg="http://schemas.microsoft.com/office/drawing/2016/SVG/main" r:embed="R7ca4c92372a5455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3605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2" name="Connector 16"/>
          <p:cNvCxnSpPr/>
          <p:nvPr/>
        </p:nvCxnSpPr>
        <p:spPr>
          <a:xfrm xmlns:a="http://schemas.openxmlformats.org/drawingml/2006/main" rot="21584515">
            <a:off x="6965315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6852200-5A2A-4C30-8D60-251A50F7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5315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数学优化求解器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多目标建模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模型服务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预测/情景模拟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模型资产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库存优化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成本核算模型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72h 详细排程求解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≤ 5min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2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73B0C3A-9C0E-4CCB-BD83-45DB6FAB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1565910"/>
            <a:ext cx="28194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03</a:t>
            </a:r>
            <a:endParaRPr sz="1100"/>
          </a:p>
        </p:txBody>
      </p:sp>
      <p:sp>
        <p:nvSpPr>
          <p:cNvPr id="3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756DA540-A125-41DF-91FD-E1566A07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190" y="1540510"/>
            <a:ext cx="1160145" cy="3594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6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决策应用</a:t>
            </a:r>
            <a:endParaRPr sz="1600" b="1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pic>
        <p:nvPicPr>
          <p:cNvPr id="266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ca15422f74a8f">
            <a:extLst>
              <a:ext uri="{96DAC541-7B7A-43D3-8B79-37D633B846F1}">
                <asvg:svgBlip xmlns:asvg="http://schemas.microsoft.com/office/drawing/2016/SVG/main" r:embed="R8c4303634f9149d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51540" y="1540510"/>
            <a:ext cx="215265" cy="333375"/>
          </a:xfrm>
          <a:prstGeom xmlns:a="http://schemas.openxmlformats.org/drawingml/2006/main" prst="rect">
            <a:avLst/>
          </a:prstGeom>
        </p:spPr>
      </p:pic>
      <p:cxnSp>
        <p:nvCxnSpPr>
          <p:cNvPr id="267" name="Connector 22"/>
          <p:cNvCxnSpPr/>
          <p:nvPr/>
        </p:nvCxnSpPr>
        <p:spPr>
          <a:xfrm xmlns:a="http://schemas.openxmlformats.org/drawingml/2006/main" rot="21584515">
            <a:off x="9493250" y="2021205"/>
            <a:ext cx="184023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D8E0E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A720BFC7-FDD5-4505-9156-325E9CD9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250" y="2207260"/>
            <a:ext cx="1840230" cy="14878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采购决策优化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总拥有成本最优</a:t>
            </a:r>
            <a:endParaRPr sz="1100">
              <a:solidFill>
                <a:schemeClr val="bg1"/>
              </a:solidFill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精益生产排程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安全库存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1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全程追溯协同</a:t>
            </a: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 · 驾驶舱</a:t>
            </a:r>
            <a:endParaRPr sz="12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  <a:p xmlns:a="http://schemas.openxmlformats.org/drawingml/2006/main">
            <a:pPr marL="0" indent="0" algn="l">
              <a:lnSpc>
                <a:spcPct val="117000"/>
              </a:lnSpc>
              <a:buNone/>
            </a:pPr>
            <a:r>
              <a:rPr sz="12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数据—模型—应用—反馈</a:t>
            </a:r>
            <a:r>
              <a:rPr sz="12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200" b="1" i="0" u="none">
                <a:solidFill>
                  <a:srgbClr val="F58220"/>
                </a:solidFill>
                <a:latin typeface="Noto Sans SC"/>
                <a:ea typeface="Noto Sans SC"/>
                <a:cs typeface="Noto Sans SC"/>
              </a:rPr>
              <a:t>闭环迭代</a:t>
            </a:r>
            <a:endParaRPr sz="1200" b="1" i="0" u="none">
              <a:solidFill>
                <a:srgbClr val="F58220"/>
              </a:solidFill>
              <a:latin typeface="Noto Sans SC"/>
              <a:ea typeface="Noto Sans SC"/>
              <a:cs typeface="Noto Sans SC"/>
            </a:endParaRPr>
          </a:p>
        </p:txBody>
      </p:sp>
      <p:cxnSp>
        <p:nvCxnSpPr>
          <p:cNvPr id="269" name="Connector 24"/>
          <p:cNvCxnSpPr/>
          <p:nvPr/>
        </p:nvCxnSpPr>
        <p:spPr>
          <a:xfrm xmlns:a="http://schemas.openxmlformats.org/drawingml/2006/main" rot="21532602">
            <a:off x="6410325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70" name="Connector 25"/>
          <p:cNvCxnSpPr/>
          <p:nvPr/>
        </p:nvCxnSpPr>
        <p:spPr>
          <a:xfrm xmlns:a="http://schemas.openxmlformats.org/drawingml/2006/main" rot="21532602">
            <a:off x="8938260" y="2662555"/>
            <a:ext cx="422910" cy="1270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B708EDA0-4ABD-425E-96ED-1D535C2A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" y="1035050"/>
            <a:ext cx="2667000" cy="448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 cmpd="sng">
            <a:noFill/>
            <a:prstDash val="solid"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圆角矩形 40">
            <a:extLst xmlns:a="http://schemas.openxmlformats.org/drawingml/2006/main">
              <a:ext uri="{FF2B5EF4-FFF2-40B4-BE49-F238E27FC236}">
                <a16:creationId xmlns:a16="http://schemas.microsoft.com/office/drawing/2014/main" id="{BD9866A6-A505-4E5A-9C44-7F38060BE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070" y="927100"/>
            <a:ext cx="2662555" cy="466217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00AEEF"/>
            </a:solidFill>
            <a:prstDash val="solid"/>
          </a:ln>
        </p:spPr>
      </p:sp>
      <p:cxnSp>
        <p:nvCxnSpPr>
          <p:cNvPr id="273" name="Connector 26"/>
          <p:cNvCxnSpPr/>
          <p:nvPr/>
        </p:nvCxnSpPr>
        <p:spPr>
          <a:xfrm xmlns:a="http://schemas.openxmlformats.org/drawingml/2006/main" rot="5340734" flipH="0" flipV="0">
            <a:off x="10557257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4" name="Connector 27"/>
          <p:cNvCxnSpPr/>
          <p:nvPr/>
        </p:nvCxnSpPr>
        <p:spPr>
          <a:xfrm xmlns:a="http://schemas.openxmlformats.org/drawingml/2006/main" rot="10794364" flipH="0" flipV="0">
            <a:off x="4724340" y="4422189"/>
            <a:ext cx="6124060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5" name="Connector 28"/>
          <p:cNvCxnSpPr/>
          <p:nvPr/>
        </p:nvCxnSpPr>
        <p:spPr>
          <a:xfrm xmlns:a="http://schemas.openxmlformats.org/drawingml/2006/main" rot="-5459265" flipH="0" flipV="0">
            <a:off x="4433196" y="4184210"/>
            <a:ext cx="582287" cy="8206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64748B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53" name="AutoShape 29">
            <a:extLst xmlns:a="http://schemas.openxmlformats.org/drawingml/2006/main">
              <a:ext uri="{FF2B5EF4-FFF2-40B4-BE49-F238E27FC236}">
                <a16:creationId xmlns:a16="http://schemas.microsoft.com/office/drawing/2014/main" id="{107B1F83-E681-49EC-AA75-BB657CB1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9490" y="41878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100" b="0" i="0" u="none">
                <a:solidFill>
                  <a:schemeClr val="bg1"/>
                </a:solidFill>
                <a:latin typeface="Noto Sans SC"/>
                <a:ea typeface="Noto Sans SC"/>
                <a:cs typeface="Noto Sans SC"/>
              </a:rPr>
              <a:t>执行数据回流 · 持续校准模型，驱动经营决策持续升级</a:t>
            </a:r>
            <a:endParaRPr sz="1100" b="0" i="0" u="none">
              <a:solidFill>
                <a:schemeClr val="bg1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D20BA741-7A50-49AD-A26F-D0FAC903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962015"/>
            <a:ext cx="0" cy="81280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0672736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BCCAAA4-7E19-4011-870C-4856E977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9400"/>
            <a:ext cx="647700" cy="647700"/>
          </a:xfrm>
          <a:prstGeom xmlns:a="http://schemas.openxmlformats.org/drawingml/2006/main" prst="donut">
            <a:avLst>
              <a:gd name="adj" fmla="val 21916"/>
            </a:avLst>
          </a:prstGeom>
          <a:gradFill xmlns:a="http://schemas.openxmlformats.org/drawingml/2006/main"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400"/>
          </a:p>
        </p:txBody>
      </p:sp>
      <p:pic>
        <p:nvPicPr>
          <p:cNvPr id="7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e61f0ca6f43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7860000" flipV="1">
            <a:off x="330200" y="152400"/>
            <a:ext cx="660400" cy="5715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DBC8AB03-4512-4A48-9E9B-BD62FEA6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4500"/>
            <a:ext cx="11344910" cy="4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88900" tIns="50800" rIns="88900" bIns="50800" anchor="t"/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spcBef>
                <a:spcPts val="1000"/>
              </a:spcBef>
              <a:buNone/>
            </a:pP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7</a:t>
            </a:r>
            <a:r>
              <a:rPr sz="2400" b="1" i="0" u="none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400" b="1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智能运营管理平台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—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平台驱动的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管理角色</a:t>
            </a:r>
            <a:r>
              <a:rPr sz="2400" b="1" i="0" u="none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转变</a:t>
            </a:r>
            <a:endParaRPr sz="2400" b="1" i="0" u="none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0" name="图片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77b0dbad64d73"/>
          <a:srcRect xmlns:a="http://schemas.openxmlformats.org/drawingml/2006/main" l="367" t="25287" r="-719" b="77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7965" y="1619885"/>
            <a:ext cx="3610610" cy="3819525"/>
          </a:xfrm>
          <a:prstGeom xmlns:a="http://schemas.openxmlformats.org/drawingml/2006/main" prst="rect">
            <a:avLst/>
          </a:prstGeom>
        </p:spPr>
      </p:pic>
      <p:pic>
        <p:nvPicPr>
          <p:cNvPr id="81" name="图片 5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01d28195b84a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8655" y="995045"/>
            <a:ext cx="2530475" cy="1418590"/>
          </a:xfrm>
          <a:prstGeom xmlns:a="http://schemas.openxmlformats.org/drawingml/2006/main" prst="ellipse">
            <a:avLst/>
          </a:prstGeom>
        </p:spPr>
      </p:pic>
      <p:pic>
        <p:nvPicPr>
          <p:cNvPr id="82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7ecb265e047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98310" y="2822575"/>
            <a:ext cx="2944495" cy="1633855"/>
          </a:xfrm>
          <a:prstGeom xmlns:a="http://schemas.openxmlformats.org/drawingml/2006/main" prst="ellipse">
            <a:avLst/>
          </a:prstGeom>
        </p:spPr>
      </p:pic>
      <p:pic>
        <p:nvPicPr>
          <p:cNvPr id="8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50147959a4d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9920" y="4924425"/>
            <a:ext cx="2569210" cy="1431925"/>
          </a:xfrm>
          <a:prstGeom xmlns:a="http://schemas.openxmlformats.org/drawingml/2006/main" prst="ellipse">
            <a:avLst/>
          </a:prstGeom>
        </p:spPr>
      </p:pic>
      <p:pic>
        <p:nvPicPr>
          <p:cNvPr id="84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e0aad3a38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0715" y="4924425"/>
            <a:ext cx="2525395" cy="1426845"/>
          </a:xfrm>
          <a:prstGeom xmlns:a="http://schemas.openxmlformats.org/drawingml/2006/main" prst="ellipse">
            <a:avLst/>
          </a:prstGeom>
        </p:spPr>
      </p:pic>
      <p:pic>
        <p:nvPicPr>
          <p:cNvPr id="85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3d689945a4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26245" y="995045"/>
            <a:ext cx="2662555" cy="1458595"/>
          </a:xfrm>
          <a:prstGeom xmlns:a="http://schemas.openxmlformats.org/drawingml/2006/main" prst="ellipse">
            <a:avLst/>
          </a:prstGeom>
        </p:spPr>
      </p:pic>
      <p:cxnSp>
        <p:nvCxnSpPr>
          <p:cNvPr id="86" name="直接连接符 7"/>
          <p:cNvCxnSpPr>
            <a:stCxn xmlns:a="http://schemas.openxmlformats.org/drawingml/2006/main" id="52" idx="5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6638290" y="2205990"/>
            <a:ext cx="591185" cy="85598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pic>
        <p:nvPicPr>
          <p:cNvPr id="87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ee59525184b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0910" y="2644775"/>
            <a:ext cx="1299210" cy="1142365"/>
          </a:xfrm>
          <a:prstGeom xmlns:a="http://schemas.openxmlformats.org/drawingml/2006/main" prst="rect">
            <a:avLst/>
          </a:prstGeom>
        </p:spPr>
      </p:pic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256F77BE-562F-4DE0-8A7B-AA73420B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190" y="2534285"/>
            <a:ext cx="170180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从"找料"变</a:t>
            </a:r>
            <a:r>
              <a:rPr sz="1000" b="1">
                <a:ln w="15875"/>
                <a:solidFill>
                  <a:srgbClr val="92D050"/>
                </a:solidFill>
              </a:rPr>
              <a:t>"审料"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从"追单"变</a:t>
            </a:r>
            <a:r>
              <a:rPr sz="1000" b="1">
                <a:ln w="15875"/>
                <a:solidFill>
                  <a:srgbClr val="92D050"/>
                </a:solidFill>
              </a:rPr>
              <a:t>"管异常"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从"建档案"变</a:t>
            </a:r>
            <a:r>
              <a:rPr sz="1000" b="1">
                <a:ln w="15875"/>
                <a:solidFill>
                  <a:srgbClr val="92D050"/>
                </a:solidFill>
              </a:rPr>
              <a:t>"做评估"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从"手工对账"变</a:t>
            </a:r>
            <a:r>
              <a:rPr sz="1000" b="1">
                <a:ln w="15875"/>
                <a:solidFill>
                  <a:srgbClr val="92D050"/>
                </a:solidFill>
              </a:rPr>
              <a:t>"看报告</a:t>
            </a:r>
            <a:r>
              <a:rPr sz="1000">
                <a:ln w="15875"/>
                <a:solidFill>
                  <a:srgbClr val="92D050"/>
                </a:solidFill>
              </a:rPr>
              <a:t>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从"到处询价"变</a:t>
            </a:r>
            <a:r>
              <a:rPr sz="1000" b="1">
                <a:ln w="15875"/>
                <a:solidFill>
                  <a:srgbClr val="92D050"/>
                </a:solidFill>
              </a:rPr>
              <a:t>"谈战略"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0" name="环形箭头 19">
            <a:extLst xmlns:a="http://schemas.openxmlformats.org/drawingml/2006/main">
              <a:ext uri="{FF2B5EF4-FFF2-40B4-BE49-F238E27FC236}">
                <a16:creationId xmlns:a16="http://schemas.microsoft.com/office/drawing/2014/main" id="{90EC7F95-082F-4438-80A3-487F4314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61105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2" name="环形箭头 21">
            <a:extLst xmlns:a="http://schemas.openxmlformats.org/drawingml/2006/main">
              <a:ext uri="{FF2B5EF4-FFF2-40B4-BE49-F238E27FC236}">
                <a16:creationId xmlns:a16="http://schemas.microsoft.com/office/drawing/2014/main" id="{F60A5DE5-ABA1-48C9-A673-AF1217B7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32305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3" name="右箭头 22">
            <a:extLst xmlns:a="http://schemas.openxmlformats.org/drawingml/2006/main">
              <a:ext uri="{FF2B5EF4-FFF2-40B4-BE49-F238E27FC236}">
                <a16:creationId xmlns:a16="http://schemas.microsoft.com/office/drawing/2014/main" id="{F81D67D2-93DB-45F9-BD16-A65AA6D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29000"/>
            <a:ext cx="969010" cy="389890"/>
          </a:xfrm>
          <a:prstGeom xmlns:a="http://schemas.openxmlformats.org/drawingml/2006/main" prst="rightArrow">
            <a:avLst/>
          </a:prstGeom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环形箭头 23">
            <a:extLst xmlns:a="http://schemas.openxmlformats.org/drawingml/2006/main">
              <a:ext uri="{FF2B5EF4-FFF2-40B4-BE49-F238E27FC236}">
                <a16:creationId xmlns:a16="http://schemas.microsoft.com/office/drawing/2014/main" id="{9E84ED88-519A-43A6-A4F2-F3803BD3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8810" y="3787140"/>
            <a:ext cx="1760855" cy="15405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5" name="环形箭头 24">
            <a:extLst xmlns:a="http://schemas.openxmlformats.org/drawingml/2006/main">
              <a:ext uri="{FF2B5EF4-FFF2-40B4-BE49-F238E27FC236}">
                <a16:creationId xmlns:a16="http://schemas.microsoft.com/office/drawing/2014/main" id="{DDFB0A6F-F315-483B-93E7-1D673AB5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265170" y="1958340"/>
            <a:ext cx="1588770" cy="1616710"/>
          </a:xfrm>
          <a:prstGeom xmlns:a="http://schemas.openxmlformats.org/drawingml/2006/main" prst="circularArrow">
            <a:avLst>
              <a:gd name="adj1" fmla="val 11627"/>
              <a:gd name="adj2" fmla="val 1557486"/>
              <a:gd name="adj3" fmla="val 20811465"/>
              <a:gd name="adj4" fmla="val 15736096"/>
              <a:gd name="adj5" fmla="val 12500"/>
            </a:avLst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tx1"/>
              </a:solidFill>
            </a:endParaRPr>
          </a:p>
        </p:txBody>
      </p:sp>
      <p:sp>
        <p:nvSpPr>
          <p:cNvPr id="26" name="右箭头 25">
            <a:extLst xmlns:a="http://schemas.openxmlformats.org/drawingml/2006/main">
              <a:ext uri="{FF2B5EF4-FFF2-40B4-BE49-F238E27FC236}">
                <a16:creationId xmlns:a16="http://schemas.microsoft.com/office/drawing/2014/main" id="{4339768E-44DB-4C5E-A466-0A3EEB30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655" y="3455035"/>
            <a:ext cx="969010" cy="38989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50000">
                <a:schemeClr val="accent6"/>
              </a:gs>
              <a:gs pos="0">
                <a:schemeClr val="accent6">
                  <a:lumMod val="25000"/>
                  <a:lumOff val="75000"/>
                </a:schemeClr>
              </a:gs>
              <a:gs pos="100000">
                <a:schemeClr val="accent6">
                  <a:lumMod val="85000"/>
                </a:schemeClr>
              </a:gs>
            </a:gsLst>
            <a:lin ang="5400000" scaled="1"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B3BABDCE-64BB-4E51-B900-E84F7592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4270" y="2489835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从"接电话"变</a:t>
            </a:r>
            <a:r>
              <a:rPr sz="1000" b="1">
                <a:ln w="15875"/>
                <a:solidFill>
                  <a:srgbClr val="92D050"/>
                </a:solidFill>
              </a:rPr>
              <a:t>"看推送"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从"催进度"变"</a:t>
            </a:r>
            <a:r>
              <a:rPr sz="1000" b="1">
                <a:ln w="15875"/>
                <a:solidFill>
                  <a:srgbClr val="92D050"/>
                </a:solidFill>
              </a:rPr>
              <a:t>看节点"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从"做报价"变</a:t>
            </a:r>
            <a:r>
              <a:rPr sz="1000" b="1">
                <a:ln w="15875"/>
                <a:solidFill>
                  <a:srgbClr val="92D050"/>
                </a:solidFill>
              </a:rPr>
              <a:t>"审报价"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从"跑客户"变</a:t>
            </a:r>
            <a:r>
              <a:rPr sz="1000" b="1">
                <a:ln w="15875"/>
                <a:solidFill>
                  <a:srgbClr val="92D050"/>
                </a:solidFill>
              </a:rPr>
              <a:t>"做客户经营"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从"凭经验"变</a:t>
            </a:r>
            <a:r>
              <a:rPr sz="1000" b="1">
                <a:ln w="15875"/>
                <a:solidFill>
                  <a:srgbClr val="92D050"/>
                </a:solidFill>
              </a:rPr>
              <a:t>"看预测"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610F3AAD-6DB9-4827-A187-286DAD31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9400"/>
            <a:ext cx="174307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从"编计划"变</a:t>
            </a:r>
            <a:r>
              <a:rPr sz="1000" b="1">
                <a:ln w="15875"/>
                <a:solidFill>
                  <a:srgbClr val="92D050"/>
                </a:solidFill>
              </a:rPr>
              <a:t>"审计划"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从"盯现场"变</a:t>
            </a:r>
            <a:r>
              <a:rPr sz="1000" b="1">
                <a:ln w="15875"/>
                <a:solidFill>
                  <a:srgbClr val="92D050"/>
                </a:solidFill>
              </a:rPr>
              <a:t>"看大屏"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从"天天开会"变</a:t>
            </a:r>
            <a:r>
              <a:rPr sz="1000" b="1">
                <a:ln w="15875"/>
                <a:solidFill>
                  <a:srgbClr val="92D050"/>
                </a:solidFill>
              </a:rPr>
              <a:t>"开异常会"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从"手排插单"变</a:t>
            </a:r>
            <a:r>
              <a:rPr sz="1000" b="1">
                <a:ln w="15875"/>
                <a:solidFill>
                  <a:srgbClr val="92D050"/>
                </a:solidFill>
              </a:rPr>
              <a:t>"一键重排"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从"算账"变</a:t>
            </a:r>
            <a:r>
              <a:rPr sz="1000" b="1">
                <a:ln w="15875"/>
                <a:solidFill>
                  <a:srgbClr val="92D050"/>
                </a:solidFill>
              </a:rPr>
              <a:t>"看 </a:t>
            </a:r>
            <a:r>
              <a:rPr sz="1000" b="1">
                <a:ln w="15875"/>
                <a:solidFill>
                  <a:srgbClr val="92D050"/>
                </a:solidFill>
              </a:rPr>
              <a:t>KPI"</a:t>
            </a:r>
            <a:r>
              <a:rPr sz="1000" b="1">
                <a:ln w="15875"/>
                <a:solidFill>
                  <a:srgbClr val="92D050"/>
                </a:solidFill>
              </a:rPr>
              <a:t>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sp>
        <p:nvSpPr>
          <p:cNvPr id="29" name="文本框 28">
            <a:extLst xmlns:a="http://schemas.openxmlformats.org/drawingml/2006/main">
              <a:ext uri="{FF2B5EF4-FFF2-40B4-BE49-F238E27FC236}">
                <a16:creationId xmlns:a16="http://schemas.microsoft.com/office/drawing/2014/main" id="{3EDB58EB-E0C8-4909-A4F5-32126E62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0780" y="4114165"/>
            <a:ext cx="1845945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从"找货"变</a:t>
            </a:r>
            <a:r>
              <a:rPr sz="1000" b="1">
                <a:ln w="15875"/>
                <a:solidFill>
                  <a:srgbClr val="92D050"/>
                </a:solidFill>
              </a:rPr>
              <a:t>"看任务"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从"人工盘点"变</a:t>
            </a:r>
            <a:r>
              <a:rPr sz="1000" b="1">
                <a:ln w="15875"/>
                <a:solidFill>
                  <a:srgbClr val="92D050"/>
                </a:solidFill>
              </a:rPr>
              <a:t>"审盘点"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从"杂乱排队"变</a:t>
            </a:r>
            <a:r>
              <a:rPr sz="1000" b="1">
                <a:ln w="15875"/>
                <a:solidFill>
                  <a:srgbClr val="92D050"/>
                </a:solidFill>
              </a:rPr>
              <a:t>"自动调度"</a:t>
            </a:r>
            <a:r>
              <a:rPr sz="1000">
                <a:ln w="15875"/>
                <a:solidFill>
                  <a:srgbClr val="92D050"/>
                </a:solidFill>
              </a:rPr>
              <a:t> </a:t>
            </a:r>
            <a:endParaRPr sz="1000">
              <a:ln w="15875"/>
              <a:solidFill>
                <a:srgbClr val="92D050"/>
              </a:solidFill>
            </a:endParaR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D414F3EA-4F75-4378-BE7E-74665800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1075" y="4678680"/>
            <a:ext cx="2065020" cy="7607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从"看报表"变</a:t>
            </a:r>
            <a:r>
              <a:rPr sz="1000" b="1">
                <a:ln w="15875"/>
                <a:solidFill>
                  <a:srgbClr val="92D050"/>
                </a:solidFill>
              </a:rPr>
              <a:t>"看驾驶舱"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从"逐项审批"变</a:t>
            </a:r>
            <a:r>
              <a:rPr sz="1000" b="1">
                <a:ln w="15875"/>
                <a:solidFill>
                  <a:srgbClr val="92D050"/>
                </a:solidFill>
              </a:rPr>
              <a:t>"批例外" 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从"凭经验排兵"变</a:t>
            </a:r>
            <a:r>
              <a:rPr sz="1000" b="1">
                <a:ln w="15875"/>
                <a:solidFill>
                  <a:srgbClr val="92D050"/>
                </a:solidFill>
              </a:rPr>
              <a:t>"看智能建议"</a:t>
            </a:r>
            <a:endParaRPr sz="1000" b="1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从"盯数字"变</a:t>
            </a:r>
            <a:r>
              <a:rPr sz="1000" b="1">
                <a:ln w="15875"/>
                <a:solidFill>
                  <a:srgbClr val="92D050"/>
                </a:solidFill>
              </a:rPr>
              <a:t>"盯异常" </a:t>
            </a:r>
            <a:endParaRPr sz="1000">
              <a:ln w="15875"/>
              <a:solidFill>
                <a:srgbClr val="92D050"/>
              </a:solidFill>
            </a:endParaRPr>
          </a:p>
          <a:p xmlns:a="http://schemas.openxmlformats.org/drawingml/2006/main">
            <a:r>
              <a:rPr sz="1000">
                <a:ln w="15875"/>
                <a:solidFill>
                  <a:srgbClr val="92D050"/>
                </a:solidFill>
              </a:rPr>
              <a:t>&gt;</a:t>
            </a:r>
            <a:r>
              <a:rPr sz="1000">
                <a:ln w="15875"/>
                <a:solidFill>
                  <a:srgbClr val="92D050"/>
                </a:solidFill>
              </a:rPr>
              <a:t>从"管执行"变</a:t>
            </a:r>
            <a:r>
              <a:rPr sz="1000" b="1">
                <a:ln w="15875"/>
                <a:solidFill>
                  <a:srgbClr val="92D050"/>
                </a:solidFill>
              </a:rPr>
              <a:t>"管变革" </a:t>
            </a:r>
            <a:endParaRPr sz="1000" b="1">
              <a:ln w="15875"/>
              <a:solidFill>
                <a:srgbClr val="92D050"/>
              </a:solidFill>
            </a:endParaRPr>
          </a:p>
        </p:txBody>
      </p:sp>
      <p:cxnSp>
        <p:nvCxnSpPr>
          <p:cNvPr id="99" name="直接连接符 32"/>
          <p:cNvCxnSpPr>
            <a:endCxn xmlns:a="http://schemas.openxmlformats.org/drawingml/2006/main" id="53" idx="7"/>
          </p:cNvCxnSpPr>
          <p:nvPr/>
        </p:nvCxnSpPr>
        <p:spPr>
          <a:xfrm xmlns:a="http://schemas.openxmlformats.org/drawingml/2006/main" flipH="1">
            <a:off x="9311640" y="2412365"/>
            <a:ext cx="814070" cy="6496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0" name="直接连接符 33"/>
          <p:cNvCxnSpPr>
            <a:stCxn xmlns:a="http://schemas.openxmlformats.org/drawingml/2006/main" id="5" idx="7"/>
            <a:endCxn xmlns:a="http://schemas.openxmlformats.org/drawingml/2006/main" id="53" idx="3"/>
          </p:cNvCxnSpPr>
          <p:nvPr/>
        </p:nvCxnSpPr>
        <p:spPr>
          <a:xfrm xmlns:a="http://schemas.openxmlformats.org/drawingml/2006/main" flipV="1">
            <a:off x="6632575" y="4217035"/>
            <a:ext cx="596900" cy="916940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  <p:cxnSp>
        <p:nvCxnSpPr>
          <p:cNvPr id="101" name="直接连接符 34"/>
          <p:cNvCxnSpPr>
            <a:stCxn xmlns:a="http://schemas.openxmlformats.org/drawingml/2006/main" id="6" idx="1"/>
            <a:endCxn xmlns:a="http://schemas.openxmlformats.org/drawingml/2006/main" id="53" idx="5"/>
          </p:cNvCxnSpPr>
          <p:nvPr/>
        </p:nvCxnSpPr>
        <p:spPr>
          <a:xfrm xmlns:a="http://schemas.openxmlformats.org/drawingml/2006/main" flipH="1" flipV="1">
            <a:off x="9311640" y="4217035"/>
            <a:ext cx="588645" cy="916305"/>
          </a:xfrm>
          <a:prstGeom xmlns:a="http://schemas.openxmlformats.org/drawingml/2006/main" prst="line">
            <a:avLst/>
          </a:prstGeom>
          <a:ln xmlns:a="http://schemas.openxmlformats.org/drawingml/2006/main" w="31750" cap="rnd">
            <a:solidFill>
              <a:schemeClr val="accent1"/>
            </a:solidFill>
            <a:prstDash val="sysDot"/>
            <a:round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3784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598f4d61c0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365"/>
          </a:xfrm>
          <a:prstGeom xmlns:a="http://schemas.openxmlformats.org/drawingml/2006/main" prst="rect">
            <a:avLst/>
          </a:prstGeom>
        </p:spPr>
      </p:pic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5a79bf63cc4e4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85300" y="268605"/>
            <a:ext cx="2336800" cy="228600"/>
          </a:xfrm>
          <a:prstGeom xmlns:a="http://schemas.openxmlformats.org/drawingml/2006/main" prst="rect">
            <a:avLst/>
          </a:prstGeom>
          <a:ln xmlns:a="http://schemas.openxmlformats.org/drawingml/2006/main" w="25400" cap="flat" cmpd="sng">
            <a:noFill/>
            <a:prstDash val="solid"/>
            <a:round/>
          </a:ln>
        </p:spPr>
      </p:pic>
      <p:pic>
        <p:nvPicPr>
          <p:cNvPr id="2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ef13db9fc42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630" y="268605"/>
            <a:ext cx="1282065" cy="582930"/>
          </a:xfrm>
          <a:prstGeom xmlns:a="http://schemas.openxmlformats.org/drawingml/2006/main" prst="rect">
            <a:avLst/>
          </a:prstGeom>
        </p:spPr>
      </p:pic>
      <p:sp>
        <p:nvSpPr>
          <p:cNvPr id="5" name="矩形: 圆角 72">
            <a:extLst xmlns:a="http://schemas.openxmlformats.org/drawingml/2006/main">
              <a:ext uri="{FF2B5EF4-FFF2-40B4-BE49-F238E27FC236}">
                <a16:creationId xmlns:a16="http://schemas.microsoft.com/office/drawing/2014/main" id="{70B4B7FA-BB97-40EA-91C7-73F73EA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13284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共同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愿景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8" name="矩形: 圆角 73">
            <a:extLst xmlns:a="http://schemas.openxmlformats.org/drawingml/2006/main">
              <a:ext uri="{FF2B5EF4-FFF2-40B4-BE49-F238E27FC236}">
                <a16:creationId xmlns:a16="http://schemas.microsoft.com/office/drawing/2014/main" id="{1CCB5BA5-31E0-41D8-BDE9-5FAF7D4B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169481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建行业首个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全流程标杆，创智慧工厂+智能实验室融合范式。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矩形: 圆角 75">
            <a:extLst xmlns:a="http://schemas.openxmlformats.org/drawingml/2006/main">
              <a:ext uri="{FF2B5EF4-FFF2-40B4-BE49-F238E27FC236}">
                <a16:creationId xmlns:a16="http://schemas.microsoft.com/office/drawing/2014/main" id="{62D35161-0EA4-4D36-A120-3BE9EC49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380740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协同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价值观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矩形: 圆角 76">
            <a:extLst xmlns:a="http://schemas.openxmlformats.org/drawingml/2006/main">
              <a:ext uri="{FF2B5EF4-FFF2-40B4-BE49-F238E27FC236}">
                <a16:creationId xmlns:a16="http://schemas.microsoft.com/office/drawing/2014/main" id="{8ACA7C57-F030-440C-9996-9624D99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3942715"/>
            <a:ext cx="851408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1" i="0" u="none" cap="none" spc="0"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安全零事故、进度零失控、质量零妥协、沟通零障碍、知识零保留</a:t>
            </a:r>
            <a:endParaRPr b="1" i="0" u="none" kern="0" cap="none" spc="0" baseline="0"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矩形: 圆角 78">
            <a:extLst xmlns:a="http://schemas.openxmlformats.org/drawingml/2006/main">
              <a:ext uri="{FF2B5EF4-FFF2-40B4-BE49-F238E27FC236}">
                <a16:creationId xmlns:a16="http://schemas.microsoft.com/office/drawing/2014/main" id="{2EF5CF26-8F5B-4C7B-AA52-173B6C06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256790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初心</a:t>
            </a:r>
            <a:r>
              <a:rPr sz="2400" b="1" i="0" u="none" cap="none" spc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/>
                <a:ea typeface="Arial Bold"/>
                <a:cs typeface="Arial Bold"/>
              </a:rPr>
              <a:t>使命</a:t>
            </a:r>
            <a:endParaRPr sz="2400" b="1" i="0" u="none" kern="0" cap="none" spc="0" baseline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/>
              <a:ea typeface="Arial Bold"/>
              <a:cs typeface="Arial Bold"/>
            </a:endParaRPr>
          </a:p>
        </p:txBody>
      </p:sp>
      <p:sp>
        <p:nvSpPr>
          <p:cNvPr id="14" name="矩形: 圆角 79">
            <a:extLst xmlns:a="http://schemas.openxmlformats.org/drawingml/2006/main">
              <a:ext uri="{FF2B5EF4-FFF2-40B4-BE49-F238E27FC236}">
                <a16:creationId xmlns:a16="http://schemas.microsoft.com/office/drawing/2014/main" id="{5DDAD909-1D5E-4F9F-8134-0B8FD0AE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2825" y="2818765"/>
            <a:ext cx="8515350" cy="598805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u="none" cap="none" spc="0">
                <a:ln>
                  <a:noFill/>
                </a:ln>
                <a:solidFill>
                  <a:srgbClr val="FFFF00"/>
                </a:solidFill>
                <a:latin typeface="微软雅黑"/>
                <a:ea typeface="微软雅黑"/>
                <a:cs typeface="微软雅黑"/>
              </a:rPr>
              <a:t>让工艺更精准、让质量更可控、让运营更高效、让人员更轻松</a:t>
            </a:r>
            <a:endParaRPr sz="1800" b="1" i="0" u="none" kern="0" cap="none" spc="0" baseline="0">
              <a:ln>
                <a:noFill/>
              </a:ln>
              <a:solidFill>
                <a:srgbClr val="FFFF0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10475655"/>
      </p:ext>
    </p:extLst>
  </p:cSld>
</p:sld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2026-09-02T02:21:32.6530000Z</dcterms:created>
  <dcterms:modified xsi:type="dcterms:W3CDTF">2026-09-02T02:21:32.6530000Z</dcterms:modified>
</coreProperties>
</file>