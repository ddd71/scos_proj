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5A9C"/>
    <a:srgbClr val="072138"/>
    <a:srgbClr val="0B2747"/>
    <a:srgbClr val="A5C3E1"/>
    <a:srgbClr val="0917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7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223645" y="58420"/>
            <a:ext cx="8986520" cy="6680835"/>
          </a:xfrm>
          <a:prstGeom prst="rect">
            <a:avLst/>
          </a:prstGeom>
          <a:solidFill>
            <a:srgbClr val="091728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1497330" y="255270"/>
            <a:ext cx="8437880" cy="1129665"/>
          </a:xfrm>
          <a:prstGeom prst="roundRect">
            <a:avLst/>
          </a:prstGeom>
          <a:solidFill>
            <a:srgbClr val="0B2747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同侧圆角矩形 6"/>
          <p:cNvSpPr/>
          <p:nvPr/>
        </p:nvSpPr>
        <p:spPr>
          <a:xfrm>
            <a:off x="1497330" y="255270"/>
            <a:ext cx="8439150" cy="499745"/>
          </a:xfrm>
          <a:prstGeom prst="round2Same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>
                <a:solidFill>
                  <a:schemeClr val="bg1"/>
                </a:solidFill>
                <a:sym typeface="+mn-ea"/>
              </a:rPr>
              <a:t>后台数据库层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1660525" y="876300"/>
            <a:ext cx="1709420" cy="371475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SQL Server</a:t>
            </a:r>
            <a:endParaRPr lang="en-US" altLang="zh-CN"/>
          </a:p>
        </p:txBody>
      </p:sp>
      <p:sp>
        <p:nvSpPr>
          <p:cNvPr id="11" name="圆角矩形 10"/>
          <p:cNvSpPr/>
          <p:nvPr/>
        </p:nvSpPr>
        <p:spPr>
          <a:xfrm>
            <a:off x="1496060" y="1522095"/>
            <a:ext cx="8437880" cy="1129665"/>
          </a:xfrm>
          <a:prstGeom prst="roundRect">
            <a:avLst/>
          </a:prstGeom>
          <a:solidFill>
            <a:srgbClr val="0B2747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同侧圆角矩形 11"/>
          <p:cNvSpPr/>
          <p:nvPr/>
        </p:nvSpPr>
        <p:spPr>
          <a:xfrm>
            <a:off x="1496060" y="1522095"/>
            <a:ext cx="8439150" cy="499745"/>
          </a:xfrm>
          <a:prstGeom prst="round2Same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>
                <a:sym typeface="+mn-ea"/>
              </a:rPr>
              <a:t>服务层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1659255" y="2143125"/>
            <a:ext cx="1709420" cy="371475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Microsoft IIS</a:t>
            </a:r>
            <a:endParaRPr lang="en-US" altLang="zh-CN"/>
          </a:p>
        </p:txBody>
      </p:sp>
      <p:sp>
        <p:nvSpPr>
          <p:cNvPr id="14" name="圆角矩形 13"/>
          <p:cNvSpPr/>
          <p:nvPr/>
        </p:nvSpPr>
        <p:spPr>
          <a:xfrm>
            <a:off x="1494790" y="2788920"/>
            <a:ext cx="8437880" cy="3834765"/>
          </a:xfrm>
          <a:prstGeom prst="roundRect">
            <a:avLst/>
          </a:prstGeom>
          <a:solidFill>
            <a:srgbClr val="0B2747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同侧圆角矩形 14"/>
          <p:cNvSpPr/>
          <p:nvPr/>
        </p:nvSpPr>
        <p:spPr>
          <a:xfrm>
            <a:off x="1494790" y="2788920"/>
            <a:ext cx="8439150" cy="499745"/>
          </a:xfrm>
          <a:prstGeom prst="round2Same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>
                <a:sym typeface="+mn-ea"/>
              </a:rPr>
              <a:t>客户端层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1657985" y="3649980"/>
            <a:ext cx="1468755" cy="371475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年度计划管理</a:t>
            </a:r>
            <a:endParaRPr lang="zh-CN" altLang="en-US" sz="1600"/>
          </a:p>
        </p:txBody>
      </p:sp>
      <p:sp>
        <p:nvSpPr>
          <p:cNvPr id="19" name="圆角矩形 18"/>
          <p:cNvSpPr/>
          <p:nvPr/>
        </p:nvSpPr>
        <p:spPr>
          <a:xfrm>
            <a:off x="3268980" y="3658870"/>
            <a:ext cx="1450340" cy="371475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销售目标管理</a:t>
            </a:r>
            <a:endParaRPr lang="zh-CN" altLang="en-US" sz="1600"/>
          </a:p>
        </p:txBody>
      </p:sp>
      <p:sp>
        <p:nvSpPr>
          <p:cNvPr id="20" name="圆角矩形 19"/>
          <p:cNvSpPr/>
          <p:nvPr/>
        </p:nvSpPr>
        <p:spPr>
          <a:xfrm>
            <a:off x="4883785" y="3658870"/>
            <a:ext cx="1454785" cy="371475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生产计划排程</a:t>
            </a:r>
            <a:endParaRPr lang="zh-CN" altLang="en-US" sz="1600"/>
          </a:p>
        </p:txBody>
      </p:sp>
      <p:sp>
        <p:nvSpPr>
          <p:cNvPr id="21" name="圆角矩形 20"/>
          <p:cNvSpPr/>
          <p:nvPr/>
        </p:nvSpPr>
        <p:spPr>
          <a:xfrm>
            <a:off x="6494145" y="3639820"/>
            <a:ext cx="1520190" cy="371475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生产流程管控</a:t>
            </a:r>
            <a:endParaRPr lang="zh-CN" altLang="en-US" sz="1600"/>
          </a:p>
        </p:txBody>
      </p:sp>
      <p:sp>
        <p:nvSpPr>
          <p:cNvPr id="22" name="圆角矩形 21"/>
          <p:cNvSpPr/>
          <p:nvPr/>
        </p:nvSpPr>
        <p:spPr>
          <a:xfrm>
            <a:off x="8196580" y="3665855"/>
            <a:ext cx="1581150" cy="371475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物料需求管理</a:t>
            </a:r>
            <a:endParaRPr lang="zh-CN" altLang="en-US" sz="1600"/>
          </a:p>
        </p:txBody>
      </p:sp>
      <p:sp>
        <p:nvSpPr>
          <p:cNvPr id="23" name="文本框 22"/>
          <p:cNvSpPr txBox="1"/>
          <p:nvPr/>
        </p:nvSpPr>
        <p:spPr>
          <a:xfrm>
            <a:off x="1682750" y="3305175"/>
            <a:ext cx="5080000" cy="30670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计划全周期管理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1657985" y="4402455"/>
            <a:ext cx="1468755" cy="371475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需求波动计算</a:t>
            </a:r>
            <a:endParaRPr lang="zh-CN" altLang="en-US" sz="1600"/>
          </a:p>
        </p:txBody>
      </p:sp>
      <p:sp>
        <p:nvSpPr>
          <p:cNvPr id="25" name="圆角矩形 24"/>
          <p:cNvSpPr/>
          <p:nvPr/>
        </p:nvSpPr>
        <p:spPr>
          <a:xfrm>
            <a:off x="3268980" y="4411345"/>
            <a:ext cx="1450340" cy="371475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优化参数配置</a:t>
            </a:r>
            <a:endParaRPr lang="zh-CN" altLang="en-US" sz="1600"/>
          </a:p>
        </p:txBody>
      </p:sp>
      <p:sp>
        <p:nvSpPr>
          <p:cNvPr id="26" name="圆角矩形 25"/>
          <p:cNvSpPr/>
          <p:nvPr/>
        </p:nvSpPr>
        <p:spPr>
          <a:xfrm>
            <a:off x="4883785" y="4411345"/>
            <a:ext cx="1454785" cy="371475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智能优化计算</a:t>
            </a:r>
            <a:endParaRPr lang="zh-CN" altLang="en-US" sz="1600"/>
          </a:p>
        </p:txBody>
      </p:sp>
      <p:sp>
        <p:nvSpPr>
          <p:cNvPr id="27" name="圆角矩形 26"/>
          <p:cNvSpPr/>
          <p:nvPr/>
        </p:nvSpPr>
        <p:spPr>
          <a:xfrm>
            <a:off x="6494145" y="4392295"/>
            <a:ext cx="1520190" cy="371475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补货需求确认</a:t>
            </a:r>
            <a:endParaRPr lang="zh-CN" altLang="en-US" sz="1600"/>
          </a:p>
        </p:txBody>
      </p:sp>
      <p:sp>
        <p:nvSpPr>
          <p:cNvPr id="29" name="文本框 28"/>
          <p:cNvSpPr txBox="1"/>
          <p:nvPr/>
        </p:nvSpPr>
        <p:spPr>
          <a:xfrm>
            <a:off x="1682750" y="4057650"/>
            <a:ext cx="5080000" cy="30670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安全库存管理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4883785" y="5165725"/>
            <a:ext cx="1454785" cy="371475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采购策略计算</a:t>
            </a:r>
            <a:endParaRPr lang="zh-CN" altLang="en-US" sz="1600"/>
          </a:p>
        </p:txBody>
      </p:sp>
      <p:sp>
        <p:nvSpPr>
          <p:cNvPr id="34" name="文本框 33"/>
          <p:cNvSpPr txBox="1"/>
          <p:nvPr/>
        </p:nvSpPr>
        <p:spPr>
          <a:xfrm>
            <a:off x="1682750" y="4812030"/>
            <a:ext cx="5080000" cy="30670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采购优化管理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1682750" y="5910580"/>
            <a:ext cx="1468755" cy="371475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生产数据归集</a:t>
            </a:r>
            <a:endParaRPr lang="zh-CN" altLang="en-US" sz="1600"/>
          </a:p>
        </p:txBody>
      </p:sp>
      <p:sp>
        <p:nvSpPr>
          <p:cNvPr id="37" name="圆角矩形 36"/>
          <p:cNvSpPr/>
          <p:nvPr/>
        </p:nvSpPr>
        <p:spPr>
          <a:xfrm>
            <a:off x="3293745" y="5919470"/>
            <a:ext cx="1450340" cy="371475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费用分摊核算</a:t>
            </a:r>
            <a:endParaRPr lang="zh-CN" altLang="en-US" sz="1600"/>
          </a:p>
        </p:txBody>
      </p:sp>
      <p:sp>
        <p:nvSpPr>
          <p:cNvPr id="38" name="圆角矩形 37"/>
          <p:cNvSpPr/>
          <p:nvPr/>
        </p:nvSpPr>
        <p:spPr>
          <a:xfrm>
            <a:off x="4908550" y="5919470"/>
            <a:ext cx="1454785" cy="371475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多维利润分析</a:t>
            </a:r>
            <a:endParaRPr lang="zh-CN" altLang="en-US" sz="1600"/>
          </a:p>
        </p:txBody>
      </p:sp>
      <p:sp>
        <p:nvSpPr>
          <p:cNvPr id="35" name="圆角矩形 34"/>
          <p:cNvSpPr/>
          <p:nvPr/>
        </p:nvSpPr>
        <p:spPr>
          <a:xfrm>
            <a:off x="8196580" y="5156835"/>
            <a:ext cx="1581150" cy="371475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采购订单创建</a:t>
            </a:r>
            <a:endParaRPr lang="zh-CN" altLang="en-US" sz="1600"/>
          </a:p>
        </p:txBody>
      </p:sp>
      <p:sp>
        <p:nvSpPr>
          <p:cNvPr id="33" name="圆角矩形 32"/>
          <p:cNvSpPr/>
          <p:nvPr/>
        </p:nvSpPr>
        <p:spPr>
          <a:xfrm>
            <a:off x="6494145" y="5146675"/>
            <a:ext cx="1520190" cy="371475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采购流程管控</a:t>
            </a:r>
            <a:endParaRPr lang="zh-CN" altLang="en-US" sz="1600"/>
          </a:p>
        </p:txBody>
      </p:sp>
      <p:sp>
        <p:nvSpPr>
          <p:cNvPr id="40" name="文本框 39"/>
          <p:cNvSpPr txBox="1"/>
          <p:nvPr/>
        </p:nvSpPr>
        <p:spPr>
          <a:xfrm>
            <a:off x="1707515" y="5565775"/>
            <a:ext cx="5080000" cy="30670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成本分摊管理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3268980" y="5165725"/>
            <a:ext cx="1450340" cy="371475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资源参数管理</a:t>
            </a:r>
            <a:endParaRPr lang="zh-CN" altLang="en-US" sz="1600"/>
          </a:p>
        </p:txBody>
      </p:sp>
      <p:sp>
        <p:nvSpPr>
          <p:cNvPr id="30" name="圆角矩形 29"/>
          <p:cNvSpPr/>
          <p:nvPr/>
        </p:nvSpPr>
        <p:spPr>
          <a:xfrm>
            <a:off x="1657985" y="5156835"/>
            <a:ext cx="1468755" cy="371475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物料需求汇总</a:t>
            </a:r>
            <a:endParaRPr lang="zh-CN" altLang="en-US" sz="1600"/>
          </a:p>
        </p:txBody>
      </p:sp>
      <p:sp>
        <p:nvSpPr>
          <p:cNvPr id="2" name="圆角矩形 1"/>
          <p:cNvSpPr/>
          <p:nvPr/>
        </p:nvSpPr>
        <p:spPr>
          <a:xfrm>
            <a:off x="8196580" y="4398010"/>
            <a:ext cx="1585595" cy="371475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安全库存确认</a:t>
            </a:r>
            <a:endParaRPr lang="zh-CN" altLang="en-US" sz="1600"/>
          </a:p>
        </p:txBody>
      </p:sp>
      <p:sp>
        <p:nvSpPr>
          <p:cNvPr id="3" name="圆角矩形 2"/>
          <p:cNvSpPr/>
          <p:nvPr/>
        </p:nvSpPr>
        <p:spPr>
          <a:xfrm>
            <a:off x="3487420" y="882015"/>
            <a:ext cx="1709420" cy="371475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MySQL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B2747"/>
        </a:solidFill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</Words>
  <Application>WPS 演示</Application>
  <PresentationFormat>宽屏</PresentationFormat>
  <Paragraphs>56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Tunjer</cp:lastModifiedBy>
  <cp:revision>21</cp:revision>
  <dcterms:created xsi:type="dcterms:W3CDTF">2023-08-09T12:44:00Z</dcterms:created>
  <dcterms:modified xsi:type="dcterms:W3CDTF">2026-08-20T12:07:36Z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EF4AC5DEB58749CE80254CBF7229ADF5_12</vt:lpwstr>
  </property>
</Properties>
</file>