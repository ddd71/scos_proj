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747"/>
    <a:srgbClr val="091728"/>
    <a:srgbClr val="1D324F"/>
    <a:srgbClr val="1A2D45"/>
    <a:srgbClr val="1B314C"/>
    <a:srgbClr val="E9832D"/>
    <a:srgbClr val="553E35"/>
    <a:srgbClr val="363035"/>
    <a:srgbClr val="965C32"/>
    <a:srgbClr val="3931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7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后台数据库层：采用 </a:t>
            </a:r>
            <a:r>
              <a:rPr lang="en-US" altLang="zh-CN"/>
              <a:t>SQL Server </a:t>
            </a:r>
            <a:r>
              <a:rPr lang="zh-CN" altLang="en-US"/>
              <a:t>与 </a:t>
            </a:r>
            <a:r>
              <a:rPr lang="en-US" altLang="zh-CN"/>
              <a:t>MySQL </a:t>
            </a:r>
            <a:r>
              <a:rPr lang="zh-CN" altLang="en-US"/>
              <a:t>数据库架构，承载主数据、业务数据、配置参数与分析结果的存储。</a:t>
            </a:r>
            <a:endParaRPr lang="zh-CN" altLang="en-US"/>
          </a:p>
          <a:p>
            <a:r>
              <a:rPr lang="zh-CN" altLang="en-US"/>
              <a:t>服务层：基于 </a:t>
            </a:r>
            <a:r>
              <a:rPr lang="en-US" altLang="zh-CN"/>
              <a:t>Microsoft IIS </a:t>
            </a:r>
            <a:r>
              <a:rPr lang="zh-CN" altLang="en-US"/>
              <a:t>构建应用服务，提供协议适配、业务逻辑计算、数据交互与统一接口服务能力。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223645" y="58420"/>
            <a:ext cx="8986520" cy="6680835"/>
          </a:xfrm>
          <a:prstGeom prst="rect">
            <a:avLst/>
          </a:prstGeom>
          <a:solidFill>
            <a:srgbClr val="09172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319530" y="109220"/>
            <a:ext cx="4320000" cy="91376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同侧圆角矩形 6"/>
          <p:cNvSpPr/>
          <p:nvPr/>
        </p:nvSpPr>
        <p:spPr>
          <a:xfrm>
            <a:off x="1319530" y="109220"/>
            <a:ext cx="4319905" cy="358140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后台数据库层</a:t>
            </a:r>
            <a:endParaRPr lang="zh-CN" altLang="en-US" sz="1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452880" y="607695"/>
            <a:ext cx="116078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SQL Server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784850" y="110490"/>
            <a:ext cx="4320000" cy="930275"/>
          </a:xfrm>
          <a:prstGeom prst="roundRect">
            <a:avLst/>
          </a:prstGeom>
          <a:solidFill>
            <a:srgbClr val="0B2747"/>
          </a:solidFill>
          <a:effectLst>
            <a:outerShdw blurRad="50800" dist="50800" dir="5400000" sx="1000" sy="1000" algn="ctr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同侧圆角矩形 11"/>
          <p:cNvSpPr/>
          <p:nvPr/>
        </p:nvSpPr>
        <p:spPr>
          <a:xfrm>
            <a:off x="5784215" y="110490"/>
            <a:ext cx="4323715" cy="356870"/>
          </a:xfrm>
          <a:prstGeom prst="round2SameRect">
            <a:avLst>
              <a:gd name="adj1" fmla="val 16667"/>
              <a:gd name="adj2" fmla="val 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服务层</a:t>
            </a:r>
            <a:endParaRPr lang="zh-CN" altLang="en-US" sz="1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06370" y="605790"/>
            <a:ext cx="1100455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MySQL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10580" y="612140"/>
            <a:ext cx="1420495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Microsoft IIS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同侧圆角矩形 14"/>
          <p:cNvSpPr/>
          <p:nvPr/>
        </p:nvSpPr>
        <p:spPr>
          <a:xfrm>
            <a:off x="1319530" y="1170305"/>
            <a:ext cx="8783955" cy="49974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客户端层</a:t>
            </a:r>
            <a:endParaRPr lang="zh-CN" altLang="en-US" sz="1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1319530" y="1670050"/>
            <a:ext cx="8783320" cy="4665980"/>
            <a:chOff x="2078" y="2630"/>
            <a:chExt cx="13832" cy="7790"/>
          </a:xfrm>
        </p:grpSpPr>
        <p:sp>
          <p:nvSpPr>
            <p:cNvPr id="18" name="矩形 17"/>
            <p:cNvSpPr/>
            <p:nvPr/>
          </p:nvSpPr>
          <p:spPr>
            <a:xfrm>
              <a:off x="2078" y="2630"/>
              <a:ext cx="13832" cy="7092"/>
            </a:xfrm>
            <a:prstGeom prst="rect">
              <a:avLst/>
            </a:prstGeom>
            <a:solidFill>
              <a:srgbClr val="0B2747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078" y="9140"/>
              <a:ext cx="13832" cy="1280"/>
              <a:chOff x="2078" y="9140"/>
              <a:chExt cx="13832" cy="1280"/>
            </a:xfrm>
          </p:grpSpPr>
          <p:sp>
            <p:nvSpPr>
              <p:cNvPr id="28" name="同侧圆角矩形 27"/>
              <p:cNvSpPr/>
              <p:nvPr/>
            </p:nvSpPr>
            <p:spPr>
              <a:xfrm rot="10800000">
                <a:off x="2078" y="9540"/>
                <a:ext cx="13833" cy="880"/>
              </a:xfrm>
              <a:prstGeom prst="round2SameRect">
                <a:avLst/>
              </a:prstGeom>
              <a:solidFill>
                <a:srgbClr val="0B274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2094" y="9140"/>
                <a:ext cx="13788" cy="700"/>
              </a:xfrm>
              <a:prstGeom prst="rect">
                <a:avLst/>
              </a:prstGeom>
              <a:solidFill>
                <a:srgbClr val="0B2747"/>
              </a:solidFill>
              <a:ln>
                <a:solidFill>
                  <a:srgbClr val="0B274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4" name="圆角矩形 63"/>
          <p:cNvSpPr/>
          <p:nvPr/>
        </p:nvSpPr>
        <p:spPr>
          <a:xfrm>
            <a:off x="1452880" y="1817370"/>
            <a:ext cx="4185920" cy="803910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64790" y="1864360"/>
            <a:ext cx="1696085" cy="28130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年度计划管理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1541780" y="214566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年度生产计划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2894330" y="214693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年度销售计划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4261485" y="214693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零售订单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784850" y="1817370"/>
            <a:ext cx="4185920" cy="803910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096760" y="1864360"/>
            <a:ext cx="1696085" cy="28130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月度计划管理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873750" y="214566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生产日历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7241540" y="214693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月计划排程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8613140" y="2146935"/>
            <a:ext cx="1265555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月原辅包需求计划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1453515" y="2768600"/>
            <a:ext cx="8517255" cy="1181100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859655" y="2815590"/>
            <a:ext cx="1696085" cy="28130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日度计划管理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542415" y="309689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日度详细计划排程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2910205" y="309816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生产计划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4281805" y="3098165"/>
            <a:ext cx="1265555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生产订单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5651500" y="3096895"/>
            <a:ext cx="1267200" cy="29972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生产综合计划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7019290" y="3098165"/>
            <a:ext cx="2857500" cy="29464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原辅包需求计划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1542415" y="3519805"/>
            <a:ext cx="4005580" cy="29845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每日玉米淀粉投料需求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5652770" y="3519805"/>
            <a:ext cx="4224020" cy="29591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生产报工管理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1452880" y="4097020"/>
            <a:ext cx="2353945" cy="212407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42110" y="4123690"/>
            <a:ext cx="1922145" cy="27622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安全库存优化管理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541780" y="4435475"/>
            <a:ext cx="2139315" cy="44005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安全库存优化参数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1542415" y="5013325"/>
            <a:ext cx="2139315" cy="40576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库存计划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1542415" y="5578475"/>
            <a:ext cx="2139315" cy="43561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补货计划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3974465" y="4067810"/>
            <a:ext cx="3166745" cy="2123440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709795" y="4097020"/>
            <a:ext cx="1696085" cy="28130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采购优化管理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4178300" y="4351020"/>
            <a:ext cx="2740660" cy="36957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供应商及价格资料库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4178300" y="4781550"/>
            <a:ext cx="2756535" cy="36639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采购优化参数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4178935" y="5219065"/>
            <a:ext cx="2739390" cy="36449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采购计划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4178300" y="5655310"/>
            <a:ext cx="2756535" cy="363855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采购申请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7331710" y="4044950"/>
            <a:ext cx="2639060" cy="96837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624445" y="4097020"/>
            <a:ext cx="2098675" cy="281305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成本分摊管理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7476490" y="4436110"/>
            <a:ext cx="2345690" cy="42926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多维利润分析报表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7330440" y="5147945"/>
            <a:ext cx="2640330" cy="1043305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623810" y="5219065"/>
            <a:ext cx="2099310" cy="280670"/>
          </a:xfrm>
          <a:prstGeom prst="rect">
            <a:avLst/>
          </a:prstGeom>
        </p:spPr>
        <p:txBody>
          <a:bodyPr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供应链驾驶舱</a:t>
            </a:r>
            <a:endParaRPr lang="zh-CN" altLang="en-US" sz="1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7475855" y="5576570"/>
            <a:ext cx="2346325" cy="487680"/>
          </a:xfrm>
          <a:prstGeom prst="roundRect">
            <a:avLst/>
          </a:prstGeom>
          <a:solidFill>
            <a:srgbClr val="072138"/>
          </a:solidFill>
          <a:ln>
            <a:solidFill>
              <a:srgbClr val="145A9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供应链驾驶舱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4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165100" y="860425"/>
            <a:ext cx="2610485" cy="375285"/>
          </a:xfrm>
          <a:prstGeom prst="roundRect">
            <a:avLst/>
          </a:prstGeom>
          <a:solidFill>
            <a:srgbClr val="263145"/>
          </a:solidFill>
          <a:ln>
            <a:solidFill>
              <a:srgbClr val="2F3B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业务系统</a:t>
            </a:r>
            <a:endParaRPr lang="zh-CN" altLang="en-US" sz="1200"/>
          </a:p>
        </p:txBody>
      </p:sp>
      <p:sp>
        <p:nvSpPr>
          <p:cNvPr id="5" name="圆角矩形 4"/>
          <p:cNvSpPr/>
          <p:nvPr/>
        </p:nvSpPr>
        <p:spPr>
          <a:xfrm>
            <a:off x="3274060" y="860425"/>
            <a:ext cx="4320000" cy="375285"/>
          </a:xfrm>
          <a:prstGeom prst="roundRect">
            <a:avLst/>
          </a:prstGeom>
          <a:solidFill>
            <a:srgbClr val="25254D"/>
          </a:solidFill>
          <a:ln>
            <a:solidFill>
              <a:srgbClr val="362A6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统一数据服务层</a:t>
            </a:r>
            <a:r>
              <a:rPr lang="en-US" altLang="zh-CN" sz="1200"/>
              <a:t>/SCOS</a:t>
            </a:r>
            <a:endParaRPr lang="en-US" altLang="zh-CN" sz="1200"/>
          </a:p>
        </p:txBody>
      </p:sp>
      <p:sp>
        <p:nvSpPr>
          <p:cNvPr id="6" name="圆角矩形 5"/>
          <p:cNvSpPr/>
          <p:nvPr/>
        </p:nvSpPr>
        <p:spPr>
          <a:xfrm>
            <a:off x="8042275" y="860425"/>
            <a:ext cx="3600000" cy="375285"/>
          </a:xfrm>
          <a:prstGeom prst="roundRect">
            <a:avLst/>
          </a:prstGeom>
          <a:solidFill>
            <a:srgbClr val="1A2E49"/>
          </a:solidFill>
          <a:ln>
            <a:solidFill>
              <a:srgbClr val="192B4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接口内容与频次说明</a:t>
            </a:r>
            <a:endParaRPr lang="zh-CN" sz="1200"/>
          </a:p>
        </p:txBody>
      </p:sp>
      <p:sp>
        <p:nvSpPr>
          <p:cNvPr id="11" name="圆角矩形 10"/>
          <p:cNvSpPr/>
          <p:nvPr/>
        </p:nvSpPr>
        <p:spPr>
          <a:xfrm>
            <a:off x="336550" y="1559560"/>
            <a:ext cx="2249805" cy="579120"/>
          </a:xfrm>
          <a:prstGeom prst="roundRect">
            <a:avLst/>
          </a:prstGeom>
          <a:solidFill>
            <a:srgbClr val="172033"/>
          </a:solidFill>
          <a:ln>
            <a:solidFill>
              <a:srgbClr val="263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501650" y="1559560"/>
            <a:ext cx="1089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CRM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1650" y="1866265"/>
            <a:ext cx="1089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8B9AAF"/>
                </a:solidFill>
                <a:sym typeface="+mn-ea"/>
              </a:rPr>
              <a:t>客户关系管理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36550" y="2258060"/>
            <a:ext cx="2249805" cy="579120"/>
          </a:xfrm>
          <a:prstGeom prst="roundRect">
            <a:avLst/>
          </a:prstGeom>
          <a:solidFill>
            <a:srgbClr val="172033"/>
          </a:solidFill>
          <a:ln>
            <a:solidFill>
              <a:srgbClr val="263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16" name="文本框 15"/>
          <p:cNvSpPr txBox="1"/>
          <p:nvPr/>
        </p:nvSpPr>
        <p:spPr>
          <a:xfrm>
            <a:off x="501650" y="2258060"/>
            <a:ext cx="1089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CON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1650" y="2564765"/>
            <a:ext cx="1089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8B9AAF"/>
                </a:solidFill>
                <a:sym typeface="+mn-ea"/>
              </a:rPr>
              <a:t>合同系统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36550" y="2944495"/>
            <a:ext cx="2249805" cy="579120"/>
          </a:xfrm>
          <a:prstGeom prst="roundRect">
            <a:avLst/>
          </a:prstGeom>
          <a:solidFill>
            <a:srgbClr val="172033"/>
          </a:solidFill>
          <a:ln>
            <a:solidFill>
              <a:srgbClr val="263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20" name="文本框 19"/>
          <p:cNvSpPr txBox="1"/>
          <p:nvPr/>
        </p:nvSpPr>
        <p:spPr>
          <a:xfrm>
            <a:off x="501650" y="2944495"/>
            <a:ext cx="1089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SAP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1650" y="3251200"/>
            <a:ext cx="1089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8B9AAF"/>
                </a:solidFill>
                <a:sym typeface="+mn-ea"/>
              </a:rPr>
              <a:t>ERP</a:t>
            </a:r>
            <a:r>
              <a:rPr lang="zh-CN" altLang="en-US" sz="1000">
                <a:solidFill>
                  <a:srgbClr val="8B9AAF"/>
                </a:solidFill>
                <a:sym typeface="+mn-ea"/>
              </a:rPr>
              <a:t>系统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36550" y="3636645"/>
            <a:ext cx="2249805" cy="579120"/>
          </a:xfrm>
          <a:prstGeom prst="roundRect">
            <a:avLst/>
          </a:prstGeom>
          <a:solidFill>
            <a:srgbClr val="172033"/>
          </a:solidFill>
          <a:ln>
            <a:solidFill>
              <a:srgbClr val="263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24" name="文本框 23"/>
          <p:cNvSpPr txBox="1"/>
          <p:nvPr/>
        </p:nvSpPr>
        <p:spPr>
          <a:xfrm>
            <a:off x="501650" y="3636645"/>
            <a:ext cx="1089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WMS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1650" y="3943350"/>
            <a:ext cx="1089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8B9AAF"/>
                </a:solidFill>
              </a:rPr>
              <a:t>仓储管理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36550" y="4328795"/>
            <a:ext cx="2249805" cy="579120"/>
          </a:xfrm>
          <a:prstGeom prst="roundRect">
            <a:avLst/>
          </a:prstGeom>
          <a:solidFill>
            <a:srgbClr val="172033"/>
          </a:solidFill>
          <a:ln>
            <a:solidFill>
              <a:srgbClr val="263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28" name="文本框 27"/>
          <p:cNvSpPr txBox="1"/>
          <p:nvPr/>
        </p:nvSpPr>
        <p:spPr>
          <a:xfrm>
            <a:off x="501650" y="4328795"/>
            <a:ext cx="1089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TMS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01650" y="4635500"/>
            <a:ext cx="1089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8B9AAF"/>
                </a:solidFill>
              </a:rPr>
              <a:t>物流管理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1591310" y="4392930"/>
            <a:ext cx="871855" cy="217805"/>
          </a:xfrm>
          <a:prstGeom prst="roundRect">
            <a:avLst/>
          </a:prstGeom>
          <a:solidFill>
            <a:srgbClr val="1F3654"/>
          </a:solidFill>
          <a:ln w="12700">
            <a:solidFill>
              <a:srgbClr val="3789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3789DD"/>
                </a:solidFill>
              </a:rPr>
              <a:t>获取</a:t>
            </a:r>
            <a:r>
              <a:rPr lang="en-US" altLang="zh-CN" sz="1200">
                <a:solidFill>
                  <a:srgbClr val="3789DD"/>
                </a:solidFill>
              </a:rPr>
              <a:t>1</a:t>
            </a:r>
            <a:endParaRPr lang="en-US" altLang="zh-CN" sz="1200">
              <a:solidFill>
                <a:srgbClr val="3789DD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36550" y="5020945"/>
            <a:ext cx="2249805" cy="579120"/>
          </a:xfrm>
          <a:prstGeom prst="roundRect">
            <a:avLst/>
          </a:prstGeom>
          <a:solidFill>
            <a:srgbClr val="172033"/>
          </a:solidFill>
          <a:ln>
            <a:solidFill>
              <a:srgbClr val="263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33" name="文本框 32"/>
          <p:cNvSpPr txBox="1"/>
          <p:nvPr/>
        </p:nvSpPr>
        <p:spPr>
          <a:xfrm>
            <a:off x="501650" y="5020945"/>
            <a:ext cx="1089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MES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1650" y="5327650"/>
            <a:ext cx="1089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8B9AAF"/>
                </a:solidFill>
              </a:rPr>
              <a:t>生产管理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207375" y="1552575"/>
            <a:ext cx="3226435" cy="579120"/>
          </a:xfrm>
          <a:prstGeom prst="roundRect">
            <a:avLst/>
          </a:prstGeom>
          <a:solidFill>
            <a:srgbClr val="1B314C"/>
          </a:solidFill>
          <a:ln>
            <a:solidFill>
              <a:srgbClr val="1D32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3789DD"/>
                </a:solidFill>
                <a:sym typeface="+mn-ea"/>
              </a:rPr>
              <a:t>  </a:t>
            </a:r>
            <a:r>
              <a:rPr lang="en-US" altLang="zh-CN" sz="1000">
                <a:solidFill>
                  <a:srgbClr val="3789DD"/>
                </a:solidFill>
                <a:sym typeface="+mn-ea"/>
              </a:rPr>
              <a:t>SCOS-CRM-001-001 </a:t>
            </a:r>
            <a:r>
              <a:rPr lang="zh-CN" altLang="en-US" sz="1000">
                <a:solidFill>
                  <a:srgbClr val="3789DD"/>
                </a:solidFill>
                <a:sym typeface="+mn-ea"/>
              </a:rPr>
              <a:t>获取</a:t>
            </a:r>
            <a:endParaRPr lang="zh-CN" altLang="en-US" sz="1000">
              <a:solidFill>
                <a:srgbClr val="3789DD"/>
              </a:solidFill>
            </a:endParaRPr>
          </a:p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909FB4"/>
                </a:solidFill>
                <a:sym typeface="+mn-ea"/>
              </a:rPr>
              <a:t>  </a:t>
            </a:r>
            <a:r>
              <a:rPr lang="zh-CN" altLang="en-US" sz="900">
                <a:solidFill>
                  <a:srgbClr val="909FB4"/>
                </a:solidFill>
                <a:sym typeface="+mn-ea"/>
              </a:rPr>
              <a:t>每日出货计划</a:t>
            </a:r>
            <a:endParaRPr lang="en-US" altLang="zh-CN" sz="800">
              <a:solidFill>
                <a:srgbClr val="F28E3C"/>
              </a:solidFill>
              <a:sym typeface="+mn-ea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207375" y="2244725"/>
            <a:ext cx="3226435" cy="579120"/>
          </a:xfrm>
          <a:prstGeom prst="roundRect">
            <a:avLst/>
          </a:prstGeom>
          <a:solidFill>
            <a:srgbClr val="363035"/>
          </a:solidFill>
          <a:ln>
            <a:solidFill>
              <a:srgbClr val="553E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3789DD"/>
                </a:solidFill>
                <a:sym typeface="+mn-ea"/>
              </a:rPr>
              <a:t> </a:t>
            </a:r>
            <a:r>
              <a:rPr lang="en-US" altLang="zh-CN" sz="1000">
                <a:solidFill>
                  <a:srgbClr val="3789DD"/>
                </a:solidFill>
                <a:sym typeface="+mn-ea"/>
              </a:rPr>
              <a:t> SCOS-CON-001-001 </a:t>
            </a:r>
            <a:r>
              <a:rPr lang="zh-CN" altLang="en-US" sz="1000">
                <a:solidFill>
                  <a:srgbClr val="3789DD"/>
                </a:solidFill>
                <a:sym typeface="+mn-ea"/>
              </a:rPr>
              <a:t>获取</a:t>
            </a:r>
            <a:endParaRPr lang="zh-CN" altLang="en-US" sz="900">
              <a:solidFill>
                <a:srgbClr val="909FB4"/>
              </a:solidFill>
            </a:endParaRPr>
          </a:p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F28E3C"/>
                </a:solidFill>
                <a:sym typeface="+mn-ea"/>
              </a:rPr>
              <a:t>  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SCOS-CON-001-001 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下发：原辅包采购需求</a:t>
            </a:r>
            <a:endParaRPr lang="zh-CN" altLang="en-US" sz="800">
              <a:solidFill>
                <a:srgbClr val="F28E3C"/>
              </a:solidFill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207375" y="2936875"/>
            <a:ext cx="3226435" cy="579120"/>
          </a:xfrm>
          <a:prstGeom prst="roundRect">
            <a:avLst/>
          </a:prstGeom>
          <a:solidFill>
            <a:srgbClr val="363035"/>
          </a:solidFill>
          <a:ln>
            <a:solidFill>
              <a:srgbClr val="553E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3789DD"/>
                </a:solidFill>
                <a:sym typeface="+mn-ea"/>
              </a:rPr>
              <a:t>  </a:t>
            </a:r>
            <a:r>
              <a:rPr lang="en-US" altLang="zh-CN" sz="1000">
                <a:solidFill>
                  <a:srgbClr val="3789DD"/>
                </a:solidFill>
                <a:sym typeface="+mn-ea"/>
              </a:rPr>
              <a:t>SCOS-SAP-001-004 </a:t>
            </a:r>
            <a:r>
              <a:rPr lang="zh-CN" altLang="en-US" sz="1000">
                <a:solidFill>
                  <a:srgbClr val="3789DD"/>
                </a:solidFill>
                <a:sym typeface="+mn-ea"/>
              </a:rPr>
              <a:t>获取</a:t>
            </a:r>
            <a:endParaRPr lang="zh-CN" altLang="en-US" sz="1000">
              <a:solidFill>
                <a:srgbClr val="3789DD"/>
              </a:solidFill>
            </a:endParaRPr>
          </a:p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909FB4"/>
                </a:solidFill>
                <a:sym typeface="+mn-ea"/>
              </a:rPr>
              <a:t>  </a:t>
            </a:r>
            <a:r>
              <a:rPr lang="zh-CN" altLang="en-US" sz="900">
                <a:solidFill>
                  <a:srgbClr val="909FB4"/>
                </a:solidFill>
                <a:sym typeface="+mn-ea"/>
              </a:rPr>
              <a:t>主数据、业务数据</a:t>
            </a:r>
            <a:endParaRPr lang="zh-CN" altLang="en-US" sz="900">
              <a:solidFill>
                <a:srgbClr val="909FB4"/>
              </a:solidFill>
            </a:endParaRPr>
          </a:p>
          <a:p>
            <a:pPr indent="0" algn="l" fontAlgn="auto">
              <a:spcBef>
                <a:spcPts val="200"/>
              </a:spcBef>
            </a:pPr>
            <a:r>
              <a:rPr lang="en-US" altLang="zh-CN" sz="800">
                <a:solidFill>
                  <a:srgbClr val="F28E3C"/>
                </a:solidFill>
                <a:sym typeface="+mn-ea"/>
              </a:rPr>
              <a:t>  SCOS-SAP-001-003 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下发：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SAP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生产订单</a:t>
            </a:r>
            <a:endParaRPr lang="zh-CN" altLang="en-US" sz="800">
              <a:solidFill>
                <a:srgbClr val="F28E3C"/>
              </a:solidFill>
              <a:sym typeface="+mn-ea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8207375" y="3636645"/>
            <a:ext cx="3226435" cy="579120"/>
          </a:xfrm>
          <a:prstGeom prst="roundRect">
            <a:avLst/>
          </a:prstGeom>
          <a:solidFill>
            <a:srgbClr val="363035"/>
          </a:solidFill>
          <a:ln>
            <a:solidFill>
              <a:srgbClr val="553E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3789DD"/>
                </a:solidFill>
              </a:rPr>
              <a:t> </a:t>
            </a:r>
            <a:r>
              <a:rPr lang="en-US" altLang="zh-CN" sz="1000">
                <a:solidFill>
                  <a:srgbClr val="3789DD"/>
                </a:solidFill>
              </a:rPr>
              <a:t> SCOS-WMS-001-003 </a:t>
            </a:r>
            <a:r>
              <a:rPr lang="zh-CN" altLang="en-US" sz="1000">
                <a:solidFill>
                  <a:srgbClr val="3789DD"/>
                </a:solidFill>
              </a:rPr>
              <a:t>获取</a:t>
            </a:r>
            <a:endParaRPr lang="zh-CN" altLang="en-US" sz="900">
              <a:solidFill>
                <a:srgbClr val="3789DD"/>
              </a:solidFill>
            </a:endParaRPr>
          </a:p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909FB4"/>
                </a:solidFill>
              </a:rPr>
              <a:t>  </a:t>
            </a:r>
            <a:r>
              <a:rPr lang="zh-CN" altLang="en-US" sz="900">
                <a:solidFill>
                  <a:srgbClr val="909FB4"/>
                </a:solidFill>
              </a:rPr>
              <a:t>原辅包在库量，安全库存、成品库存水位、入库原料批次</a:t>
            </a:r>
            <a:endParaRPr lang="zh-CN" altLang="en-US" sz="900">
              <a:solidFill>
                <a:srgbClr val="909FB4"/>
              </a:solidFill>
            </a:endParaRPr>
          </a:p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F28E3C"/>
                </a:solidFill>
                <a:sym typeface="+mn-ea"/>
              </a:rPr>
              <a:t>  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SCOS-WMS-001-002 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下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发：</a:t>
            </a:r>
            <a:r>
              <a:rPr lang="en-US" altLang="zh-CN" sz="800">
                <a:solidFill>
                  <a:srgbClr val="F28E3C"/>
                </a:solidFill>
              </a:rPr>
              <a:t>玉米淀粉日投料需求</a:t>
            </a:r>
            <a:endParaRPr lang="en-US" altLang="zh-CN" sz="800">
              <a:solidFill>
                <a:srgbClr val="F28E3C"/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207375" y="4300220"/>
            <a:ext cx="3226435" cy="579120"/>
          </a:xfrm>
          <a:prstGeom prst="roundRect">
            <a:avLst/>
          </a:prstGeom>
          <a:solidFill>
            <a:srgbClr val="363035"/>
          </a:solidFill>
          <a:ln>
            <a:solidFill>
              <a:srgbClr val="6345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3789DD"/>
                </a:solidFill>
              </a:rPr>
              <a:t> </a:t>
            </a:r>
            <a:r>
              <a:rPr lang="en-US" altLang="zh-CN" sz="1000">
                <a:solidFill>
                  <a:srgbClr val="3789DD"/>
                </a:solidFill>
              </a:rPr>
              <a:t> SCOS-TMS-003 </a:t>
            </a:r>
            <a:r>
              <a:rPr lang="zh-CN" altLang="en-US" sz="1000">
                <a:solidFill>
                  <a:srgbClr val="3789DD"/>
                </a:solidFill>
              </a:rPr>
              <a:t>获取</a:t>
            </a:r>
            <a:endParaRPr lang="zh-CN" altLang="en-US" sz="1000">
              <a:solidFill>
                <a:srgbClr val="3789DD"/>
              </a:solidFill>
            </a:endParaRPr>
          </a:p>
          <a:p>
            <a:pPr algn="l" fontAlgn="auto">
              <a:spcBef>
                <a:spcPts val="200"/>
              </a:spcBef>
              <a:buClrTx/>
              <a:buSzTx/>
              <a:buFontTx/>
            </a:pPr>
            <a:r>
              <a:rPr lang="en-US" altLang="zh-CN" sz="900">
                <a:solidFill>
                  <a:srgbClr val="909FB4"/>
                </a:solidFill>
              </a:rPr>
              <a:t>  </a:t>
            </a:r>
            <a:r>
              <a:rPr lang="zh-CN" altLang="en-US" sz="900">
                <a:solidFill>
                  <a:srgbClr val="909FB4"/>
                </a:solidFill>
              </a:rPr>
              <a:t>车次批次</a:t>
            </a:r>
            <a:endParaRPr lang="zh-CN" altLang="en-US" sz="900">
              <a:solidFill>
                <a:srgbClr val="909FB4"/>
              </a:solidFill>
            </a:endParaRPr>
          </a:p>
          <a:p>
            <a:pPr algn="l"/>
            <a:r>
              <a:rPr lang="en-US" altLang="zh-CN" sz="800">
                <a:solidFill>
                  <a:srgbClr val="F28E3C"/>
                </a:solidFill>
              </a:rPr>
              <a:t>  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SCOS-TMS-001-001 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下发：原辅包供应商到厂需求计划</a:t>
            </a:r>
            <a:endParaRPr lang="zh-CN" altLang="en-US" sz="800">
              <a:solidFill>
                <a:srgbClr val="F28E3C"/>
              </a:solidFill>
              <a:sym typeface="+mn-ea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8207375" y="5013325"/>
            <a:ext cx="3226435" cy="579120"/>
          </a:xfrm>
          <a:prstGeom prst="roundRect">
            <a:avLst/>
          </a:prstGeom>
          <a:solidFill>
            <a:srgbClr val="342F36"/>
          </a:solidFill>
          <a:ln>
            <a:solidFill>
              <a:srgbClr val="6345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spcBef>
                <a:spcPts val="200"/>
              </a:spcBef>
            </a:pPr>
            <a:r>
              <a:rPr lang="en-US" altLang="zh-CN" sz="900">
                <a:solidFill>
                  <a:srgbClr val="3789DD"/>
                </a:solidFill>
              </a:rPr>
              <a:t> </a:t>
            </a:r>
            <a:r>
              <a:rPr lang="en-US" altLang="zh-CN" sz="1000">
                <a:solidFill>
                  <a:srgbClr val="3789DD"/>
                </a:solidFill>
              </a:rPr>
              <a:t> SCOS-MES-002 </a:t>
            </a:r>
            <a:r>
              <a:rPr lang="zh-CN" altLang="en-US" sz="1000">
                <a:solidFill>
                  <a:srgbClr val="3789DD"/>
                </a:solidFill>
              </a:rPr>
              <a:t>获取</a:t>
            </a:r>
            <a:endParaRPr lang="zh-CN" altLang="en-US" sz="1000">
              <a:solidFill>
                <a:srgbClr val="3789DD"/>
              </a:solidFill>
            </a:endParaRPr>
          </a:p>
          <a:p>
            <a:pPr algn="l" fontAlgn="auto">
              <a:spcBef>
                <a:spcPts val="200"/>
              </a:spcBef>
              <a:buClrTx/>
              <a:buSzTx/>
              <a:buFontTx/>
            </a:pPr>
            <a:r>
              <a:rPr lang="en-US" altLang="zh-CN" sz="900">
                <a:solidFill>
                  <a:srgbClr val="909FB4"/>
                </a:solidFill>
              </a:rPr>
              <a:t>  </a:t>
            </a:r>
            <a:r>
              <a:rPr lang="zh-CN" altLang="en-US" sz="900">
                <a:solidFill>
                  <a:srgbClr val="909FB4"/>
                </a:solidFill>
              </a:rPr>
              <a:t>生产进度报工、生产批次</a:t>
            </a:r>
            <a:endParaRPr lang="zh-CN" altLang="en-US" sz="900">
              <a:solidFill>
                <a:srgbClr val="909FB4"/>
              </a:solidFill>
            </a:endParaRPr>
          </a:p>
          <a:p>
            <a:pPr algn="l" fontAlgn="auto">
              <a:spcBef>
                <a:spcPts val="200"/>
              </a:spcBef>
              <a:buClrTx/>
              <a:buSzTx/>
              <a:buFontTx/>
            </a:pPr>
            <a:r>
              <a:rPr lang="zh-CN" altLang="en-US" sz="900">
                <a:solidFill>
                  <a:srgbClr val="909FB4"/>
                </a:solidFill>
              </a:rPr>
              <a:t> </a:t>
            </a:r>
            <a:r>
              <a:rPr lang="en-US" altLang="zh-CN" sz="800">
                <a:solidFill>
                  <a:srgbClr val="F28E3C"/>
                </a:solidFill>
              </a:rPr>
              <a:t> 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SCOS-MES-001-002 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下发：</a:t>
            </a:r>
            <a:r>
              <a:rPr lang="en-US" altLang="zh-CN" sz="800">
                <a:solidFill>
                  <a:srgbClr val="F28E3C"/>
                </a:solidFill>
                <a:sym typeface="+mn-ea"/>
              </a:rPr>
              <a:t>MES</a:t>
            </a:r>
            <a:r>
              <a:rPr lang="zh-CN" altLang="en-US" sz="800">
                <a:solidFill>
                  <a:srgbClr val="F28E3C"/>
                </a:solidFill>
                <a:sym typeface="+mn-ea"/>
              </a:rPr>
              <a:t>生产订单</a:t>
            </a:r>
            <a:endParaRPr lang="zh-CN" altLang="en-US" sz="800">
              <a:solidFill>
                <a:srgbClr val="F28E3C"/>
              </a:solidFill>
              <a:sym typeface="+mn-ea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13360" y="6228080"/>
            <a:ext cx="11428095" cy="471170"/>
          </a:xfrm>
          <a:prstGeom prst="roundRect">
            <a:avLst/>
          </a:prstGeom>
          <a:solidFill>
            <a:srgbClr val="121A2D"/>
          </a:solidFill>
          <a:ln>
            <a:solidFill>
              <a:srgbClr val="2F3D5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35" y="6351270"/>
            <a:ext cx="485775" cy="22415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370" y="6355715"/>
            <a:ext cx="509905" cy="247650"/>
          </a:xfrm>
          <a:prstGeom prst="rect">
            <a:avLst/>
          </a:prstGeom>
        </p:spPr>
      </p:pic>
      <p:sp>
        <p:nvSpPr>
          <p:cNvPr id="52" name="圆角矩形 51"/>
          <p:cNvSpPr/>
          <p:nvPr/>
        </p:nvSpPr>
        <p:spPr>
          <a:xfrm>
            <a:off x="8047990" y="6347460"/>
            <a:ext cx="871855" cy="247015"/>
          </a:xfrm>
          <a:prstGeom prst="roundRect">
            <a:avLst/>
          </a:prstGeom>
          <a:solidFill>
            <a:srgbClr val="1F3654"/>
          </a:solidFill>
          <a:ln w="12700">
            <a:solidFill>
              <a:srgbClr val="3789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rgbClr val="3789DD"/>
                </a:solidFill>
              </a:rPr>
              <a:t>HTTP API</a:t>
            </a:r>
            <a:endParaRPr lang="en-US" sz="1200">
              <a:solidFill>
                <a:srgbClr val="3789DD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34110" y="6351905"/>
            <a:ext cx="2413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8B9AAF"/>
                </a:solidFill>
              </a:rPr>
              <a:t>数据获取</a:t>
            </a:r>
            <a:r>
              <a:rPr lang="en-US" altLang="zh-CN" sz="1000">
                <a:solidFill>
                  <a:srgbClr val="8B9AAF"/>
                </a:solidFill>
              </a:rPr>
              <a:t>/</a:t>
            </a:r>
            <a:r>
              <a:rPr lang="zh-CN" altLang="en-US" sz="1000">
                <a:solidFill>
                  <a:srgbClr val="8B9AAF"/>
                </a:solidFill>
              </a:rPr>
              <a:t>订阅（外部系统</a:t>
            </a:r>
            <a:r>
              <a:rPr lang="en-US" altLang="zh-CN" sz="1000">
                <a:solidFill>
                  <a:srgbClr val="8B9AAF"/>
                </a:solidFill>
              </a:rPr>
              <a:t> -&gt; SCOS</a:t>
            </a:r>
            <a:r>
              <a:rPr lang="zh-CN" altLang="en-US" sz="1000">
                <a:solidFill>
                  <a:srgbClr val="8B9AAF"/>
                </a:solidFill>
              </a:rPr>
              <a:t>）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677410" y="6358255"/>
            <a:ext cx="2413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000">
                <a:solidFill>
                  <a:srgbClr val="8B9AAF"/>
                </a:solidFill>
              </a:rPr>
              <a:t>数据下发</a:t>
            </a:r>
            <a:r>
              <a:rPr lang="en-US" altLang="zh-CN" sz="1000">
                <a:solidFill>
                  <a:srgbClr val="8B9AAF"/>
                </a:solidFill>
              </a:rPr>
              <a:t>/</a:t>
            </a:r>
            <a:r>
              <a:rPr lang="zh-CN" altLang="en-US" sz="1000">
                <a:solidFill>
                  <a:srgbClr val="8B9AAF"/>
                </a:solidFill>
              </a:rPr>
              <a:t>发布（</a:t>
            </a:r>
            <a:r>
              <a:rPr lang="en-US" altLang="zh-CN" sz="1000">
                <a:solidFill>
                  <a:srgbClr val="8B9AAF"/>
                </a:solidFill>
              </a:rPr>
              <a:t>SCOS -&gt; </a:t>
            </a:r>
            <a:r>
              <a:rPr lang="zh-CN" altLang="en-US" sz="1000">
                <a:solidFill>
                  <a:srgbClr val="8B9AAF"/>
                </a:solidFill>
              </a:rPr>
              <a:t>外部系统）</a:t>
            </a:r>
            <a:endParaRPr lang="zh-CN" altLang="en-US" sz="1000">
              <a:solidFill>
                <a:srgbClr val="8B9AAF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074785" y="6341110"/>
            <a:ext cx="2413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000">
                <a:solidFill>
                  <a:srgbClr val="8B9AAF"/>
                </a:solidFill>
              </a:rPr>
              <a:t>接口协议统一标注在右侧说明卡片中</a:t>
            </a:r>
            <a:endParaRPr lang="zh-CN" sz="1000">
              <a:solidFill>
                <a:srgbClr val="8B9AAF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3660775" y="1501775"/>
            <a:ext cx="1174115" cy="4478020"/>
          </a:xfrm>
          <a:prstGeom prst="roundRect">
            <a:avLst/>
          </a:prstGeom>
          <a:solidFill>
            <a:srgbClr val="292854"/>
          </a:solidFill>
          <a:ln>
            <a:solidFill>
              <a:srgbClr val="5C34B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 rot="16200000">
            <a:off x="3030855" y="3460750"/>
            <a:ext cx="20986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BFB2F9"/>
                </a:solidFill>
              </a:rPr>
              <a:t>统一数据服务层</a:t>
            </a:r>
            <a:endParaRPr lang="zh-CN" altLang="en-US" sz="1000">
              <a:solidFill>
                <a:srgbClr val="BFB2F9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 rot="16200000">
            <a:off x="3363595" y="3429635"/>
            <a:ext cx="20986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BFB2F9"/>
                </a:solidFill>
              </a:rPr>
              <a:t>协议适配：数据转换</a:t>
            </a:r>
            <a:r>
              <a:rPr lang="en-US" altLang="zh-CN" sz="1000">
                <a:solidFill>
                  <a:srgbClr val="BFB2F9"/>
                </a:solidFill>
              </a:rPr>
              <a:t>·</a:t>
            </a:r>
            <a:r>
              <a:rPr lang="zh-CN" altLang="en-US" sz="1000">
                <a:solidFill>
                  <a:srgbClr val="BFB2F9"/>
                </a:solidFill>
              </a:rPr>
              <a:t>路由监控</a:t>
            </a:r>
            <a:endParaRPr lang="zh-CN" altLang="en-US" sz="1000">
              <a:solidFill>
                <a:srgbClr val="BFB2F9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5260975" y="2646045"/>
            <a:ext cx="2061210" cy="1858010"/>
          </a:xfrm>
          <a:prstGeom prst="roundRect">
            <a:avLst/>
          </a:prstGeom>
          <a:solidFill>
            <a:srgbClr val="0B274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516245" y="2682875"/>
            <a:ext cx="1558925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SCOS</a:t>
            </a:r>
            <a:r>
              <a:rPr lang="zh-CN" altLang="en-US" sz="1400">
                <a:solidFill>
                  <a:schemeClr val="bg1"/>
                </a:solidFill>
              </a:rPr>
              <a:t>系统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516245" y="2926080"/>
            <a:ext cx="15582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800">
                <a:solidFill>
                  <a:schemeClr val="bg1"/>
                </a:solidFill>
              </a:rPr>
              <a:t>供应链数据中枢</a:t>
            </a:r>
            <a:endParaRPr lang="zh-CN" sz="800">
              <a:solidFill>
                <a:schemeClr val="bg1"/>
              </a:solidFill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5474335" y="3158490"/>
            <a:ext cx="762000" cy="242570"/>
          </a:xfrm>
          <a:prstGeom prst="roundRect">
            <a:avLst/>
          </a:prstGeom>
          <a:solidFill>
            <a:srgbClr val="145191"/>
          </a:solidFill>
          <a:ln w="12700">
            <a:solidFill>
              <a:srgbClr val="1451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rgbClr val="B9D7FA"/>
                </a:solidFill>
              </a:rPr>
              <a:t>计划管理</a:t>
            </a:r>
            <a:endParaRPr lang="zh-CN" sz="900">
              <a:solidFill>
                <a:srgbClr val="B9D7FA"/>
              </a:solidFill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313170" y="3158490"/>
            <a:ext cx="762000" cy="242570"/>
          </a:xfrm>
          <a:prstGeom prst="roundRect">
            <a:avLst/>
          </a:prstGeom>
          <a:solidFill>
            <a:srgbClr val="145191"/>
          </a:solidFill>
          <a:ln w="12700">
            <a:solidFill>
              <a:srgbClr val="1451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rgbClr val="B9D7FA"/>
                </a:solidFill>
              </a:rPr>
              <a:t>精益排程</a:t>
            </a:r>
            <a:endParaRPr lang="zh-CN" sz="900">
              <a:solidFill>
                <a:srgbClr val="B9D7FA"/>
              </a:solidFill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474335" y="3829685"/>
            <a:ext cx="762000" cy="288925"/>
          </a:xfrm>
          <a:prstGeom prst="roundRect">
            <a:avLst/>
          </a:prstGeom>
          <a:solidFill>
            <a:srgbClr val="145191"/>
          </a:solidFill>
          <a:ln w="12700">
            <a:solidFill>
              <a:srgbClr val="1451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rgbClr val="B9D7FA"/>
                </a:solidFill>
                <a:sym typeface="+mn-ea"/>
              </a:rPr>
              <a:t>成本分摊管理</a:t>
            </a:r>
            <a:endParaRPr lang="zh-CN" sz="900">
              <a:solidFill>
                <a:srgbClr val="B9D7FA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6313170" y="3826510"/>
            <a:ext cx="762000" cy="288925"/>
          </a:xfrm>
          <a:prstGeom prst="roundRect">
            <a:avLst/>
          </a:prstGeom>
          <a:solidFill>
            <a:srgbClr val="145191"/>
          </a:solidFill>
          <a:ln w="12700">
            <a:solidFill>
              <a:srgbClr val="1451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rgbClr val="B9D7FA"/>
                </a:solidFill>
                <a:sym typeface="+mn-ea"/>
              </a:rPr>
              <a:t>供应链驾驶舱</a:t>
            </a:r>
            <a:endParaRPr lang="zh-CN" sz="900">
              <a:solidFill>
                <a:srgbClr val="B9D7FA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440680" y="4190365"/>
            <a:ext cx="17437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solidFill>
                  <a:srgbClr val="7E79D8"/>
                </a:solidFill>
              </a:rPr>
              <a:t>HTTP API</a:t>
            </a:r>
            <a:r>
              <a:rPr lang="zh-CN" altLang="en-US" sz="800">
                <a:solidFill>
                  <a:srgbClr val="7E79D8"/>
                </a:solidFill>
              </a:rPr>
              <a:t>接入：统一回调</a:t>
            </a:r>
            <a:r>
              <a:rPr lang="en-US" altLang="zh-CN" sz="800">
                <a:solidFill>
                  <a:srgbClr val="7E79D8"/>
                </a:solidFill>
              </a:rPr>
              <a:t>·</a:t>
            </a:r>
            <a:r>
              <a:rPr lang="zh-CN" altLang="en-US" sz="800">
                <a:solidFill>
                  <a:srgbClr val="7E79D8"/>
                </a:solidFill>
              </a:rPr>
              <a:t>状态追踪</a:t>
            </a:r>
            <a:endParaRPr lang="zh-CN" altLang="en-US" sz="800">
              <a:solidFill>
                <a:srgbClr val="7E79D8"/>
              </a:solidFill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586355" y="1893570"/>
            <a:ext cx="1082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2586355" y="3234055"/>
            <a:ext cx="10712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2586355" y="3921760"/>
            <a:ext cx="107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2586355" y="4765040"/>
            <a:ext cx="10839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32" idx="3"/>
          </p:cNvCxnSpPr>
          <p:nvPr/>
        </p:nvCxnSpPr>
        <p:spPr>
          <a:xfrm>
            <a:off x="2586355" y="5310505"/>
            <a:ext cx="10839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663950" y="1887855"/>
            <a:ext cx="0" cy="3379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3676650" y="4096385"/>
            <a:ext cx="15875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3670300" y="3048635"/>
            <a:ext cx="157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3665220" y="3921760"/>
            <a:ext cx="15735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3663950" y="3561080"/>
            <a:ext cx="15811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3661410" y="3235325"/>
            <a:ext cx="159956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4838065" y="4312285"/>
            <a:ext cx="445135" cy="0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4838700" y="4318635"/>
            <a:ext cx="0" cy="335915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H="1">
            <a:off x="2552700" y="4657725"/>
            <a:ext cx="2286000" cy="0"/>
          </a:xfrm>
          <a:prstGeom prst="straightConnector1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60" idx="2"/>
          </p:cNvCxnSpPr>
          <p:nvPr/>
        </p:nvCxnSpPr>
        <p:spPr>
          <a:xfrm>
            <a:off x="6291580" y="4504055"/>
            <a:ext cx="0" cy="869950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H="1">
            <a:off x="2578100" y="5381625"/>
            <a:ext cx="3721100" cy="0"/>
          </a:xfrm>
          <a:prstGeom prst="straightConnector1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圆角矩形 93"/>
          <p:cNvSpPr/>
          <p:nvPr/>
        </p:nvSpPr>
        <p:spPr>
          <a:xfrm>
            <a:off x="1591310" y="4649470"/>
            <a:ext cx="871855" cy="217805"/>
          </a:xfrm>
          <a:prstGeom prst="roundRect">
            <a:avLst/>
          </a:prstGeom>
          <a:solidFill>
            <a:srgbClr val="393134"/>
          </a:solidFill>
          <a:ln w="12700">
            <a:solidFill>
              <a:srgbClr val="965C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E9832D"/>
                </a:solidFill>
              </a:rPr>
              <a:t>下发</a:t>
            </a:r>
            <a:r>
              <a:rPr lang="en-US" altLang="zh-CN" sz="1200">
                <a:solidFill>
                  <a:srgbClr val="E9832D"/>
                </a:solidFill>
              </a:rPr>
              <a:t>1</a:t>
            </a:r>
            <a:endParaRPr lang="en-US" altLang="zh-CN" sz="1200">
              <a:solidFill>
                <a:srgbClr val="E9832D"/>
              </a:solidFill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1591310" y="5075555"/>
            <a:ext cx="871855" cy="217805"/>
          </a:xfrm>
          <a:prstGeom prst="roundRect">
            <a:avLst/>
          </a:prstGeom>
          <a:solidFill>
            <a:srgbClr val="1F3654"/>
          </a:solidFill>
          <a:ln w="12700">
            <a:solidFill>
              <a:srgbClr val="3789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3789DD"/>
                </a:solidFill>
              </a:rPr>
              <a:t>获取</a:t>
            </a:r>
            <a:r>
              <a:rPr lang="en-US" altLang="zh-CN" sz="1200">
                <a:solidFill>
                  <a:srgbClr val="3789DD"/>
                </a:solidFill>
              </a:rPr>
              <a:t>2</a:t>
            </a:r>
            <a:endParaRPr lang="en-US" altLang="zh-CN" sz="1200">
              <a:solidFill>
                <a:srgbClr val="3789DD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1591310" y="5332095"/>
            <a:ext cx="871855" cy="217805"/>
          </a:xfrm>
          <a:prstGeom prst="roundRect">
            <a:avLst/>
          </a:prstGeom>
          <a:solidFill>
            <a:srgbClr val="393134"/>
          </a:solidFill>
          <a:ln w="12700">
            <a:solidFill>
              <a:srgbClr val="965C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E9832D"/>
                </a:solidFill>
              </a:rPr>
              <a:t>下发</a:t>
            </a:r>
            <a:r>
              <a:rPr lang="en-US" altLang="zh-CN" sz="1200">
                <a:solidFill>
                  <a:srgbClr val="E9832D"/>
                </a:solidFill>
              </a:rPr>
              <a:t>1</a:t>
            </a:r>
            <a:endParaRPr lang="en-US" altLang="zh-CN" sz="1200">
              <a:solidFill>
                <a:srgbClr val="E9832D"/>
              </a:solidFill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1591310" y="3696970"/>
            <a:ext cx="871855" cy="217805"/>
          </a:xfrm>
          <a:prstGeom prst="roundRect">
            <a:avLst/>
          </a:prstGeom>
          <a:solidFill>
            <a:srgbClr val="1F3654"/>
          </a:solidFill>
          <a:ln w="12700">
            <a:solidFill>
              <a:srgbClr val="3789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3789DD"/>
                </a:solidFill>
              </a:rPr>
              <a:t>获取</a:t>
            </a:r>
            <a:r>
              <a:rPr lang="en-US" altLang="zh-CN" sz="1200">
                <a:solidFill>
                  <a:srgbClr val="3789DD"/>
                </a:solidFill>
              </a:rPr>
              <a:t>4</a:t>
            </a:r>
            <a:endParaRPr lang="en-US" altLang="zh-CN" sz="1200">
              <a:solidFill>
                <a:srgbClr val="3789DD"/>
              </a:solidFill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1591310" y="3953510"/>
            <a:ext cx="871855" cy="217805"/>
          </a:xfrm>
          <a:prstGeom prst="roundRect">
            <a:avLst/>
          </a:prstGeom>
          <a:solidFill>
            <a:srgbClr val="393134"/>
          </a:solidFill>
          <a:ln w="12700">
            <a:solidFill>
              <a:srgbClr val="965C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E9832D"/>
                </a:solidFill>
              </a:rPr>
              <a:t>下发</a:t>
            </a:r>
            <a:r>
              <a:rPr lang="en-US" altLang="zh-CN" sz="1200">
                <a:solidFill>
                  <a:srgbClr val="E9832D"/>
                </a:solidFill>
              </a:rPr>
              <a:t>1</a:t>
            </a:r>
            <a:endParaRPr lang="en-US" altLang="zh-CN" sz="1200">
              <a:solidFill>
                <a:srgbClr val="E9832D"/>
              </a:solidFill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1591310" y="2994660"/>
            <a:ext cx="871855" cy="217805"/>
          </a:xfrm>
          <a:prstGeom prst="roundRect">
            <a:avLst/>
          </a:prstGeom>
          <a:solidFill>
            <a:srgbClr val="1F3654"/>
          </a:solidFill>
          <a:ln w="12700">
            <a:solidFill>
              <a:srgbClr val="3789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3789DD"/>
                </a:solidFill>
              </a:rPr>
              <a:t>获取</a:t>
            </a:r>
            <a:r>
              <a:rPr lang="en-US" altLang="zh-CN" sz="1200">
                <a:solidFill>
                  <a:srgbClr val="3789DD"/>
                </a:solidFill>
              </a:rPr>
              <a:t>2</a:t>
            </a:r>
            <a:endParaRPr lang="en-US" altLang="zh-CN" sz="1200">
              <a:solidFill>
                <a:srgbClr val="3789DD"/>
              </a:solidFill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1591310" y="3251200"/>
            <a:ext cx="871855" cy="217805"/>
          </a:xfrm>
          <a:prstGeom prst="roundRect">
            <a:avLst/>
          </a:prstGeom>
          <a:solidFill>
            <a:srgbClr val="393134"/>
          </a:solidFill>
          <a:ln w="12700">
            <a:solidFill>
              <a:srgbClr val="965C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E9832D"/>
                </a:solidFill>
              </a:rPr>
              <a:t>下发</a:t>
            </a:r>
            <a:r>
              <a:rPr lang="en-US" altLang="zh-CN" sz="1200">
                <a:solidFill>
                  <a:srgbClr val="E9832D"/>
                </a:solidFill>
              </a:rPr>
              <a:t>1</a:t>
            </a:r>
            <a:endParaRPr lang="en-US" altLang="zh-CN" sz="1200">
              <a:solidFill>
                <a:srgbClr val="E9832D"/>
              </a:solidFill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591310" y="2427605"/>
            <a:ext cx="871855" cy="217805"/>
          </a:xfrm>
          <a:prstGeom prst="roundRect">
            <a:avLst/>
          </a:prstGeom>
          <a:solidFill>
            <a:srgbClr val="393134"/>
          </a:solidFill>
          <a:ln w="12700">
            <a:solidFill>
              <a:srgbClr val="965C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E9832D"/>
                </a:solidFill>
              </a:rPr>
              <a:t>下发</a:t>
            </a:r>
            <a:r>
              <a:rPr lang="en-US" altLang="zh-CN" sz="1200">
                <a:solidFill>
                  <a:srgbClr val="E9832D"/>
                </a:solidFill>
              </a:rPr>
              <a:t>1</a:t>
            </a:r>
            <a:endParaRPr lang="en-US" altLang="zh-CN" sz="1200">
              <a:solidFill>
                <a:srgbClr val="E9832D"/>
              </a:solidFill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1591310" y="1767205"/>
            <a:ext cx="871855" cy="217805"/>
          </a:xfrm>
          <a:prstGeom prst="roundRect">
            <a:avLst/>
          </a:prstGeom>
          <a:solidFill>
            <a:srgbClr val="1F3654"/>
          </a:solidFill>
          <a:ln w="12700">
            <a:solidFill>
              <a:srgbClr val="3789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3789DD"/>
                </a:solidFill>
              </a:rPr>
              <a:t>获取</a:t>
            </a:r>
            <a:r>
              <a:rPr lang="en-US" altLang="zh-CN" sz="1200">
                <a:solidFill>
                  <a:srgbClr val="3789DD"/>
                </a:solidFill>
              </a:rPr>
              <a:t>1</a:t>
            </a:r>
            <a:endParaRPr lang="en-US" altLang="zh-CN" sz="1200">
              <a:solidFill>
                <a:srgbClr val="3789DD"/>
              </a:solidFill>
            </a:endParaRPr>
          </a:p>
        </p:txBody>
      </p:sp>
      <p:cxnSp>
        <p:nvCxnSpPr>
          <p:cNvPr id="105" name="直接连接符 104"/>
          <p:cNvCxnSpPr/>
          <p:nvPr/>
        </p:nvCxnSpPr>
        <p:spPr>
          <a:xfrm flipH="1">
            <a:off x="4833620" y="3827145"/>
            <a:ext cx="425450" cy="0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H="1">
            <a:off x="4842510" y="3319780"/>
            <a:ext cx="418465" cy="0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H="1">
            <a:off x="4838700" y="2935605"/>
            <a:ext cx="430530" cy="0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H="1">
            <a:off x="2586990" y="2543175"/>
            <a:ext cx="2259330" cy="0"/>
          </a:xfrm>
          <a:prstGeom prst="straightConnector1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V="1">
            <a:off x="4839335" y="2540635"/>
            <a:ext cx="0" cy="394335"/>
          </a:xfrm>
          <a:prstGeom prst="line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H="1">
            <a:off x="2591435" y="3315970"/>
            <a:ext cx="2255520" cy="0"/>
          </a:xfrm>
          <a:prstGeom prst="straightConnector1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flipH="1">
            <a:off x="2595245" y="3829685"/>
            <a:ext cx="2244090" cy="0"/>
          </a:xfrm>
          <a:prstGeom prst="straightConnector1">
            <a:avLst/>
          </a:prstGeom>
          <a:ln w="12700" cap="flat" cmpd="sng" algn="ctr">
            <a:solidFill>
              <a:srgbClr val="E9832D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圆角矩形 114"/>
          <p:cNvSpPr/>
          <p:nvPr/>
        </p:nvSpPr>
        <p:spPr>
          <a:xfrm>
            <a:off x="5474335" y="3469005"/>
            <a:ext cx="762000" cy="242570"/>
          </a:xfrm>
          <a:prstGeom prst="roundRect">
            <a:avLst/>
          </a:prstGeom>
          <a:solidFill>
            <a:srgbClr val="145191"/>
          </a:solidFill>
          <a:ln w="12700">
            <a:solidFill>
              <a:srgbClr val="1451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rgbClr val="B9D7FA"/>
                </a:solidFill>
              </a:rPr>
              <a:t>安全库存优化管理</a:t>
            </a:r>
            <a:endParaRPr lang="zh-CN" sz="900">
              <a:solidFill>
                <a:srgbClr val="B9D7FA"/>
              </a:solidFill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6313170" y="3469005"/>
            <a:ext cx="762000" cy="242570"/>
          </a:xfrm>
          <a:prstGeom prst="roundRect">
            <a:avLst/>
          </a:prstGeom>
          <a:solidFill>
            <a:srgbClr val="145191"/>
          </a:solidFill>
          <a:ln w="12700">
            <a:solidFill>
              <a:srgbClr val="1451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rgbClr val="B9D7FA"/>
                </a:solidFill>
              </a:rPr>
              <a:t>采购优化管理</a:t>
            </a:r>
            <a:endParaRPr lang="zh-CN" sz="900">
              <a:solidFill>
                <a:srgbClr val="B9D7F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B2747"/>
        </a:solidFill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WPS 演示</Application>
  <PresentationFormat>宽屏</PresentationFormat>
  <Paragraphs>172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Tunjer</cp:lastModifiedBy>
  <cp:revision>135</cp:revision>
  <dcterms:created xsi:type="dcterms:W3CDTF">2023-08-09T12:44:00Z</dcterms:created>
  <dcterms:modified xsi:type="dcterms:W3CDTF">2026-09-03T02:10:08Z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EF4AC5DEB58749CE80254CBF7229ADF5_12</vt:lpwstr>
  </property>
</Properties>
</file>